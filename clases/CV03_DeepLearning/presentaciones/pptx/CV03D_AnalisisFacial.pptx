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7" r:id="rId2"/>
    <p:sldId id="395" r:id="rId3"/>
    <p:sldId id="382" r:id="rId4"/>
    <p:sldId id="1592" r:id="rId5"/>
    <p:sldId id="1593" r:id="rId6"/>
    <p:sldId id="1594" r:id="rId7"/>
    <p:sldId id="1595" r:id="rId8"/>
    <p:sldId id="1596" r:id="rId9"/>
    <p:sldId id="1597" r:id="rId10"/>
    <p:sldId id="1598" r:id="rId11"/>
    <p:sldId id="1599" r:id="rId12"/>
    <p:sldId id="1600" r:id="rId13"/>
    <p:sldId id="1601" r:id="rId14"/>
    <p:sldId id="1602" r:id="rId15"/>
    <p:sldId id="1603" r:id="rId16"/>
    <p:sldId id="1604" r:id="rId17"/>
    <p:sldId id="1777" r:id="rId18"/>
    <p:sldId id="1778" r:id="rId19"/>
    <p:sldId id="1779" r:id="rId20"/>
    <p:sldId id="1780" r:id="rId21"/>
    <p:sldId id="1781" r:id="rId22"/>
    <p:sldId id="360" r:id="rId23"/>
    <p:sldId id="1774" r:id="rId24"/>
    <p:sldId id="1782" r:id="rId25"/>
    <p:sldId id="1783" r:id="rId26"/>
    <p:sldId id="1784" r:id="rId27"/>
    <p:sldId id="1785" r:id="rId28"/>
    <p:sldId id="1786" r:id="rId29"/>
    <p:sldId id="1787" r:id="rId30"/>
    <p:sldId id="1464" r:id="rId31"/>
    <p:sldId id="1515" r:id="rId32"/>
    <p:sldId id="384" r:id="rId33"/>
    <p:sldId id="385" r:id="rId34"/>
    <p:sldId id="386" r:id="rId35"/>
    <p:sldId id="387" r:id="rId36"/>
    <p:sldId id="388" r:id="rId37"/>
    <p:sldId id="389" r:id="rId38"/>
    <p:sldId id="414" r:id="rId39"/>
    <p:sldId id="410" r:id="rId40"/>
    <p:sldId id="1788" r:id="rId41"/>
    <p:sldId id="393" r:id="rId42"/>
    <p:sldId id="390" r:id="rId43"/>
    <p:sldId id="1789" r:id="rId44"/>
    <p:sldId id="1790" r:id="rId45"/>
    <p:sldId id="392" r:id="rId46"/>
    <p:sldId id="394" r:id="rId47"/>
    <p:sldId id="407" r:id="rId48"/>
    <p:sldId id="408" r:id="rId49"/>
    <p:sldId id="409" r:id="rId50"/>
    <p:sldId id="396" r:id="rId51"/>
    <p:sldId id="406" r:id="rId52"/>
    <p:sldId id="404" r:id="rId53"/>
    <p:sldId id="401" r:id="rId54"/>
    <p:sldId id="402" r:id="rId55"/>
    <p:sldId id="412" r:id="rId56"/>
    <p:sldId id="403" r:id="rId57"/>
    <p:sldId id="405" r:id="rId58"/>
    <p:sldId id="1526" r:id="rId59"/>
    <p:sldId id="1791" r:id="rId60"/>
    <p:sldId id="1792" r:id="rId61"/>
    <p:sldId id="1793" r:id="rId62"/>
    <p:sldId id="1794" r:id="rId63"/>
    <p:sldId id="1795" r:id="rId64"/>
    <p:sldId id="1796" r:id="rId65"/>
    <p:sldId id="1797" r:id="rId66"/>
    <p:sldId id="1798" r:id="rId67"/>
    <p:sldId id="1529" r:id="rId68"/>
    <p:sldId id="1530" r:id="rId69"/>
    <p:sldId id="1527" r:id="rId70"/>
    <p:sldId id="1528" r:id="rId71"/>
    <p:sldId id="1533" r:id="rId72"/>
    <p:sldId id="1365" r:id="rId73"/>
    <p:sldId id="1367" r:id="rId74"/>
    <p:sldId id="1369" r:id="rId75"/>
    <p:sldId id="1370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607232"/>
    <a:srgbClr val="9AA1DF"/>
    <a:srgbClr val="6772D4"/>
    <a:srgbClr val="0000FF"/>
    <a:srgbClr val="0096FF"/>
    <a:srgbClr val="004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11"/>
    <p:restoredTop sz="78700"/>
  </p:normalViewPr>
  <p:slideViewPr>
    <p:cSldViewPr snapToGrid="0" snapToObjects="1">
      <p:cViewPr varScale="1">
        <p:scale>
          <a:sx n="97" d="100"/>
          <a:sy n="97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EDCF66C8-757E-7C42-B2DD-441E14BFDBC6}" type="datetimeFigureOut">
              <a:rPr lang="en-US" smtClean="0"/>
              <a:pPr/>
              <a:t>10/20/26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BE965B19-3131-284A-93A8-E39D12ACFB0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1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58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96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8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30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31897-454F-4CA3-8426-223F5CBEECC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7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FC08-79A3-3749-939A-7481D41DA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2147D-B1F2-1446-81E3-A61F77DD1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3988-B08C-A04B-9BCB-5C3509DF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7A8A5-7DA1-4949-B09B-275E443A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13503-A296-484A-8723-A6BD3693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0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FF61-1D42-2840-95AA-D8DD7FA0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365DA-76DF-A54E-AD1C-91FA5089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89B3-01FC-FE41-8762-970AB4DD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31BB6-92F8-B249-AAAE-12208B00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12AEB-EDEE-AB40-9460-31A5BC2F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010C-1335-3048-8BD6-DA326CF9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06AA4-2B4E-A94A-96B2-B09C4567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1CF4-3F36-C146-9B04-90FBE2D0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4AD1-B164-994A-BBAD-1B6F0264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115E-7F58-2A40-A632-34C924F6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2C37-62B1-7042-8E8D-F4922B33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ADB92-5211-8841-8C12-4B9AD93CC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9F37D-0CC3-9A40-A4D1-59D52D162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8EDF-CD72-F84E-8134-F3E0569F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FB1AE-DDB9-D64F-886F-2D67556D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81E4C-BB5D-634B-A5CC-39D8ACE7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A8EC-78E9-9441-85FF-8B3527C0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1FD5A-95A2-2544-B741-02AB98C8D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C3E1B-96EA-5A4B-85E1-D3B319468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4BD96D-2E63-1C4F-8087-53BB4E694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9810C-69C3-4B47-842C-B10122354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54B84-595A-5945-B611-9EB3A615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12348-24FC-5143-9637-33BCB6AE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02D09-2BE8-E041-8E1B-3616FA2D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FEB1-A47A-C84D-9DA4-1E609D98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BB052-A367-9D41-AEE1-BEAA7A84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0484C-AC3C-9449-9C8A-A6EC7E72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54AB1-3149-154E-84A8-BA81F752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7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35BDF-B0C7-B942-988F-F11F3FB4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0A7BA-144F-2747-BDC7-9933DDA8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C16C5-07FE-B642-B739-A6D58236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7666-E595-BD47-9DCF-F18FF492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0FD0-5D61-7443-99FD-B9501DA17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CEC03-F2AB-2F40-BD9F-920DF28F4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C7721-5E10-664D-9A03-30926213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315D1-8C82-CC43-91EF-30F1BDF1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54DC-699B-F940-95EA-4AFEF77D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7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8FBB-7CFB-5C42-B781-6C32FCF4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B86AC-35A1-804D-A955-BA8084AEC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B6403-16F6-B847-99C1-4119C5906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25757-FF0C-C542-93DC-6F03E01E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97146-618F-5140-983F-B8FC09D6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90FE1-8C82-1645-AA18-A902EF46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EEEA-3A91-5140-ACDF-68FE85F9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56A7E-C0A0-3F41-886A-F7BDBC293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043DE-876D-A246-A704-2A1643A0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C946A-8411-0F46-A272-D18F9358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96FB-A6CD-114E-A7BE-9F86DC78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F9168-3263-7743-B128-1AC9882CE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9F845-4EF3-0E4E-AEFA-2C5FA13B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52FA-AC1C-CF43-BF4E-810BBF0D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0A63-9FE0-FA47-85A1-0D49077C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316C1-46E8-F947-A57E-F6E831EF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D3D62-98A3-F54A-92E9-3459A735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C63DE-4515-DA4E-9C63-3D51471F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2D62-6D59-C047-A407-7A0794029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(c) </a:t>
            </a:r>
            <a:r>
              <a:rPr lang="en-US" dirty="0" err="1"/>
              <a:t>D.Mery</a:t>
            </a:r>
            <a:r>
              <a:rPr lang="en-US" dirty="0"/>
              <a:t> - CV03D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117E-B35F-8942-89D6-2B6C47AE1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6474-7102-B54C-8867-9C5EEB20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57EB8209-5138-1B4E-A98D-88D629BB22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omingomery.ing.uc.c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9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4.png"/><Relationship Id="rId7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1.wdp"/><Relationship Id="rId4" Type="http://schemas.openxmlformats.org/officeDocument/2006/relationships/image" Target="../media/image20.jpeg"/><Relationship Id="rId9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microsoft.com/office/2007/relationships/hdphoto" Target="../media/hdphoto1.wdp"/><Relationship Id="rId4" Type="http://schemas.openxmlformats.org/officeDocument/2006/relationships/image" Target="../media/image20.jpeg"/><Relationship Id="rId9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microsoft.com/office/2007/relationships/hdphoto" Target="../media/hdphoto1.wdp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28.emf"/><Relationship Id="rId7" Type="http://schemas.openxmlformats.org/officeDocument/2006/relationships/image" Target="../media/image34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28.emf"/><Relationship Id="rId7" Type="http://schemas.openxmlformats.org/officeDocument/2006/relationships/image" Target="../media/image34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emf"/><Relationship Id="rId7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36.em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8.emf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emf"/><Relationship Id="rId7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36.em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8.emf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emf"/><Relationship Id="rId7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36.em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8.emf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7.emf"/><Relationship Id="rId7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36.emf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8.emf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image" Target="../media/image44.emf"/><Relationship Id="rId3" Type="http://schemas.openxmlformats.org/officeDocument/2006/relationships/image" Target="../media/image23.png"/><Relationship Id="rId7" Type="http://schemas.openxmlformats.org/officeDocument/2006/relationships/image" Target="../media/image38.emf"/><Relationship Id="rId12" Type="http://schemas.openxmlformats.org/officeDocument/2006/relationships/image" Target="../media/image43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42.emf"/><Relationship Id="rId5" Type="http://schemas.openxmlformats.org/officeDocument/2006/relationships/image" Target="../media/image20.jpeg"/><Relationship Id="rId10" Type="http://schemas.openxmlformats.org/officeDocument/2006/relationships/image" Target="../media/image41.png"/><Relationship Id="rId4" Type="http://schemas.openxmlformats.org/officeDocument/2006/relationships/image" Target="../media/image24.png"/><Relationship Id="rId9" Type="http://schemas.openxmlformats.org/officeDocument/2006/relationships/image" Target="../media/image4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4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6.emf"/><Relationship Id="rId3" Type="http://schemas.openxmlformats.org/officeDocument/2006/relationships/image" Target="../media/image46.png"/><Relationship Id="rId7" Type="http://schemas.openxmlformats.org/officeDocument/2006/relationships/image" Target="../media/image50.emf"/><Relationship Id="rId12" Type="http://schemas.openxmlformats.org/officeDocument/2006/relationships/image" Target="../media/image55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11" Type="http://schemas.openxmlformats.org/officeDocument/2006/relationships/image" Target="../media/image54.emf"/><Relationship Id="rId5" Type="http://schemas.openxmlformats.org/officeDocument/2006/relationships/image" Target="../media/image48.emf"/><Relationship Id="rId15" Type="http://schemas.openxmlformats.org/officeDocument/2006/relationships/image" Target="../media/image58.emf"/><Relationship Id="rId10" Type="http://schemas.openxmlformats.org/officeDocument/2006/relationships/image" Target="../media/image53.emf"/><Relationship Id="rId4" Type="http://schemas.openxmlformats.org/officeDocument/2006/relationships/image" Target="../media/image47.emf"/><Relationship Id="rId9" Type="http://schemas.openxmlformats.org/officeDocument/2006/relationships/image" Target="../media/image52.emf"/><Relationship Id="rId14" Type="http://schemas.openxmlformats.org/officeDocument/2006/relationships/image" Target="../media/image5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3" Type="http://schemas.openxmlformats.org/officeDocument/2006/relationships/image" Target="../media/image45.png"/><Relationship Id="rId7" Type="http://schemas.openxmlformats.org/officeDocument/2006/relationships/image" Target="../media/image53.emf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emf"/><Relationship Id="rId11" Type="http://schemas.openxmlformats.org/officeDocument/2006/relationships/image" Target="../media/image60.emf"/><Relationship Id="rId5" Type="http://schemas.openxmlformats.org/officeDocument/2006/relationships/image" Target="../media/image51.emf"/><Relationship Id="rId15" Type="http://schemas.openxmlformats.org/officeDocument/2006/relationships/image" Target="../media/image64.emf"/><Relationship Id="rId10" Type="http://schemas.openxmlformats.org/officeDocument/2006/relationships/image" Target="../media/image59.emf"/><Relationship Id="rId4" Type="http://schemas.openxmlformats.org/officeDocument/2006/relationships/image" Target="../media/image46.png"/><Relationship Id="rId9" Type="http://schemas.openxmlformats.org/officeDocument/2006/relationships/image" Target="../media/image58.emf"/><Relationship Id="rId14" Type="http://schemas.openxmlformats.org/officeDocument/2006/relationships/image" Target="../media/image6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57.emf"/><Relationship Id="rId7" Type="http://schemas.openxmlformats.org/officeDocument/2006/relationships/image" Target="../media/image62.e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58.emf"/><Relationship Id="rId9" Type="http://schemas.openxmlformats.org/officeDocument/2006/relationships/image" Target="../media/image6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image" Target="../media/image53.emf"/><Relationship Id="rId3" Type="http://schemas.openxmlformats.org/officeDocument/2006/relationships/image" Target="../media/image46.png"/><Relationship Id="rId7" Type="http://schemas.openxmlformats.org/officeDocument/2006/relationships/image" Target="../media/image50.emf"/><Relationship Id="rId12" Type="http://schemas.openxmlformats.org/officeDocument/2006/relationships/image" Target="../media/image52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emf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60.emf"/><Relationship Id="rId10" Type="http://schemas.openxmlformats.org/officeDocument/2006/relationships/image" Target="../media/image58.emf"/><Relationship Id="rId4" Type="http://schemas.openxmlformats.org/officeDocument/2006/relationships/image" Target="../media/image47.emf"/><Relationship Id="rId9" Type="http://schemas.openxmlformats.org/officeDocument/2006/relationships/image" Target="../media/image57.emf"/><Relationship Id="rId14" Type="http://schemas.openxmlformats.org/officeDocument/2006/relationships/image" Target="../media/image5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emf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tiff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tif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115.png"/><Relationship Id="rId4" Type="http://schemas.openxmlformats.org/officeDocument/2006/relationships/hyperlink" Target="https://syncedreview.com/2019/02/09/nvidia-open-sources-hyper-realistic-face-generator-stylegan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116.png"/><Relationship Id="rId4" Type="http://schemas.openxmlformats.org/officeDocument/2006/relationships/hyperlink" Target="https://syncedreview.com/2019/02/09/nvidia-open-sources-hyper-realistic-face-generator-stylegan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ulturageek.com.ar/fakeapp-que-es-deepfake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konradweber.medium.com%2F8-steps-to-verify-deep-fake-videos-1dfc408568c4&amp;psig=AOvVaw0Z7bZR8wduygdmJANoCg6L&amp;ust=1620649611961000&amp;source=images&amp;cd=vfe&amp;ved=0CA0QjhxqFwoTCPj1z5jOvPACFQAAAAAdAAAAABAP" TargetMode="External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jpg"/><Relationship Id="rId4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36F498-7A3A-14C8-CC78-33D912F54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052" y="2373094"/>
            <a:ext cx="4878554" cy="44146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3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95177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Deep Learning:  Análisis Facial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3 – CV03D)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145CD9-FF7B-C547-A0EE-5A2F55131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18317"/>
            <a:ext cx="7620000" cy="4914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4B0608-5999-5748-A446-0787083BFEA4}"/>
              </a:ext>
            </a:extLst>
          </p:cNvPr>
          <p:cNvSpPr txBox="1"/>
          <p:nvPr/>
        </p:nvSpPr>
        <p:spPr>
          <a:xfrm>
            <a:off x="2247588" y="712370"/>
            <a:ext cx="6447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  <a:cs typeface="Trebuchet MS"/>
              </a:rPr>
              <a:t>La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cara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de una persona dice </a:t>
            </a:r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mucho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…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653EA-DD3B-0EE7-0EF2-EF8A700C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0AA82-4FF9-17A5-6813-FBE42525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7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07D99-3F4B-0340-BAB9-E5D89B50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71" y="1513006"/>
            <a:ext cx="9144000" cy="50085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49F807-8D47-FB4F-A643-3FF5A609E45C}"/>
              </a:ext>
            </a:extLst>
          </p:cNvPr>
          <p:cNvSpPr txBox="1"/>
          <p:nvPr/>
        </p:nvSpPr>
        <p:spPr>
          <a:xfrm>
            <a:off x="1981201" y="1535676"/>
            <a:ext cx="20855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Collection of Images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4C0893-CF60-4C46-849F-2F5A5FC1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367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Análisis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2A5BD-C1BF-4FC2-246E-CB4948C9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50C05-EB58-2A58-A617-59EDF6E2D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96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558F-7306-F741-8892-F709A4C0D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3678"/>
            <a:ext cx="8229600" cy="1143000"/>
          </a:xfrm>
        </p:spPr>
        <p:txBody>
          <a:bodyPr/>
          <a:lstStyle/>
          <a:p>
            <a:pPr algn="l"/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1. Reconocimiento Facial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8A98-77A0-8948-B387-2F069D00E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557966"/>
          </a:xfrm>
        </p:spPr>
        <p:txBody>
          <a:bodyPr>
            <a:normAutofit/>
          </a:bodyPr>
          <a:lstStyle/>
          <a:p>
            <a:pPr algn="just"/>
            <a:r>
              <a:rPr lang="es-ES_tradnl" sz="2400" dirty="0"/>
              <a:t>La tarea es reconocer a una persona a través de su foto facial, o bien determinar si dos fotos de una cara pertenecen a la misma persona.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AEE214-B516-AC47-A333-1165ABEEF821}"/>
              </a:ext>
            </a:extLst>
          </p:cNvPr>
          <p:cNvGrpSpPr/>
          <p:nvPr/>
        </p:nvGrpSpPr>
        <p:grpSpPr>
          <a:xfrm>
            <a:off x="2081223" y="3782157"/>
            <a:ext cx="1744675" cy="2191365"/>
            <a:chOff x="557222" y="3782156"/>
            <a:chExt cx="1744675" cy="21913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BC93E-5390-BD44-9DC5-7DD92C760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222" y="3782156"/>
              <a:ext cx="1744675" cy="1744675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48026F-D599-CB4C-97B2-BF8DDABC185E}"/>
                </a:ext>
              </a:extLst>
            </p:cNvPr>
            <p:cNvSpPr txBox="1"/>
            <p:nvPr/>
          </p:nvSpPr>
          <p:spPr>
            <a:xfrm>
              <a:off x="683809" y="5604189"/>
              <a:ext cx="1491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  <a:ea typeface="Ayuthaya" pitchFamily="2" charset="-34"/>
                  <a:cs typeface="Arial" panose="020B0604020202020204" pitchFamily="34" charset="0"/>
                </a:rPr>
                <a:t>Foto Enrolada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06EA918-B94F-EE4C-9A62-D3205EC46932}"/>
              </a:ext>
            </a:extLst>
          </p:cNvPr>
          <p:cNvGrpSpPr/>
          <p:nvPr/>
        </p:nvGrpSpPr>
        <p:grpSpPr>
          <a:xfrm>
            <a:off x="6096000" y="4519002"/>
            <a:ext cx="3202575" cy="1437110"/>
            <a:chOff x="4572000" y="4519002"/>
            <a:chExt cx="3202575" cy="143711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BAD3CFB-53C7-1D41-9DD8-EF6CD79818EE}"/>
                </a:ext>
              </a:extLst>
            </p:cNvPr>
            <p:cNvSpPr txBox="1"/>
            <p:nvPr/>
          </p:nvSpPr>
          <p:spPr>
            <a:xfrm>
              <a:off x="6038459" y="5586780"/>
              <a:ext cx="1736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latin typeface="Gill Sans MT" panose="020B0502020104020203" pitchFamily="34" charset="77"/>
                  <a:ea typeface="Ayuthaya" pitchFamily="2" charset="-34"/>
                  <a:cs typeface="Arial" panose="020B0604020202020204" pitchFamily="34" charset="0"/>
                </a:rPr>
                <a:t>Galería de Fotos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8E451E7-B08D-F740-976C-689DCAC81EFD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4519002"/>
              <a:ext cx="46188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2EB1B1F-2FA8-694A-8F24-796CC8E86426}"/>
              </a:ext>
            </a:extLst>
          </p:cNvPr>
          <p:cNvGrpSpPr/>
          <p:nvPr/>
        </p:nvGrpSpPr>
        <p:grpSpPr>
          <a:xfrm>
            <a:off x="2616949" y="4077109"/>
            <a:ext cx="3459141" cy="923330"/>
            <a:chOff x="1092948" y="4077109"/>
            <a:chExt cx="3459141" cy="92333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3C2485-82E8-0F42-B7B6-901EC618433E}"/>
                </a:ext>
              </a:extLst>
            </p:cNvPr>
            <p:cNvGrpSpPr/>
            <p:nvPr/>
          </p:nvGrpSpPr>
          <p:grpSpPr>
            <a:xfrm>
              <a:off x="1092948" y="4092085"/>
              <a:ext cx="1511173" cy="893379"/>
              <a:chOff x="2292537" y="4851037"/>
              <a:chExt cx="1511173" cy="89337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A0BBF65-1A73-BA47-A13A-06D514322CAE}"/>
                  </a:ext>
                </a:extLst>
              </p:cNvPr>
              <p:cNvSpPr/>
              <p:nvPr/>
            </p:nvSpPr>
            <p:spPr>
              <a:xfrm>
                <a:off x="2292537" y="4851037"/>
                <a:ext cx="683173" cy="89337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06DB7F7-90DB-6345-9533-EC0941502D9A}"/>
                  </a:ext>
                </a:extLst>
              </p:cNvPr>
              <p:cNvCxnSpPr>
                <a:stCxn id="7" idx="3"/>
              </p:cNvCxnSpPr>
              <p:nvPr/>
            </p:nvCxnSpPr>
            <p:spPr>
              <a:xfrm>
                <a:off x="2975710" y="5297727"/>
                <a:ext cx="828000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CC82A7-E738-D04B-9234-C31C2A32211F}"/>
                </a:ext>
              </a:extLst>
            </p:cNvPr>
            <p:cNvSpPr txBox="1"/>
            <p:nvPr/>
          </p:nvSpPr>
          <p:spPr>
            <a:xfrm>
              <a:off x="2713124" y="4077109"/>
              <a:ext cx="1838965" cy="92333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50"/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 </a:t>
              </a:r>
            </a:p>
            <a:p>
              <a:pPr algn="ctr"/>
              <a:r>
                <a:rPr lang="es-ES_tradnl" dirty="0">
                  <a:solidFill>
                    <a:srgbClr val="00B050"/>
                  </a:solidFill>
                  <a:latin typeface="Ayuthaya" pitchFamily="2" charset="-34"/>
                  <a:ea typeface="Ayuthaya" pitchFamily="2" charset="-34"/>
                  <a:cs typeface="Ayuthaya" pitchFamily="2" charset="-34"/>
                </a:rPr>
                <a:t>  Búsqueda  </a:t>
              </a:r>
            </a:p>
            <a:p>
              <a:pPr algn="ctr"/>
              <a:endParaRPr lang="es-ES_tradnl" dirty="0">
                <a:solidFill>
                  <a:srgbClr val="00B050"/>
                </a:solidFill>
                <a:latin typeface="Ayuthaya" pitchFamily="2" charset="-34"/>
                <a:ea typeface="Ayuthaya" pitchFamily="2" charset="-34"/>
                <a:cs typeface="Ayuthaya" pitchFamily="2" charset="-34"/>
              </a:endParaRPr>
            </a:p>
          </p:txBody>
        </p:sp>
      </p:grpSp>
      <p:pic>
        <p:nvPicPr>
          <p:cNvPr id="41" name="Picture 40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9C082091-E5C8-3747-8712-95B5F33D1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887" y="3788558"/>
            <a:ext cx="3908094" cy="1867963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EE188C1F-4E54-A945-833C-960C300DE074}"/>
              </a:ext>
            </a:extLst>
          </p:cNvPr>
          <p:cNvSpPr/>
          <p:nvPr/>
        </p:nvSpPr>
        <p:spPr>
          <a:xfrm>
            <a:off x="6489406" y="4274289"/>
            <a:ext cx="4093535" cy="159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A94A44-DE9A-4F4D-98D7-7EC2B7F8585F}"/>
              </a:ext>
            </a:extLst>
          </p:cNvPr>
          <p:cNvSpPr/>
          <p:nvPr/>
        </p:nvSpPr>
        <p:spPr>
          <a:xfrm>
            <a:off x="6489406" y="4904679"/>
            <a:ext cx="4093535" cy="159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7E93C3-78B7-B549-AD6C-8FB4865E4FF7}"/>
              </a:ext>
            </a:extLst>
          </p:cNvPr>
          <p:cNvSpPr/>
          <p:nvPr/>
        </p:nvSpPr>
        <p:spPr>
          <a:xfrm>
            <a:off x="6574466" y="5498566"/>
            <a:ext cx="4093535" cy="159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9E95A3F-4830-E04A-939C-D621FA062990}"/>
              </a:ext>
            </a:extLst>
          </p:cNvPr>
          <p:cNvGrpSpPr/>
          <p:nvPr/>
        </p:nvGrpSpPr>
        <p:grpSpPr>
          <a:xfrm>
            <a:off x="6700258" y="3847330"/>
            <a:ext cx="3624272" cy="1475522"/>
            <a:chOff x="5176258" y="3847330"/>
            <a:chExt cx="3624272" cy="147552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1BB475A-E6AF-094D-9B55-186BD26FFB3C}"/>
                </a:ext>
              </a:extLst>
            </p:cNvPr>
            <p:cNvSpPr/>
            <p:nvPr/>
          </p:nvSpPr>
          <p:spPr>
            <a:xfrm>
              <a:off x="5176258" y="3893476"/>
              <a:ext cx="219157" cy="24634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77422F1-3456-914F-833A-8E8E2460BB5A}"/>
                </a:ext>
              </a:extLst>
            </p:cNvPr>
            <p:cNvSpPr/>
            <p:nvPr/>
          </p:nvSpPr>
          <p:spPr>
            <a:xfrm>
              <a:off x="5824528" y="3847330"/>
              <a:ext cx="130446" cy="15949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669A52C-3635-8141-AF55-3E4B40E82BCB}"/>
                </a:ext>
              </a:extLst>
            </p:cNvPr>
            <p:cNvSpPr/>
            <p:nvPr/>
          </p:nvSpPr>
          <p:spPr>
            <a:xfrm>
              <a:off x="6253410" y="3893476"/>
              <a:ext cx="130447" cy="19861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68AAD98-CF32-7044-A7FE-07ECEFC84AD2}"/>
                </a:ext>
              </a:extLst>
            </p:cNvPr>
            <p:cNvSpPr/>
            <p:nvPr/>
          </p:nvSpPr>
          <p:spPr>
            <a:xfrm>
              <a:off x="7061395" y="3905555"/>
              <a:ext cx="180458" cy="198611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900C5BC-E992-6045-BC7C-487F8A606FAD}"/>
                </a:ext>
              </a:extLst>
            </p:cNvPr>
            <p:cNvSpPr/>
            <p:nvPr/>
          </p:nvSpPr>
          <p:spPr>
            <a:xfrm>
              <a:off x="7443761" y="3898731"/>
              <a:ext cx="177193" cy="20543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9104D5F-3817-0441-8074-1AD78F0ACC16}"/>
                </a:ext>
              </a:extLst>
            </p:cNvPr>
            <p:cNvSpPr/>
            <p:nvPr/>
          </p:nvSpPr>
          <p:spPr>
            <a:xfrm>
              <a:off x="7954076" y="3869608"/>
              <a:ext cx="177193" cy="24634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68B55-7A67-CE4D-B955-0F59E1B1DC7C}"/>
                </a:ext>
              </a:extLst>
            </p:cNvPr>
            <p:cNvSpPr/>
            <p:nvPr/>
          </p:nvSpPr>
          <p:spPr>
            <a:xfrm>
              <a:off x="8514264" y="3899323"/>
              <a:ext cx="111121" cy="107497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702B933-A7EF-D947-A5D0-B6534936B4B5}"/>
                </a:ext>
              </a:extLst>
            </p:cNvPr>
            <p:cNvSpPr/>
            <p:nvPr/>
          </p:nvSpPr>
          <p:spPr>
            <a:xfrm>
              <a:off x="5264968" y="4519002"/>
              <a:ext cx="219157" cy="24634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7F68DDC-02AD-EC4C-9911-39A3E5679A70}"/>
                </a:ext>
              </a:extLst>
            </p:cNvPr>
            <p:cNvSpPr/>
            <p:nvPr/>
          </p:nvSpPr>
          <p:spPr>
            <a:xfrm>
              <a:off x="5767664" y="4486503"/>
              <a:ext cx="130446" cy="15949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8E5951-DD8B-2742-A41C-89DA4AD828D2}"/>
                </a:ext>
              </a:extLst>
            </p:cNvPr>
            <p:cNvSpPr/>
            <p:nvPr/>
          </p:nvSpPr>
          <p:spPr>
            <a:xfrm>
              <a:off x="6364869" y="4509904"/>
              <a:ext cx="130447" cy="19861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C0FC292-1C25-F24C-850D-05747E488B01}"/>
                </a:ext>
              </a:extLst>
            </p:cNvPr>
            <p:cNvSpPr/>
            <p:nvPr/>
          </p:nvSpPr>
          <p:spPr>
            <a:xfrm>
              <a:off x="6827108" y="4476488"/>
              <a:ext cx="130446" cy="139491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77FC4E1-419A-C34C-A69C-86C1FAD3BA53}"/>
                </a:ext>
              </a:extLst>
            </p:cNvPr>
            <p:cNvSpPr/>
            <p:nvPr/>
          </p:nvSpPr>
          <p:spPr>
            <a:xfrm>
              <a:off x="7395999" y="4496959"/>
              <a:ext cx="104577" cy="16639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7E0FAF7-B4FC-064B-BE78-363CA38A8BEA}"/>
                </a:ext>
              </a:extLst>
            </p:cNvPr>
            <p:cNvSpPr/>
            <p:nvPr/>
          </p:nvSpPr>
          <p:spPr>
            <a:xfrm>
              <a:off x="7947259" y="4513328"/>
              <a:ext cx="177193" cy="24634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E5EB56-9566-3E4C-9815-2F16FFF86667}"/>
                </a:ext>
              </a:extLst>
            </p:cNvPr>
            <p:cNvSpPr/>
            <p:nvPr/>
          </p:nvSpPr>
          <p:spPr>
            <a:xfrm>
              <a:off x="8571135" y="4543043"/>
              <a:ext cx="111121" cy="165471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99F64CA-AE55-5C4A-8113-930074D970BD}"/>
                </a:ext>
              </a:extLst>
            </p:cNvPr>
            <p:cNvSpPr/>
            <p:nvPr/>
          </p:nvSpPr>
          <p:spPr>
            <a:xfrm>
              <a:off x="5324109" y="5155901"/>
              <a:ext cx="130447" cy="166951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9BF36C7-E702-4D4A-84E1-CDFAB7C153C9}"/>
                </a:ext>
              </a:extLst>
            </p:cNvPr>
            <p:cNvSpPr/>
            <p:nvPr/>
          </p:nvSpPr>
          <p:spPr>
            <a:xfrm>
              <a:off x="5972379" y="5109755"/>
              <a:ext cx="130446" cy="159490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895BA7-3F94-5B40-8C49-696562AC4F95}"/>
                </a:ext>
              </a:extLst>
            </p:cNvPr>
            <p:cNvSpPr/>
            <p:nvPr/>
          </p:nvSpPr>
          <p:spPr>
            <a:xfrm>
              <a:off x="6560978" y="5116191"/>
              <a:ext cx="130446" cy="153054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13C9E3B-D32A-FF40-A5A0-C20F53DC5472}"/>
                </a:ext>
              </a:extLst>
            </p:cNvPr>
            <p:cNvSpPr/>
            <p:nvPr/>
          </p:nvSpPr>
          <p:spPr>
            <a:xfrm>
              <a:off x="7050178" y="5118086"/>
              <a:ext cx="130446" cy="166951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993E599-56F3-7844-BDD0-DC0F4122539D}"/>
                </a:ext>
              </a:extLst>
            </p:cNvPr>
            <p:cNvSpPr/>
            <p:nvPr/>
          </p:nvSpPr>
          <p:spPr>
            <a:xfrm>
              <a:off x="7596162" y="5142960"/>
              <a:ext cx="102286" cy="13473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F31239-C4A6-1E42-BCE0-D36AE14237C4}"/>
                </a:ext>
              </a:extLst>
            </p:cNvPr>
            <p:cNvSpPr/>
            <p:nvPr/>
          </p:nvSpPr>
          <p:spPr>
            <a:xfrm>
              <a:off x="8179267" y="5132033"/>
              <a:ext cx="130447" cy="17345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AC41003-9322-0045-AE43-648F2EFA779D}"/>
                </a:ext>
              </a:extLst>
            </p:cNvPr>
            <p:cNvSpPr/>
            <p:nvPr/>
          </p:nvSpPr>
          <p:spPr>
            <a:xfrm>
              <a:off x="8689409" y="5098062"/>
              <a:ext cx="111121" cy="107497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954FDF18-36B4-074B-9FAC-620B1C33B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90" y="3820441"/>
            <a:ext cx="3887205" cy="17063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300BD-3CD0-B311-A3FD-05044404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6790A1-0575-03E3-5A75-32BD67B7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3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2000" fill="hold"/>
                                        <p:tgtEl>
                                          <p:spTgt spid="69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1949144" y="2185313"/>
            <a:ext cx="78149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3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&gt; Asignar una imagen a una clase o categoría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1577888" y="970691"/>
            <a:ext cx="62778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7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Clasificación de Imágenes –</a:t>
            </a:r>
            <a:r>
              <a:rPr lang="es-ES_tradnl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r>
              <a:rPr lang="es-ES_tradnl" sz="2700" dirty="0">
                <a:solidFill>
                  <a:srgbClr val="0041A1"/>
                </a:solidFill>
                <a:latin typeface="Gill Sans MT" panose="020B0502020104020203" pitchFamily="34" charset="77"/>
              </a:rPr>
              <a:t>EL PROBLEMA</a:t>
            </a:r>
            <a:r>
              <a:rPr lang="es-ES_tradnl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27758B2-91E1-7F40-BC4A-D4FEF02B0148}"/>
              </a:ext>
            </a:extLst>
          </p:cNvPr>
          <p:cNvGrpSpPr/>
          <p:nvPr/>
        </p:nvGrpSpPr>
        <p:grpSpPr>
          <a:xfrm>
            <a:off x="4716007" y="4045800"/>
            <a:ext cx="3813625" cy="876933"/>
            <a:chOff x="4256009" y="4251399"/>
            <a:chExt cx="5084834" cy="1169244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3A3959F-8EB4-8B4C-BC49-F1887910289D}"/>
                </a:ext>
              </a:extLst>
            </p:cNvPr>
            <p:cNvSpPr/>
            <p:nvPr/>
          </p:nvSpPr>
          <p:spPr>
            <a:xfrm>
              <a:off x="5090423" y="4251399"/>
              <a:ext cx="2486025" cy="11692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 err="1">
                  <a:latin typeface="Gill Sans MT" panose="020B0502020104020203" pitchFamily="34" charset="77"/>
                </a:rPr>
                <a:t>Image</a:t>
              </a:r>
              <a:r>
                <a:rPr lang="es-ES_tradnl" dirty="0">
                  <a:latin typeface="Gill Sans MT" panose="020B0502020104020203" pitchFamily="34" charset="77"/>
                </a:rPr>
                <a:t> </a:t>
              </a:r>
              <a:r>
                <a:rPr lang="es-ES_tradnl" dirty="0" err="1">
                  <a:latin typeface="Gill Sans MT" panose="020B0502020104020203" pitchFamily="34" charset="77"/>
                </a:rPr>
                <a:t>Classification</a:t>
              </a:r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850C335-1086-0449-8D3F-08BE2AB91C49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4256009" y="4836021"/>
              <a:ext cx="8344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A576288-E500-3D4B-BF57-9F43C8FC9FAE}"/>
                </a:ext>
              </a:extLst>
            </p:cNvPr>
            <p:cNvCxnSpPr/>
            <p:nvPr/>
          </p:nvCxnSpPr>
          <p:spPr>
            <a:xfrm>
              <a:off x="7594521" y="4836021"/>
              <a:ext cx="8344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95275E-7A3D-FC41-89C8-1A631E698801}"/>
                </a:ext>
              </a:extLst>
            </p:cNvPr>
            <p:cNvSpPr/>
            <p:nvPr/>
          </p:nvSpPr>
          <p:spPr>
            <a:xfrm>
              <a:off x="8513266" y="4605188"/>
              <a:ext cx="82757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</a:rPr>
                <a:t>'</a:t>
              </a:r>
              <a:r>
                <a:rPr lang="es-ES_tradnl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</a:rPr>
                <a:t>dog</a:t>
              </a:r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</a:rPr>
                <a:t>’</a:t>
              </a:r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11" name="Picture 10" descr="A brown and white dog looking at the camera&#10;&#10;Description automatically generated">
            <a:extLst>
              <a:ext uri="{FF2B5EF4-FFF2-40B4-BE49-F238E27FC236}">
                <a16:creationId xmlns:a16="http://schemas.microsoft.com/office/drawing/2014/main" id="{ECD879D0-E9E8-194C-812D-92F11669D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771" y="3737398"/>
            <a:ext cx="1485000" cy="1485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A415CF4-D239-9F41-A30B-572BB7EAD771}"/>
              </a:ext>
            </a:extLst>
          </p:cNvPr>
          <p:cNvGrpSpPr/>
          <p:nvPr/>
        </p:nvGrpSpPr>
        <p:grpSpPr>
          <a:xfrm>
            <a:off x="3480391" y="5255278"/>
            <a:ext cx="5307455" cy="507831"/>
            <a:chOff x="2608519" y="5864032"/>
            <a:chExt cx="7076607" cy="67710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6AB341-71C8-AA47-9776-20134245298B}"/>
                </a:ext>
              </a:extLst>
            </p:cNvPr>
            <p:cNvSpPr/>
            <p:nvPr/>
          </p:nvSpPr>
          <p:spPr>
            <a:xfrm>
              <a:off x="2608519" y="5864032"/>
              <a:ext cx="1338349" cy="6771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Input: Imagen</a:t>
              </a:r>
              <a:endParaRPr lang="es-ES_tradnl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141CEC-99F6-A341-A7A2-815C01281290}"/>
                </a:ext>
              </a:extLst>
            </p:cNvPr>
            <p:cNvSpPr/>
            <p:nvPr/>
          </p:nvSpPr>
          <p:spPr>
            <a:xfrm>
              <a:off x="8109562" y="5864032"/>
              <a:ext cx="1575564" cy="400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Output: Clase</a:t>
              </a:r>
              <a:endParaRPr lang="es-ES_tradnl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7A9F4-5AA8-75E2-15A4-9EC7F8D8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B1B5-22D2-B035-3E98-F6E596DE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1949144" y="2185313"/>
            <a:ext cx="78149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3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&gt; Asignar una imagen a una clase o categoría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1577888" y="970691"/>
            <a:ext cx="627780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7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Clasificación de Imágenes –</a:t>
            </a:r>
            <a:r>
              <a:rPr lang="es-ES_tradnl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r>
              <a:rPr lang="es-ES_tradnl" sz="2700" dirty="0">
                <a:solidFill>
                  <a:srgbClr val="0041A1"/>
                </a:solidFill>
                <a:latin typeface="Gill Sans MT" panose="020B0502020104020203" pitchFamily="34" charset="77"/>
              </a:rPr>
              <a:t>EL PROBLEMA</a:t>
            </a:r>
            <a:r>
              <a:rPr lang="es-ES_tradnl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27758B2-91E1-7F40-BC4A-D4FEF02B0148}"/>
              </a:ext>
            </a:extLst>
          </p:cNvPr>
          <p:cNvGrpSpPr/>
          <p:nvPr/>
        </p:nvGrpSpPr>
        <p:grpSpPr>
          <a:xfrm>
            <a:off x="4716007" y="4045800"/>
            <a:ext cx="3747903" cy="876933"/>
            <a:chOff x="4256009" y="4251399"/>
            <a:chExt cx="4997204" cy="1169244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3A3959F-8EB4-8B4C-BC49-F1887910289D}"/>
                </a:ext>
              </a:extLst>
            </p:cNvPr>
            <p:cNvSpPr/>
            <p:nvPr/>
          </p:nvSpPr>
          <p:spPr>
            <a:xfrm>
              <a:off x="5090423" y="4251399"/>
              <a:ext cx="2486025" cy="116924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 err="1">
                  <a:latin typeface="Gill Sans MT" panose="020B0502020104020203" pitchFamily="34" charset="77"/>
                </a:rPr>
                <a:t>Image</a:t>
              </a:r>
              <a:r>
                <a:rPr lang="es-ES_tradnl" dirty="0">
                  <a:latin typeface="Gill Sans MT" panose="020B0502020104020203" pitchFamily="34" charset="77"/>
                </a:rPr>
                <a:t> </a:t>
              </a:r>
              <a:r>
                <a:rPr lang="es-ES_tradnl" dirty="0" err="1">
                  <a:latin typeface="Gill Sans MT" panose="020B0502020104020203" pitchFamily="34" charset="77"/>
                </a:rPr>
                <a:t>Classification</a:t>
              </a:r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850C335-1086-0449-8D3F-08BE2AB91C49}"/>
                </a:ext>
              </a:extLst>
            </p:cNvPr>
            <p:cNvCxnSpPr>
              <a:cxnSpLocks/>
              <a:endCxn id="2" idx="1"/>
            </p:cNvCxnSpPr>
            <p:nvPr/>
          </p:nvCxnSpPr>
          <p:spPr>
            <a:xfrm>
              <a:off x="4256009" y="4836021"/>
              <a:ext cx="8344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A576288-E500-3D4B-BF57-9F43C8FC9FAE}"/>
                </a:ext>
              </a:extLst>
            </p:cNvPr>
            <p:cNvCxnSpPr/>
            <p:nvPr/>
          </p:nvCxnSpPr>
          <p:spPr>
            <a:xfrm>
              <a:off x="7594521" y="4836021"/>
              <a:ext cx="834414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95275E-7A3D-FC41-89C8-1A631E698801}"/>
                </a:ext>
              </a:extLst>
            </p:cNvPr>
            <p:cNvSpPr/>
            <p:nvPr/>
          </p:nvSpPr>
          <p:spPr>
            <a:xfrm>
              <a:off x="8513266" y="4605188"/>
              <a:ext cx="73994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</a:rPr>
                <a:t>'</a:t>
              </a:r>
              <a:r>
                <a:rPr lang="es-ES_tradnl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</a:rPr>
                <a:t>cat</a:t>
              </a:r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</a:rPr>
                <a:t>’</a:t>
              </a:r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A415CF4-D239-9F41-A30B-572BB7EAD771}"/>
              </a:ext>
            </a:extLst>
          </p:cNvPr>
          <p:cNvGrpSpPr/>
          <p:nvPr/>
        </p:nvGrpSpPr>
        <p:grpSpPr>
          <a:xfrm>
            <a:off x="3480391" y="5255278"/>
            <a:ext cx="5307455" cy="507831"/>
            <a:chOff x="2608519" y="5864032"/>
            <a:chExt cx="7076607" cy="67710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6AB341-71C8-AA47-9776-20134245298B}"/>
                </a:ext>
              </a:extLst>
            </p:cNvPr>
            <p:cNvSpPr/>
            <p:nvPr/>
          </p:nvSpPr>
          <p:spPr>
            <a:xfrm>
              <a:off x="2608519" y="5864032"/>
              <a:ext cx="1338349" cy="6771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Input: Imagen</a:t>
              </a:r>
              <a:endParaRPr lang="es-ES_tradnl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141CEC-99F6-A341-A7A2-815C01281290}"/>
                </a:ext>
              </a:extLst>
            </p:cNvPr>
            <p:cNvSpPr/>
            <p:nvPr/>
          </p:nvSpPr>
          <p:spPr>
            <a:xfrm>
              <a:off x="8109562" y="5864032"/>
              <a:ext cx="1575564" cy="400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sz="13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Output: Clase</a:t>
              </a:r>
              <a:endParaRPr lang="es-ES_tradnl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E176493-1B74-C14F-B540-984C19B3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239771" y="3740368"/>
            <a:ext cx="1485000" cy="147906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334F3-66BD-A305-F833-351E114A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37725-6EA8-564E-0F1B-64BC582A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7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38CF87D-E955-D448-B57C-CA26A245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306" y="1743495"/>
            <a:ext cx="9121175" cy="33729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16006" y="5393774"/>
            <a:ext cx="1104899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latin typeface="Gill Sans MT" panose="020B0502020104020203" pitchFamily="34" charset="77"/>
                <a:cs typeface="Trebuchet MS"/>
              </a:rPr>
              <a:t>Input image</a:t>
            </a:r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85116" y="4534892"/>
            <a:ext cx="62792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latin typeface="Gill Sans MT" panose="020B0502020104020203" pitchFamily="34" charset="77"/>
                <a:cs typeface="Trebuchet MS"/>
              </a:rPr>
              <a:t>Layers</a:t>
            </a:r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752035" y="4801991"/>
            <a:ext cx="72487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350" dirty="0">
                <a:latin typeface="Gill Sans MT" panose="020B0502020104020203" pitchFamily="34" charset="77"/>
                <a:cs typeface="Trebuchet MS"/>
              </a:rPr>
              <a:t>Output</a:t>
            </a:r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EABA11-B941-FE44-B41C-676389655CAD}"/>
              </a:ext>
            </a:extLst>
          </p:cNvPr>
          <p:cNvCxnSpPr/>
          <p:nvPr/>
        </p:nvCxnSpPr>
        <p:spPr>
          <a:xfrm>
            <a:off x="1788194" y="4986649"/>
            <a:ext cx="0" cy="40712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6E5F3C7-C87C-464E-A270-456117909E16}"/>
              </a:ext>
            </a:extLst>
          </p:cNvPr>
          <p:cNvGrpSpPr/>
          <p:nvPr/>
        </p:nvGrpSpPr>
        <p:grpSpPr>
          <a:xfrm>
            <a:off x="8724899" y="4117355"/>
            <a:ext cx="1656901" cy="1772981"/>
            <a:chOff x="9601199" y="4346805"/>
            <a:chExt cx="2209201" cy="2363974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54F4121-4FD9-854C-A09D-9B5F86768553}"/>
                </a:ext>
              </a:extLst>
            </p:cNvPr>
            <p:cNvGrpSpPr/>
            <p:nvPr/>
          </p:nvGrpSpPr>
          <p:grpSpPr>
            <a:xfrm>
              <a:off x="10557664" y="6116144"/>
              <a:ext cx="458520" cy="206238"/>
              <a:chOff x="9004282" y="3842170"/>
              <a:chExt cx="458520" cy="206238"/>
            </a:xfrm>
          </p:grpSpPr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9E7B06-9A34-4743-BA03-E9651C8013F0}"/>
                  </a:ext>
                </a:extLst>
              </p:cNvPr>
              <p:cNvCxnSpPr/>
              <p:nvPr/>
            </p:nvCxnSpPr>
            <p:spPr>
              <a:xfrm>
                <a:off x="9004282" y="3842170"/>
                <a:ext cx="457200" cy="0"/>
              </a:xfrm>
              <a:prstGeom prst="straightConnector1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15ACBC1-D238-6E47-94EC-BB27E16EA89A}"/>
                  </a:ext>
                </a:extLst>
              </p:cNvPr>
              <p:cNvCxnSpPr/>
              <p:nvPr/>
            </p:nvCxnSpPr>
            <p:spPr>
              <a:xfrm>
                <a:off x="9005602" y="4048408"/>
                <a:ext cx="457200" cy="0"/>
              </a:xfrm>
              <a:prstGeom prst="straightConnector1">
                <a:avLst/>
              </a:prstGeom>
              <a:ln w="9525" cmpd="sng">
                <a:solidFill>
                  <a:schemeClr val="tx1">
                    <a:lumMod val="50000"/>
                    <a:lumOff val="50000"/>
                  </a:schemeClr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25ED822-DCD8-BA4D-A61A-D59F7FEE6FC8}"/>
                </a:ext>
              </a:extLst>
            </p:cNvPr>
            <p:cNvSpPr/>
            <p:nvPr/>
          </p:nvSpPr>
          <p:spPr>
            <a:xfrm>
              <a:off x="11164496" y="5865853"/>
              <a:ext cx="645904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350" dirty="0">
                  <a:latin typeface="Gill Sans MT" panose="020B0502020104020203" pitchFamily="34" charset="77"/>
                  <a:cs typeface="Trebuchet MS"/>
                </a:rPr>
                <a:t>Dog</a:t>
              </a:r>
            </a:p>
            <a:p>
              <a:pPr algn="ctr"/>
              <a:r>
                <a:rPr lang="en-US" sz="1350" dirty="0">
                  <a:latin typeface="Gill Sans MT" panose="020B0502020104020203" pitchFamily="34" charset="77"/>
                </a:rPr>
                <a:t>Cat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73A551F-27B6-3D47-AFEE-4AD931866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8313" y="5864483"/>
              <a:ext cx="635000" cy="647700"/>
            </a:xfrm>
            <a:prstGeom prst="rect">
              <a:avLst/>
            </a:prstGeom>
          </p:spPr>
        </p:pic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6A8AF0C-C78E-1040-A247-B743F089E589}"/>
                </a:ext>
              </a:extLst>
            </p:cNvPr>
            <p:cNvSpPr/>
            <p:nvPr/>
          </p:nvSpPr>
          <p:spPr>
            <a:xfrm>
              <a:off x="9601199" y="5630779"/>
              <a:ext cx="1080000" cy="10800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FBC9002-8C16-254E-ABB6-A703053733CF}"/>
                </a:ext>
              </a:extLst>
            </p:cNvPr>
            <p:cNvSpPr/>
            <p:nvPr/>
          </p:nvSpPr>
          <p:spPr>
            <a:xfrm>
              <a:off x="11086393" y="4346805"/>
              <a:ext cx="396000" cy="3960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Gill Sans MT" panose="020B0502020104020203" pitchFamily="34" charset="77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83C449C-783E-3844-93F3-B8B7368A09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4911" y="4646553"/>
              <a:ext cx="673306" cy="1046136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7E4705C-FA70-314D-84E1-3D9B867E3660}"/>
              </a:ext>
            </a:extLst>
          </p:cNvPr>
          <p:cNvSpPr txBox="1"/>
          <p:nvPr/>
        </p:nvSpPr>
        <p:spPr>
          <a:xfrm>
            <a:off x="1577889" y="970691"/>
            <a:ext cx="580639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 err="1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r>
              <a:rPr lang="en-US" sz="27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sz="2700" dirty="0" err="1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Imágenes</a:t>
            </a:r>
            <a:r>
              <a:rPr lang="en-US" sz="27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 –</a:t>
            </a:r>
            <a:r>
              <a:rPr lang="en-US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r>
              <a:rPr lang="en-US" sz="2700" dirty="0">
                <a:solidFill>
                  <a:srgbClr val="0041A1"/>
                </a:solidFill>
                <a:latin typeface="Gill Sans MT" panose="020B0502020104020203" pitchFamily="34" charset="77"/>
              </a:rPr>
              <a:t>La </a:t>
            </a:r>
            <a:r>
              <a:rPr lang="en-US" sz="2700" dirty="0" err="1">
                <a:solidFill>
                  <a:srgbClr val="0041A1"/>
                </a:solidFill>
                <a:latin typeface="Gill Sans MT" panose="020B0502020104020203" pitchFamily="34" charset="77"/>
              </a:rPr>
              <a:t>Solución</a:t>
            </a:r>
            <a:r>
              <a:rPr lang="en-US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004D7E-ED56-E44A-8FE4-C2B1E79E71B6}"/>
              </a:ext>
            </a:extLst>
          </p:cNvPr>
          <p:cNvSpPr txBox="1"/>
          <p:nvPr/>
        </p:nvSpPr>
        <p:spPr>
          <a:xfrm>
            <a:off x="8124612" y="959260"/>
            <a:ext cx="223330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700" dirty="0">
                <a:latin typeface="Gill Sans MT" panose="020B0502020104020203" pitchFamily="34" charset="77"/>
                <a:cs typeface="Trebuchet MS"/>
              </a:rPr>
              <a:t>Deep Learning</a:t>
            </a:r>
            <a:endParaRPr lang="en-US" sz="21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4F817-AE13-5703-5D08-C3F77C1A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B22C6-FDE5-86D0-0B91-38581D3F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2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38CF87D-E955-D448-B57C-CA26A245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306" y="1743495"/>
            <a:ext cx="9121175" cy="337293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B45DC45-9002-534F-A5DE-903213B0DD2B}"/>
              </a:ext>
            </a:extLst>
          </p:cNvPr>
          <p:cNvGrpSpPr/>
          <p:nvPr/>
        </p:nvGrpSpPr>
        <p:grpSpPr>
          <a:xfrm>
            <a:off x="1762157" y="1865942"/>
            <a:ext cx="1298273" cy="3274886"/>
            <a:chOff x="317541" y="1344923"/>
            <a:chExt cx="1731030" cy="43665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4876B73-2BB6-1042-928D-8D9215E69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342" y="1714256"/>
              <a:ext cx="1521055" cy="174833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E9F0C2-C3BF-7942-8EBD-8D406DBE6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941" y="4005807"/>
              <a:ext cx="1705630" cy="170563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C439AC6-9ADA-F441-BF49-EE9F81C8F536}"/>
                </a:ext>
              </a:extLst>
            </p:cNvPr>
            <p:cNvSpPr txBox="1"/>
            <p:nvPr/>
          </p:nvSpPr>
          <p:spPr>
            <a:xfrm>
              <a:off x="368342" y="1344923"/>
              <a:ext cx="73567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latin typeface="Gill Sans MT" panose="020B0502020104020203" pitchFamily="34" charset="77"/>
                </a:rPr>
                <a:t>Dogs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E6E98B-6316-254C-A3C2-D3CA8C149885}"/>
                </a:ext>
              </a:extLst>
            </p:cNvPr>
            <p:cNvSpPr txBox="1"/>
            <p:nvPr/>
          </p:nvSpPr>
          <p:spPr>
            <a:xfrm>
              <a:off x="317541" y="3715995"/>
              <a:ext cx="69292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latin typeface="Gill Sans MT" panose="020B0502020104020203" pitchFamily="34" charset="77"/>
                </a:rPr>
                <a:t>Cats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B4D9EEB-38B5-4C41-AFAB-662744C63B11}"/>
              </a:ext>
            </a:extLst>
          </p:cNvPr>
          <p:cNvSpPr/>
          <p:nvPr/>
        </p:nvSpPr>
        <p:spPr>
          <a:xfrm>
            <a:off x="1829982" y="5354948"/>
            <a:ext cx="1181673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  <a:cs typeface="Trebuchet MS"/>
              </a:rPr>
              <a:t>Training Data</a:t>
            </a:r>
            <a:endParaRPr lang="en-US" sz="1350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266C9C-BCED-A54F-93DD-9922F1284D65}"/>
              </a:ext>
            </a:extLst>
          </p:cNvPr>
          <p:cNvGrpSpPr/>
          <p:nvPr/>
        </p:nvGrpSpPr>
        <p:grpSpPr>
          <a:xfrm>
            <a:off x="5711523" y="2198271"/>
            <a:ext cx="4353558" cy="3434436"/>
            <a:chOff x="6016498" y="1523333"/>
            <a:chExt cx="5804744" cy="4579248"/>
          </a:xfrm>
        </p:grpSpPr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3C922FB4-545E-3C4C-AF8E-72E8D181F0FC}"/>
                </a:ext>
              </a:extLst>
            </p:cNvPr>
            <p:cNvSpPr/>
            <p:nvPr/>
          </p:nvSpPr>
          <p:spPr>
            <a:xfrm>
              <a:off x="10602319" y="3767826"/>
              <a:ext cx="406400" cy="3175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B573319-6A14-5840-8CF7-C6A8789C7AFC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18322" y="4005807"/>
              <a:ext cx="502920" cy="50292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6EB17A-665D-A845-972C-69338255CDDA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18322" y="3386826"/>
              <a:ext cx="502920" cy="502920"/>
            </a:xfrm>
            <a:prstGeom prst="rect">
              <a:avLst/>
            </a:prstGeom>
          </p:spPr>
        </p:pic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D8969733-FCD0-0F4D-B5A4-F917B1DCB792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155080" y="10271"/>
              <a:ext cx="1245110" cy="5508000"/>
            </a:xfrm>
            <a:prstGeom prst="bentConnector3">
              <a:avLst>
                <a:gd name="adj1" fmla="val 118360"/>
              </a:avLst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3C0E0D-F32C-8D49-9054-EE77170ED8B7}"/>
                </a:ext>
              </a:extLst>
            </p:cNvPr>
            <p:cNvSpPr txBox="1"/>
            <p:nvPr/>
          </p:nvSpPr>
          <p:spPr>
            <a:xfrm>
              <a:off x="6016498" y="1523333"/>
              <a:ext cx="85963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latin typeface="Gill Sans MT" panose="020B0502020104020203" pitchFamily="34" charset="77"/>
                </a:rPr>
                <a:t>errors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B02760-E408-7845-8694-6D1BEA64FA50}"/>
                </a:ext>
              </a:extLst>
            </p:cNvPr>
            <p:cNvSpPr txBox="1"/>
            <p:nvPr/>
          </p:nvSpPr>
          <p:spPr>
            <a:xfrm>
              <a:off x="8778935" y="5702472"/>
              <a:ext cx="187342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latin typeface="Gill Sans MT" panose="020B0502020104020203" pitchFamily="34" charset="77"/>
                </a:rPr>
                <a:t>Back-propagation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FE1A07-CAF6-7C41-A90E-C3006257582A}"/>
              </a:ext>
            </a:extLst>
          </p:cNvPr>
          <p:cNvSpPr/>
          <p:nvPr/>
        </p:nvSpPr>
        <p:spPr>
          <a:xfrm>
            <a:off x="4174210" y="4647154"/>
            <a:ext cx="2680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  <a:cs typeface="Trebuchet MS"/>
              </a:rPr>
              <a:t>Modelo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  <a:cs typeface="Trebuchet MS"/>
              </a:rPr>
              <a:t>Entrenado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20" name="Picture 19" descr="A brown and white dog looking at the camera&#10;&#10;Description automatically generated">
            <a:extLst>
              <a:ext uri="{FF2B5EF4-FFF2-40B4-BE49-F238E27FC236}">
                <a16:creationId xmlns:a16="http://schemas.microsoft.com/office/drawing/2014/main" id="{83D0C5A3-0752-4C4E-B330-4723D85888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8151" y="2742586"/>
            <a:ext cx="1485000" cy="1485000"/>
          </a:xfrm>
          <a:prstGeom prst="rect">
            <a:avLst/>
          </a:prstGeom>
          <a:ln w="31750">
            <a:solidFill>
              <a:srgbClr val="FF0000"/>
            </a:solidFill>
          </a:ln>
          <a:effectLst>
            <a:reflection blurRad="12700" stA="30000" endPos="30000" dist="5000" dir="5400000" sy="-100000" algn="bl" rotWithShape="0"/>
          </a:effectLst>
          <a:scene3d>
            <a:camera prst="orthographicFront">
              <a:rot lat="2460000" lon="18840000" rev="0"/>
            </a:camera>
            <a:lightRig rig="threePt" dir="t"/>
          </a:scene3d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C5280FC-29AF-D541-839A-C1B1D32F99E3}"/>
              </a:ext>
            </a:extLst>
          </p:cNvPr>
          <p:cNvSpPr/>
          <p:nvPr/>
        </p:nvSpPr>
        <p:spPr>
          <a:xfrm>
            <a:off x="9015229" y="3827453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'dog’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79E986-CF81-B647-B650-E3D63826A910}"/>
              </a:ext>
            </a:extLst>
          </p:cNvPr>
          <p:cNvGrpSpPr/>
          <p:nvPr/>
        </p:nvGrpSpPr>
        <p:grpSpPr>
          <a:xfrm>
            <a:off x="8303199" y="4115620"/>
            <a:ext cx="810000" cy="1209878"/>
            <a:chOff x="9601199" y="5097608"/>
            <a:chExt cx="1080000" cy="161317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A867E0D-8E68-0141-AE71-9C2A00BCC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18313" y="5864483"/>
              <a:ext cx="635000" cy="647700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518CDFC-26B1-864B-9348-CDCBE71D1917}"/>
                </a:ext>
              </a:extLst>
            </p:cNvPr>
            <p:cNvSpPr/>
            <p:nvPr/>
          </p:nvSpPr>
          <p:spPr>
            <a:xfrm>
              <a:off x="9601199" y="5630779"/>
              <a:ext cx="1080000" cy="1080000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Gill Sans MT" panose="020B0502020104020203" pitchFamily="34" charset="77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9C82AB-2BBE-364B-A070-BB14D6188601}"/>
                </a:ext>
              </a:extLst>
            </p:cNvPr>
            <p:cNvCxnSpPr>
              <a:cxnSpLocks/>
            </p:cNvCxnSpPr>
            <p:nvPr/>
          </p:nvCxnSpPr>
          <p:spPr>
            <a:xfrm>
              <a:off x="10135813" y="5097608"/>
              <a:ext cx="5605" cy="533171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71B8598E-96FD-6B4A-85FF-AB1357C56395}"/>
              </a:ext>
            </a:extLst>
          </p:cNvPr>
          <p:cNvSpPr/>
          <p:nvPr/>
        </p:nvSpPr>
        <p:spPr>
          <a:xfrm>
            <a:off x="8611810" y="4784404"/>
            <a:ext cx="266700" cy="274320"/>
          </a:xfrm>
          <a:custGeom>
            <a:avLst/>
            <a:gdLst>
              <a:gd name="connsiteX0" fmla="*/ 5080 w 345440"/>
              <a:gd name="connsiteY0" fmla="*/ 320040 h 365760"/>
              <a:gd name="connsiteX1" fmla="*/ 0 w 345440"/>
              <a:gd name="connsiteY1" fmla="*/ 71120 h 365760"/>
              <a:gd name="connsiteX2" fmla="*/ 111760 w 345440"/>
              <a:gd name="connsiteY2" fmla="*/ 0 h 365760"/>
              <a:gd name="connsiteX3" fmla="*/ 345440 w 345440"/>
              <a:gd name="connsiteY3" fmla="*/ 25400 h 365760"/>
              <a:gd name="connsiteX4" fmla="*/ 345440 w 345440"/>
              <a:gd name="connsiteY4" fmla="*/ 304800 h 365760"/>
              <a:gd name="connsiteX5" fmla="*/ 243840 w 345440"/>
              <a:gd name="connsiteY5" fmla="*/ 365760 h 365760"/>
              <a:gd name="connsiteX6" fmla="*/ 5080 w 345440"/>
              <a:gd name="connsiteY6" fmla="*/ 320040 h 365760"/>
              <a:gd name="connsiteX0" fmla="*/ 0 w 355600"/>
              <a:gd name="connsiteY0" fmla="*/ 350520 h 365760"/>
              <a:gd name="connsiteX1" fmla="*/ 10160 w 355600"/>
              <a:gd name="connsiteY1" fmla="*/ 71120 h 365760"/>
              <a:gd name="connsiteX2" fmla="*/ 121920 w 355600"/>
              <a:gd name="connsiteY2" fmla="*/ 0 h 365760"/>
              <a:gd name="connsiteX3" fmla="*/ 355600 w 355600"/>
              <a:gd name="connsiteY3" fmla="*/ 25400 h 365760"/>
              <a:gd name="connsiteX4" fmla="*/ 355600 w 355600"/>
              <a:gd name="connsiteY4" fmla="*/ 304800 h 365760"/>
              <a:gd name="connsiteX5" fmla="*/ 254000 w 355600"/>
              <a:gd name="connsiteY5" fmla="*/ 365760 h 365760"/>
              <a:gd name="connsiteX6" fmla="*/ 0 w 355600"/>
              <a:gd name="connsiteY6" fmla="*/ 35052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5600" h="365760">
                <a:moveTo>
                  <a:pt x="0" y="350520"/>
                </a:moveTo>
                <a:lnTo>
                  <a:pt x="10160" y="71120"/>
                </a:lnTo>
                <a:lnTo>
                  <a:pt x="121920" y="0"/>
                </a:lnTo>
                <a:lnTo>
                  <a:pt x="355600" y="25400"/>
                </a:lnTo>
                <a:lnTo>
                  <a:pt x="355600" y="304800"/>
                </a:lnTo>
                <a:lnTo>
                  <a:pt x="254000" y="365760"/>
                </a:lnTo>
                <a:lnTo>
                  <a:pt x="0" y="350520"/>
                </a:lnTo>
                <a:close/>
              </a:path>
            </a:pathLst>
          </a:custGeom>
          <a:solidFill>
            <a:schemeClr val="accent1"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B34082-6D4B-824A-AE5E-0648D471F18F}"/>
              </a:ext>
            </a:extLst>
          </p:cNvPr>
          <p:cNvCxnSpPr>
            <a:cxnSpLocks/>
          </p:cNvCxnSpPr>
          <p:nvPr/>
        </p:nvCxnSpPr>
        <p:spPr>
          <a:xfrm>
            <a:off x="2474616" y="3481586"/>
            <a:ext cx="724950" cy="69629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1BB86C9-BDFE-D340-B05D-53E63922BD35}"/>
              </a:ext>
            </a:extLst>
          </p:cNvPr>
          <p:cNvSpPr txBox="1"/>
          <p:nvPr/>
        </p:nvSpPr>
        <p:spPr>
          <a:xfrm>
            <a:off x="1577889" y="970691"/>
            <a:ext cx="580639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 err="1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r>
              <a:rPr lang="en-US" sz="27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sz="2700" dirty="0" err="1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Imágenes</a:t>
            </a:r>
            <a:r>
              <a:rPr lang="en-US" sz="2700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 –</a:t>
            </a:r>
            <a:r>
              <a:rPr lang="en-US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  <a:r>
              <a:rPr lang="en-US" sz="2700" dirty="0">
                <a:solidFill>
                  <a:srgbClr val="0041A1"/>
                </a:solidFill>
                <a:latin typeface="Gill Sans MT" panose="020B0502020104020203" pitchFamily="34" charset="77"/>
              </a:rPr>
              <a:t>La </a:t>
            </a:r>
            <a:r>
              <a:rPr lang="en-US" sz="2700" dirty="0" err="1">
                <a:solidFill>
                  <a:srgbClr val="0041A1"/>
                </a:solidFill>
                <a:latin typeface="Gill Sans MT" panose="020B0502020104020203" pitchFamily="34" charset="77"/>
              </a:rPr>
              <a:t>Solución</a:t>
            </a:r>
            <a:r>
              <a:rPr lang="en-US" sz="27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82DE65-91F8-F740-AEA0-9C9EB688AAEA}"/>
              </a:ext>
            </a:extLst>
          </p:cNvPr>
          <p:cNvSpPr txBox="1"/>
          <p:nvPr/>
        </p:nvSpPr>
        <p:spPr>
          <a:xfrm>
            <a:off x="8124612" y="959260"/>
            <a:ext cx="223330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700" dirty="0">
                <a:latin typeface="Gill Sans MT" panose="020B0502020104020203" pitchFamily="34" charset="77"/>
                <a:cs typeface="Trebuchet MS"/>
              </a:rPr>
              <a:t>Deep Learning</a:t>
            </a:r>
            <a:endParaRPr lang="en-US" sz="21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D10AE-2672-FA0A-53E6-A700258C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FE9CC7-C0F1-8877-7E51-5898143A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7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67000" y="6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9" grpId="0"/>
      <p:bldP spid="22" grpId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FEAE-3174-6842-A923-41FB3BBC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45772-1F29-5241-80FE-4DB145D8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EFADF-DE4A-7E29-21AD-B459C874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8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colorfulness, orange, creativity, art&#10;&#10;Description automatically generated">
            <a:extLst>
              <a:ext uri="{FF2B5EF4-FFF2-40B4-BE49-F238E27FC236}">
                <a16:creationId xmlns:a16="http://schemas.microsoft.com/office/drawing/2014/main" id="{C1449D07-6850-6EDC-3D3A-32F42A1E8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190" y="2226339"/>
            <a:ext cx="4542987" cy="16853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5DFEAE-3174-6842-A923-41FB3BBC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911A36E-9092-8449-9A57-62571AF69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952" y="2011210"/>
            <a:ext cx="2882900" cy="14859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665C9EF-B7CF-7344-ACD9-1816AFB15C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837"/>
          <a:stretch/>
        </p:blipFill>
        <p:spPr>
          <a:xfrm>
            <a:off x="2503002" y="3958228"/>
            <a:ext cx="2844800" cy="56031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C56DDBA-EF1E-8A43-B4F4-64F083ACF3BF}"/>
              </a:ext>
            </a:extLst>
          </p:cNvPr>
          <p:cNvSpPr txBox="1"/>
          <p:nvPr/>
        </p:nvSpPr>
        <p:spPr>
          <a:xfrm>
            <a:off x="1488993" y="2086367"/>
            <a:ext cx="85799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1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2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3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>
                <a:latin typeface="Gill Sans MT" panose="020B0502020104020203" pitchFamily="34" charset="77"/>
              </a:rPr>
              <a:t>: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N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922232A-BB48-5547-81B2-B2CD3B16BCDF}"/>
              </a:ext>
            </a:extLst>
          </p:cNvPr>
          <p:cNvSpPr/>
          <p:nvPr/>
        </p:nvSpPr>
        <p:spPr>
          <a:xfrm rot="16200000">
            <a:off x="3821589" y="3297431"/>
            <a:ext cx="344592" cy="30198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BF9B7B-DAA6-7448-A26D-A0170BD31207}"/>
              </a:ext>
            </a:extLst>
          </p:cNvPr>
          <p:cNvSpPr txBox="1"/>
          <p:nvPr/>
        </p:nvSpPr>
        <p:spPr>
          <a:xfrm>
            <a:off x="2487168" y="5113080"/>
            <a:ext cx="3019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 personas,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una con </a:t>
            </a:r>
            <a:r>
              <a:rPr lang="en-US" dirty="0" err="1">
                <a:latin typeface="Gill Sans MT" panose="020B0502020104020203" pitchFamily="34" charset="77"/>
              </a:rPr>
              <a:t>más</a:t>
            </a:r>
            <a:r>
              <a:rPr lang="en-US" dirty="0">
                <a:latin typeface="Gill Sans MT" panose="020B0502020104020203" pitchFamily="34" charset="77"/>
              </a:rPr>
              <a:t> de 1000 </a:t>
            </a:r>
            <a:r>
              <a:rPr lang="en-US" dirty="0" err="1">
                <a:latin typeface="Gill Sans MT" panose="020B0502020104020203" pitchFamily="34" charset="77"/>
              </a:rPr>
              <a:t>fotos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faciales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75CC63-8C32-3448-87B5-F404FFF2CED6}"/>
              </a:ext>
            </a:extLst>
          </p:cNvPr>
          <p:cNvGrpSpPr/>
          <p:nvPr/>
        </p:nvGrpSpPr>
        <p:grpSpPr>
          <a:xfrm>
            <a:off x="7849543" y="1593600"/>
            <a:ext cx="2908810" cy="1491570"/>
            <a:chOff x="6286036" y="1636686"/>
            <a:chExt cx="2908810" cy="149157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B4CF95C-EAE8-6749-B038-A6253CEA7CC5}"/>
                </a:ext>
              </a:extLst>
            </p:cNvPr>
            <p:cNvSpPr txBox="1"/>
            <p:nvPr/>
          </p:nvSpPr>
          <p:spPr>
            <a:xfrm>
              <a:off x="6286036" y="1636686"/>
              <a:ext cx="290881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EMBEDDING: Descriptor 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(vector de 512 </a:t>
              </a:r>
              <a:r>
                <a:rPr lang="en-US" dirty="0" err="1">
                  <a:latin typeface="Gill Sans MT" panose="020B0502020104020203" pitchFamily="34" charset="77"/>
                </a:rPr>
                <a:t>elementos</a:t>
              </a:r>
              <a:r>
                <a:rPr lang="en-US" dirty="0">
                  <a:latin typeface="Gill Sans MT" panose="020B0502020104020203" pitchFamily="34" charset="77"/>
                </a:rPr>
                <a:t> de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               </a:t>
              </a:r>
              <a:r>
                <a:rPr lang="en-US" dirty="0" err="1">
                  <a:latin typeface="Gill Sans MT" panose="020B0502020104020203" pitchFamily="34" charset="77"/>
                </a:rPr>
                <a:t>norma</a:t>
              </a:r>
              <a:r>
                <a:rPr lang="en-US" dirty="0">
                  <a:latin typeface="Gill Sans MT" panose="020B0502020104020203" pitchFamily="34" charset="77"/>
                </a:rPr>
                <a:t> 1)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C840455-E4B3-A645-BBA8-4F68C3598C1C}"/>
                </a:ext>
              </a:extLst>
            </p:cNvPr>
            <p:cNvCxnSpPr/>
            <p:nvPr/>
          </p:nvCxnSpPr>
          <p:spPr>
            <a:xfrm flipV="1">
              <a:off x="8711548" y="2516256"/>
              <a:ext cx="0" cy="61200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Imagen 23" descr="Screen shot 2011-09-26 at 3.09.19 PM.png">
            <a:extLst>
              <a:ext uri="{FF2B5EF4-FFF2-40B4-BE49-F238E27FC236}">
                <a16:creationId xmlns:a16="http://schemas.microsoft.com/office/drawing/2014/main" id="{1E851C9B-E0D8-7B4C-B473-724D0DCD88E0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3609" y="1035288"/>
            <a:ext cx="845276" cy="3437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99CA55-AE5B-354D-A83C-D61A5E61F9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017" y="3886686"/>
            <a:ext cx="215900" cy="2667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918DFD3-FFB7-9843-98EF-72519185F63A}"/>
              </a:ext>
            </a:extLst>
          </p:cNvPr>
          <p:cNvSpPr txBox="1"/>
          <p:nvPr/>
        </p:nvSpPr>
        <p:spPr>
          <a:xfrm>
            <a:off x="7950262" y="376178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00E65F3-A254-C743-A468-B0651D03F9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011" y="1078914"/>
            <a:ext cx="215900" cy="266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3C078E-C500-F8EF-81BE-7331C7EF34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4454" y="3836596"/>
            <a:ext cx="188546" cy="21548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02491A4-BC66-ADF7-386C-6FAA5A762EF4}"/>
              </a:ext>
            </a:extLst>
          </p:cNvPr>
          <p:cNvGrpSpPr/>
          <p:nvPr/>
        </p:nvGrpSpPr>
        <p:grpSpPr>
          <a:xfrm>
            <a:off x="6839809" y="3490890"/>
            <a:ext cx="3511817" cy="1887661"/>
            <a:chOff x="6286036" y="395356"/>
            <a:chExt cx="3511817" cy="188766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E417D6-33EE-CCAD-5F9B-A7AE233E8A62}"/>
                </a:ext>
              </a:extLst>
            </p:cNvPr>
            <p:cNvSpPr txBox="1"/>
            <p:nvPr/>
          </p:nvSpPr>
          <p:spPr>
            <a:xfrm>
              <a:off x="6286036" y="1636686"/>
              <a:ext cx="35118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OUTPUT: Vector de </a:t>
              </a:r>
              <a:r>
                <a:rPr lang="en-US" dirty="0" err="1">
                  <a:latin typeface="Gill Sans MT" panose="020B0502020104020203" pitchFamily="34" charset="77"/>
                </a:rPr>
                <a:t>probabilidades</a:t>
              </a:r>
              <a:r>
                <a:rPr lang="en-US" dirty="0">
                  <a:latin typeface="Gill Sans MT" panose="020B0502020104020203" pitchFamily="34" charset="77"/>
                </a:rPr>
                <a:t> de N </a:t>
              </a:r>
              <a:r>
                <a:rPr lang="en-US" dirty="0" err="1">
                  <a:latin typeface="Gill Sans MT" panose="020B0502020104020203" pitchFamily="34" charset="77"/>
                </a:rPr>
                <a:t>elementos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59F03D0-7864-EABC-F67E-37FF3B011A31}"/>
                </a:ext>
              </a:extLst>
            </p:cNvPr>
            <p:cNvCxnSpPr/>
            <p:nvPr/>
          </p:nvCxnSpPr>
          <p:spPr>
            <a:xfrm flipV="1">
              <a:off x="9600548" y="395356"/>
              <a:ext cx="0" cy="126000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ight Arrow 17">
            <a:extLst>
              <a:ext uri="{FF2B5EF4-FFF2-40B4-BE49-F238E27FC236}">
                <a16:creationId xmlns:a16="http://schemas.microsoft.com/office/drawing/2014/main" id="{4C1982A2-813E-1F1C-0A52-5BD3ECC66730}"/>
              </a:ext>
            </a:extLst>
          </p:cNvPr>
          <p:cNvSpPr/>
          <p:nvPr/>
        </p:nvSpPr>
        <p:spPr>
          <a:xfrm>
            <a:off x="5555167" y="29533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DAFA5-D1CA-F409-C90F-9DAF16CA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0D2BA-9508-F561-6E86-96B4B5DB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2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colorfulness, orange, creativity, art&#10;&#10;Description automatically generated">
            <a:extLst>
              <a:ext uri="{FF2B5EF4-FFF2-40B4-BE49-F238E27FC236}">
                <a16:creationId xmlns:a16="http://schemas.microsoft.com/office/drawing/2014/main" id="{C1449D07-6850-6EDC-3D3A-32F42A1E8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190" y="2226339"/>
            <a:ext cx="4542987" cy="16853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5DFEAE-3174-6842-A923-41FB3BBC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911A36E-9092-8449-9A57-62571AF69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952" y="2011210"/>
            <a:ext cx="2882900" cy="14859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665C9EF-B7CF-7344-ACD9-1816AFB15C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837"/>
          <a:stretch/>
        </p:blipFill>
        <p:spPr>
          <a:xfrm>
            <a:off x="2503002" y="3958228"/>
            <a:ext cx="2844800" cy="56031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C56DDBA-EF1E-8A43-B4F4-64F083ACF3BF}"/>
              </a:ext>
            </a:extLst>
          </p:cNvPr>
          <p:cNvSpPr txBox="1"/>
          <p:nvPr/>
        </p:nvSpPr>
        <p:spPr>
          <a:xfrm>
            <a:off x="1488993" y="2086367"/>
            <a:ext cx="85799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1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2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3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>
                <a:latin typeface="Gill Sans MT" panose="020B0502020104020203" pitchFamily="34" charset="77"/>
              </a:rPr>
              <a:t>: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  <a:p>
            <a:pPr algn="r"/>
            <a:r>
              <a:rPr lang="en-US" sz="1600" dirty="0" err="1">
                <a:latin typeface="Gill Sans MT" panose="020B0502020104020203" pitchFamily="34" charset="77"/>
              </a:rPr>
              <a:t>Clase</a:t>
            </a:r>
            <a:r>
              <a:rPr lang="en-US" sz="1600" dirty="0">
                <a:latin typeface="Gill Sans MT" panose="020B0502020104020203" pitchFamily="34" charset="77"/>
              </a:rPr>
              <a:t> N</a:t>
            </a:r>
          </a:p>
          <a:p>
            <a:pPr algn="r"/>
            <a:endParaRPr lang="en-US" sz="1600" dirty="0">
              <a:latin typeface="Gill Sans MT" panose="020B0502020104020203" pitchFamily="34" charset="77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922232A-BB48-5547-81B2-B2CD3B16BCDF}"/>
              </a:ext>
            </a:extLst>
          </p:cNvPr>
          <p:cNvSpPr/>
          <p:nvPr/>
        </p:nvSpPr>
        <p:spPr>
          <a:xfrm rot="16200000">
            <a:off x="3821589" y="3297431"/>
            <a:ext cx="344592" cy="30198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BF9B7B-DAA6-7448-A26D-A0170BD31207}"/>
              </a:ext>
            </a:extLst>
          </p:cNvPr>
          <p:cNvSpPr txBox="1"/>
          <p:nvPr/>
        </p:nvSpPr>
        <p:spPr>
          <a:xfrm>
            <a:off x="2487168" y="5113080"/>
            <a:ext cx="3019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N personas,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una con </a:t>
            </a:r>
            <a:r>
              <a:rPr lang="en-US" dirty="0" err="1">
                <a:latin typeface="Gill Sans MT" panose="020B0502020104020203" pitchFamily="34" charset="77"/>
              </a:rPr>
              <a:t>más</a:t>
            </a:r>
            <a:r>
              <a:rPr lang="en-US" dirty="0">
                <a:latin typeface="Gill Sans MT" panose="020B0502020104020203" pitchFamily="34" charset="77"/>
              </a:rPr>
              <a:t> de 1000 </a:t>
            </a:r>
            <a:r>
              <a:rPr lang="en-US" dirty="0" err="1">
                <a:latin typeface="Gill Sans MT" panose="020B0502020104020203" pitchFamily="34" charset="77"/>
              </a:rPr>
              <a:t>fotos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faciales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175CC63-8C32-3448-87B5-F404FFF2CED6}"/>
              </a:ext>
            </a:extLst>
          </p:cNvPr>
          <p:cNvGrpSpPr/>
          <p:nvPr/>
        </p:nvGrpSpPr>
        <p:grpSpPr>
          <a:xfrm>
            <a:off x="7849543" y="1593600"/>
            <a:ext cx="2908810" cy="1491570"/>
            <a:chOff x="6286036" y="1636686"/>
            <a:chExt cx="2908810" cy="149157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B4CF95C-EAE8-6749-B038-A6253CEA7CC5}"/>
                </a:ext>
              </a:extLst>
            </p:cNvPr>
            <p:cNvSpPr txBox="1"/>
            <p:nvPr/>
          </p:nvSpPr>
          <p:spPr>
            <a:xfrm>
              <a:off x="6286036" y="1636686"/>
              <a:ext cx="290881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EMBEDDING: Descriptor 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(vector de 512 </a:t>
              </a:r>
              <a:r>
                <a:rPr lang="en-US" dirty="0" err="1">
                  <a:latin typeface="Gill Sans MT" panose="020B0502020104020203" pitchFamily="34" charset="77"/>
                </a:rPr>
                <a:t>elementos</a:t>
              </a:r>
              <a:r>
                <a:rPr lang="en-US" dirty="0">
                  <a:latin typeface="Gill Sans MT" panose="020B0502020104020203" pitchFamily="34" charset="77"/>
                </a:rPr>
                <a:t> de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               </a:t>
              </a:r>
              <a:r>
                <a:rPr lang="en-US" dirty="0" err="1">
                  <a:latin typeface="Gill Sans MT" panose="020B0502020104020203" pitchFamily="34" charset="77"/>
                </a:rPr>
                <a:t>norma</a:t>
              </a:r>
              <a:r>
                <a:rPr lang="en-US" dirty="0">
                  <a:latin typeface="Gill Sans MT" panose="020B0502020104020203" pitchFamily="34" charset="77"/>
                </a:rPr>
                <a:t> 1)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C840455-E4B3-A645-BBA8-4F68C3598C1C}"/>
                </a:ext>
              </a:extLst>
            </p:cNvPr>
            <p:cNvCxnSpPr/>
            <p:nvPr/>
          </p:nvCxnSpPr>
          <p:spPr>
            <a:xfrm flipV="1">
              <a:off x="8711548" y="2516256"/>
              <a:ext cx="0" cy="612000"/>
            </a:xfrm>
            <a:prstGeom prst="line">
              <a:avLst/>
            </a:prstGeom>
            <a:ln w="254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Imagen 23" descr="Screen shot 2011-09-26 at 3.09.19 PM.png">
            <a:extLst>
              <a:ext uri="{FF2B5EF4-FFF2-40B4-BE49-F238E27FC236}">
                <a16:creationId xmlns:a16="http://schemas.microsoft.com/office/drawing/2014/main" id="{1E851C9B-E0D8-7B4C-B473-724D0DCD88E0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3609" y="1035288"/>
            <a:ext cx="845276" cy="34374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831B3805-E30D-114C-9683-6234D0988ECA}"/>
              </a:ext>
            </a:extLst>
          </p:cNvPr>
          <p:cNvSpPr/>
          <p:nvPr/>
        </p:nvSpPr>
        <p:spPr>
          <a:xfrm>
            <a:off x="7550360" y="852844"/>
            <a:ext cx="3183364" cy="1808964"/>
          </a:xfrm>
          <a:custGeom>
            <a:avLst/>
            <a:gdLst>
              <a:gd name="connsiteX0" fmla="*/ 899911 w 3671287"/>
              <a:gd name="connsiteY0" fmla="*/ 334773 h 1980522"/>
              <a:gd name="connsiteX1" fmla="*/ 1840816 w 3671287"/>
              <a:gd name="connsiteY1" fmla="*/ 3469 h 1980522"/>
              <a:gd name="connsiteX2" fmla="*/ 3139529 w 3671287"/>
              <a:gd name="connsiteY2" fmla="*/ 520304 h 1980522"/>
              <a:gd name="connsiteX3" fmla="*/ 3576850 w 3671287"/>
              <a:gd name="connsiteY3" fmla="*/ 1143156 h 1980522"/>
              <a:gd name="connsiteX4" fmla="*/ 3510589 w 3671287"/>
              <a:gd name="connsiteY4" fmla="*/ 1858773 h 1980522"/>
              <a:gd name="connsiteX5" fmla="*/ 1933581 w 3671287"/>
              <a:gd name="connsiteY5" fmla="*/ 1964791 h 1980522"/>
              <a:gd name="connsiteX6" fmla="*/ 104781 w 3671287"/>
              <a:gd name="connsiteY6" fmla="*/ 1686495 h 1980522"/>
              <a:gd name="connsiteX7" fmla="*/ 383076 w 3671287"/>
              <a:gd name="connsiteY7" fmla="*/ 719086 h 1980522"/>
              <a:gd name="connsiteX0" fmla="*/ 1840816 w 3671287"/>
              <a:gd name="connsiteY0" fmla="*/ 0 h 1977053"/>
              <a:gd name="connsiteX1" fmla="*/ 3139529 w 3671287"/>
              <a:gd name="connsiteY1" fmla="*/ 516835 h 1977053"/>
              <a:gd name="connsiteX2" fmla="*/ 3576850 w 3671287"/>
              <a:gd name="connsiteY2" fmla="*/ 1139687 h 1977053"/>
              <a:gd name="connsiteX3" fmla="*/ 3510589 w 3671287"/>
              <a:gd name="connsiteY3" fmla="*/ 1855304 h 1977053"/>
              <a:gd name="connsiteX4" fmla="*/ 1933581 w 3671287"/>
              <a:gd name="connsiteY4" fmla="*/ 1961322 h 1977053"/>
              <a:gd name="connsiteX5" fmla="*/ 104781 w 3671287"/>
              <a:gd name="connsiteY5" fmla="*/ 1683026 h 1977053"/>
              <a:gd name="connsiteX6" fmla="*/ 383076 w 3671287"/>
              <a:gd name="connsiteY6" fmla="*/ 715617 h 1977053"/>
              <a:gd name="connsiteX0" fmla="*/ 1840816 w 3671287"/>
              <a:gd name="connsiteY0" fmla="*/ 0 h 1977053"/>
              <a:gd name="connsiteX1" fmla="*/ 3139529 w 3671287"/>
              <a:gd name="connsiteY1" fmla="*/ 516835 h 1977053"/>
              <a:gd name="connsiteX2" fmla="*/ 3576850 w 3671287"/>
              <a:gd name="connsiteY2" fmla="*/ 1139687 h 1977053"/>
              <a:gd name="connsiteX3" fmla="*/ 3510589 w 3671287"/>
              <a:gd name="connsiteY3" fmla="*/ 1855304 h 1977053"/>
              <a:gd name="connsiteX4" fmla="*/ 1933581 w 3671287"/>
              <a:gd name="connsiteY4" fmla="*/ 1961322 h 1977053"/>
              <a:gd name="connsiteX5" fmla="*/ 104781 w 3671287"/>
              <a:gd name="connsiteY5" fmla="*/ 1683026 h 1977053"/>
              <a:gd name="connsiteX6" fmla="*/ 383076 w 3671287"/>
              <a:gd name="connsiteY6" fmla="*/ 715617 h 1977053"/>
              <a:gd name="connsiteX7" fmla="*/ 383076 w 3671287"/>
              <a:gd name="connsiteY7" fmla="*/ 742122 h 1977053"/>
              <a:gd name="connsiteX0" fmla="*/ 1840816 w 3671287"/>
              <a:gd name="connsiteY0" fmla="*/ 0 h 1977053"/>
              <a:gd name="connsiteX1" fmla="*/ 3139529 w 3671287"/>
              <a:gd name="connsiteY1" fmla="*/ 516835 h 1977053"/>
              <a:gd name="connsiteX2" fmla="*/ 3576850 w 3671287"/>
              <a:gd name="connsiteY2" fmla="*/ 1139687 h 1977053"/>
              <a:gd name="connsiteX3" fmla="*/ 3510589 w 3671287"/>
              <a:gd name="connsiteY3" fmla="*/ 1855304 h 1977053"/>
              <a:gd name="connsiteX4" fmla="*/ 1933581 w 3671287"/>
              <a:gd name="connsiteY4" fmla="*/ 1961322 h 1977053"/>
              <a:gd name="connsiteX5" fmla="*/ 104781 w 3671287"/>
              <a:gd name="connsiteY5" fmla="*/ 1683026 h 1977053"/>
              <a:gd name="connsiteX6" fmla="*/ 383076 w 3671287"/>
              <a:gd name="connsiteY6" fmla="*/ 715617 h 1977053"/>
              <a:gd name="connsiteX7" fmla="*/ 926415 w 3671287"/>
              <a:gd name="connsiteY7" fmla="*/ 583095 h 1977053"/>
              <a:gd name="connsiteX0" fmla="*/ 1840816 w 3671287"/>
              <a:gd name="connsiteY0" fmla="*/ 0 h 1977053"/>
              <a:gd name="connsiteX1" fmla="*/ 3139529 w 3671287"/>
              <a:gd name="connsiteY1" fmla="*/ 516835 h 1977053"/>
              <a:gd name="connsiteX2" fmla="*/ 3576850 w 3671287"/>
              <a:gd name="connsiteY2" fmla="*/ 1139687 h 1977053"/>
              <a:gd name="connsiteX3" fmla="*/ 3510589 w 3671287"/>
              <a:gd name="connsiteY3" fmla="*/ 1855304 h 1977053"/>
              <a:gd name="connsiteX4" fmla="*/ 1933581 w 3671287"/>
              <a:gd name="connsiteY4" fmla="*/ 1961322 h 1977053"/>
              <a:gd name="connsiteX5" fmla="*/ 104781 w 3671287"/>
              <a:gd name="connsiteY5" fmla="*/ 1683026 h 1977053"/>
              <a:gd name="connsiteX6" fmla="*/ 383076 w 3671287"/>
              <a:gd name="connsiteY6" fmla="*/ 715617 h 1977053"/>
              <a:gd name="connsiteX7" fmla="*/ 1005928 w 3671287"/>
              <a:gd name="connsiteY7" fmla="*/ 238539 h 1977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71287" h="1977053">
                <a:moveTo>
                  <a:pt x="1840816" y="0"/>
                </a:moveTo>
                <a:cubicBezTo>
                  <a:pt x="2214086" y="30922"/>
                  <a:pt x="2850190" y="326887"/>
                  <a:pt x="3139529" y="516835"/>
                </a:cubicBezTo>
                <a:cubicBezTo>
                  <a:pt x="3428868" y="706783"/>
                  <a:pt x="3515007" y="916609"/>
                  <a:pt x="3576850" y="1139687"/>
                </a:cubicBezTo>
                <a:cubicBezTo>
                  <a:pt x="3638693" y="1362765"/>
                  <a:pt x="3784467" y="1718365"/>
                  <a:pt x="3510589" y="1855304"/>
                </a:cubicBezTo>
                <a:cubicBezTo>
                  <a:pt x="3236711" y="1992243"/>
                  <a:pt x="2501216" y="1990035"/>
                  <a:pt x="1933581" y="1961322"/>
                </a:cubicBezTo>
                <a:cubicBezTo>
                  <a:pt x="1365946" y="1932609"/>
                  <a:pt x="363198" y="1890643"/>
                  <a:pt x="104781" y="1683026"/>
                </a:cubicBezTo>
                <a:cubicBezTo>
                  <a:pt x="-153636" y="1475409"/>
                  <a:pt x="114720" y="1095513"/>
                  <a:pt x="383076" y="715617"/>
                </a:cubicBezTo>
                <a:cubicBezTo>
                  <a:pt x="429458" y="558800"/>
                  <a:pt x="1005928" y="233017"/>
                  <a:pt x="1005928" y="238539"/>
                </a:cubicBezTo>
              </a:path>
            </a:pathLst>
          </a:custGeom>
          <a:ln w="444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799CA55-AE5B-354D-A83C-D61A5E61F9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017" y="3886686"/>
            <a:ext cx="215900" cy="2667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918DFD3-FFB7-9843-98EF-72519185F63A}"/>
              </a:ext>
            </a:extLst>
          </p:cNvPr>
          <p:cNvSpPr txBox="1"/>
          <p:nvPr/>
        </p:nvSpPr>
        <p:spPr>
          <a:xfrm>
            <a:off x="7950262" y="3761781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00E65F3-A254-C743-A468-B0651D03F9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011" y="1078914"/>
            <a:ext cx="215900" cy="2667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85052C-577B-2E3E-2137-532ADA270915}"/>
              </a:ext>
            </a:extLst>
          </p:cNvPr>
          <p:cNvSpPr/>
          <p:nvPr/>
        </p:nvSpPr>
        <p:spPr>
          <a:xfrm rot="19375594">
            <a:off x="9584153" y="3339088"/>
            <a:ext cx="1186209" cy="363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CE3324A-1EC6-55C4-A370-D0CFA1D0330D}"/>
              </a:ext>
            </a:extLst>
          </p:cNvPr>
          <p:cNvSpPr/>
          <p:nvPr/>
        </p:nvSpPr>
        <p:spPr>
          <a:xfrm>
            <a:off x="5555167" y="29533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70F265C-975C-A7A6-6E08-B823EF0F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5B37C4-62DE-DE26-ED02-DF72DB44A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41322"/>
      </p:ext>
    </p:extLst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0DDBBBE-BB37-934E-AE79-B00D9BD97A4D}"/>
              </a:ext>
            </a:extLst>
          </p:cNvPr>
          <p:cNvGrpSpPr/>
          <p:nvPr/>
        </p:nvGrpSpPr>
        <p:grpSpPr>
          <a:xfrm>
            <a:off x="3648514" y="2030974"/>
            <a:ext cx="6389766" cy="1733809"/>
            <a:chOff x="3979819" y="2349025"/>
            <a:chExt cx="6389766" cy="17338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722D79-09B4-7C47-9245-A7B9319DF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378" r="18691"/>
            <a:stretch/>
          </p:blipFill>
          <p:spPr>
            <a:xfrm>
              <a:off x="3979819" y="2420652"/>
              <a:ext cx="4669537" cy="144284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F7AF47-91E5-1741-8042-94D644A0770C}"/>
                </a:ext>
              </a:extLst>
            </p:cNvPr>
            <p:cNvGrpSpPr/>
            <p:nvPr/>
          </p:nvGrpSpPr>
          <p:grpSpPr>
            <a:xfrm>
              <a:off x="4457694" y="2349025"/>
              <a:ext cx="5911891" cy="1733809"/>
              <a:chOff x="2667535" y="2836256"/>
              <a:chExt cx="5911891" cy="173380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587B484-CE2D-3547-AE05-A11CEC46A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667535" y="2836256"/>
                <a:ext cx="4555189" cy="1733809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4651A68-EFD6-0845-A890-A3493996290D}"/>
                  </a:ext>
                </a:extLst>
              </p:cNvPr>
              <p:cNvSpPr/>
              <p:nvPr/>
            </p:nvSpPr>
            <p:spPr>
              <a:xfrm rot="19467606">
                <a:off x="5937826" y="3673588"/>
                <a:ext cx="2641600" cy="385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FC5AB060-4672-DC4A-8602-EAC24FFAE3F4}"/>
                </a:ext>
              </a:extLst>
            </p:cNvPr>
            <p:cNvSpPr/>
            <p:nvPr/>
          </p:nvSpPr>
          <p:spPr>
            <a:xfrm rot="16200000">
              <a:off x="8637095" y="3447884"/>
              <a:ext cx="223024" cy="323385"/>
            </a:xfrm>
            <a:prstGeom prst="downArrow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D356283-4646-E540-A262-25BEE3F620D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577" y="4804396"/>
            <a:ext cx="1080000" cy="10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908548-9716-2847-A7AE-45A12C862E7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577" y="2357877"/>
            <a:ext cx="1080000" cy="1080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5FC655B-C22B-1A42-8007-6C83415B1BD4}"/>
              </a:ext>
            </a:extLst>
          </p:cNvPr>
          <p:cNvGrpSpPr/>
          <p:nvPr/>
        </p:nvGrpSpPr>
        <p:grpSpPr>
          <a:xfrm>
            <a:off x="3648514" y="4537076"/>
            <a:ext cx="6389766" cy="1733809"/>
            <a:chOff x="3979819" y="2349025"/>
            <a:chExt cx="6389766" cy="17338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DAE4AFA-970B-3847-A313-6B8F8D7FCC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378" r="18691"/>
            <a:stretch/>
          </p:blipFill>
          <p:spPr>
            <a:xfrm>
              <a:off x="3979819" y="2420652"/>
              <a:ext cx="4669537" cy="144284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CC7D2B-8193-C143-8296-351B5FC57CDC}"/>
                </a:ext>
              </a:extLst>
            </p:cNvPr>
            <p:cNvGrpSpPr/>
            <p:nvPr/>
          </p:nvGrpSpPr>
          <p:grpSpPr>
            <a:xfrm>
              <a:off x="4457694" y="2349025"/>
              <a:ext cx="5911891" cy="1733809"/>
              <a:chOff x="2667535" y="2836256"/>
              <a:chExt cx="5911891" cy="1733809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0DCBCAE-664D-5842-9F49-BBA3F741C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667535" y="2836256"/>
                <a:ext cx="4555189" cy="1733809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D81AE43-7B33-FF44-ABFF-31C4EEA8D7D1}"/>
                  </a:ext>
                </a:extLst>
              </p:cNvPr>
              <p:cNvSpPr/>
              <p:nvPr/>
            </p:nvSpPr>
            <p:spPr>
              <a:xfrm rot="19467606">
                <a:off x="5937826" y="3673588"/>
                <a:ext cx="2641600" cy="385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DED5B1A8-CB01-4941-926C-9EDB3F409B71}"/>
                </a:ext>
              </a:extLst>
            </p:cNvPr>
            <p:cNvSpPr/>
            <p:nvPr/>
          </p:nvSpPr>
          <p:spPr>
            <a:xfrm rot="16200000">
              <a:off x="8637095" y="3447884"/>
              <a:ext cx="223024" cy="323385"/>
            </a:xfrm>
            <a:prstGeom prst="downArrow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B359A5D0-FAEF-3048-8FA7-22BD41BF8BD5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3242186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5C5C6222-CAD6-014A-8C66-95A8444B2688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607056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6F61AA8E-AA66-AA4C-BBE1-4B848961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57E5D-0363-6542-8167-7A1DEF681CB8}"/>
              </a:ext>
            </a:extLst>
          </p:cNvPr>
          <p:cNvSpPr txBox="1"/>
          <p:nvPr/>
        </p:nvSpPr>
        <p:spPr>
          <a:xfrm>
            <a:off x="1981200" y="1345035"/>
            <a:ext cx="5152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FOTOS DE LA MISMA PERSONA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3BCBF49-0056-744F-9B11-0E1C22F043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5760" y="3337581"/>
            <a:ext cx="419100" cy="2921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1BA9F1C-85F9-2941-9798-235C5AE561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4779" y="5691147"/>
            <a:ext cx="431800" cy="2921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D31EF6C-29CE-D54B-91FE-9864214246A6}"/>
              </a:ext>
            </a:extLst>
          </p:cNvPr>
          <p:cNvSpPr txBox="1"/>
          <p:nvPr/>
        </p:nvSpPr>
        <p:spPr>
          <a:xfrm>
            <a:off x="5723523" y="374283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B99938-AFEE-B744-BD81-2C5E97A8B1BF}"/>
              </a:ext>
            </a:extLst>
          </p:cNvPr>
          <p:cNvSpPr txBox="1"/>
          <p:nvPr/>
        </p:nvSpPr>
        <p:spPr>
          <a:xfrm>
            <a:off x="5723522" y="608253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7A8316C-8426-EE4A-AAFD-2389D290EC94}"/>
              </a:ext>
            </a:extLst>
          </p:cNvPr>
          <p:cNvSpPr/>
          <p:nvPr/>
        </p:nvSpPr>
        <p:spPr>
          <a:xfrm>
            <a:off x="9106691" y="444377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latin typeface="Gill Sans MT" panose="020B0502020104020203" pitchFamily="34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00F5BB-434E-B541-8993-7EFD19E64263}"/>
              </a:ext>
            </a:extLst>
          </p:cNvPr>
          <p:cNvCxnSpPr>
            <a:cxnSpLocks/>
          </p:cNvCxnSpPr>
          <p:nvPr/>
        </p:nvCxnSpPr>
        <p:spPr>
          <a:xfrm>
            <a:off x="9242660" y="389155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265C0C0-1E5A-9948-BBA6-DF853E956181}"/>
              </a:ext>
            </a:extLst>
          </p:cNvPr>
          <p:cNvSpPr/>
          <p:nvPr/>
        </p:nvSpPr>
        <p:spPr>
          <a:xfrm>
            <a:off x="9083982" y="4407825"/>
            <a:ext cx="352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sc</a:t>
            </a:r>
            <a:endParaRPr lang="en-US" sz="16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250330-B770-D043-B83F-FD5571747D1D}"/>
              </a:ext>
            </a:extLst>
          </p:cNvPr>
          <p:cNvCxnSpPr>
            <a:cxnSpLocks/>
          </p:cNvCxnSpPr>
          <p:nvPr/>
        </p:nvCxnSpPr>
        <p:spPr>
          <a:xfrm flipV="1">
            <a:off x="9416664" y="458616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5CC0018-F1DC-D34C-BEE5-2838EC7E05AE}"/>
              </a:ext>
            </a:extLst>
          </p:cNvPr>
          <p:cNvSpPr txBox="1"/>
          <p:nvPr/>
        </p:nvSpPr>
        <p:spPr>
          <a:xfrm>
            <a:off x="9754441" y="4335324"/>
            <a:ext cx="7184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Gill Sans MT" panose="020B0502020104020203" pitchFamily="34" charset="77"/>
              </a:rPr>
              <a:t>SCORE</a:t>
            </a:r>
          </a:p>
          <a:p>
            <a:pPr algn="ctr"/>
            <a:r>
              <a:rPr lang="en-US" sz="1350" dirty="0">
                <a:latin typeface="Gill Sans MT" panose="020B0502020104020203" pitchFamily="34" charset="77"/>
              </a:rPr>
              <a:t>HIGH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D6854F6-CC41-9640-BF80-22C3180A8EA8}"/>
              </a:ext>
            </a:extLst>
          </p:cNvPr>
          <p:cNvCxnSpPr>
            <a:cxnSpLocks/>
          </p:cNvCxnSpPr>
          <p:nvPr/>
        </p:nvCxnSpPr>
        <p:spPr>
          <a:xfrm flipV="1">
            <a:off x="9249288" y="479932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7F7C14-7C38-F945-B496-9F4E0EE7E620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  <a:latin typeface="Gill Sans MT" panose="020B0502020104020203" pitchFamily="34" charset="77"/>
              </a:rPr>
              <a:t>SCORE: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mide qué tan parecidos son los descriptores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99FAE-BD10-77DF-CCB3-CE6ABE5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A5CE5-E362-4994-2117-D112022F1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1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0DDBBBE-BB37-934E-AE79-B00D9BD97A4D}"/>
              </a:ext>
            </a:extLst>
          </p:cNvPr>
          <p:cNvGrpSpPr/>
          <p:nvPr/>
        </p:nvGrpSpPr>
        <p:grpSpPr>
          <a:xfrm>
            <a:off x="3648514" y="2030974"/>
            <a:ext cx="6389766" cy="1733809"/>
            <a:chOff x="3979819" y="2349025"/>
            <a:chExt cx="6389766" cy="17338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722D79-09B4-7C47-9245-A7B9319DF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378" r="18691"/>
            <a:stretch/>
          </p:blipFill>
          <p:spPr>
            <a:xfrm>
              <a:off x="3979819" y="2420652"/>
              <a:ext cx="4669537" cy="144284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F7AF47-91E5-1741-8042-94D644A0770C}"/>
                </a:ext>
              </a:extLst>
            </p:cNvPr>
            <p:cNvGrpSpPr/>
            <p:nvPr/>
          </p:nvGrpSpPr>
          <p:grpSpPr>
            <a:xfrm>
              <a:off x="4457694" y="2349025"/>
              <a:ext cx="5911891" cy="1733809"/>
              <a:chOff x="2667535" y="2836256"/>
              <a:chExt cx="5911891" cy="173380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587B484-CE2D-3547-AE05-A11CEC46A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667535" y="2836256"/>
                <a:ext cx="4555189" cy="1733809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4651A68-EFD6-0845-A890-A3493996290D}"/>
                  </a:ext>
                </a:extLst>
              </p:cNvPr>
              <p:cNvSpPr/>
              <p:nvPr/>
            </p:nvSpPr>
            <p:spPr>
              <a:xfrm rot="19467606">
                <a:off x="5937826" y="3673588"/>
                <a:ext cx="2641600" cy="385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FC5AB060-4672-DC4A-8602-EAC24FFAE3F4}"/>
                </a:ext>
              </a:extLst>
            </p:cNvPr>
            <p:cNvSpPr/>
            <p:nvPr/>
          </p:nvSpPr>
          <p:spPr>
            <a:xfrm rot="16200000">
              <a:off x="8637095" y="3447884"/>
              <a:ext cx="223024" cy="323385"/>
            </a:xfrm>
            <a:prstGeom prst="downArrow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FC655B-C22B-1A42-8007-6C83415B1BD4}"/>
              </a:ext>
            </a:extLst>
          </p:cNvPr>
          <p:cNvGrpSpPr/>
          <p:nvPr/>
        </p:nvGrpSpPr>
        <p:grpSpPr>
          <a:xfrm>
            <a:off x="3648514" y="4537076"/>
            <a:ext cx="6389766" cy="1733809"/>
            <a:chOff x="3979819" y="2349025"/>
            <a:chExt cx="6389766" cy="17338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DAE4AFA-970B-3847-A313-6B8F8D7FCC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378" r="18691"/>
            <a:stretch/>
          </p:blipFill>
          <p:spPr>
            <a:xfrm>
              <a:off x="3979819" y="2420652"/>
              <a:ext cx="4669537" cy="144284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CC7D2B-8193-C143-8296-351B5FC57CDC}"/>
                </a:ext>
              </a:extLst>
            </p:cNvPr>
            <p:cNvGrpSpPr/>
            <p:nvPr/>
          </p:nvGrpSpPr>
          <p:grpSpPr>
            <a:xfrm>
              <a:off x="4457694" y="2349025"/>
              <a:ext cx="5911891" cy="1733809"/>
              <a:chOff x="2667535" y="2836256"/>
              <a:chExt cx="5911891" cy="1733809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0DCBCAE-664D-5842-9F49-BBA3F741C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667535" y="2836256"/>
                <a:ext cx="4555189" cy="1733809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D81AE43-7B33-FF44-ABFF-31C4EEA8D7D1}"/>
                  </a:ext>
                </a:extLst>
              </p:cNvPr>
              <p:cNvSpPr/>
              <p:nvPr/>
            </p:nvSpPr>
            <p:spPr>
              <a:xfrm rot="19467606">
                <a:off x="5937826" y="3673588"/>
                <a:ext cx="2641600" cy="385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DED5B1A8-CB01-4941-926C-9EDB3F409B71}"/>
                </a:ext>
              </a:extLst>
            </p:cNvPr>
            <p:cNvSpPr/>
            <p:nvPr/>
          </p:nvSpPr>
          <p:spPr>
            <a:xfrm rot="16200000">
              <a:off x="8637095" y="3447884"/>
              <a:ext cx="223024" cy="323385"/>
            </a:xfrm>
            <a:prstGeom prst="downArrow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B359A5D0-FAEF-3048-8FA7-22BD41BF8BD5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3242186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5C5C6222-CAD6-014A-8C66-95A8444B268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607056"/>
            <a:ext cx="845276" cy="343748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01342050-50DC-7B43-A354-0BF9BC6243C5}"/>
              </a:ext>
            </a:extLst>
          </p:cNvPr>
          <p:cNvSpPr/>
          <p:nvPr/>
        </p:nvSpPr>
        <p:spPr>
          <a:xfrm>
            <a:off x="9106691" y="444377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latin typeface="Gill Sans MT" panose="020B0502020104020203" pitchFamily="34" charset="77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6389A2-6914-834E-8B72-03A499BDCB9C}"/>
              </a:ext>
            </a:extLst>
          </p:cNvPr>
          <p:cNvCxnSpPr>
            <a:cxnSpLocks/>
          </p:cNvCxnSpPr>
          <p:nvPr/>
        </p:nvCxnSpPr>
        <p:spPr>
          <a:xfrm>
            <a:off x="9242660" y="389155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4016C91-DD42-554B-82AC-E24D87D37A25}"/>
              </a:ext>
            </a:extLst>
          </p:cNvPr>
          <p:cNvSpPr/>
          <p:nvPr/>
        </p:nvSpPr>
        <p:spPr>
          <a:xfrm>
            <a:off x="9083982" y="4407825"/>
            <a:ext cx="352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sc</a:t>
            </a:r>
            <a:endParaRPr lang="en-US" sz="16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02BB4F-6785-0049-ABC8-EF53B3FDF830}"/>
              </a:ext>
            </a:extLst>
          </p:cNvPr>
          <p:cNvCxnSpPr>
            <a:cxnSpLocks/>
          </p:cNvCxnSpPr>
          <p:nvPr/>
        </p:nvCxnSpPr>
        <p:spPr>
          <a:xfrm flipV="1">
            <a:off x="9416664" y="458616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FCEB43-83A0-8C4D-8A42-42F0A4D43FC5}"/>
              </a:ext>
            </a:extLst>
          </p:cNvPr>
          <p:cNvSpPr txBox="1"/>
          <p:nvPr/>
        </p:nvSpPr>
        <p:spPr>
          <a:xfrm>
            <a:off x="9754441" y="4335324"/>
            <a:ext cx="7184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Gill Sans MT" panose="020B0502020104020203" pitchFamily="34" charset="77"/>
              </a:rPr>
              <a:t>SCORE</a:t>
            </a:r>
          </a:p>
          <a:p>
            <a:pPr algn="ctr"/>
            <a:r>
              <a:rPr lang="en-US" sz="1350" dirty="0">
                <a:latin typeface="Gill Sans MT" panose="020B0502020104020203" pitchFamily="34" charset="77"/>
              </a:rPr>
              <a:t>HIGH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F61AA8E-AA66-AA4C-BBE1-4B848961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57E5D-0363-6542-8167-7A1DEF681CB8}"/>
              </a:ext>
            </a:extLst>
          </p:cNvPr>
          <p:cNvSpPr txBox="1"/>
          <p:nvPr/>
        </p:nvSpPr>
        <p:spPr>
          <a:xfrm>
            <a:off x="1981200" y="1345035"/>
            <a:ext cx="5152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FOTOS DE LA MISMA PERSONA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90DD0C-59F4-954D-AE92-F70D0E9D1C89}"/>
              </a:ext>
            </a:extLst>
          </p:cNvPr>
          <p:cNvCxnSpPr>
            <a:cxnSpLocks/>
          </p:cNvCxnSpPr>
          <p:nvPr/>
        </p:nvCxnSpPr>
        <p:spPr>
          <a:xfrm flipV="1">
            <a:off x="9249288" y="479932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8CF27A6B-9230-3043-95DE-2EA8025A03F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022" y="2390723"/>
            <a:ext cx="1080000" cy="108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4F14877-46FE-5C47-BD7C-E04685521687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022" y="4800959"/>
            <a:ext cx="1080000" cy="1080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918026A-0AFB-EC4C-8156-ECF6E45F5F03}"/>
              </a:ext>
            </a:extLst>
          </p:cNvPr>
          <p:cNvSpPr/>
          <p:nvPr/>
        </p:nvSpPr>
        <p:spPr>
          <a:xfrm flipH="1">
            <a:off x="9181704" y="3243009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CEACFA-C883-C84E-9E40-BF835C3CFA04}"/>
              </a:ext>
            </a:extLst>
          </p:cNvPr>
          <p:cNvSpPr/>
          <p:nvPr/>
        </p:nvSpPr>
        <p:spPr>
          <a:xfrm flipH="1">
            <a:off x="9171266" y="563756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3281B3-0FD4-9844-9A8D-31688E0EAC97}"/>
              </a:ext>
            </a:extLst>
          </p:cNvPr>
          <p:cNvSpPr/>
          <p:nvPr/>
        </p:nvSpPr>
        <p:spPr>
          <a:xfrm flipH="1">
            <a:off x="9008428" y="3144889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A18F8B-E62A-7C49-9531-A549F19EF440}"/>
              </a:ext>
            </a:extLst>
          </p:cNvPr>
          <p:cNvSpPr/>
          <p:nvPr/>
        </p:nvSpPr>
        <p:spPr>
          <a:xfrm flipH="1">
            <a:off x="8997990" y="553944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0F18AF6-A91C-9B44-A8F6-F3CE0DE00D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5760" y="3337581"/>
            <a:ext cx="419100" cy="2921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580FA35-DC9C-8445-97F0-18CA37A260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4779" y="5691147"/>
            <a:ext cx="431800" cy="2921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1D9107A-38FD-EC44-A8B4-E7BB065616AF}"/>
              </a:ext>
            </a:extLst>
          </p:cNvPr>
          <p:cNvSpPr txBox="1"/>
          <p:nvPr/>
        </p:nvSpPr>
        <p:spPr>
          <a:xfrm>
            <a:off x="5723523" y="374283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07672B-1068-894F-8368-95505F0A87FC}"/>
              </a:ext>
            </a:extLst>
          </p:cNvPr>
          <p:cNvSpPr txBox="1"/>
          <p:nvPr/>
        </p:nvSpPr>
        <p:spPr>
          <a:xfrm>
            <a:off x="5723522" y="608253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DAAE3A-D646-A64B-991C-A4ACFFDAA833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  <a:latin typeface="Gill Sans MT" panose="020B0502020104020203" pitchFamily="34" charset="77"/>
              </a:rPr>
              <a:t>SCORE: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mide qué tan parecidos son los descriptores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F8F5F-16CF-69D9-1141-B17DDE47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7A163A-1598-7BB3-7371-20CF2931B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9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0DDBBBE-BB37-934E-AE79-B00D9BD97A4D}"/>
              </a:ext>
            </a:extLst>
          </p:cNvPr>
          <p:cNvGrpSpPr/>
          <p:nvPr/>
        </p:nvGrpSpPr>
        <p:grpSpPr>
          <a:xfrm>
            <a:off x="3648514" y="2030974"/>
            <a:ext cx="6389766" cy="1733809"/>
            <a:chOff x="3979819" y="2349025"/>
            <a:chExt cx="6389766" cy="17338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722D79-09B4-7C47-9245-A7B9319DF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378" r="18691"/>
            <a:stretch/>
          </p:blipFill>
          <p:spPr>
            <a:xfrm>
              <a:off x="3979819" y="2420652"/>
              <a:ext cx="4669537" cy="144284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F7AF47-91E5-1741-8042-94D644A0770C}"/>
                </a:ext>
              </a:extLst>
            </p:cNvPr>
            <p:cNvGrpSpPr/>
            <p:nvPr/>
          </p:nvGrpSpPr>
          <p:grpSpPr>
            <a:xfrm>
              <a:off x="4457694" y="2349025"/>
              <a:ext cx="5911891" cy="1733809"/>
              <a:chOff x="2667535" y="2836256"/>
              <a:chExt cx="5911891" cy="173380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587B484-CE2D-3547-AE05-A11CEC46A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667535" y="2836256"/>
                <a:ext cx="4555189" cy="1733809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4651A68-EFD6-0845-A890-A3493996290D}"/>
                  </a:ext>
                </a:extLst>
              </p:cNvPr>
              <p:cNvSpPr/>
              <p:nvPr/>
            </p:nvSpPr>
            <p:spPr>
              <a:xfrm rot="19467606">
                <a:off x="5937826" y="3673588"/>
                <a:ext cx="2641600" cy="385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FC5AB060-4672-DC4A-8602-EAC24FFAE3F4}"/>
                </a:ext>
              </a:extLst>
            </p:cNvPr>
            <p:cNvSpPr/>
            <p:nvPr/>
          </p:nvSpPr>
          <p:spPr>
            <a:xfrm rot="16200000">
              <a:off x="8637095" y="3447884"/>
              <a:ext cx="223024" cy="323385"/>
            </a:xfrm>
            <a:prstGeom prst="downArrow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FC655B-C22B-1A42-8007-6C83415B1BD4}"/>
              </a:ext>
            </a:extLst>
          </p:cNvPr>
          <p:cNvGrpSpPr/>
          <p:nvPr/>
        </p:nvGrpSpPr>
        <p:grpSpPr>
          <a:xfrm>
            <a:off x="3648514" y="4537076"/>
            <a:ext cx="6389766" cy="1733809"/>
            <a:chOff x="3979819" y="2349025"/>
            <a:chExt cx="6389766" cy="17338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DAE4AFA-970B-3847-A313-6B8F8D7FCC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378" r="18691"/>
            <a:stretch/>
          </p:blipFill>
          <p:spPr>
            <a:xfrm>
              <a:off x="3979819" y="2420652"/>
              <a:ext cx="4669537" cy="144284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CC7D2B-8193-C143-8296-351B5FC57CDC}"/>
                </a:ext>
              </a:extLst>
            </p:cNvPr>
            <p:cNvGrpSpPr/>
            <p:nvPr/>
          </p:nvGrpSpPr>
          <p:grpSpPr>
            <a:xfrm>
              <a:off x="4457694" y="2349025"/>
              <a:ext cx="5911891" cy="1733809"/>
              <a:chOff x="2667535" y="2836256"/>
              <a:chExt cx="5911891" cy="1733809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0DCBCAE-664D-5842-9F49-BBA3F741C3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2667535" y="2836256"/>
                <a:ext cx="4555189" cy="1733809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D81AE43-7B33-FF44-ABFF-31C4EEA8D7D1}"/>
                  </a:ext>
                </a:extLst>
              </p:cNvPr>
              <p:cNvSpPr/>
              <p:nvPr/>
            </p:nvSpPr>
            <p:spPr>
              <a:xfrm rot="19467606">
                <a:off x="5937826" y="3673588"/>
                <a:ext cx="2641600" cy="3859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DED5B1A8-CB01-4941-926C-9EDB3F409B71}"/>
                </a:ext>
              </a:extLst>
            </p:cNvPr>
            <p:cNvSpPr/>
            <p:nvPr/>
          </p:nvSpPr>
          <p:spPr>
            <a:xfrm rot="16200000">
              <a:off x="8637095" y="3447884"/>
              <a:ext cx="223024" cy="323385"/>
            </a:xfrm>
            <a:prstGeom prst="downArrow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Imagen 23" descr="Screen shot 2011-09-26 at 3.09.19 PM.png">
            <a:extLst>
              <a:ext uri="{FF2B5EF4-FFF2-40B4-BE49-F238E27FC236}">
                <a16:creationId xmlns:a16="http://schemas.microsoft.com/office/drawing/2014/main" id="{B359A5D0-FAEF-3048-8FA7-22BD41BF8BD5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3242186"/>
            <a:ext cx="845276" cy="343748"/>
          </a:xfrm>
          <a:prstGeom prst="rect">
            <a:avLst/>
          </a:prstGeom>
        </p:spPr>
      </p:pic>
      <p:pic>
        <p:nvPicPr>
          <p:cNvPr id="23" name="Imagen 23" descr="Screen shot 2011-09-26 at 3.09.19 PM.png">
            <a:extLst>
              <a:ext uri="{FF2B5EF4-FFF2-40B4-BE49-F238E27FC236}">
                <a16:creationId xmlns:a16="http://schemas.microsoft.com/office/drawing/2014/main" id="{5C5C6222-CAD6-014A-8C66-95A8444B268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00542" y="5607056"/>
            <a:ext cx="845276" cy="34374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6F61AA8E-AA66-AA4C-BBE1-4B848961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57E5D-0363-6542-8167-7A1DEF681CB8}"/>
              </a:ext>
            </a:extLst>
          </p:cNvPr>
          <p:cNvSpPr txBox="1"/>
          <p:nvPr/>
        </p:nvSpPr>
        <p:spPr>
          <a:xfrm>
            <a:off x="1981201" y="1345035"/>
            <a:ext cx="5443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FOTOS DE PERSONAS DISTINTAS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4F14877-46FE-5C47-BD7C-E0468552168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022" y="4800959"/>
            <a:ext cx="1080000" cy="1080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0CEACFA-C883-C84E-9E40-BF835C3CFA04}"/>
              </a:ext>
            </a:extLst>
          </p:cNvPr>
          <p:cNvSpPr/>
          <p:nvPr/>
        </p:nvSpPr>
        <p:spPr>
          <a:xfrm flipH="1">
            <a:off x="9171266" y="563756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A18F8B-E62A-7C49-9531-A549F19EF440}"/>
              </a:ext>
            </a:extLst>
          </p:cNvPr>
          <p:cNvSpPr/>
          <p:nvPr/>
        </p:nvSpPr>
        <p:spPr>
          <a:xfrm flipH="1">
            <a:off x="8997990" y="5539443"/>
            <a:ext cx="68977" cy="237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A8112C5-29E1-4A4F-B101-FFB2FE4C68D3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577" y="2357877"/>
            <a:ext cx="1080000" cy="108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9D65BE-B213-C645-9F7B-640284AEC1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5760" y="3337581"/>
            <a:ext cx="419100" cy="2921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484A416-46E3-4B48-BFE2-37826DBC7C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4779" y="5691147"/>
            <a:ext cx="431800" cy="2921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234EE00-4067-F74F-94D4-8DB560FF8131}"/>
              </a:ext>
            </a:extLst>
          </p:cNvPr>
          <p:cNvSpPr txBox="1"/>
          <p:nvPr/>
        </p:nvSpPr>
        <p:spPr>
          <a:xfrm>
            <a:off x="5723523" y="374283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16FCED-1DCB-CA46-83C0-37C01413382C}"/>
              </a:ext>
            </a:extLst>
          </p:cNvPr>
          <p:cNvSpPr txBox="1"/>
          <p:nvPr/>
        </p:nvSpPr>
        <p:spPr>
          <a:xfrm>
            <a:off x="5723522" y="608253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F37F16F-F43D-5642-B1D8-E1B8AA3D3EBA}"/>
              </a:ext>
            </a:extLst>
          </p:cNvPr>
          <p:cNvSpPr/>
          <p:nvPr/>
        </p:nvSpPr>
        <p:spPr>
          <a:xfrm>
            <a:off x="9106691" y="4443773"/>
            <a:ext cx="282576" cy="3246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>
              <a:latin typeface="Gill Sans MT" panose="020B0502020104020203" pitchFamily="34" charset="77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076A79-84AF-AC43-9528-C318A73BABB5}"/>
              </a:ext>
            </a:extLst>
          </p:cNvPr>
          <p:cNvCxnSpPr>
            <a:cxnSpLocks/>
          </p:cNvCxnSpPr>
          <p:nvPr/>
        </p:nvCxnSpPr>
        <p:spPr>
          <a:xfrm>
            <a:off x="9242660" y="3891557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5433CF0-5541-B14B-938F-8AD9E4B56446}"/>
              </a:ext>
            </a:extLst>
          </p:cNvPr>
          <p:cNvSpPr/>
          <p:nvPr/>
        </p:nvSpPr>
        <p:spPr>
          <a:xfrm>
            <a:off x="9083982" y="4407825"/>
            <a:ext cx="3529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Gill Sans MT" panose="020B0502020104020203" pitchFamily="34" charset="77"/>
              </a:rPr>
              <a:t>sc</a:t>
            </a:r>
            <a:endParaRPr lang="en-US" sz="1600" dirty="0">
              <a:solidFill>
                <a:schemeClr val="bg1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9FA4A35-74E1-4049-B509-6A0BD90C872B}"/>
              </a:ext>
            </a:extLst>
          </p:cNvPr>
          <p:cNvCxnSpPr>
            <a:cxnSpLocks/>
          </p:cNvCxnSpPr>
          <p:nvPr/>
        </p:nvCxnSpPr>
        <p:spPr>
          <a:xfrm flipV="1">
            <a:off x="9416664" y="4586163"/>
            <a:ext cx="3547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E1A9BA3-FC1F-0240-88E7-1F083F76CB7C}"/>
              </a:ext>
            </a:extLst>
          </p:cNvPr>
          <p:cNvSpPr txBox="1"/>
          <p:nvPr/>
        </p:nvSpPr>
        <p:spPr>
          <a:xfrm>
            <a:off x="9754441" y="4335324"/>
            <a:ext cx="71846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latin typeface="Gill Sans MT" panose="020B0502020104020203" pitchFamily="34" charset="77"/>
              </a:rPr>
              <a:t>SCORE</a:t>
            </a:r>
          </a:p>
          <a:p>
            <a:pPr algn="ctr"/>
            <a:r>
              <a:rPr lang="en-US" sz="1350" dirty="0">
                <a:latin typeface="Gill Sans MT" panose="020B0502020104020203" pitchFamily="34" charset="77"/>
              </a:rPr>
              <a:t>LOW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F27945-71AC-C144-AC37-C139F6E9ADBF}"/>
              </a:ext>
            </a:extLst>
          </p:cNvPr>
          <p:cNvCxnSpPr>
            <a:cxnSpLocks/>
          </p:cNvCxnSpPr>
          <p:nvPr/>
        </p:nvCxnSpPr>
        <p:spPr>
          <a:xfrm flipV="1">
            <a:off x="9249288" y="4799329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AD21A1A-1268-6743-A767-60565C8BCBE3}"/>
              </a:ext>
            </a:extLst>
          </p:cNvPr>
          <p:cNvSpPr txBox="1"/>
          <p:nvPr/>
        </p:nvSpPr>
        <p:spPr>
          <a:xfrm>
            <a:off x="7927196" y="1131483"/>
            <a:ext cx="2591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70C0"/>
                </a:solidFill>
                <a:latin typeface="Gill Sans MT" panose="020B0502020104020203" pitchFamily="34" charset="77"/>
              </a:rPr>
              <a:t>SCORE:</a:t>
            </a:r>
            <a:r>
              <a:rPr lang="es-ES_tradnl" dirty="0">
                <a:latin typeface="Gill Sans MT" panose="020B0502020104020203" pitchFamily="34" charset="77"/>
              </a:rPr>
              <a:t> 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mide qué tan parecidos son los descriptores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2FB91C-0FC3-8969-AE99-F6CB0DAC7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E91FDA-6A50-0B76-257A-C4F0895E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1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EBF01DD-C589-3E47-B07A-D6DE78134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08"/>
          <a:stretch/>
        </p:blipFill>
        <p:spPr>
          <a:xfrm>
            <a:off x="1668967" y="1786668"/>
            <a:ext cx="1219201" cy="144284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50DABDE-A78B-6848-BBD6-A717CC74EA56}"/>
              </a:ext>
            </a:extLst>
          </p:cNvPr>
          <p:cNvSpPr/>
          <p:nvPr/>
        </p:nvSpPr>
        <p:spPr>
          <a:xfrm>
            <a:off x="3508918" y="1739590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020312-89B4-A049-A32D-C874FBB1B227}"/>
              </a:ext>
            </a:extLst>
          </p:cNvPr>
          <p:cNvSpPr/>
          <p:nvPr/>
        </p:nvSpPr>
        <p:spPr>
          <a:xfrm>
            <a:off x="3884338" y="1903141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A85A98-FB9D-8D45-84FA-BAF4A9D86617}"/>
              </a:ext>
            </a:extLst>
          </p:cNvPr>
          <p:cNvSpPr/>
          <p:nvPr/>
        </p:nvSpPr>
        <p:spPr>
          <a:xfrm>
            <a:off x="4382425" y="1999786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91CF95-F29C-B940-8BB3-EE725BC1F694}"/>
              </a:ext>
            </a:extLst>
          </p:cNvPr>
          <p:cNvSpPr/>
          <p:nvPr/>
        </p:nvSpPr>
        <p:spPr>
          <a:xfrm>
            <a:off x="5003175" y="2074129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E7C0A1-2FE7-C845-9655-E725742E195A}"/>
              </a:ext>
            </a:extLst>
          </p:cNvPr>
          <p:cNvSpPr/>
          <p:nvPr/>
        </p:nvSpPr>
        <p:spPr>
          <a:xfrm>
            <a:off x="5735437" y="2103867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52692-821E-5C4C-90EF-6C357B1EA4D0}"/>
              </a:ext>
            </a:extLst>
          </p:cNvPr>
          <p:cNvSpPr/>
          <p:nvPr/>
        </p:nvSpPr>
        <p:spPr>
          <a:xfrm>
            <a:off x="6322734" y="2230243"/>
            <a:ext cx="1222926" cy="2378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F42-1A3E-1244-92AA-712948A8DFD5}"/>
              </a:ext>
            </a:extLst>
          </p:cNvPr>
          <p:cNvSpPr txBox="1"/>
          <p:nvPr/>
        </p:nvSpPr>
        <p:spPr>
          <a:xfrm>
            <a:off x="3353843" y="133011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973F5-4885-3842-9E7F-73547DE68844}"/>
              </a:ext>
            </a:extLst>
          </p:cNvPr>
          <p:cNvSpPr txBox="1"/>
          <p:nvPr/>
        </p:nvSpPr>
        <p:spPr>
          <a:xfrm>
            <a:off x="8380427" y="1598100"/>
            <a:ext cx="151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DESCRIPTOR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96811-2C52-514F-BA31-5BEB305B08BE}"/>
              </a:ext>
            </a:extLst>
          </p:cNvPr>
          <p:cNvSpPr txBox="1"/>
          <p:nvPr/>
        </p:nvSpPr>
        <p:spPr>
          <a:xfrm>
            <a:off x="7713858" y="832434"/>
            <a:ext cx="2583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dirty="0">
                <a:latin typeface="Gill Sans MT" panose="020B0502020104020203" pitchFamily="34" charset="77"/>
              </a:rPr>
              <a:t>Vector de 512 elementos </a:t>
            </a:r>
          </a:p>
          <a:p>
            <a:pPr algn="ctr"/>
            <a:r>
              <a:rPr lang="es-ES_tradnl" dirty="0">
                <a:latin typeface="Gill Sans MT" panose="020B0502020104020203" pitchFamily="34" charset="77"/>
              </a:rPr>
              <a:t>con norma 1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DA022B-4930-9A4D-88B4-A38A21A1F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22" y="2618033"/>
            <a:ext cx="320363" cy="395742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7F3FC7F-A5DA-0349-9000-03B7F41F4388}"/>
              </a:ext>
            </a:extLst>
          </p:cNvPr>
          <p:cNvSpPr/>
          <p:nvPr/>
        </p:nvSpPr>
        <p:spPr>
          <a:xfrm>
            <a:off x="3319347" y="1699449"/>
            <a:ext cx="4199959" cy="1735127"/>
          </a:xfrm>
          <a:prstGeom prst="roundRect">
            <a:avLst>
              <a:gd name="adj" fmla="val 51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0" name="Imagen 23" descr="Screen shot 2011-09-26 at 3.09.19 PM.png">
            <a:extLst>
              <a:ext uri="{FF2B5EF4-FFF2-40B4-BE49-F238E27FC236}">
                <a16:creationId xmlns:a16="http://schemas.microsoft.com/office/drawing/2014/main" id="{1166C0A5-879A-464A-91A2-F7ECC3F354C2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176" y="2187710"/>
            <a:ext cx="845276" cy="343748"/>
          </a:xfrm>
          <a:prstGeom prst="rect">
            <a:avLst/>
          </a:prstGeom>
        </p:spPr>
      </p:pic>
      <p:sp>
        <p:nvSpPr>
          <p:cNvPr id="62" name="Right Arrow 61">
            <a:extLst>
              <a:ext uri="{FF2B5EF4-FFF2-40B4-BE49-F238E27FC236}">
                <a16:creationId xmlns:a16="http://schemas.microsoft.com/office/drawing/2014/main" id="{21F225E5-7D8E-8442-BDB1-81C472805F33}"/>
              </a:ext>
            </a:extLst>
          </p:cNvPr>
          <p:cNvSpPr/>
          <p:nvPr/>
        </p:nvSpPr>
        <p:spPr>
          <a:xfrm>
            <a:off x="2888167" y="23564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6CCC250-EF04-0A4E-A663-534EAA9E98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53065" y="1923922"/>
            <a:ext cx="3831547" cy="1143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0A0045-91AC-1149-98E2-B5913B3AE951}"/>
              </a:ext>
            </a:extLst>
          </p:cNvPr>
          <p:cNvSpPr/>
          <p:nvPr/>
        </p:nvSpPr>
        <p:spPr>
          <a:xfrm rot="19467606">
            <a:off x="6668941" y="2668633"/>
            <a:ext cx="825924" cy="3194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41053BC8-CDA8-5E4B-AA6B-03562CE80A68}"/>
              </a:ext>
            </a:extLst>
          </p:cNvPr>
          <p:cNvSpPr/>
          <p:nvPr/>
        </p:nvSpPr>
        <p:spPr>
          <a:xfrm rot="16200000">
            <a:off x="7861479" y="2434779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52F6AE-5F7E-0541-96D1-D6E352990C5B}"/>
              </a:ext>
            </a:extLst>
          </p:cNvPr>
          <p:cNvSpPr txBox="1"/>
          <p:nvPr/>
        </p:nvSpPr>
        <p:spPr>
          <a:xfrm>
            <a:off x="1981201" y="3413872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Input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893345-DC24-254D-8C6F-74EDE391807C}"/>
              </a:ext>
            </a:extLst>
          </p:cNvPr>
          <p:cNvSpPr txBox="1"/>
          <p:nvPr/>
        </p:nvSpPr>
        <p:spPr>
          <a:xfrm>
            <a:off x="8600350" y="3413872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Output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0A9C9-BE11-B8C6-C09B-5FCB5382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BBFF4-60CD-2FCD-2C57-528711AB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9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C24D9-FABD-274F-AC36-69F414805287}"/>
              </a:ext>
            </a:extLst>
          </p:cNvPr>
          <p:cNvSpPr txBox="1"/>
          <p:nvPr/>
        </p:nvSpPr>
        <p:spPr>
          <a:xfrm>
            <a:off x="2314414" y="492372"/>
            <a:ext cx="7164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QUÉ TAN PARECIDOS SON DOS VECTORES?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17CF0A-7FD3-E342-B7EF-9D0DAE799AE5}"/>
              </a:ext>
            </a:extLst>
          </p:cNvPr>
          <p:cNvCxnSpPr>
            <a:cxnSpLocks/>
          </p:cNvCxnSpPr>
          <p:nvPr/>
        </p:nvCxnSpPr>
        <p:spPr>
          <a:xfrm flipV="1">
            <a:off x="2265414" y="2933202"/>
            <a:ext cx="1875295" cy="94152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82C3DBA-0D75-9E44-9AA6-850B68C1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10" y="2933202"/>
            <a:ext cx="419100" cy="292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6D9E97-16EE-D940-A07C-34605E033A2B}"/>
              </a:ext>
            </a:extLst>
          </p:cNvPr>
          <p:cNvCxnSpPr>
            <a:cxnSpLocks/>
          </p:cNvCxnSpPr>
          <p:nvPr/>
        </p:nvCxnSpPr>
        <p:spPr>
          <a:xfrm flipV="1">
            <a:off x="2265414" y="3559736"/>
            <a:ext cx="2117959" cy="31498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ACBB30AF-9DD2-0B40-86B3-987680459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392" y="3851835"/>
            <a:ext cx="431800" cy="292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CC2016-A944-4D47-8A12-CF62E58C0326}"/>
              </a:ext>
            </a:extLst>
          </p:cNvPr>
          <p:cNvSpPr/>
          <p:nvPr/>
        </p:nvSpPr>
        <p:spPr>
          <a:xfrm>
            <a:off x="2329387" y="1072198"/>
            <a:ext cx="8069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NO OLVIDAR: en nuestro caso los vectores tienen 512 elementos y tienen norma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E724C-CBFF-6243-9F4B-28C62492277E}"/>
              </a:ext>
            </a:extLst>
          </p:cNvPr>
          <p:cNvGrpSpPr/>
          <p:nvPr/>
        </p:nvGrpSpPr>
        <p:grpSpPr>
          <a:xfrm>
            <a:off x="3183712" y="3153498"/>
            <a:ext cx="1033907" cy="664187"/>
            <a:chOff x="1659711" y="3153497"/>
            <a:chExt cx="1033907" cy="664187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97FD184-1F89-3842-B984-DEAAB62D3D32}"/>
                </a:ext>
              </a:extLst>
            </p:cNvPr>
            <p:cNvSpPr/>
            <p:nvPr/>
          </p:nvSpPr>
          <p:spPr>
            <a:xfrm rot="1495392">
              <a:off x="1659711" y="3185050"/>
              <a:ext cx="615882" cy="632634"/>
            </a:xfrm>
            <a:prstGeom prst="arc">
              <a:avLst>
                <a:gd name="adj1" fmla="val 16200000"/>
                <a:gd name="adj2" fmla="val 24282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BC1E30D-4031-A347-8D54-E373D4274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4218" y="3153497"/>
              <a:ext cx="279400" cy="2159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59FFB3-E93F-F54C-9726-1A9EA4D9B964}"/>
              </a:ext>
            </a:extLst>
          </p:cNvPr>
          <p:cNvGrpSpPr/>
          <p:nvPr/>
        </p:nvGrpSpPr>
        <p:grpSpPr>
          <a:xfrm>
            <a:off x="4663096" y="1965816"/>
            <a:ext cx="5346700" cy="1023237"/>
            <a:chOff x="3139096" y="1965815"/>
            <a:chExt cx="5346700" cy="102323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AB4CDB-13C9-2E48-8812-7CE90F365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9096" y="2519152"/>
              <a:ext cx="5346700" cy="4699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61B8D8-A75D-6744-A56A-498E7EBAA55D}"/>
                </a:ext>
              </a:extLst>
            </p:cNvPr>
            <p:cNvSpPr/>
            <p:nvPr/>
          </p:nvSpPr>
          <p:spPr>
            <a:xfrm>
              <a:off x="3139096" y="1965815"/>
              <a:ext cx="22728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PRODUCTO PUNTO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10D8127-E97E-344E-B5A8-D48AC313F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096" y="3261447"/>
            <a:ext cx="3302000" cy="469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129CB4-D5EA-2B43-8FFC-605FBEECD11C}"/>
              </a:ext>
            </a:extLst>
          </p:cNvPr>
          <p:cNvSpPr txBox="1"/>
          <p:nvPr/>
        </p:nvSpPr>
        <p:spPr>
          <a:xfrm>
            <a:off x="8130945" y="3358623"/>
            <a:ext cx="90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70C0"/>
                </a:solidFill>
                <a:latin typeface="Gill Sans MT" panose="020B0502020104020203" pitchFamily="34" charset="77"/>
              </a:rPr>
              <a:t>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034D05-B13A-0549-966B-E0E38838BB68}"/>
              </a:ext>
            </a:extLst>
          </p:cNvPr>
          <p:cNvSpPr/>
          <p:nvPr/>
        </p:nvSpPr>
        <p:spPr>
          <a:xfrm>
            <a:off x="1901132" y="4931834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parecidos, el ángulo entre ellos es pequeño y el SCORE es cercano a 1.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F807EE-E354-F241-A736-F86BE23ED037}"/>
              </a:ext>
            </a:extLst>
          </p:cNvPr>
          <p:cNvGrpSpPr/>
          <p:nvPr/>
        </p:nvGrpSpPr>
        <p:grpSpPr>
          <a:xfrm>
            <a:off x="2807538" y="2619477"/>
            <a:ext cx="4908021" cy="1856807"/>
            <a:chOff x="1283537" y="2619476"/>
            <a:chExt cx="4908021" cy="185680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87AC945-C4F7-6E46-829C-7BFDF51C6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0858" y="3942883"/>
              <a:ext cx="3060700" cy="5334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7D7C71E-3669-2D4A-9689-3C788485E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3537" y="2619476"/>
              <a:ext cx="662200" cy="1537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FE2E600-3853-EF4A-8FF9-5F5F7B720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58962" y="4266142"/>
              <a:ext cx="662200" cy="15372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103CCF-43A7-9E44-9D5A-C88A45B2B764}"/>
              </a:ext>
            </a:extLst>
          </p:cNvPr>
          <p:cNvGrpSpPr/>
          <p:nvPr/>
        </p:nvGrpSpPr>
        <p:grpSpPr>
          <a:xfrm>
            <a:off x="6854283" y="2334394"/>
            <a:ext cx="1807252" cy="828753"/>
            <a:chOff x="5330283" y="2334393"/>
            <a:chExt cx="1807252" cy="82875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5E0747-19C0-434D-8D7D-AC4F6ECF172A}"/>
                </a:ext>
              </a:extLst>
            </p:cNvPr>
            <p:cNvCxnSpPr/>
            <p:nvPr/>
          </p:nvCxnSpPr>
          <p:spPr>
            <a:xfrm flipV="1">
              <a:off x="5330283" y="2335146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AE747A-407B-BB45-B41B-3D8AC28915DA}"/>
                </a:ext>
              </a:extLst>
            </p:cNvPr>
            <p:cNvCxnSpPr/>
            <p:nvPr/>
          </p:nvCxnSpPr>
          <p:spPr>
            <a:xfrm flipV="1">
              <a:off x="6309535" y="2334393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5F9F3-93CE-8DCC-933D-CF7FBE2C0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64FAFB-61CB-0C4C-B0C0-25CAFF60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7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9097-65FC-ACDE-23E2-8765D5C4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9D732D-B681-0140-7BA7-C731CA281C60}"/>
              </a:ext>
            </a:extLst>
          </p:cNvPr>
          <p:cNvSpPr txBox="1"/>
          <p:nvPr/>
        </p:nvSpPr>
        <p:spPr>
          <a:xfrm>
            <a:off x="2314414" y="492372"/>
            <a:ext cx="7164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QUÉ TAN PARECIDOS SON DOS VECTORES?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ABF08D-02AB-60E3-17C3-6A6B7F4B72A4}"/>
              </a:ext>
            </a:extLst>
          </p:cNvPr>
          <p:cNvCxnSpPr>
            <a:cxnSpLocks/>
          </p:cNvCxnSpPr>
          <p:nvPr/>
        </p:nvCxnSpPr>
        <p:spPr>
          <a:xfrm flipV="1">
            <a:off x="2265413" y="2156604"/>
            <a:ext cx="542124" cy="171812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5FE306A-5545-7FBA-F24A-592F725A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10" y="2933202"/>
            <a:ext cx="419100" cy="292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58F797-D72E-9181-A53D-71AD70CC0970}"/>
              </a:ext>
            </a:extLst>
          </p:cNvPr>
          <p:cNvCxnSpPr>
            <a:cxnSpLocks/>
          </p:cNvCxnSpPr>
          <p:nvPr/>
        </p:nvCxnSpPr>
        <p:spPr>
          <a:xfrm flipV="1">
            <a:off x="2265414" y="3559736"/>
            <a:ext cx="2117959" cy="31498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B843B84-31F4-F9CB-F17B-CC32CB910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392" y="3851835"/>
            <a:ext cx="431800" cy="2921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4533E4B-B104-CCFE-121F-2FD495AF48C4}"/>
              </a:ext>
            </a:extLst>
          </p:cNvPr>
          <p:cNvSpPr/>
          <p:nvPr/>
        </p:nvSpPr>
        <p:spPr>
          <a:xfrm>
            <a:off x="2329387" y="1072198"/>
            <a:ext cx="8069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  <a:latin typeface="Gill Sans MT" panose="020B0502020104020203" pitchFamily="34" charset="77"/>
              </a:rPr>
              <a:t>NO OLVIDAR: en nuestro caso los vectores tienen 512 elementos y tienen norma 1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DD238-BF5D-46A1-DC4D-3D079A68D2C8}"/>
              </a:ext>
            </a:extLst>
          </p:cNvPr>
          <p:cNvGrpSpPr/>
          <p:nvPr/>
        </p:nvGrpSpPr>
        <p:grpSpPr>
          <a:xfrm>
            <a:off x="2114037" y="3308772"/>
            <a:ext cx="1033907" cy="664187"/>
            <a:chOff x="1659711" y="3153497"/>
            <a:chExt cx="1033907" cy="664187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9C7C88B6-6D5D-0AE2-F368-E567448828FB}"/>
                </a:ext>
              </a:extLst>
            </p:cNvPr>
            <p:cNvSpPr/>
            <p:nvPr/>
          </p:nvSpPr>
          <p:spPr>
            <a:xfrm rot="1495392">
              <a:off x="1659711" y="3185050"/>
              <a:ext cx="615882" cy="632634"/>
            </a:xfrm>
            <a:prstGeom prst="arc">
              <a:avLst>
                <a:gd name="adj1" fmla="val 15022259"/>
                <a:gd name="adj2" fmla="val 24282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F8F51D9-7D58-B8EB-92E0-F93CE47F8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4218" y="3153497"/>
              <a:ext cx="279400" cy="2159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2AB531-ED06-82D8-E5A4-69F386BE3ED6}"/>
              </a:ext>
            </a:extLst>
          </p:cNvPr>
          <p:cNvGrpSpPr/>
          <p:nvPr/>
        </p:nvGrpSpPr>
        <p:grpSpPr>
          <a:xfrm>
            <a:off x="4663096" y="1965816"/>
            <a:ext cx="5346700" cy="1023237"/>
            <a:chOff x="3139096" y="1965815"/>
            <a:chExt cx="5346700" cy="1023237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794016A-3595-8D33-54C6-F6419C03D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9096" y="2519152"/>
              <a:ext cx="5346700" cy="469900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5F117F-BC92-3887-6B22-19A95B5E86E6}"/>
                </a:ext>
              </a:extLst>
            </p:cNvPr>
            <p:cNvSpPr/>
            <p:nvPr/>
          </p:nvSpPr>
          <p:spPr>
            <a:xfrm>
              <a:off x="3139096" y="1965815"/>
              <a:ext cx="22728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PRODUCTO PUNTO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363ACABB-553D-4C7C-DBF0-B1C875154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096" y="3261447"/>
            <a:ext cx="3302000" cy="469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AD43F8B-6C29-8BE7-08F4-105A152019EC}"/>
              </a:ext>
            </a:extLst>
          </p:cNvPr>
          <p:cNvSpPr txBox="1"/>
          <p:nvPr/>
        </p:nvSpPr>
        <p:spPr>
          <a:xfrm>
            <a:off x="8130945" y="3358623"/>
            <a:ext cx="90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0070C0"/>
                </a:solidFill>
                <a:latin typeface="Gill Sans MT" panose="020B0502020104020203" pitchFamily="34" charset="77"/>
              </a:rPr>
              <a:t>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64F72-7F51-F8EB-2F67-396EE5575BE7}"/>
              </a:ext>
            </a:extLst>
          </p:cNvPr>
          <p:cNvSpPr/>
          <p:nvPr/>
        </p:nvSpPr>
        <p:spPr>
          <a:xfrm>
            <a:off x="1901132" y="4931834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parecidos, el ángulo entre ellos es pequeño y el SCORE es cercano a 1.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8FFF94-2008-594C-489A-58C1F2ED18EF}"/>
              </a:ext>
            </a:extLst>
          </p:cNvPr>
          <p:cNvSpPr/>
          <p:nvPr/>
        </p:nvSpPr>
        <p:spPr>
          <a:xfrm>
            <a:off x="1889636" y="5835269"/>
            <a:ext cx="8649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>
                <a:latin typeface="Gill Sans MT" panose="020B0502020104020203" pitchFamily="34" charset="77"/>
              </a:rPr>
              <a:t>Si los vectores son muy distintos, el ángulo entre ellos es grande y el SCORE disminuye significativamente.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FEE1FC-0D8B-7178-3E48-B883F5A1C050}"/>
              </a:ext>
            </a:extLst>
          </p:cNvPr>
          <p:cNvGrpSpPr/>
          <p:nvPr/>
        </p:nvGrpSpPr>
        <p:grpSpPr>
          <a:xfrm>
            <a:off x="2807538" y="2619477"/>
            <a:ext cx="4908021" cy="1856807"/>
            <a:chOff x="1283537" y="2619476"/>
            <a:chExt cx="4908021" cy="185680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FF4BF8D-3A13-5642-1705-EEB6DDF2A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30858" y="3942883"/>
              <a:ext cx="3060700" cy="5334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5C963B9-0A7B-7F78-7C0E-2F3FD0974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3537" y="2619476"/>
              <a:ext cx="662200" cy="153725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50F4C7-2703-041F-0A46-F1120CDF0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58962" y="4266142"/>
              <a:ext cx="662200" cy="15372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EFFDF8-6216-89CA-B88C-001E791FE14E}"/>
              </a:ext>
            </a:extLst>
          </p:cNvPr>
          <p:cNvGrpSpPr/>
          <p:nvPr/>
        </p:nvGrpSpPr>
        <p:grpSpPr>
          <a:xfrm>
            <a:off x="6854283" y="2334394"/>
            <a:ext cx="1807252" cy="828753"/>
            <a:chOff x="5330283" y="2334393"/>
            <a:chExt cx="1807252" cy="82875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1DDE628-AF61-A59F-49DF-A8CE5FED75CE}"/>
                </a:ext>
              </a:extLst>
            </p:cNvPr>
            <p:cNvCxnSpPr/>
            <p:nvPr/>
          </p:nvCxnSpPr>
          <p:spPr>
            <a:xfrm flipV="1">
              <a:off x="5330283" y="2335146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CB43CB7-F481-BEB1-070B-976EE9C36C57}"/>
                </a:ext>
              </a:extLst>
            </p:cNvPr>
            <p:cNvCxnSpPr/>
            <p:nvPr/>
          </p:nvCxnSpPr>
          <p:spPr>
            <a:xfrm flipV="1">
              <a:off x="6309535" y="2334393"/>
              <a:ext cx="828000" cy="82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DEE04-6AC4-CD61-CA0A-45C40C06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412EE-13D9-F153-541C-401C240B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5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EBF01DD-C589-3E47-B07A-D6DE78134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08"/>
          <a:stretch/>
        </p:blipFill>
        <p:spPr>
          <a:xfrm>
            <a:off x="1668967" y="1786668"/>
            <a:ext cx="1219201" cy="1442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469EF6-960F-FF44-81BA-8558F605F6C1}"/>
              </a:ext>
            </a:extLst>
          </p:cNvPr>
          <p:cNvSpPr txBox="1"/>
          <p:nvPr/>
        </p:nvSpPr>
        <p:spPr>
          <a:xfrm>
            <a:off x="1597573" y="3689131"/>
            <a:ext cx="837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Fotos faciales de la misma (diferente) persona tienen descriptores similares (diferentes)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0A272A-F96E-384D-8B93-F5634BE4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71" y="4806951"/>
            <a:ext cx="419100" cy="2921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D11D8B1-EB5F-CF4D-B011-B789161CFBFF}"/>
              </a:ext>
            </a:extLst>
          </p:cNvPr>
          <p:cNvSpPr/>
          <p:nvPr/>
        </p:nvSpPr>
        <p:spPr>
          <a:xfrm>
            <a:off x="3410221" y="4607377"/>
            <a:ext cx="840828" cy="6201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5956C7-2EC9-0E44-B23F-0E3B6A20311C}"/>
              </a:ext>
            </a:extLst>
          </p:cNvPr>
          <p:cNvSpPr/>
          <p:nvPr/>
        </p:nvSpPr>
        <p:spPr>
          <a:xfrm>
            <a:off x="3361902" y="5841441"/>
            <a:ext cx="840828" cy="62011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A90E2018-844B-DB43-938D-D8BC76402C07}"/>
              </a:ext>
            </a:extLst>
          </p:cNvPr>
          <p:cNvSpPr/>
          <p:nvPr/>
        </p:nvSpPr>
        <p:spPr>
          <a:xfrm>
            <a:off x="2874980" y="473027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E33CACAE-EF46-6148-823D-5DA1698BC2E3}"/>
              </a:ext>
            </a:extLst>
          </p:cNvPr>
          <p:cNvSpPr/>
          <p:nvPr/>
        </p:nvSpPr>
        <p:spPr>
          <a:xfrm>
            <a:off x="2852678" y="5986594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92C31F54-B6DD-3542-8B76-0B16E0A5604E}"/>
              </a:ext>
            </a:extLst>
          </p:cNvPr>
          <p:cNvSpPr/>
          <p:nvPr/>
        </p:nvSpPr>
        <p:spPr>
          <a:xfrm rot="16200000">
            <a:off x="4397297" y="4746705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54BFFDDA-3A5F-034C-BF0A-E1A8C0DC3A4A}"/>
              </a:ext>
            </a:extLst>
          </p:cNvPr>
          <p:cNvSpPr/>
          <p:nvPr/>
        </p:nvSpPr>
        <p:spPr>
          <a:xfrm rot="16200000">
            <a:off x="4371278" y="5969623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52D31E6-0AD5-CF49-B1F2-28B834667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490" y="6070755"/>
            <a:ext cx="431800" cy="2921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5800A9-F716-BD4B-8715-23E96E4D42F9}"/>
              </a:ext>
            </a:extLst>
          </p:cNvPr>
          <p:cNvSpPr/>
          <p:nvPr/>
        </p:nvSpPr>
        <p:spPr>
          <a:xfrm>
            <a:off x="5794917" y="5486400"/>
            <a:ext cx="345688" cy="3456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632BEE-AACA-AF4A-86AD-35A1572B16A5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256572" y="4953001"/>
            <a:ext cx="588971" cy="584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D43587-B6E2-D649-99FD-9E6202F0AF95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5382322" y="5781463"/>
            <a:ext cx="463220" cy="452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4CE558-48B7-D443-8755-F81049F5DCB8}"/>
              </a:ext>
            </a:extLst>
          </p:cNvPr>
          <p:cNvSpPr txBox="1"/>
          <p:nvPr/>
        </p:nvSpPr>
        <p:spPr>
          <a:xfrm>
            <a:off x="8782124" y="5129561"/>
            <a:ext cx="1891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Sí</a:t>
            </a:r>
            <a:r>
              <a:rPr lang="en-US" dirty="0">
                <a:latin typeface="Gill Sans MT" panose="020B0502020104020203" pitchFamily="34" charset="77"/>
              </a:rPr>
              <a:t>: </a:t>
            </a:r>
            <a:r>
              <a:rPr lang="en-US" dirty="0" err="1">
                <a:latin typeface="Gill Sans MT" panose="020B0502020104020203" pitchFamily="34" charset="77"/>
              </a:rPr>
              <a:t>misma</a:t>
            </a:r>
            <a:r>
              <a:rPr lang="en-US" dirty="0">
                <a:latin typeface="Gill Sans MT" panose="020B0502020104020203" pitchFamily="34" charset="77"/>
              </a:rPr>
              <a:t> persona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No: </a:t>
            </a:r>
            <a:r>
              <a:rPr lang="en-US" dirty="0" err="1">
                <a:latin typeface="Gill Sans MT" panose="020B0502020104020203" pitchFamily="34" charset="77"/>
              </a:rPr>
              <a:t>diferentes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C2DE6A-5A17-DB43-8778-62F59467ED57}"/>
              </a:ext>
            </a:extLst>
          </p:cNvPr>
          <p:cNvCxnSpPr>
            <a:cxnSpLocks/>
          </p:cNvCxnSpPr>
          <p:nvPr/>
        </p:nvCxnSpPr>
        <p:spPr>
          <a:xfrm>
            <a:off x="6167255" y="5674113"/>
            <a:ext cx="631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50DABDE-A78B-6848-BBD6-A717CC74EA56}"/>
              </a:ext>
            </a:extLst>
          </p:cNvPr>
          <p:cNvSpPr/>
          <p:nvPr/>
        </p:nvSpPr>
        <p:spPr>
          <a:xfrm>
            <a:off x="3508918" y="1739590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020312-89B4-A049-A32D-C874FBB1B227}"/>
              </a:ext>
            </a:extLst>
          </p:cNvPr>
          <p:cNvSpPr/>
          <p:nvPr/>
        </p:nvSpPr>
        <p:spPr>
          <a:xfrm>
            <a:off x="3884338" y="1903141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A85A98-FB9D-8D45-84FA-BAF4A9D86617}"/>
              </a:ext>
            </a:extLst>
          </p:cNvPr>
          <p:cNvSpPr/>
          <p:nvPr/>
        </p:nvSpPr>
        <p:spPr>
          <a:xfrm>
            <a:off x="4382425" y="1999786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91CF95-F29C-B940-8BB3-EE725BC1F694}"/>
              </a:ext>
            </a:extLst>
          </p:cNvPr>
          <p:cNvSpPr/>
          <p:nvPr/>
        </p:nvSpPr>
        <p:spPr>
          <a:xfrm>
            <a:off x="5003175" y="2074129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E7C0A1-2FE7-C845-9655-E725742E195A}"/>
              </a:ext>
            </a:extLst>
          </p:cNvPr>
          <p:cNvSpPr/>
          <p:nvPr/>
        </p:nvSpPr>
        <p:spPr>
          <a:xfrm>
            <a:off x="5735437" y="2103867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52692-821E-5C4C-90EF-6C357B1EA4D0}"/>
              </a:ext>
            </a:extLst>
          </p:cNvPr>
          <p:cNvSpPr/>
          <p:nvPr/>
        </p:nvSpPr>
        <p:spPr>
          <a:xfrm>
            <a:off x="6322734" y="2230243"/>
            <a:ext cx="1222926" cy="2378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F42-1A3E-1244-92AA-712948A8DFD5}"/>
              </a:ext>
            </a:extLst>
          </p:cNvPr>
          <p:cNvSpPr txBox="1"/>
          <p:nvPr/>
        </p:nvSpPr>
        <p:spPr>
          <a:xfrm>
            <a:off x="3353843" y="133011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973F5-4885-3842-9E7F-73547DE68844}"/>
              </a:ext>
            </a:extLst>
          </p:cNvPr>
          <p:cNvSpPr txBox="1"/>
          <p:nvPr/>
        </p:nvSpPr>
        <p:spPr>
          <a:xfrm>
            <a:off x="8380427" y="1598100"/>
            <a:ext cx="151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DESCRIPTOR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DA022B-4930-9A4D-88B4-A38A21A1FD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22" y="2618033"/>
            <a:ext cx="320363" cy="395742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7F3FC7F-A5DA-0349-9000-03B7F41F4388}"/>
              </a:ext>
            </a:extLst>
          </p:cNvPr>
          <p:cNvSpPr/>
          <p:nvPr/>
        </p:nvSpPr>
        <p:spPr>
          <a:xfrm>
            <a:off x="3319347" y="1699449"/>
            <a:ext cx="4199959" cy="1735127"/>
          </a:xfrm>
          <a:prstGeom prst="roundRect">
            <a:avLst>
              <a:gd name="adj" fmla="val 516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0" name="Imagen 23" descr="Screen shot 2011-09-26 at 3.09.19 PM.png">
            <a:extLst>
              <a:ext uri="{FF2B5EF4-FFF2-40B4-BE49-F238E27FC236}">
                <a16:creationId xmlns:a16="http://schemas.microsoft.com/office/drawing/2014/main" id="{1166C0A5-879A-464A-91A2-F7ECC3F354C2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176" y="2187710"/>
            <a:ext cx="845276" cy="343748"/>
          </a:xfrm>
          <a:prstGeom prst="rect">
            <a:avLst/>
          </a:prstGeom>
        </p:spPr>
      </p:pic>
      <p:sp>
        <p:nvSpPr>
          <p:cNvPr id="62" name="Right Arrow 61">
            <a:extLst>
              <a:ext uri="{FF2B5EF4-FFF2-40B4-BE49-F238E27FC236}">
                <a16:creationId xmlns:a16="http://schemas.microsoft.com/office/drawing/2014/main" id="{21F225E5-7D8E-8442-BDB1-81C472805F33}"/>
              </a:ext>
            </a:extLst>
          </p:cNvPr>
          <p:cNvSpPr/>
          <p:nvPr/>
        </p:nvSpPr>
        <p:spPr>
          <a:xfrm>
            <a:off x="2888167" y="23564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6CCC250-EF04-0A4E-A663-534EAA9E98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53065" y="1923922"/>
            <a:ext cx="3831547" cy="1143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0A0045-91AC-1149-98E2-B5913B3AE951}"/>
              </a:ext>
            </a:extLst>
          </p:cNvPr>
          <p:cNvSpPr/>
          <p:nvPr/>
        </p:nvSpPr>
        <p:spPr>
          <a:xfrm rot="19467606">
            <a:off x="6668941" y="2668633"/>
            <a:ext cx="825924" cy="3194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41053BC8-CDA8-5E4B-AA6B-03562CE80A68}"/>
              </a:ext>
            </a:extLst>
          </p:cNvPr>
          <p:cNvSpPr/>
          <p:nvPr/>
        </p:nvSpPr>
        <p:spPr>
          <a:xfrm rot="16200000">
            <a:off x="7861479" y="2434779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668FD39-BABF-8343-9684-C7DD27EEC35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541" y="5593025"/>
            <a:ext cx="1080000" cy="1080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5B0B0C4-ECAE-2546-898E-863EC48F98C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096" y="4327814"/>
            <a:ext cx="1080000" cy="1080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EAD2AC7-3BC0-3E49-934C-E1530926BA16}"/>
              </a:ext>
            </a:extLst>
          </p:cNvPr>
          <p:cNvSpPr txBox="1"/>
          <p:nvPr/>
        </p:nvSpPr>
        <p:spPr>
          <a:xfrm>
            <a:off x="6558455" y="6058161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Producto punto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5C990-DA5F-4745-8442-C6BF77760631}"/>
              </a:ext>
            </a:extLst>
          </p:cNvPr>
          <p:cNvSpPr txBox="1"/>
          <p:nvPr/>
        </p:nvSpPr>
        <p:spPr>
          <a:xfrm>
            <a:off x="6868783" y="479773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SCORE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0FD05-6FF4-3249-A69C-2BAAFB9ED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1189" y="5370237"/>
            <a:ext cx="1828800" cy="533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198E8-B563-C13A-9FF7-3E48ADBF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251E3-F1BE-A2D3-0DFA-966CADAF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27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EBF01DD-C589-3E47-B07A-D6DE78134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08"/>
          <a:stretch/>
        </p:blipFill>
        <p:spPr>
          <a:xfrm>
            <a:off x="1668967" y="1786668"/>
            <a:ext cx="1219201" cy="1442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469EF6-960F-FF44-81BA-8558F605F6C1}"/>
              </a:ext>
            </a:extLst>
          </p:cNvPr>
          <p:cNvSpPr txBox="1"/>
          <p:nvPr/>
        </p:nvSpPr>
        <p:spPr>
          <a:xfrm>
            <a:off x="1597573" y="3689131"/>
            <a:ext cx="837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Fotos faciales de la misma (diferente) persona tienen descriptores similares (diferentes)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0A272A-F96E-384D-8B93-F5634BE4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71" y="4806951"/>
            <a:ext cx="419100" cy="29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2D31E6-0AD5-CF49-B1F2-28B834667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490" y="6070755"/>
            <a:ext cx="431800" cy="2921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5800A9-F716-BD4B-8715-23E96E4D42F9}"/>
              </a:ext>
            </a:extLst>
          </p:cNvPr>
          <p:cNvSpPr/>
          <p:nvPr/>
        </p:nvSpPr>
        <p:spPr>
          <a:xfrm>
            <a:off x="5794917" y="5486400"/>
            <a:ext cx="345688" cy="3456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632BEE-AACA-AF4A-86AD-35A1572B16A5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256572" y="4953001"/>
            <a:ext cx="588971" cy="584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D43587-B6E2-D649-99FD-9E6202F0AF95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5382322" y="5781463"/>
            <a:ext cx="463220" cy="452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4CE558-48B7-D443-8755-F81049F5DCB8}"/>
              </a:ext>
            </a:extLst>
          </p:cNvPr>
          <p:cNvSpPr txBox="1"/>
          <p:nvPr/>
        </p:nvSpPr>
        <p:spPr>
          <a:xfrm>
            <a:off x="8782124" y="5129561"/>
            <a:ext cx="1891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Sí</a:t>
            </a:r>
            <a:r>
              <a:rPr lang="en-US" dirty="0">
                <a:latin typeface="Gill Sans MT" panose="020B0502020104020203" pitchFamily="34" charset="77"/>
              </a:rPr>
              <a:t>: </a:t>
            </a:r>
            <a:r>
              <a:rPr lang="en-US" dirty="0" err="1">
                <a:latin typeface="Gill Sans MT" panose="020B0502020104020203" pitchFamily="34" charset="77"/>
              </a:rPr>
              <a:t>misma</a:t>
            </a:r>
            <a:r>
              <a:rPr lang="en-US" dirty="0">
                <a:latin typeface="Gill Sans MT" panose="020B0502020104020203" pitchFamily="34" charset="77"/>
              </a:rPr>
              <a:t> persona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No: </a:t>
            </a:r>
            <a:r>
              <a:rPr lang="en-US" dirty="0" err="1">
                <a:latin typeface="Gill Sans MT" panose="020B0502020104020203" pitchFamily="34" charset="77"/>
              </a:rPr>
              <a:t>diferentes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C2DE6A-5A17-DB43-8778-62F59467ED57}"/>
              </a:ext>
            </a:extLst>
          </p:cNvPr>
          <p:cNvCxnSpPr>
            <a:cxnSpLocks/>
          </p:cNvCxnSpPr>
          <p:nvPr/>
        </p:nvCxnSpPr>
        <p:spPr>
          <a:xfrm>
            <a:off x="6167255" y="5674113"/>
            <a:ext cx="631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50DABDE-A78B-6848-BBD6-A717CC74EA56}"/>
              </a:ext>
            </a:extLst>
          </p:cNvPr>
          <p:cNvSpPr/>
          <p:nvPr/>
        </p:nvSpPr>
        <p:spPr>
          <a:xfrm>
            <a:off x="3508918" y="1739590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020312-89B4-A049-A32D-C874FBB1B227}"/>
              </a:ext>
            </a:extLst>
          </p:cNvPr>
          <p:cNvSpPr/>
          <p:nvPr/>
        </p:nvSpPr>
        <p:spPr>
          <a:xfrm>
            <a:off x="3884338" y="1903141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A85A98-FB9D-8D45-84FA-BAF4A9D86617}"/>
              </a:ext>
            </a:extLst>
          </p:cNvPr>
          <p:cNvSpPr/>
          <p:nvPr/>
        </p:nvSpPr>
        <p:spPr>
          <a:xfrm>
            <a:off x="4382425" y="1999786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91CF95-F29C-B940-8BB3-EE725BC1F694}"/>
              </a:ext>
            </a:extLst>
          </p:cNvPr>
          <p:cNvSpPr/>
          <p:nvPr/>
        </p:nvSpPr>
        <p:spPr>
          <a:xfrm>
            <a:off x="5003175" y="2074129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E7C0A1-2FE7-C845-9655-E725742E195A}"/>
              </a:ext>
            </a:extLst>
          </p:cNvPr>
          <p:cNvSpPr/>
          <p:nvPr/>
        </p:nvSpPr>
        <p:spPr>
          <a:xfrm>
            <a:off x="5735437" y="2103867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52692-821E-5C4C-90EF-6C357B1EA4D0}"/>
              </a:ext>
            </a:extLst>
          </p:cNvPr>
          <p:cNvSpPr/>
          <p:nvPr/>
        </p:nvSpPr>
        <p:spPr>
          <a:xfrm>
            <a:off x="6322734" y="2230243"/>
            <a:ext cx="1222926" cy="2378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F42-1A3E-1244-92AA-712948A8DFD5}"/>
              </a:ext>
            </a:extLst>
          </p:cNvPr>
          <p:cNvSpPr txBox="1"/>
          <p:nvPr/>
        </p:nvSpPr>
        <p:spPr>
          <a:xfrm>
            <a:off x="3353843" y="133011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973F5-4885-3842-9E7F-73547DE68844}"/>
              </a:ext>
            </a:extLst>
          </p:cNvPr>
          <p:cNvSpPr txBox="1"/>
          <p:nvPr/>
        </p:nvSpPr>
        <p:spPr>
          <a:xfrm>
            <a:off x="8380427" y="1598100"/>
            <a:ext cx="151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DESCRIPTOR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DA022B-4930-9A4D-88B4-A38A21A1FD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22" y="2618033"/>
            <a:ext cx="320363" cy="395742"/>
          </a:xfrm>
          <a:prstGeom prst="rect">
            <a:avLst/>
          </a:prstGeom>
        </p:spPr>
      </p:pic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27F3FC7F-A5DA-0349-9000-03B7F41F4388}"/>
              </a:ext>
            </a:extLst>
          </p:cNvPr>
          <p:cNvSpPr/>
          <p:nvPr/>
        </p:nvSpPr>
        <p:spPr>
          <a:xfrm>
            <a:off x="3319347" y="1699449"/>
            <a:ext cx="4199959" cy="1735127"/>
          </a:xfrm>
          <a:prstGeom prst="roundRect">
            <a:avLst>
              <a:gd name="adj" fmla="val 5167"/>
            </a:avLst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0" name="Imagen 23" descr="Screen shot 2011-09-26 at 3.09.19 PM.png">
            <a:extLst>
              <a:ext uri="{FF2B5EF4-FFF2-40B4-BE49-F238E27FC236}">
                <a16:creationId xmlns:a16="http://schemas.microsoft.com/office/drawing/2014/main" id="{1166C0A5-879A-464A-91A2-F7ECC3F354C2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176" y="2187710"/>
            <a:ext cx="845276" cy="343748"/>
          </a:xfrm>
          <a:prstGeom prst="rect">
            <a:avLst/>
          </a:prstGeom>
        </p:spPr>
      </p:pic>
      <p:sp>
        <p:nvSpPr>
          <p:cNvPr id="62" name="Right Arrow 61">
            <a:extLst>
              <a:ext uri="{FF2B5EF4-FFF2-40B4-BE49-F238E27FC236}">
                <a16:creationId xmlns:a16="http://schemas.microsoft.com/office/drawing/2014/main" id="{21F225E5-7D8E-8442-BDB1-81C472805F33}"/>
              </a:ext>
            </a:extLst>
          </p:cNvPr>
          <p:cNvSpPr/>
          <p:nvPr/>
        </p:nvSpPr>
        <p:spPr>
          <a:xfrm>
            <a:off x="2888167" y="23564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6CCC250-EF04-0A4E-A663-534EAA9E98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53065" y="1923922"/>
            <a:ext cx="3831547" cy="1143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0A0045-91AC-1149-98E2-B5913B3AE951}"/>
              </a:ext>
            </a:extLst>
          </p:cNvPr>
          <p:cNvSpPr/>
          <p:nvPr/>
        </p:nvSpPr>
        <p:spPr>
          <a:xfrm rot="19467606">
            <a:off x="6668941" y="2668633"/>
            <a:ext cx="825924" cy="3194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41053BC8-CDA8-5E4B-AA6B-03562CE80A68}"/>
              </a:ext>
            </a:extLst>
          </p:cNvPr>
          <p:cNvSpPr/>
          <p:nvPr/>
        </p:nvSpPr>
        <p:spPr>
          <a:xfrm rot="16200000">
            <a:off x="7861479" y="2434779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668FD39-BABF-8343-9684-C7DD27EEC35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541" y="5593025"/>
            <a:ext cx="1080000" cy="1080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5B0B0C4-ECAE-2546-898E-863EC48F98C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096" y="4327814"/>
            <a:ext cx="1080000" cy="1080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EAD2AC7-3BC0-3E49-934C-E1530926BA16}"/>
              </a:ext>
            </a:extLst>
          </p:cNvPr>
          <p:cNvSpPr txBox="1"/>
          <p:nvPr/>
        </p:nvSpPr>
        <p:spPr>
          <a:xfrm>
            <a:off x="6558455" y="6058161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Producto punto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5C990-DA5F-4745-8442-C6BF77760631}"/>
              </a:ext>
            </a:extLst>
          </p:cNvPr>
          <p:cNvSpPr txBox="1"/>
          <p:nvPr/>
        </p:nvSpPr>
        <p:spPr>
          <a:xfrm>
            <a:off x="6868783" y="479773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SCORE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0FD05-6FF4-3249-A69C-2BAAFB9ED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1189" y="5370237"/>
            <a:ext cx="1828800" cy="533400"/>
          </a:xfrm>
          <a:prstGeom prst="rect">
            <a:avLst/>
          </a:prstGeom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03DC65C-CE3C-6A43-93C6-55CB222A03C3}"/>
              </a:ext>
            </a:extLst>
          </p:cNvPr>
          <p:cNvCxnSpPr>
            <a:cxnSpLocks/>
          </p:cNvCxnSpPr>
          <p:nvPr/>
        </p:nvCxnSpPr>
        <p:spPr>
          <a:xfrm>
            <a:off x="3150645" y="4943186"/>
            <a:ext cx="151200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0AD31084-EA7B-B949-8538-94E54E006D88}"/>
              </a:ext>
            </a:extLst>
          </p:cNvPr>
          <p:cNvSpPr/>
          <p:nvPr/>
        </p:nvSpPr>
        <p:spPr>
          <a:xfrm>
            <a:off x="3645625" y="4697301"/>
            <a:ext cx="598464" cy="49955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635725-CB63-F240-B2EF-864EADD51E77}"/>
              </a:ext>
            </a:extLst>
          </p:cNvPr>
          <p:cNvSpPr txBox="1"/>
          <p:nvPr/>
        </p:nvSpPr>
        <p:spPr>
          <a:xfrm>
            <a:off x="3725907" y="477550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AD1E352-B2E4-1A42-8FD5-98B16BD58252}"/>
              </a:ext>
            </a:extLst>
          </p:cNvPr>
          <p:cNvCxnSpPr>
            <a:cxnSpLocks/>
          </p:cNvCxnSpPr>
          <p:nvPr/>
        </p:nvCxnSpPr>
        <p:spPr>
          <a:xfrm>
            <a:off x="3150645" y="6197598"/>
            <a:ext cx="1512000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3642CE6A-999E-CB4D-B3E4-6ACF3A594D01}"/>
              </a:ext>
            </a:extLst>
          </p:cNvPr>
          <p:cNvSpPr/>
          <p:nvPr/>
        </p:nvSpPr>
        <p:spPr>
          <a:xfrm>
            <a:off x="3645625" y="5951713"/>
            <a:ext cx="598464" cy="49955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C1799D-174C-DC44-B7B0-0B4B7A6D74CC}"/>
              </a:ext>
            </a:extLst>
          </p:cNvPr>
          <p:cNvSpPr txBox="1"/>
          <p:nvPr/>
        </p:nvSpPr>
        <p:spPr>
          <a:xfrm>
            <a:off x="3725907" y="6029916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A6E78-DC2A-A835-4FF3-5460CAA0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40A0-B8C2-FE0E-21E0-A187589B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2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EBF01DD-C589-3E47-B07A-D6DE78134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08"/>
          <a:stretch/>
        </p:blipFill>
        <p:spPr>
          <a:xfrm>
            <a:off x="1668967" y="1786668"/>
            <a:ext cx="1219201" cy="1442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469EF6-960F-FF44-81BA-8558F605F6C1}"/>
              </a:ext>
            </a:extLst>
          </p:cNvPr>
          <p:cNvSpPr txBox="1"/>
          <p:nvPr/>
        </p:nvSpPr>
        <p:spPr>
          <a:xfrm>
            <a:off x="1597573" y="3689131"/>
            <a:ext cx="837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Fotos faciales de la misma (diferente) persona tienen descriptores similares (diferentes)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0A272A-F96E-384D-8B93-F5634BE4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71" y="4806951"/>
            <a:ext cx="419100" cy="29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2D31E6-0AD5-CF49-B1F2-28B834667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490" y="6070755"/>
            <a:ext cx="431800" cy="2921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5800A9-F716-BD4B-8715-23E96E4D42F9}"/>
              </a:ext>
            </a:extLst>
          </p:cNvPr>
          <p:cNvSpPr/>
          <p:nvPr/>
        </p:nvSpPr>
        <p:spPr>
          <a:xfrm>
            <a:off x="5794917" y="5486400"/>
            <a:ext cx="345688" cy="3456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632BEE-AACA-AF4A-86AD-35A1572B16A5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256572" y="4953001"/>
            <a:ext cx="588971" cy="584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D43587-B6E2-D649-99FD-9E6202F0AF95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5382322" y="5781463"/>
            <a:ext cx="463220" cy="452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4CE558-48B7-D443-8755-F81049F5DCB8}"/>
              </a:ext>
            </a:extLst>
          </p:cNvPr>
          <p:cNvSpPr txBox="1"/>
          <p:nvPr/>
        </p:nvSpPr>
        <p:spPr>
          <a:xfrm>
            <a:off x="8782124" y="5129561"/>
            <a:ext cx="1891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Sí</a:t>
            </a:r>
            <a:r>
              <a:rPr lang="en-US" dirty="0">
                <a:latin typeface="Gill Sans MT" panose="020B0502020104020203" pitchFamily="34" charset="77"/>
              </a:rPr>
              <a:t>: </a:t>
            </a:r>
            <a:r>
              <a:rPr lang="en-US" dirty="0" err="1">
                <a:latin typeface="Gill Sans MT" panose="020B0502020104020203" pitchFamily="34" charset="77"/>
              </a:rPr>
              <a:t>misma</a:t>
            </a:r>
            <a:r>
              <a:rPr lang="en-US" dirty="0">
                <a:latin typeface="Gill Sans MT" panose="020B0502020104020203" pitchFamily="34" charset="77"/>
              </a:rPr>
              <a:t> persona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No: </a:t>
            </a:r>
            <a:r>
              <a:rPr lang="en-US" dirty="0" err="1">
                <a:latin typeface="Gill Sans MT" panose="020B0502020104020203" pitchFamily="34" charset="77"/>
              </a:rPr>
              <a:t>diferentes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C2DE6A-5A17-DB43-8778-62F59467ED57}"/>
              </a:ext>
            </a:extLst>
          </p:cNvPr>
          <p:cNvCxnSpPr>
            <a:cxnSpLocks/>
          </p:cNvCxnSpPr>
          <p:nvPr/>
        </p:nvCxnSpPr>
        <p:spPr>
          <a:xfrm>
            <a:off x="6167255" y="5674113"/>
            <a:ext cx="631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50DABDE-A78B-6848-BBD6-A717CC74EA56}"/>
              </a:ext>
            </a:extLst>
          </p:cNvPr>
          <p:cNvSpPr/>
          <p:nvPr/>
        </p:nvSpPr>
        <p:spPr>
          <a:xfrm>
            <a:off x="3508918" y="1739590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020312-89B4-A049-A32D-C874FBB1B227}"/>
              </a:ext>
            </a:extLst>
          </p:cNvPr>
          <p:cNvSpPr/>
          <p:nvPr/>
        </p:nvSpPr>
        <p:spPr>
          <a:xfrm>
            <a:off x="3884338" y="1903141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A85A98-FB9D-8D45-84FA-BAF4A9D86617}"/>
              </a:ext>
            </a:extLst>
          </p:cNvPr>
          <p:cNvSpPr/>
          <p:nvPr/>
        </p:nvSpPr>
        <p:spPr>
          <a:xfrm>
            <a:off x="4382425" y="1999786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91CF95-F29C-B940-8BB3-EE725BC1F694}"/>
              </a:ext>
            </a:extLst>
          </p:cNvPr>
          <p:cNvSpPr/>
          <p:nvPr/>
        </p:nvSpPr>
        <p:spPr>
          <a:xfrm>
            <a:off x="5003175" y="2074129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E7C0A1-2FE7-C845-9655-E725742E195A}"/>
              </a:ext>
            </a:extLst>
          </p:cNvPr>
          <p:cNvSpPr/>
          <p:nvPr/>
        </p:nvSpPr>
        <p:spPr>
          <a:xfrm>
            <a:off x="5735437" y="2103867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52692-821E-5C4C-90EF-6C357B1EA4D0}"/>
              </a:ext>
            </a:extLst>
          </p:cNvPr>
          <p:cNvSpPr/>
          <p:nvPr/>
        </p:nvSpPr>
        <p:spPr>
          <a:xfrm>
            <a:off x="6322734" y="2230243"/>
            <a:ext cx="1222926" cy="2378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F42-1A3E-1244-92AA-712948A8DFD5}"/>
              </a:ext>
            </a:extLst>
          </p:cNvPr>
          <p:cNvSpPr txBox="1"/>
          <p:nvPr/>
        </p:nvSpPr>
        <p:spPr>
          <a:xfrm>
            <a:off x="3353843" y="133011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973F5-4885-3842-9E7F-73547DE68844}"/>
              </a:ext>
            </a:extLst>
          </p:cNvPr>
          <p:cNvSpPr txBox="1"/>
          <p:nvPr/>
        </p:nvSpPr>
        <p:spPr>
          <a:xfrm>
            <a:off x="8380427" y="1598100"/>
            <a:ext cx="151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DESCRIPTOR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DA022B-4930-9A4D-88B4-A38A21A1FD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22" y="2618033"/>
            <a:ext cx="320363" cy="395742"/>
          </a:xfrm>
          <a:prstGeom prst="rect">
            <a:avLst/>
          </a:prstGeom>
        </p:spPr>
      </p:pic>
      <p:pic>
        <p:nvPicPr>
          <p:cNvPr id="60" name="Imagen 23" descr="Screen shot 2011-09-26 at 3.09.19 PM.png">
            <a:extLst>
              <a:ext uri="{FF2B5EF4-FFF2-40B4-BE49-F238E27FC236}">
                <a16:creationId xmlns:a16="http://schemas.microsoft.com/office/drawing/2014/main" id="{1166C0A5-879A-464A-91A2-F7ECC3F354C2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176" y="2187710"/>
            <a:ext cx="845276" cy="343748"/>
          </a:xfrm>
          <a:prstGeom prst="rect">
            <a:avLst/>
          </a:prstGeom>
        </p:spPr>
      </p:pic>
      <p:sp>
        <p:nvSpPr>
          <p:cNvPr id="62" name="Right Arrow 61">
            <a:extLst>
              <a:ext uri="{FF2B5EF4-FFF2-40B4-BE49-F238E27FC236}">
                <a16:creationId xmlns:a16="http://schemas.microsoft.com/office/drawing/2014/main" id="{21F225E5-7D8E-8442-BDB1-81C472805F33}"/>
              </a:ext>
            </a:extLst>
          </p:cNvPr>
          <p:cNvSpPr/>
          <p:nvPr/>
        </p:nvSpPr>
        <p:spPr>
          <a:xfrm>
            <a:off x="2888167" y="23564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6CCC250-EF04-0A4E-A663-534EAA9E98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53065" y="1923922"/>
            <a:ext cx="3831547" cy="1143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0A0045-91AC-1149-98E2-B5913B3AE951}"/>
              </a:ext>
            </a:extLst>
          </p:cNvPr>
          <p:cNvSpPr/>
          <p:nvPr/>
        </p:nvSpPr>
        <p:spPr>
          <a:xfrm rot="19467606">
            <a:off x="6668941" y="2668633"/>
            <a:ext cx="825924" cy="3194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41053BC8-CDA8-5E4B-AA6B-03562CE80A68}"/>
              </a:ext>
            </a:extLst>
          </p:cNvPr>
          <p:cNvSpPr/>
          <p:nvPr/>
        </p:nvSpPr>
        <p:spPr>
          <a:xfrm rot="16200000">
            <a:off x="7861479" y="2434779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668FD39-BABF-8343-9684-C7DD27EEC35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541" y="5593025"/>
            <a:ext cx="1080000" cy="1080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5B0B0C4-ECAE-2546-898E-863EC48F98C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096" y="4327814"/>
            <a:ext cx="1080000" cy="1080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EAD2AC7-3BC0-3E49-934C-E1530926BA16}"/>
              </a:ext>
            </a:extLst>
          </p:cNvPr>
          <p:cNvSpPr txBox="1"/>
          <p:nvPr/>
        </p:nvSpPr>
        <p:spPr>
          <a:xfrm>
            <a:off x="6558455" y="6058161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Producto punto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5C990-DA5F-4745-8442-C6BF77760631}"/>
              </a:ext>
            </a:extLst>
          </p:cNvPr>
          <p:cNvSpPr txBox="1"/>
          <p:nvPr/>
        </p:nvSpPr>
        <p:spPr>
          <a:xfrm>
            <a:off x="6868783" y="479773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SCORE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0FD05-6FF4-3249-A69C-2BAAFB9ED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1189" y="5370237"/>
            <a:ext cx="1828800" cy="533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C033B13-CFB1-1847-8191-3E13998B2024}"/>
              </a:ext>
            </a:extLst>
          </p:cNvPr>
          <p:cNvGrpSpPr/>
          <p:nvPr/>
        </p:nvGrpSpPr>
        <p:grpSpPr>
          <a:xfrm>
            <a:off x="3353844" y="4790485"/>
            <a:ext cx="1177265" cy="301317"/>
            <a:chOff x="1829843" y="4790484"/>
            <a:chExt cx="1177265" cy="301317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287B7CF-8489-E641-9AB2-5E53CC00DE6C}"/>
                </a:ext>
              </a:extLst>
            </p:cNvPr>
            <p:cNvCxnSpPr>
              <a:cxnSpLocks/>
            </p:cNvCxnSpPr>
            <p:nvPr/>
          </p:nvCxnSpPr>
          <p:spPr>
            <a:xfrm>
              <a:off x="1829843" y="4943186"/>
              <a:ext cx="1177265" cy="0"/>
            </a:xfrm>
            <a:prstGeom prst="straightConnector1">
              <a:avLst/>
            </a:prstGeom>
            <a:ln w="444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DEE5BD5-C079-964A-BDC4-A9E8E23C9754}"/>
                </a:ext>
              </a:extLst>
            </p:cNvPr>
            <p:cNvSpPr/>
            <p:nvPr/>
          </p:nvSpPr>
          <p:spPr>
            <a:xfrm>
              <a:off x="2224652" y="4790484"/>
              <a:ext cx="331273" cy="3013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67B6D6F-30AD-F14B-95F2-B5D0BCE3D3BF}"/>
              </a:ext>
            </a:extLst>
          </p:cNvPr>
          <p:cNvGrpSpPr/>
          <p:nvPr/>
        </p:nvGrpSpPr>
        <p:grpSpPr>
          <a:xfrm>
            <a:off x="3353843" y="6026332"/>
            <a:ext cx="1177265" cy="301317"/>
            <a:chOff x="1829843" y="4790484"/>
            <a:chExt cx="1177265" cy="301317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938249E-9BA5-1D48-8FA2-E4ACD4BAD244}"/>
                </a:ext>
              </a:extLst>
            </p:cNvPr>
            <p:cNvCxnSpPr>
              <a:cxnSpLocks/>
            </p:cNvCxnSpPr>
            <p:nvPr/>
          </p:nvCxnSpPr>
          <p:spPr>
            <a:xfrm>
              <a:off x="1829843" y="4943186"/>
              <a:ext cx="1177265" cy="0"/>
            </a:xfrm>
            <a:prstGeom prst="straightConnector1">
              <a:avLst/>
            </a:prstGeom>
            <a:ln w="444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7297EE7-ABE9-104E-87CA-2FF48DD3107C}"/>
                </a:ext>
              </a:extLst>
            </p:cNvPr>
            <p:cNvSpPr/>
            <p:nvPr/>
          </p:nvSpPr>
          <p:spPr>
            <a:xfrm>
              <a:off x="2224652" y="4790484"/>
              <a:ext cx="331273" cy="3013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FD9DD62C-3C94-AA4F-A67F-E1595B27C883}"/>
              </a:ext>
            </a:extLst>
          </p:cNvPr>
          <p:cNvSpPr txBox="1"/>
          <p:nvPr/>
        </p:nvSpPr>
        <p:spPr>
          <a:xfrm>
            <a:off x="3725907" y="432556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6A48C5-DE96-7E4D-B40A-E540EFB0D4D4}"/>
              </a:ext>
            </a:extLst>
          </p:cNvPr>
          <p:cNvSpPr txBox="1"/>
          <p:nvPr/>
        </p:nvSpPr>
        <p:spPr>
          <a:xfrm>
            <a:off x="3718647" y="5581046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6AF3BA7-AAB3-BA44-B7D1-A5BE54A83D2F}"/>
              </a:ext>
            </a:extLst>
          </p:cNvPr>
          <p:cNvSpPr/>
          <p:nvPr/>
        </p:nvSpPr>
        <p:spPr>
          <a:xfrm>
            <a:off x="3319347" y="1699449"/>
            <a:ext cx="4199959" cy="1735127"/>
          </a:xfrm>
          <a:prstGeom prst="roundRect">
            <a:avLst>
              <a:gd name="adj" fmla="val 5167"/>
            </a:avLst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19B20-59CD-CECF-CEF9-831D6A26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E18DD-3BE5-F802-54FF-A842D8000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EBF01DD-C589-3E47-B07A-D6DE781340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308"/>
          <a:stretch/>
        </p:blipFill>
        <p:spPr>
          <a:xfrm>
            <a:off x="1668967" y="1786668"/>
            <a:ext cx="1219201" cy="14428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469EF6-960F-FF44-81BA-8558F605F6C1}"/>
              </a:ext>
            </a:extLst>
          </p:cNvPr>
          <p:cNvSpPr txBox="1"/>
          <p:nvPr/>
        </p:nvSpPr>
        <p:spPr>
          <a:xfrm>
            <a:off x="1597573" y="3689131"/>
            <a:ext cx="8374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Fotos faciales de la misma (diferente) persona tienen descriptores similares (diferentes)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0A272A-F96E-384D-8B93-F5634BE4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471" y="4806951"/>
            <a:ext cx="419100" cy="2921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52D31E6-0AD5-CF49-B1F2-28B834667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490" y="6070755"/>
            <a:ext cx="431800" cy="29210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F5800A9-F716-BD4B-8715-23E96E4D42F9}"/>
              </a:ext>
            </a:extLst>
          </p:cNvPr>
          <p:cNvSpPr/>
          <p:nvPr/>
        </p:nvSpPr>
        <p:spPr>
          <a:xfrm>
            <a:off x="5794917" y="5486400"/>
            <a:ext cx="345688" cy="3456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632BEE-AACA-AF4A-86AD-35A1572B16A5}"/>
              </a:ext>
            </a:extLst>
          </p:cNvPr>
          <p:cNvCxnSpPr>
            <a:cxnSpLocks/>
            <a:stCxn id="22" idx="3"/>
            <a:endCxn id="35" idx="1"/>
          </p:cNvCxnSpPr>
          <p:nvPr/>
        </p:nvCxnSpPr>
        <p:spPr>
          <a:xfrm>
            <a:off x="5256572" y="4953001"/>
            <a:ext cx="588971" cy="584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D43587-B6E2-D649-99FD-9E6202F0AF95}"/>
              </a:ext>
            </a:extLst>
          </p:cNvPr>
          <p:cNvCxnSpPr>
            <a:cxnSpLocks/>
            <a:endCxn id="35" idx="3"/>
          </p:cNvCxnSpPr>
          <p:nvPr/>
        </p:nvCxnSpPr>
        <p:spPr>
          <a:xfrm flipV="1">
            <a:off x="5382322" y="5781463"/>
            <a:ext cx="463220" cy="452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24CE558-48B7-D443-8755-F81049F5DCB8}"/>
              </a:ext>
            </a:extLst>
          </p:cNvPr>
          <p:cNvSpPr txBox="1"/>
          <p:nvPr/>
        </p:nvSpPr>
        <p:spPr>
          <a:xfrm>
            <a:off x="8782124" y="5129561"/>
            <a:ext cx="18910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Sí</a:t>
            </a:r>
            <a:r>
              <a:rPr lang="en-US" dirty="0">
                <a:latin typeface="Gill Sans MT" panose="020B0502020104020203" pitchFamily="34" charset="77"/>
              </a:rPr>
              <a:t>: </a:t>
            </a:r>
            <a:r>
              <a:rPr lang="en-US" dirty="0" err="1">
                <a:latin typeface="Gill Sans MT" panose="020B0502020104020203" pitchFamily="34" charset="77"/>
              </a:rPr>
              <a:t>misma</a:t>
            </a:r>
            <a:r>
              <a:rPr lang="en-US" dirty="0">
                <a:latin typeface="Gill Sans MT" panose="020B0502020104020203" pitchFamily="34" charset="77"/>
              </a:rPr>
              <a:t> persona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No: </a:t>
            </a:r>
            <a:r>
              <a:rPr lang="en-US" dirty="0" err="1">
                <a:latin typeface="Gill Sans MT" panose="020B0502020104020203" pitchFamily="34" charset="77"/>
              </a:rPr>
              <a:t>diferentes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C2DE6A-5A17-DB43-8778-62F59467ED57}"/>
              </a:ext>
            </a:extLst>
          </p:cNvPr>
          <p:cNvCxnSpPr>
            <a:cxnSpLocks/>
          </p:cNvCxnSpPr>
          <p:nvPr/>
        </p:nvCxnSpPr>
        <p:spPr>
          <a:xfrm>
            <a:off x="6167255" y="5674113"/>
            <a:ext cx="6312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250DABDE-A78B-6848-BBD6-A717CC74EA56}"/>
              </a:ext>
            </a:extLst>
          </p:cNvPr>
          <p:cNvSpPr/>
          <p:nvPr/>
        </p:nvSpPr>
        <p:spPr>
          <a:xfrm>
            <a:off x="3508918" y="1739590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6020312-89B4-A049-A32D-C874FBB1B227}"/>
              </a:ext>
            </a:extLst>
          </p:cNvPr>
          <p:cNvSpPr/>
          <p:nvPr/>
        </p:nvSpPr>
        <p:spPr>
          <a:xfrm>
            <a:off x="3884338" y="1903141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AA85A98-FB9D-8D45-84FA-BAF4A9D86617}"/>
              </a:ext>
            </a:extLst>
          </p:cNvPr>
          <p:cNvSpPr/>
          <p:nvPr/>
        </p:nvSpPr>
        <p:spPr>
          <a:xfrm>
            <a:off x="4382425" y="1999786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091CF95-F29C-B940-8BB3-EE725BC1F694}"/>
              </a:ext>
            </a:extLst>
          </p:cNvPr>
          <p:cNvSpPr/>
          <p:nvPr/>
        </p:nvSpPr>
        <p:spPr>
          <a:xfrm>
            <a:off x="5003175" y="2074129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E7C0A1-2FE7-C845-9655-E725742E195A}"/>
              </a:ext>
            </a:extLst>
          </p:cNvPr>
          <p:cNvSpPr/>
          <p:nvPr/>
        </p:nvSpPr>
        <p:spPr>
          <a:xfrm>
            <a:off x="5735437" y="2103867"/>
            <a:ext cx="646771" cy="2341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52692-821E-5C4C-90EF-6C357B1EA4D0}"/>
              </a:ext>
            </a:extLst>
          </p:cNvPr>
          <p:cNvSpPr/>
          <p:nvPr/>
        </p:nvSpPr>
        <p:spPr>
          <a:xfrm>
            <a:off x="6322734" y="2230243"/>
            <a:ext cx="1222926" cy="2378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F42-1A3E-1244-92AA-712948A8DFD5}"/>
              </a:ext>
            </a:extLst>
          </p:cNvPr>
          <p:cNvSpPr txBox="1"/>
          <p:nvPr/>
        </p:nvSpPr>
        <p:spPr>
          <a:xfrm>
            <a:off x="3353843" y="133011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FR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973F5-4885-3842-9E7F-73547DE68844}"/>
              </a:ext>
            </a:extLst>
          </p:cNvPr>
          <p:cNvSpPr txBox="1"/>
          <p:nvPr/>
        </p:nvSpPr>
        <p:spPr>
          <a:xfrm>
            <a:off x="8380427" y="1598100"/>
            <a:ext cx="151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DESCRIPTOR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3A4791C-5C34-F043-BEC0-4DD6B8137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9DA022B-4930-9A4D-88B4-A38A21A1FD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922" y="2618033"/>
            <a:ext cx="320363" cy="395742"/>
          </a:xfrm>
          <a:prstGeom prst="rect">
            <a:avLst/>
          </a:prstGeom>
        </p:spPr>
      </p:pic>
      <p:pic>
        <p:nvPicPr>
          <p:cNvPr id="60" name="Imagen 23" descr="Screen shot 2011-09-26 at 3.09.19 PM.png">
            <a:extLst>
              <a:ext uri="{FF2B5EF4-FFF2-40B4-BE49-F238E27FC236}">
                <a16:creationId xmlns:a16="http://schemas.microsoft.com/office/drawing/2014/main" id="{1166C0A5-879A-464A-91A2-F7ECC3F354C2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3176" y="2187710"/>
            <a:ext cx="845276" cy="343748"/>
          </a:xfrm>
          <a:prstGeom prst="rect">
            <a:avLst/>
          </a:prstGeom>
        </p:spPr>
      </p:pic>
      <p:sp>
        <p:nvSpPr>
          <p:cNvPr id="62" name="Right Arrow 61">
            <a:extLst>
              <a:ext uri="{FF2B5EF4-FFF2-40B4-BE49-F238E27FC236}">
                <a16:creationId xmlns:a16="http://schemas.microsoft.com/office/drawing/2014/main" id="{21F225E5-7D8E-8442-BDB1-81C472805F33}"/>
              </a:ext>
            </a:extLst>
          </p:cNvPr>
          <p:cNvSpPr/>
          <p:nvPr/>
        </p:nvSpPr>
        <p:spPr>
          <a:xfrm>
            <a:off x="2888167" y="2356461"/>
            <a:ext cx="406400" cy="317500"/>
          </a:xfrm>
          <a:prstGeom prst="rightArrow">
            <a:avLst/>
          </a:prstGeom>
          <a:solidFill>
            <a:srgbClr val="3B6F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6CCC250-EF04-0A4E-A663-534EAA9E98E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53065" y="1923922"/>
            <a:ext cx="3831547" cy="1143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C0A0045-91AC-1149-98E2-B5913B3AE951}"/>
              </a:ext>
            </a:extLst>
          </p:cNvPr>
          <p:cNvSpPr/>
          <p:nvPr/>
        </p:nvSpPr>
        <p:spPr>
          <a:xfrm rot="19467606">
            <a:off x="6668941" y="2668633"/>
            <a:ext cx="825924" cy="31942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41053BC8-CDA8-5E4B-AA6B-03562CE80A68}"/>
              </a:ext>
            </a:extLst>
          </p:cNvPr>
          <p:cNvSpPr/>
          <p:nvPr/>
        </p:nvSpPr>
        <p:spPr>
          <a:xfrm rot="16200000">
            <a:off x="7861479" y="2434779"/>
            <a:ext cx="223024" cy="323385"/>
          </a:xfrm>
          <a:prstGeom prst="downArrow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668FD39-BABF-8343-9684-C7DD27EEC352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541" y="5593025"/>
            <a:ext cx="1080000" cy="1080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5B0B0C4-ECAE-2546-898E-863EC48F98C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096" y="4327814"/>
            <a:ext cx="1080000" cy="1080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EAD2AC7-3BC0-3E49-934C-E1530926BA16}"/>
              </a:ext>
            </a:extLst>
          </p:cNvPr>
          <p:cNvSpPr txBox="1"/>
          <p:nvPr/>
        </p:nvSpPr>
        <p:spPr>
          <a:xfrm>
            <a:off x="6558455" y="6058161"/>
            <a:ext cx="1652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Producto punto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65C990-DA5F-4745-8442-C6BF77760631}"/>
              </a:ext>
            </a:extLst>
          </p:cNvPr>
          <p:cNvSpPr txBox="1"/>
          <p:nvPr/>
        </p:nvSpPr>
        <p:spPr>
          <a:xfrm>
            <a:off x="6868783" y="4797734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SCORE</a:t>
            </a:r>
            <a:endParaRPr lang="es-ES_tradnl" baseline="30000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0FD05-6FF4-3249-A69C-2BAAFB9EDD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1189" y="5370237"/>
            <a:ext cx="1828800" cy="5334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C033B13-CFB1-1847-8191-3E13998B2024}"/>
              </a:ext>
            </a:extLst>
          </p:cNvPr>
          <p:cNvGrpSpPr/>
          <p:nvPr/>
        </p:nvGrpSpPr>
        <p:grpSpPr>
          <a:xfrm>
            <a:off x="3353844" y="4790485"/>
            <a:ext cx="1177265" cy="301317"/>
            <a:chOff x="1829843" y="4790484"/>
            <a:chExt cx="1177265" cy="301317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287B7CF-8489-E641-9AB2-5E53CC00DE6C}"/>
                </a:ext>
              </a:extLst>
            </p:cNvPr>
            <p:cNvCxnSpPr>
              <a:cxnSpLocks/>
            </p:cNvCxnSpPr>
            <p:nvPr/>
          </p:nvCxnSpPr>
          <p:spPr>
            <a:xfrm>
              <a:off x="1829843" y="4943186"/>
              <a:ext cx="1177265" cy="0"/>
            </a:xfrm>
            <a:prstGeom prst="straightConnector1">
              <a:avLst/>
            </a:prstGeom>
            <a:ln w="444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DEE5BD5-C079-964A-BDC4-A9E8E23C9754}"/>
                </a:ext>
              </a:extLst>
            </p:cNvPr>
            <p:cNvSpPr/>
            <p:nvPr/>
          </p:nvSpPr>
          <p:spPr>
            <a:xfrm>
              <a:off x="2224652" y="4790484"/>
              <a:ext cx="331273" cy="3013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67B6D6F-30AD-F14B-95F2-B5D0BCE3D3BF}"/>
              </a:ext>
            </a:extLst>
          </p:cNvPr>
          <p:cNvGrpSpPr/>
          <p:nvPr/>
        </p:nvGrpSpPr>
        <p:grpSpPr>
          <a:xfrm>
            <a:off x="3353843" y="6026332"/>
            <a:ext cx="1177265" cy="301317"/>
            <a:chOff x="1829843" y="4790484"/>
            <a:chExt cx="1177265" cy="301317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938249E-9BA5-1D48-8FA2-E4ACD4BAD244}"/>
                </a:ext>
              </a:extLst>
            </p:cNvPr>
            <p:cNvCxnSpPr>
              <a:cxnSpLocks/>
            </p:cNvCxnSpPr>
            <p:nvPr/>
          </p:nvCxnSpPr>
          <p:spPr>
            <a:xfrm>
              <a:off x="1829843" y="4943186"/>
              <a:ext cx="1177265" cy="0"/>
            </a:xfrm>
            <a:prstGeom prst="straightConnector1">
              <a:avLst/>
            </a:prstGeom>
            <a:ln w="444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7297EE7-ABE9-104E-87CA-2FF48DD3107C}"/>
                </a:ext>
              </a:extLst>
            </p:cNvPr>
            <p:cNvSpPr/>
            <p:nvPr/>
          </p:nvSpPr>
          <p:spPr>
            <a:xfrm>
              <a:off x="2224652" y="4790484"/>
              <a:ext cx="331273" cy="30131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6AF3BA7-AAB3-BA44-B7D1-A5BE54A83D2F}"/>
              </a:ext>
            </a:extLst>
          </p:cNvPr>
          <p:cNvSpPr/>
          <p:nvPr/>
        </p:nvSpPr>
        <p:spPr>
          <a:xfrm>
            <a:off x="3319347" y="1699449"/>
            <a:ext cx="4199959" cy="1735127"/>
          </a:xfrm>
          <a:prstGeom prst="roundRect">
            <a:avLst>
              <a:gd name="adj" fmla="val 5167"/>
            </a:avLst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ACCC1-BCBE-5790-8D7B-0E2FCA95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B6A32-269C-6F6B-FB02-E56032DF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61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006" y="105006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FF9300"/>
                </a:solidFill>
                <a:ea typeface="Trebuchet MS" charset="0"/>
                <a:cs typeface="Trebuchet MS" charset="0"/>
              </a:rPr>
              <a:t>Embeddings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C48858-C9DC-25B3-2208-F7F25392E1DD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2326302" y="1958044"/>
            <a:ext cx="810000" cy="78669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BE64F4D-FE59-13AD-9D76-D06EC03E5F32}"/>
              </a:ext>
            </a:extLst>
          </p:cNvPr>
          <p:cNvGrpSpPr/>
          <p:nvPr/>
        </p:nvGrpSpPr>
        <p:grpSpPr>
          <a:xfrm>
            <a:off x="3315505" y="1701213"/>
            <a:ext cx="4792325" cy="1300357"/>
            <a:chOff x="1791504" y="1701212"/>
            <a:chExt cx="4792325" cy="13003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490B719-D589-E269-3882-BF683E3A1839}"/>
                </a:ext>
              </a:extLst>
            </p:cNvPr>
            <p:cNvGrpSpPr/>
            <p:nvPr/>
          </p:nvGrpSpPr>
          <p:grpSpPr>
            <a:xfrm>
              <a:off x="1791504" y="1701212"/>
              <a:ext cx="4792325" cy="1300357"/>
              <a:chOff x="3979819" y="2349025"/>
              <a:chExt cx="6389766" cy="173380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2D26355-CE04-6729-FC52-1098B604060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7378" r="18691"/>
              <a:stretch/>
            </p:blipFill>
            <p:spPr>
              <a:xfrm>
                <a:off x="3979819" y="2420652"/>
                <a:ext cx="4669537" cy="1442840"/>
              </a:xfrm>
              <a:prstGeom prst="rect">
                <a:avLst/>
              </a:prstGeom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04519DA-191D-2DDC-B7CD-3F1EAF8FDDD5}"/>
                  </a:ext>
                </a:extLst>
              </p:cNvPr>
              <p:cNvGrpSpPr/>
              <p:nvPr/>
            </p:nvGrpSpPr>
            <p:grpSpPr>
              <a:xfrm>
                <a:off x="4457694" y="2349025"/>
                <a:ext cx="5911891" cy="1733809"/>
                <a:chOff x="2667535" y="2836256"/>
                <a:chExt cx="5911891" cy="1733809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F018EB71-B888-B855-0864-CE567DD8FB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/>
                <a:stretch/>
              </p:blipFill>
              <p:spPr>
                <a:xfrm>
                  <a:off x="2667535" y="2836256"/>
                  <a:ext cx="4555189" cy="1733809"/>
                </a:xfrm>
                <a:prstGeom prst="rect">
                  <a:avLst/>
                </a:prstGeom>
              </p:spPr>
            </p:pic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88AF994-3CCB-ECEA-A884-68827F8E2BD3}"/>
                    </a:ext>
                  </a:extLst>
                </p:cNvPr>
                <p:cNvSpPr/>
                <p:nvPr/>
              </p:nvSpPr>
              <p:spPr>
                <a:xfrm rot="19467606">
                  <a:off x="5937826" y="3673588"/>
                  <a:ext cx="2641600" cy="3859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Gill Sans MT" panose="020B0502020104020203" pitchFamily="34" charset="77"/>
                  </a:endParaRPr>
                </a:p>
              </p:txBody>
            </p:sp>
          </p:grpSp>
          <p:sp>
            <p:nvSpPr>
              <p:cNvPr id="10" name="Down Arrow 9">
                <a:extLst>
                  <a:ext uri="{FF2B5EF4-FFF2-40B4-BE49-F238E27FC236}">
                    <a16:creationId xmlns:a16="http://schemas.microsoft.com/office/drawing/2014/main" id="{0CA7187C-DCA4-23CE-9B77-08B0F1D8A8B8}"/>
                  </a:ext>
                </a:extLst>
              </p:cNvPr>
              <p:cNvSpPr/>
              <p:nvPr/>
            </p:nvSpPr>
            <p:spPr>
              <a:xfrm rot="16200000">
                <a:off x="8637095" y="3447884"/>
                <a:ext cx="223024" cy="323385"/>
              </a:xfrm>
              <a:prstGeom prst="downArrow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21" name="Imagen 23" descr="Screen shot 2011-09-26 at 3.09.19 PM.png">
              <a:extLst>
                <a:ext uri="{FF2B5EF4-FFF2-40B4-BE49-F238E27FC236}">
                  <a16:creationId xmlns:a16="http://schemas.microsoft.com/office/drawing/2014/main" id="{422B640E-955B-EF23-E5F2-8575FBC2A9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55526" y="2609621"/>
              <a:ext cx="633957" cy="257811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D2C8759-C2A6-FB61-5A4E-A2EDB6D2F5BB}"/>
              </a:ext>
            </a:extLst>
          </p:cNvPr>
          <p:cNvSpPr txBox="1"/>
          <p:nvPr/>
        </p:nvSpPr>
        <p:spPr>
          <a:xfrm>
            <a:off x="7748940" y="4324610"/>
            <a:ext cx="2487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Gill Sans MT" panose="020B0502020104020203" pitchFamily="34" charset="77"/>
              </a:rPr>
              <a:t>SCORE: </a:t>
            </a:r>
            <a:r>
              <a:rPr lang="en-US" sz="14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mide</a:t>
            </a:r>
            <a:r>
              <a:rPr lang="en-US" sz="1400" dirty="0">
                <a:solidFill>
                  <a:srgbClr val="0070C0"/>
                </a:solidFill>
                <a:latin typeface="Gill Sans MT" panose="020B0502020104020203" pitchFamily="34" charset="77"/>
              </a:rPr>
              <a:t> que tan </a:t>
            </a:r>
            <a:r>
              <a:rPr lang="en-US" sz="14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similares</a:t>
            </a:r>
            <a:r>
              <a:rPr lang="en-US" sz="1400" dirty="0">
                <a:solidFill>
                  <a:srgbClr val="0070C0"/>
                </a:solidFill>
                <a:latin typeface="Gill Sans MT" panose="020B0502020104020203" pitchFamily="34" charset="77"/>
              </a:rPr>
              <a:t> son </a:t>
            </a:r>
            <a:r>
              <a:rPr lang="en-US" sz="1400" dirty="0" err="1">
                <a:solidFill>
                  <a:srgbClr val="0070C0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0070C0"/>
                </a:solidFill>
                <a:latin typeface="Gill Sans MT" panose="020B0502020104020203" pitchFamily="34" charset="77"/>
              </a:rPr>
              <a:t> embeddings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9EA2E0-31DE-E480-894C-B7222123DE5E}"/>
              </a:ext>
            </a:extLst>
          </p:cNvPr>
          <p:cNvSpPr txBox="1"/>
          <p:nvPr/>
        </p:nvSpPr>
        <p:spPr>
          <a:xfrm>
            <a:off x="2394119" y="2867433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latin typeface="Gill Sans MT" panose="020B0502020104020203" pitchFamily="34" charset="77"/>
              </a:rPr>
              <a:t>INPUT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83CE9C-2CAC-1590-839E-33DC5D91EEB7}"/>
              </a:ext>
            </a:extLst>
          </p:cNvPr>
          <p:cNvSpPr txBox="1"/>
          <p:nvPr/>
        </p:nvSpPr>
        <p:spPr>
          <a:xfrm>
            <a:off x="7013365" y="2910324"/>
            <a:ext cx="1168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200" dirty="0">
                <a:latin typeface="Gill Sans MT" panose="020B0502020104020203" pitchFamily="34" charset="77"/>
              </a:rPr>
              <a:t>EMBEDDING 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E571FD-B3EC-428A-2752-45878774C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6644" y="3190517"/>
            <a:ext cx="406400" cy="2921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5522105-6CF5-ED53-1550-F80A3C313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2836" y="1514928"/>
            <a:ext cx="241300" cy="43180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87CAA93-5D71-EF09-EB25-D0C4D70A0156}"/>
              </a:ext>
            </a:extLst>
          </p:cNvPr>
          <p:cNvGrpSpPr/>
          <p:nvPr/>
        </p:nvGrpSpPr>
        <p:grpSpPr>
          <a:xfrm>
            <a:off x="7368157" y="3140622"/>
            <a:ext cx="2538352" cy="2099900"/>
            <a:chOff x="5844157" y="3271252"/>
            <a:chExt cx="2538352" cy="20999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697D998-DDD1-97E9-C820-69F5743F0B93}"/>
                </a:ext>
              </a:extLst>
            </p:cNvPr>
            <p:cNvSpPr/>
            <p:nvPr/>
          </p:nvSpPr>
          <p:spPr>
            <a:xfrm>
              <a:off x="5885137" y="4033333"/>
              <a:ext cx="211932" cy="2434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 dirty="0">
                <a:latin typeface="Gill Sans MT" panose="020B0502020104020203" pitchFamily="34" charset="77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E1D0614-CD6A-87E8-6DA5-0ABD86D28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7114" y="3271252"/>
              <a:ext cx="3989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EC07CF-7E14-FF66-28C1-C9441AF29292}"/>
                </a:ext>
              </a:extLst>
            </p:cNvPr>
            <p:cNvSpPr/>
            <p:nvPr/>
          </p:nvSpPr>
          <p:spPr>
            <a:xfrm>
              <a:off x="5844157" y="4030319"/>
              <a:ext cx="2904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 err="1">
                  <a:latin typeface="Gill Sans MT" panose="020B0502020104020203" pitchFamily="34" charset="77"/>
                </a:rPr>
                <a:t>sc</a:t>
              </a:r>
              <a:endParaRPr lang="en-US" sz="10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6B1A2DE-5264-43C8-3759-CA6C10CF8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7617" y="4113997"/>
              <a:ext cx="2660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887A6A8-084A-772E-84ED-53D8FF0F4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2085" y="4273872"/>
              <a:ext cx="0" cy="109728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2C5ABBF-F5BF-CBA8-DFA1-FA3A7EAA5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15609" y="3845677"/>
              <a:ext cx="1866900" cy="46990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7EDF2FA-50B3-5CF1-8712-545D181DA9D5}"/>
              </a:ext>
            </a:extLst>
          </p:cNvPr>
          <p:cNvGrpSpPr/>
          <p:nvPr/>
        </p:nvGrpSpPr>
        <p:grpSpPr>
          <a:xfrm>
            <a:off x="2326303" y="4815068"/>
            <a:ext cx="8001977" cy="1821099"/>
            <a:chOff x="802302" y="4815067"/>
            <a:chExt cx="8001977" cy="18210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DEB9DAA-39C3-0516-CBFE-5EDE9A215DB1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rcRect/>
            <a:stretch/>
          </p:blipFill>
          <p:spPr>
            <a:xfrm>
              <a:off x="802302" y="5111873"/>
              <a:ext cx="810000" cy="7614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8B80381-C2C5-6237-39E4-4D3C55373B5F}"/>
                </a:ext>
              </a:extLst>
            </p:cNvPr>
            <p:cNvGrpSpPr/>
            <p:nvPr/>
          </p:nvGrpSpPr>
          <p:grpSpPr>
            <a:xfrm>
              <a:off x="1791504" y="4887083"/>
              <a:ext cx="4687821" cy="1300357"/>
              <a:chOff x="3979819" y="2349025"/>
              <a:chExt cx="6250429" cy="1733809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4242362-7BE1-1865-CA19-064ADD7D8A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7378" r="18691"/>
              <a:stretch/>
            </p:blipFill>
            <p:spPr>
              <a:xfrm>
                <a:off x="3979819" y="2420652"/>
                <a:ext cx="4669537" cy="1442840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4DAACBC-F974-8367-3566-F8C79DB8756B}"/>
                  </a:ext>
                </a:extLst>
              </p:cNvPr>
              <p:cNvGrpSpPr/>
              <p:nvPr/>
            </p:nvGrpSpPr>
            <p:grpSpPr>
              <a:xfrm>
                <a:off x="4457694" y="2349025"/>
                <a:ext cx="5772554" cy="1733809"/>
                <a:chOff x="2667535" y="2836256"/>
                <a:chExt cx="5772554" cy="1733809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EEC46891-D121-37AB-32CA-BF7CC9A680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/>
                <a:stretch/>
              </p:blipFill>
              <p:spPr>
                <a:xfrm>
                  <a:off x="2667535" y="2836256"/>
                  <a:ext cx="4555189" cy="1733809"/>
                </a:xfrm>
                <a:prstGeom prst="rect">
                  <a:avLst/>
                </a:prstGeom>
              </p:spPr>
            </p:pic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A0AA288-6DEE-9D4A-3A3F-0290234415A3}"/>
                    </a:ext>
                  </a:extLst>
                </p:cNvPr>
                <p:cNvSpPr/>
                <p:nvPr/>
              </p:nvSpPr>
              <p:spPr>
                <a:xfrm rot="19467606">
                  <a:off x="5798489" y="3760674"/>
                  <a:ext cx="2641600" cy="3859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Gill Sans MT" panose="020B0502020104020203" pitchFamily="34" charset="77"/>
                  </a:endParaRPr>
                </a:p>
              </p:txBody>
            </p:sp>
          </p:grpSp>
          <p:sp>
            <p:nvSpPr>
              <p:cNvPr id="18" name="Down Arrow 17">
                <a:extLst>
                  <a:ext uri="{FF2B5EF4-FFF2-40B4-BE49-F238E27FC236}">
                    <a16:creationId xmlns:a16="http://schemas.microsoft.com/office/drawing/2014/main" id="{BAC27605-25E7-FBC8-585E-FCBEF2261CC5}"/>
                  </a:ext>
                </a:extLst>
              </p:cNvPr>
              <p:cNvSpPr/>
              <p:nvPr/>
            </p:nvSpPr>
            <p:spPr>
              <a:xfrm rot="16200000">
                <a:off x="8637095" y="3447884"/>
                <a:ext cx="223024" cy="323385"/>
              </a:xfrm>
              <a:prstGeom prst="downArrow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22" name="Imagen 23" descr="Screen shot 2011-09-26 at 3.09.19 PM.png">
              <a:extLst>
                <a:ext uri="{FF2B5EF4-FFF2-40B4-BE49-F238E27FC236}">
                  <a16:creationId xmlns:a16="http://schemas.microsoft.com/office/drawing/2014/main" id="{F8C72738-8221-21D8-2E63-D99AA49A51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55526" y="5689568"/>
              <a:ext cx="633957" cy="25781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213336F-0ADA-8DDF-9A8F-006612243FC7}"/>
                </a:ext>
              </a:extLst>
            </p:cNvPr>
            <p:cNvSpPr txBox="1"/>
            <p:nvPr/>
          </p:nvSpPr>
          <p:spPr>
            <a:xfrm>
              <a:off x="870118" y="6017180"/>
              <a:ext cx="7441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dirty="0">
                  <a:latin typeface="Gill Sans MT" panose="020B0502020104020203" pitchFamily="34" charset="77"/>
                </a:rPr>
                <a:t>INPUT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FBB40BD-8988-FF29-1BE4-8A76BD0C7624}"/>
                </a:ext>
              </a:extLst>
            </p:cNvPr>
            <p:cNvSpPr txBox="1"/>
            <p:nvPr/>
          </p:nvSpPr>
          <p:spPr>
            <a:xfrm>
              <a:off x="5489365" y="6031330"/>
              <a:ext cx="11689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200" dirty="0">
                  <a:latin typeface="Gill Sans MT" panose="020B0502020104020203" pitchFamily="34" charset="77"/>
                </a:rPr>
                <a:t>EMBEDDING 2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7CEFDEE-7247-1D7C-A6B8-AFFE35D2B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2644" y="6344066"/>
              <a:ext cx="406400" cy="2921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A47643C-0CBE-0F79-5823-993342D7C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8836" y="4815067"/>
              <a:ext cx="241300" cy="43180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27AC00C-3693-FD51-EA6A-A7BE873BF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83379" y="5625260"/>
              <a:ext cx="2120900" cy="469900"/>
            </a:xfrm>
            <a:prstGeom prst="rect">
              <a:avLst/>
            </a:prstGeom>
          </p:spPr>
        </p:pic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0F684964-4A41-8535-85E8-E80BE299D2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07379" y="2538464"/>
            <a:ext cx="2120900" cy="4699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3186C54-165A-5C3B-D8EA-CF78149D2727}"/>
              </a:ext>
            </a:extLst>
          </p:cNvPr>
          <p:cNvSpPr txBox="1"/>
          <p:nvPr/>
        </p:nvSpPr>
        <p:spPr>
          <a:xfrm>
            <a:off x="7748939" y="740197"/>
            <a:ext cx="2487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Gill Sans MT" panose="020B0502020104020203" pitchFamily="34" charset="77"/>
              </a:rPr>
              <a:t>EMBEDDDINGS: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vectores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 de n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elementos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 que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describen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 la entrada.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Normalmente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,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tienen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una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 norma </a:t>
            </a:r>
            <a:r>
              <a:rPr lang="en-US" sz="1400" dirty="0" err="1">
                <a:solidFill>
                  <a:schemeClr val="accent1"/>
                </a:solidFill>
                <a:latin typeface="Gill Sans MT" panose="020B0502020104020203" pitchFamily="34" charset="77"/>
              </a:rPr>
              <a:t>igual</a:t>
            </a:r>
            <a:r>
              <a:rPr lang="en-US" sz="1400" dirty="0">
                <a:solidFill>
                  <a:schemeClr val="accent1"/>
                </a:solidFill>
                <a:latin typeface="Gill Sans MT" panose="020B0502020104020203" pitchFamily="34" charset="77"/>
              </a:rPr>
              <a:t> a 1 y n=512.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3AF863-E01C-49A8-A0AB-8AD730BAFE81}"/>
              </a:ext>
            </a:extLst>
          </p:cNvPr>
          <p:cNvSpPr txBox="1"/>
          <p:nvPr/>
        </p:nvSpPr>
        <p:spPr>
          <a:xfrm>
            <a:off x="7755152" y="4868729"/>
            <a:ext cx="2487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Gill Sans MT" panose="020B0502020104020203" pitchFamily="34" charset="77"/>
              </a:rPr>
              <a:t>HIGH → similar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LOW  → 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diferentes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endParaRPr lang="en-US" sz="1400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51866-C178-0391-63FB-95DE8CC2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30070-BC7A-DDB9-0FFA-9825C67F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3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6" grpId="0"/>
      <p:bldP spid="52" grpId="0"/>
      <p:bldP spid="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006" y="105006"/>
            <a:ext cx="8229600" cy="1143000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FF9300"/>
                </a:solidFill>
                <a:ea typeface="Trebuchet MS" charset="0"/>
                <a:cs typeface="Trebuchet MS" charset="0"/>
              </a:rPr>
              <a:t>Embeddings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0E571FD-B3EC-428A-2752-45878774C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551" y="1831974"/>
            <a:ext cx="406400" cy="2921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5522105-6CF5-ED53-1550-F80A3C313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56" y="1188358"/>
            <a:ext cx="241300" cy="43180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B87CAA93-5D71-EF09-EB25-D0C4D70A0156}"/>
              </a:ext>
            </a:extLst>
          </p:cNvPr>
          <p:cNvGrpSpPr/>
          <p:nvPr/>
        </p:nvGrpSpPr>
        <p:grpSpPr>
          <a:xfrm>
            <a:off x="6074927" y="2474414"/>
            <a:ext cx="2538352" cy="1734140"/>
            <a:chOff x="5844157" y="3271252"/>
            <a:chExt cx="2538352" cy="173414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697D998-DDD1-97E9-C820-69F5743F0B93}"/>
                </a:ext>
              </a:extLst>
            </p:cNvPr>
            <p:cNvSpPr/>
            <p:nvPr/>
          </p:nvSpPr>
          <p:spPr>
            <a:xfrm>
              <a:off x="5885137" y="4033333"/>
              <a:ext cx="211932" cy="24349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25" dirty="0">
                <a:latin typeface="Gill Sans MT" panose="020B0502020104020203" pitchFamily="34" charset="77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E1D0614-CD6A-87E8-6DA5-0ABD86D28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87114" y="3271252"/>
              <a:ext cx="3989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EC07CF-7E14-FF66-28C1-C9441AF29292}"/>
                </a:ext>
              </a:extLst>
            </p:cNvPr>
            <p:cNvSpPr/>
            <p:nvPr/>
          </p:nvSpPr>
          <p:spPr>
            <a:xfrm>
              <a:off x="5844157" y="4030319"/>
              <a:ext cx="2904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 err="1">
                  <a:latin typeface="Gill Sans MT" panose="020B0502020104020203" pitchFamily="34" charset="77"/>
                </a:rPr>
                <a:t>sc</a:t>
              </a:r>
              <a:endParaRPr lang="en-US" sz="1000" dirty="0">
                <a:latin typeface="Gill Sans MT" panose="020B0502020104020203" pitchFamily="34" charset="77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6B1A2DE-5264-43C8-3759-CA6C10CF85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7617" y="4113997"/>
              <a:ext cx="2660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887A6A8-084A-772E-84ED-53D8FF0F4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2085" y="4273872"/>
              <a:ext cx="0" cy="7315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2C5ABBF-F5BF-CBA8-DFA1-FA3A7EAA5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5609" y="3845677"/>
              <a:ext cx="1866900" cy="469900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97CEFDEE-7247-1D7C-A6B8-AFFE35D2B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551" y="4763459"/>
            <a:ext cx="406400" cy="2921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47643C-0CBE-0F79-5823-993342D7C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56" y="4109670"/>
            <a:ext cx="241300" cy="4318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27AC00C-3693-FD51-EA6A-A7BE873BFB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377" y="4585659"/>
            <a:ext cx="2120900" cy="4699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F684964-4A41-8535-85E8-E80BE299D2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3486" y="1676073"/>
            <a:ext cx="2120900" cy="4699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43303A-577B-049E-E825-560E0AB968F6}"/>
              </a:ext>
            </a:extLst>
          </p:cNvPr>
          <p:cNvCxnSpPr>
            <a:cxnSpLocks/>
          </p:cNvCxnSpPr>
          <p:nvPr/>
        </p:nvCxnSpPr>
        <p:spPr>
          <a:xfrm>
            <a:off x="4447155" y="1978502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713E35D1-0CE8-5C90-9582-274EECF5C3D7}"/>
              </a:ext>
            </a:extLst>
          </p:cNvPr>
          <p:cNvSpPr/>
          <p:nvPr/>
        </p:nvSpPr>
        <p:spPr>
          <a:xfrm>
            <a:off x="4855027" y="1825801"/>
            <a:ext cx="331273" cy="3013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2708BB0-85AC-3DBB-0468-3D8C59321501}"/>
              </a:ext>
            </a:extLst>
          </p:cNvPr>
          <p:cNvCxnSpPr>
            <a:cxnSpLocks/>
          </p:cNvCxnSpPr>
          <p:nvPr/>
        </p:nvCxnSpPr>
        <p:spPr>
          <a:xfrm>
            <a:off x="4447155" y="4884866"/>
            <a:ext cx="1177265" cy="0"/>
          </a:xfrm>
          <a:prstGeom prst="straightConnector1">
            <a:avLst/>
          </a:prstGeom>
          <a:ln w="444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EAA55B7-CA89-97E8-6722-AB052920F5DB}"/>
              </a:ext>
            </a:extLst>
          </p:cNvPr>
          <p:cNvSpPr/>
          <p:nvPr/>
        </p:nvSpPr>
        <p:spPr>
          <a:xfrm>
            <a:off x="4855027" y="4732165"/>
            <a:ext cx="331273" cy="30131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3BFEA9-5F91-DF21-A3FC-A0DF03BC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56D33C-916E-6710-8104-A9F7205E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62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63C066-0B76-344B-91AA-E8599151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99" y="323503"/>
            <a:ext cx="660114" cy="841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63E7A-9314-5842-8159-5135A5EB17A8}"/>
              </a:ext>
            </a:extLst>
          </p:cNvPr>
          <p:cNvSpPr txBox="1"/>
          <p:nvPr/>
        </p:nvSpPr>
        <p:spPr>
          <a:xfrm>
            <a:off x="1908924" y="421000"/>
            <a:ext cx="629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>
                <a:latin typeface="Gill Sans MT" panose="020B0502020104020203" pitchFamily="34" charset="77"/>
              </a:rPr>
              <a:t>Ejemplo: Quién es esta persona?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E5E095-9A42-9948-B49A-CFB51E93BC59}"/>
              </a:ext>
            </a:extLst>
          </p:cNvPr>
          <p:cNvGrpSpPr/>
          <p:nvPr/>
        </p:nvGrpSpPr>
        <p:grpSpPr>
          <a:xfrm>
            <a:off x="2499569" y="1212144"/>
            <a:ext cx="1916153" cy="5469786"/>
            <a:chOff x="975569" y="1212144"/>
            <a:chExt cx="1916153" cy="54697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8963BB-ECD3-C34B-9E05-654A98F06B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" r="6649"/>
            <a:stretch/>
          </p:blipFill>
          <p:spPr>
            <a:xfrm>
              <a:off x="975569" y="1807936"/>
              <a:ext cx="584200" cy="487399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FEFF10-B0E5-B64F-AEE8-8567F38A133E}"/>
                </a:ext>
              </a:extLst>
            </p:cNvPr>
            <p:cNvSpPr txBox="1"/>
            <p:nvPr/>
          </p:nvSpPr>
          <p:spPr>
            <a:xfrm>
              <a:off x="1017234" y="1212144"/>
              <a:ext cx="1874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BASE DE DATOS: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399CA2-289E-5B4E-B9D2-1FA4E9301948}"/>
              </a:ext>
            </a:extLst>
          </p:cNvPr>
          <p:cNvGrpSpPr/>
          <p:nvPr/>
        </p:nvGrpSpPr>
        <p:grpSpPr>
          <a:xfrm>
            <a:off x="6177641" y="1719503"/>
            <a:ext cx="4554067" cy="1539364"/>
            <a:chOff x="4653640" y="1719503"/>
            <a:chExt cx="4554067" cy="153936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74B93CE-ED43-C74C-8427-616E15D0A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3316" y="2584451"/>
              <a:ext cx="1701800" cy="4318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E77B16-0005-C545-9A54-ED1C8BD1C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226" y="3042967"/>
              <a:ext cx="762000" cy="2159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5A826F-A95F-DD4D-89E9-AB2C5CFB6645}"/>
                </a:ext>
              </a:extLst>
            </p:cNvPr>
            <p:cNvSpPr txBox="1"/>
            <p:nvPr/>
          </p:nvSpPr>
          <p:spPr>
            <a:xfrm>
              <a:off x="4653640" y="1719503"/>
              <a:ext cx="45540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Producto punto del descriptor de prueba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con todos los descriptores de la base de datos: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FAD12C1-13C5-904C-B623-853E4141B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77314" y="2712767"/>
              <a:ext cx="1562100" cy="3302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DE7BD4-D2B3-2E4D-A2F7-235A7ADAC61C}"/>
              </a:ext>
            </a:extLst>
          </p:cNvPr>
          <p:cNvGrpSpPr/>
          <p:nvPr/>
        </p:nvGrpSpPr>
        <p:grpSpPr>
          <a:xfrm>
            <a:off x="6287290" y="3566207"/>
            <a:ext cx="4385431" cy="1758751"/>
            <a:chOff x="4763289" y="3566206"/>
            <a:chExt cx="4385431" cy="17587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61F7AB-C819-B449-AF99-18E8E7F25DA1}"/>
                </a:ext>
              </a:extLst>
            </p:cNvPr>
            <p:cNvSpPr txBox="1"/>
            <p:nvPr/>
          </p:nvSpPr>
          <p:spPr>
            <a:xfrm>
              <a:off x="4763289" y="3566206"/>
              <a:ext cx="4385431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Se busca en </a:t>
              </a:r>
              <a:r>
                <a:rPr lang="es-ES_tradnl" sz="2400" b="1" dirty="0">
                  <a:latin typeface="Times" pitchFamily="2" charset="0"/>
                </a:rPr>
                <a:t>s</a:t>
              </a:r>
              <a:r>
                <a:rPr lang="es-ES_tradnl" dirty="0">
                  <a:latin typeface="Gill Sans MT" panose="020B0502020104020203" pitchFamily="34" charset="77"/>
                </a:rPr>
                <a:t> aquellos valores mayores a un </a:t>
              </a:r>
            </a:p>
            <a:p>
              <a:r>
                <a:rPr lang="es-ES_tradnl" dirty="0" err="1">
                  <a:latin typeface="Gill Sans MT" panose="020B0502020104020203" pitchFamily="34" charset="77"/>
                </a:rPr>
                <a:t>threshold</a:t>
              </a:r>
              <a:r>
                <a:rPr lang="es-ES_tradnl" dirty="0">
                  <a:latin typeface="Gill Sans MT" panose="020B0502020104020203" pitchFamily="34" charset="77"/>
                </a:rPr>
                <a:t>. De esta manera, la persona j de la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base de datos hace </a:t>
              </a:r>
              <a:r>
                <a:rPr lang="es-ES_tradnl" dirty="0" err="1">
                  <a:latin typeface="Gill Sans MT" panose="020B0502020104020203" pitchFamily="34" charset="77"/>
                </a:rPr>
                <a:t>matching</a:t>
              </a:r>
              <a:r>
                <a:rPr lang="es-ES_tradnl" dirty="0">
                  <a:latin typeface="Gill Sans MT" panose="020B0502020104020203" pitchFamily="34" charset="77"/>
                </a:rPr>
                <a:t> con la persona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de prueba, si se cumple: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2D1A69-75D8-3943-8548-622BBDD3A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6206" y="5007457"/>
              <a:ext cx="812800" cy="3175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376CDC-7ACF-D349-B79C-26B63F754272}"/>
              </a:ext>
            </a:extLst>
          </p:cNvPr>
          <p:cNvGrpSpPr/>
          <p:nvPr/>
        </p:nvGrpSpPr>
        <p:grpSpPr>
          <a:xfrm>
            <a:off x="3230454" y="1807936"/>
            <a:ext cx="1196403" cy="4756150"/>
            <a:chOff x="1706453" y="1807936"/>
            <a:chExt cx="1196403" cy="47561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ED7FB-B7CA-8C49-A427-98191F479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077188" y="2095623"/>
              <a:ext cx="431800" cy="3048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EC4A31-C980-7C42-9E89-52CDB207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77188" y="2852056"/>
              <a:ext cx="444500" cy="3048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563883-B34D-C844-9871-F7710FB79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47703" y="6132201"/>
              <a:ext cx="584200" cy="3048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F23395-8AFE-794E-824C-1C756C0511C3}"/>
                </a:ext>
              </a:extLst>
            </p:cNvPr>
            <p:cNvSpPr txBox="1"/>
            <p:nvPr/>
          </p:nvSpPr>
          <p:spPr>
            <a:xfrm>
              <a:off x="2162811" y="4310249"/>
              <a:ext cx="2359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: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: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F66C92E0-4BD6-5143-8E02-7EE72CD31CD8}"/>
                </a:ext>
              </a:extLst>
            </p:cNvPr>
            <p:cNvSpPr/>
            <p:nvPr/>
          </p:nvSpPr>
          <p:spPr>
            <a:xfrm>
              <a:off x="2655672" y="1807936"/>
              <a:ext cx="247184" cy="475615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968E2B6-08F0-0F42-B965-645696557C43}"/>
                </a:ext>
              </a:extLst>
            </p:cNvPr>
            <p:cNvCxnSpPr/>
            <p:nvPr/>
          </p:nvCxnSpPr>
          <p:spPr>
            <a:xfrm>
              <a:off x="1711610" y="2246516"/>
              <a:ext cx="3655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E44CEE1-D4D1-C145-90C0-3B2554E4F69B}"/>
                </a:ext>
              </a:extLst>
            </p:cNvPr>
            <p:cNvCxnSpPr/>
            <p:nvPr/>
          </p:nvCxnSpPr>
          <p:spPr>
            <a:xfrm>
              <a:off x="1709172" y="2988078"/>
              <a:ext cx="3655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C818F1B-95AE-CE4B-A049-586C03E01C3C}"/>
                </a:ext>
              </a:extLst>
            </p:cNvPr>
            <p:cNvCxnSpPr/>
            <p:nvPr/>
          </p:nvCxnSpPr>
          <p:spPr>
            <a:xfrm>
              <a:off x="1706453" y="6275541"/>
              <a:ext cx="3655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C062194-5380-BC45-AB34-E6C3E8903AED}"/>
              </a:ext>
            </a:extLst>
          </p:cNvPr>
          <p:cNvGrpSpPr/>
          <p:nvPr/>
        </p:nvGrpSpPr>
        <p:grpSpPr>
          <a:xfrm>
            <a:off x="1612442" y="1618506"/>
            <a:ext cx="857927" cy="4906912"/>
            <a:chOff x="88441" y="1618506"/>
            <a:chExt cx="857927" cy="490691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D4AADDD-89EB-4747-B80F-3E9AEB4C9E87}"/>
                </a:ext>
              </a:extLst>
            </p:cNvPr>
            <p:cNvSpPr txBox="1"/>
            <p:nvPr/>
          </p:nvSpPr>
          <p:spPr>
            <a:xfrm>
              <a:off x="88441" y="2001103"/>
              <a:ext cx="857927" cy="4524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0.1231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0.7845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0.2191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0.3985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0.1197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0.4323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24A1F1-8C90-4F42-8985-D8BF2A44F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9195" y="1618506"/>
              <a:ext cx="127000" cy="152400"/>
            </a:xfrm>
            <a:prstGeom prst="rect">
              <a:avLst/>
            </a:prstGeom>
          </p:spPr>
        </p:pic>
      </p:grp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A13AB8A-3DBF-4949-BFC9-2E501747F8E3}"/>
              </a:ext>
            </a:extLst>
          </p:cNvPr>
          <p:cNvSpPr/>
          <p:nvPr/>
        </p:nvSpPr>
        <p:spPr>
          <a:xfrm>
            <a:off x="1612441" y="2584452"/>
            <a:ext cx="1471328" cy="8445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6D0665-E7DB-9544-A3E5-8EF82E9893C6}"/>
              </a:ext>
            </a:extLst>
          </p:cNvPr>
          <p:cNvGrpSpPr/>
          <p:nvPr/>
        </p:nvGrpSpPr>
        <p:grpSpPr>
          <a:xfrm>
            <a:off x="9116787" y="170122"/>
            <a:ext cx="1536714" cy="1096909"/>
            <a:chOff x="7592786" y="170121"/>
            <a:chExt cx="1536714" cy="10969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F7639E-95AB-784D-8053-4231B5162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155214" y="636214"/>
              <a:ext cx="279400" cy="215900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153835A-A759-1441-BFA3-FAB05F2B4A7F}"/>
                </a:ext>
              </a:extLst>
            </p:cNvPr>
            <p:cNvCxnSpPr/>
            <p:nvPr/>
          </p:nvCxnSpPr>
          <p:spPr>
            <a:xfrm>
              <a:off x="7592786" y="744164"/>
              <a:ext cx="3655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866E9A-FEA7-8F44-BDC7-6046109B20A6}"/>
                </a:ext>
              </a:extLst>
            </p:cNvPr>
            <p:cNvSpPr txBox="1"/>
            <p:nvPr/>
          </p:nvSpPr>
          <p:spPr>
            <a:xfrm>
              <a:off x="7618124" y="170121"/>
              <a:ext cx="1511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DESCRIPTOR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3FCFFC8-2D29-EA4F-8598-17E97C73D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67910" y="1058100"/>
              <a:ext cx="900000" cy="20893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FD138-B0E5-6A4B-8649-3C814981FED2}"/>
              </a:ext>
            </a:extLst>
          </p:cNvPr>
          <p:cNvGrpSpPr/>
          <p:nvPr/>
        </p:nvGrpSpPr>
        <p:grpSpPr>
          <a:xfrm>
            <a:off x="4577039" y="3809097"/>
            <a:ext cx="1054588" cy="790649"/>
            <a:chOff x="3053039" y="3809096"/>
            <a:chExt cx="1054588" cy="79064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9F4E545-580A-5041-A7CF-AF66D5F66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363687" y="3809096"/>
              <a:ext cx="381000" cy="3175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452564D-78B0-AD4B-B309-A64C2646D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053039" y="4383845"/>
              <a:ext cx="1054588" cy="215900"/>
            </a:xfrm>
            <a:prstGeom prst="rect">
              <a:avLst/>
            </a:prstGeom>
          </p:spPr>
        </p:pic>
      </p:grp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67757FC-1A02-00BC-C24C-97C92142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6249C77-F23E-6311-2278-0BD38A02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15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63C066-0B76-344B-91AA-E8599151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99" y="323503"/>
            <a:ext cx="660114" cy="841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63E7A-9314-5842-8159-5135A5EB17A8}"/>
              </a:ext>
            </a:extLst>
          </p:cNvPr>
          <p:cNvSpPr txBox="1"/>
          <p:nvPr/>
        </p:nvSpPr>
        <p:spPr>
          <a:xfrm>
            <a:off x="1908924" y="421000"/>
            <a:ext cx="629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>
                <a:latin typeface="Gill Sans MT" panose="020B0502020104020203" pitchFamily="34" charset="77"/>
              </a:rPr>
              <a:t>Ejemplo: Quién es esta persona?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6D0665-E7DB-9544-A3E5-8EF82E9893C6}"/>
              </a:ext>
            </a:extLst>
          </p:cNvPr>
          <p:cNvGrpSpPr/>
          <p:nvPr/>
        </p:nvGrpSpPr>
        <p:grpSpPr>
          <a:xfrm>
            <a:off x="9142125" y="170122"/>
            <a:ext cx="1511376" cy="1096909"/>
            <a:chOff x="7618124" y="170121"/>
            <a:chExt cx="1511376" cy="109690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F7639E-95AB-784D-8053-4231B5162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55214" y="668298"/>
              <a:ext cx="279400" cy="2159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866E9A-FEA7-8F44-BDC7-6046109B20A6}"/>
                </a:ext>
              </a:extLst>
            </p:cNvPr>
            <p:cNvSpPr txBox="1"/>
            <p:nvPr/>
          </p:nvSpPr>
          <p:spPr>
            <a:xfrm>
              <a:off x="7618124" y="170121"/>
              <a:ext cx="1511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DESCRIPTOR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3FCFFC8-2D29-EA4F-8598-17E97C73D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7910" y="1058100"/>
              <a:ext cx="900000" cy="20893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D9E53C-5EEE-B245-8B76-D789887D00EA}"/>
              </a:ext>
            </a:extLst>
          </p:cNvPr>
          <p:cNvGrpSpPr/>
          <p:nvPr/>
        </p:nvGrpSpPr>
        <p:grpSpPr>
          <a:xfrm>
            <a:off x="9116786" y="670189"/>
            <a:ext cx="365578" cy="144000"/>
            <a:chOff x="7592786" y="670189"/>
            <a:chExt cx="365578" cy="14400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718801C-DD63-7E4B-95A7-4193FB02C1E3}"/>
                </a:ext>
              </a:extLst>
            </p:cNvPr>
            <p:cNvCxnSpPr/>
            <p:nvPr/>
          </p:nvCxnSpPr>
          <p:spPr>
            <a:xfrm>
              <a:off x="7592786" y="744164"/>
              <a:ext cx="365578" cy="0"/>
            </a:xfrm>
            <a:prstGeom prst="straightConnector1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8EAF3D7-8079-4C4D-B70A-5B3E79B2D915}"/>
                </a:ext>
              </a:extLst>
            </p:cNvPr>
            <p:cNvSpPr/>
            <p:nvPr/>
          </p:nvSpPr>
          <p:spPr>
            <a:xfrm>
              <a:off x="7678732" y="67018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37128-EA7F-096F-7F1E-218217F7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24930-95D7-EACA-0265-E51AC30B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3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63C066-0B76-344B-91AA-E85991518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99" y="323503"/>
            <a:ext cx="660114" cy="841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63E7A-9314-5842-8159-5135A5EB17A8}"/>
              </a:ext>
            </a:extLst>
          </p:cNvPr>
          <p:cNvSpPr txBox="1"/>
          <p:nvPr/>
        </p:nvSpPr>
        <p:spPr>
          <a:xfrm>
            <a:off x="1908924" y="421000"/>
            <a:ext cx="629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>
                <a:latin typeface="Gill Sans MT" panose="020B0502020104020203" pitchFamily="34" charset="77"/>
              </a:rPr>
              <a:t>Ejemplo: Quién es esta persona?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E5E095-9A42-9948-B49A-CFB51E93BC59}"/>
              </a:ext>
            </a:extLst>
          </p:cNvPr>
          <p:cNvGrpSpPr/>
          <p:nvPr/>
        </p:nvGrpSpPr>
        <p:grpSpPr>
          <a:xfrm>
            <a:off x="2499569" y="1212144"/>
            <a:ext cx="1916153" cy="5469786"/>
            <a:chOff x="975569" y="1212144"/>
            <a:chExt cx="1916153" cy="54697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8963BB-ECD3-C34B-9E05-654A98F06B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" r="6649"/>
            <a:stretch/>
          </p:blipFill>
          <p:spPr>
            <a:xfrm>
              <a:off x="975569" y="1807936"/>
              <a:ext cx="584200" cy="487399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FEFF10-B0E5-B64F-AEE8-8567F38A133E}"/>
                </a:ext>
              </a:extLst>
            </p:cNvPr>
            <p:cNvSpPr txBox="1"/>
            <p:nvPr/>
          </p:nvSpPr>
          <p:spPr>
            <a:xfrm>
              <a:off x="1017234" y="1212144"/>
              <a:ext cx="1874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BASE DE DATOS: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376CDC-7ACF-D349-B79C-26B63F754272}"/>
              </a:ext>
            </a:extLst>
          </p:cNvPr>
          <p:cNvGrpSpPr/>
          <p:nvPr/>
        </p:nvGrpSpPr>
        <p:grpSpPr>
          <a:xfrm>
            <a:off x="3230454" y="1807936"/>
            <a:ext cx="1196403" cy="4756150"/>
            <a:chOff x="1706453" y="1807936"/>
            <a:chExt cx="1196403" cy="475615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2ED7FB-B7CA-8C49-A427-98191F479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7188" y="2095623"/>
              <a:ext cx="431800" cy="3048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EC4A31-C980-7C42-9E89-52CDB207D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77188" y="2852056"/>
              <a:ext cx="444500" cy="3048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B563883-B34D-C844-9871-F7710FB79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47703" y="6132201"/>
              <a:ext cx="584200" cy="3048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5F23395-8AFE-794E-824C-1C756C0511C3}"/>
                </a:ext>
              </a:extLst>
            </p:cNvPr>
            <p:cNvSpPr txBox="1"/>
            <p:nvPr/>
          </p:nvSpPr>
          <p:spPr>
            <a:xfrm>
              <a:off x="2162811" y="4310249"/>
              <a:ext cx="2359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: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: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F66C92E0-4BD6-5143-8E02-7EE72CD31CD8}"/>
                </a:ext>
              </a:extLst>
            </p:cNvPr>
            <p:cNvSpPr/>
            <p:nvPr/>
          </p:nvSpPr>
          <p:spPr>
            <a:xfrm>
              <a:off x="2655672" y="1807936"/>
              <a:ext cx="247184" cy="475615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968E2B6-08F0-0F42-B965-645696557C43}"/>
                </a:ext>
              </a:extLst>
            </p:cNvPr>
            <p:cNvCxnSpPr/>
            <p:nvPr/>
          </p:nvCxnSpPr>
          <p:spPr>
            <a:xfrm>
              <a:off x="1711610" y="2246516"/>
              <a:ext cx="365578" cy="0"/>
            </a:xfrm>
            <a:prstGeom prst="straightConnector1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E44CEE1-D4D1-C145-90C0-3B2554E4F69B}"/>
                </a:ext>
              </a:extLst>
            </p:cNvPr>
            <p:cNvCxnSpPr/>
            <p:nvPr/>
          </p:nvCxnSpPr>
          <p:spPr>
            <a:xfrm>
              <a:off x="1709172" y="2988078"/>
              <a:ext cx="365578" cy="0"/>
            </a:xfrm>
            <a:prstGeom prst="straightConnector1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C818F1B-95AE-CE4B-A049-586C03E01C3C}"/>
                </a:ext>
              </a:extLst>
            </p:cNvPr>
            <p:cNvCxnSpPr/>
            <p:nvPr/>
          </p:nvCxnSpPr>
          <p:spPr>
            <a:xfrm>
              <a:off x="1706453" y="6275541"/>
              <a:ext cx="365578" cy="0"/>
            </a:xfrm>
            <a:prstGeom prst="straightConnector1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53835A-A759-1441-BFA3-FAB05F2B4A7F}"/>
              </a:ext>
            </a:extLst>
          </p:cNvPr>
          <p:cNvCxnSpPr/>
          <p:nvPr/>
        </p:nvCxnSpPr>
        <p:spPr>
          <a:xfrm>
            <a:off x="9116786" y="744164"/>
            <a:ext cx="365578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FD138-B0E5-6A4B-8649-3C814981FED2}"/>
              </a:ext>
            </a:extLst>
          </p:cNvPr>
          <p:cNvGrpSpPr/>
          <p:nvPr/>
        </p:nvGrpSpPr>
        <p:grpSpPr>
          <a:xfrm>
            <a:off x="4577039" y="3809097"/>
            <a:ext cx="1054588" cy="790649"/>
            <a:chOff x="3053039" y="3809096"/>
            <a:chExt cx="1054588" cy="79064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9F4E545-580A-5041-A7CF-AF66D5F66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63687" y="3809096"/>
              <a:ext cx="381000" cy="3175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452564D-78B0-AD4B-B309-A64C2646D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53039" y="4383845"/>
              <a:ext cx="1054588" cy="2159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D4C17F2-1172-0246-BA63-F2B1F30A1A5C}"/>
              </a:ext>
            </a:extLst>
          </p:cNvPr>
          <p:cNvGrpSpPr/>
          <p:nvPr/>
        </p:nvGrpSpPr>
        <p:grpSpPr>
          <a:xfrm>
            <a:off x="9142125" y="170122"/>
            <a:ext cx="1511376" cy="1113109"/>
            <a:chOff x="7618124" y="170121"/>
            <a:chExt cx="1511376" cy="111310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866E9A-FEA7-8F44-BDC7-6046109B20A6}"/>
                </a:ext>
              </a:extLst>
            </p:cNvPr>
            <p:cNvSpPr txBox="1"/>
            <p:nvPr/>
          </p:nvSpPr>
          <p:spPr>
            <a:xfrm>
              <a:off x="7618124" y="170121"/>
              <a:ext cx="1511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DESCRIPTOR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AC1B292-8337-1547-9830-CC49DF67C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49798" y="475285"/>
              <a:ext cx="495300" cy="4191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FDAA51F-AE96-194B-A82E-51B29DAD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884024" y="1067330"/>
              <a:ext cx="930031" cy="2159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FD688CE-C045-8D40-B661-2A01083DFB6C}"/>
              </a:ext>
            </a:extLst>
          </p:cNvPr>
          <p:cNvGrpSpPr/>
          <p:nvPr/>
        </p:nvGrpSpPr>
        <p:grpSpPr>
          <a:xfrm>
            <a:off x="5346488" y="1581477"/>
            <a:ext cx="5145275" cy="4855525"/>
            <a:chOff x="3822487" y="1581476"/>
            <a:chExt cx="5145275" cy="485552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6AAB1F9-733E-2B41-9D8C-0D09465C11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170" t="-30823" r="1170" b="96205"/>
            <a:stretch/>
          </p:blipFill>
          <p:spPr>
            <a:xfrm rot="5400000">
              <a:off x="6736539" y="3138908"/>
              <a:ext cx="2804570" cy="165787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DA38DD-6F63-D34D-92D8-71CE3502A8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2390" y="1581476"/>
              <a:ext cx="525974" cy="81894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A34287C-39FD-AE4C-98D6-CA312C53D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3901" y="1647910"/>
              <a:ext cx="2804570" cy="4789091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6CA651-A5F2-1B4C-9305-AE4B9E9F4491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 flipV="1">
              <a:off x="3822487" y="4042455"/>
              <a:ext cx="341414" cy="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3F96E0-44F9-7D43-BBB2-ECD06002377F}"/>
              </a:ext>
            </a:extLst>
          </p:cNvPr>
          <p:cNvGrpSpPr/>
          <p:nvPr/>
        </p:nvGrpSpPr>
        <p:grpSpPr>
          <a:xfrm>
            <a:off x="9146890" y="1619719"/>
            <a:ext cx="1477638" cy="4789091"/>
            <a:chOff x="5994400" y="1244585"/>
            <a:chExt cx="1477638" cy="478909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1861646-C9AA-6C4B-97C8-AD243CBAB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06074" y="3544456"/>
              <a:ext cx="190500" cy="2159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269360E-45F7-244E-A044-3D9256314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994400" y="3581400"/>
              <a:ext cx="304800" cy="127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0C8973-0835-B24F-A673-382343781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04713" y="3837819"/>
              <a:ext cx="767325" cy="221672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A411DC2-0FF2-3943-8A46-6F622BA12F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0975"/>
            <a:stretch/>
          </p:blipFill>
          <p:spPr>
            <a:xfrm>
              <a:off x="6433480" y="1244585"/>
              <a:ext cx="253113" cy="4789091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834C24B-A69C-E04D-872D-55CC52FC2158}"/>
              </a:ext>
            </a:extLst>
          </p:cNvPr>
          <p:cNvGrpSpPr/>
          <p:nvPr/>
        </p:nvGrpSpPr>
        <p:grpSpPr>
          <a:xfrm>
            <a:off x="3327440" y="2177913"/>
            <a:ext cx="144963" cy="4169308"/>
            <a:chOff x="1803439" y="2177913"/>
            <a:chExt cx="144963" cy="41693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62A118C-9929-BB4B-ABBF-080F5A06C516}"/>
                </a:ext>
              </a:extLst>
            </p:cNvPr>
            <p:cNvSpPr/>
            <p:nvPr/>
          </p:nvSpPr>
          <p:spPr>
            <a:xfrm>
              <a:off x="1803439" y="217791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B1C47E1-D249-CB46-B717-6C0412B875FB}"/>
                </a:ext>
              </a:extLst>
            </p:cNvPr>
            <p:cNvSpPr/>
            <p:nvPr/>
          </p:nvSpPr>
          <p:spPr>
            <a:xfrm>
              <a:off x="1803439" y="2916909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31D3BCF-7A81-4A47-8B9C-C4308A035B19}"/>
                </a:ext>
              </a:extLst>
            </p:cNvPr>
            <p:cNvSpPr/>
            <p:nvPr/>
          </p:nvSpPr>
          <p:spPr>
            <a:xfrm>
              <a:off x="1804402" y="6203221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0BBC7B92-9DBC-9B40-9A62-C627F9E6C6AE}"/>
              </a:ext>
            </a:extLst>
          </p:cNvPr>
          <p:cNvSpPr/>
          <p:nvPr/>
        </p:nvSpPr>
        <p:spPr>
          <a:xfrm>
            <a:off x="9202732" y="6701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EC764B4-1EA6-5D4C-94AF-5AEB8218C3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1186" y="3964401"/>
            <a:ext cx="63500" cy="635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DA7FE-D786-352D-8DE2-6EF025A8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5C3E1-D500-DE5E-6004-B4D10C7E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DA1E4C-1F75-B44B-B6E0-58CF7C5BC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698" y="1238577"/>
            <a:ext cx="2804570" cy="4789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DFB6C-08F3-BC47-BC39-27450CF0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337" y="744467"/>
            <a:ext cx="3810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1B392-DC6D-3E4A-9EB2-1104622FB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543" y="6145216"/>
            <a:ext cx="1054588" cy="215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D86D2-3D4C-0C44-AD80-1E8DF6FE3F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70" t="-30823" r="1170" b="96205"/>
          <a:stretch/>
        </p:blipFill>
        <p:spPr>
          <a:xfrm rot="5400000">
            <a:off x="6178728" y="2804184"/>
            <a:ext cx="2804570" cy="1657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B9EAFF-698C-D145-A2FA-C3C4BA81F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648" y="1238576"/>
            <a:ext cx="495300" cy="41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FE00FC-20FF-5B45-91A7-4A7AB722BB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870" y="5265991"/>
            <a:ext cx="930031" cy="2159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A723D1B-8255-F74A-8FC7-725F5FACAB9E}"/>
              </a:ext>
            </a:extLst>
          </p:cNvPr>
          <p:cNvGrpSpPr/>
          <p:nvPr/>
        </p:nvGrpSpPr>
        <p:grpSpPr>
          <a:xfrm>
            <a:off x="7327900" y="864757"/>
            <a:ext cx="1083938" cy="5518835"/>
            <a:chOff x="5803900" y="864756"/>
            <a:chExt cx="1083938" cy="551883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59627F-585B-9A41-9945-66C60DBAD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34574" y="864756"/>
              <a:ext cx="190500" cy="2159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9D31EFD-8C33-0745-BF00-19D453F37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03900" y="3581400"/>
              <a:ext cx="304800" cy="127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6107E1E-EBDF-2349-A8B2-86957A446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20513" y="6161919"/>
              <a:ext cx="767325" cy="22167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7E54C1A-4DDB-E047-9084-383F308F87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0975"/>
            <a:stretch/>
          </p:blipFill>
          <p:spPr>
            <a:xfrm>
              <a:off x="6433480" y="1244585"/>
              <a:ext cx="253113" cy="4789091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96E7D-6790-83F0-22A4-4B271291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647AC-13F3-FBAF-3A76-C2B1229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4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63C066-0B76-344B-91AA-E8599151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599" y="323503"/>
            <a:ext cx="660114" cy="841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063E7A-9314-5842-8159-5135A5EB17A8}"/>
              </a:ext>
            </a:extLst>
          </p:cNvPr>
          <p:cNvSpPr txBox="1"/>
          <p:nvPr/>
        </p:nvSpPr>
        <p:spPr>
          <a:xfrm>
            <a:off x="1908924" y="421000"/>
            <a:ext cx="629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>
                <a:latin typeface="Gill Sans MT" panose="020B0502020104020203" pitchFamily="34" charset="77"/>
              </a:rPr>
              <a:t>Ejemplo: Quién es esta persona?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E5E095-9A42-9948-B49A-CFB51E93BC59}"/>
              </a:ext>
            </a:extLst>
          </p:cNvPr>
          <p:cNvGrpSpPr/>
          <p:nvPr/>
        </p:nvGrpSpPr>
        <p:grpSpPr>
          <a:xfrm>
            <a:off x="2499569" y="1212144"/>
            <a:ext cx="1916153" cy="5469786"/>
            <a:chOff x="975569" y="1212144"/>
            <a:chExt cx="1916153" cy="54697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8963BB-ECD3-C34B-9E05-654A98F06B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2" r="6649"/>
            <a:stretch/>
          </p:blipFill>
          <p:spPr>
            <a:xfrm>
              <a:off x="975569" y="1807936"/>
              <a:ext cx="584200" cy="487399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FEFF10-B0E5-B64F-AEE8-8567F38A133E}"/>
                </a:ext>
              </a:extLst>
            </p:cNvPr>
            <p:cNvSpPr txBox="1"/>
            <p:nvPr/>
          </p:nvSpPr>
          <p:spPr>
            <a:xfrm>
              <a:off x="1017234" y="1212144"/>
              <a:ext cx="1874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BASE DE DATOS: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2399CA2-289E-5B4E-B9D2-1FA4E9301948}"/>
              </a:ext>
            </a:extLst>
          </p:cNvPr>
          <p:cNvGrpSpPr/>
          <p:nvPr/>
        </p:nvGrpSpPr>
        <p:grpSpPr>
          <a:xfrm>
            <a:off x="6177641" y="1719503"/>
            <a:ext cx="4554067" cy="1539364"/>
            <a:chOff x="4653640" y="1719503"/>
            <a:chExt cx="4554067" cy="153936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74B93CE-ED43-C74C-8427-616E15D0A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3316" y="2584451"/>
              <a:ext cx="1701800" cy="4318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E77B16-0005-C545-9A54-ED1C8BD1C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226" y="3042967"/>
              <a:ext cx="762000" cy="2159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5A826F-A95F-DD4D-89E9-AB2C5CFB6645}"/>
                </a:ext>
              </a:extLst>
            </p:cNvPr>
            <p:cNvSpPr txBox="1"/>
            <p:nvPr/>
          </p:nvSpPr>
          <p:spPr>
            <a:xfrm>
              <a:off x="4653640" y="1719503"/>
              <a:ext cx="45540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Producto punto del descriptor de prueba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con todos los descriptores de la base de datos: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FAD12C1-13C5-904C-B623-853E4141B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77314" y="2712767"/>
              <a:ext cx="1562100" cy="3302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DE7BD4-D2B3-2E4D-A2F7-235A7ADAC61C}"/>
              </a:ext>
            </a:extLst>
          </p:cNvPr>
          <p:cNvGrpSpPr/>
          <p:nvPr/>
        </p:nvGrpSpPr>
        <p:grpSpPr>
          <a:xfrm>
            <a:off x="6287290" y="3566207"/>
            <a:ext cx="4385431" cy="1758751"/>
            <a:chOff x="4763289" y="3566206"/>
            <a:chExt cx="4385431" cy="175875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61F7AB-C819-B449-AF99-18E8E7F25DA1}"/>
                </a:ext>
              </a:extLst>
            </p:cNvPr>
            <p:cNvSpPr txBox="1"/>
            <p:nvPr/>
          </p:nvSpPr>
          <p:spPr>
            <a:xfrm>
              <a:off x="4763289" y="3566206"/>
              <a:ext cx="4385431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Se busca en </a:t>
              </a:r>
              <a:r>
                <a:rPr lang="es-ES_tradnl" sz="2400" b="1" dirty="0">
                  <a:latin typeface="Times" pitchFamily="2" charset="0"/>
                </a:rPr>
                <a:t>s</a:t>
              </a:r>
              <a:r>
                <a:rPr lang="es-ES_tradnl" dirty="0">
                  <a:latin typeface="Gill Sans MT" panose="020B0502020104020203" pitchFamily="34" charset="77"/>
                </a:rPr>
                <a:t> aquellos valores mayores a un </a:t>
              </a:r>
            </a:p>
            <a:p>
              <a:r>
                <a:rPr lang="es-ES_tradnl" dirty="0" err="1">
                  <a:latin typeface="Gill Sans MT" panose="020B0502020104020203" pitchFamily="34" charset="77"/>
                </a:rPr>
                <a:t>threshold</a:t>
              </a:r>
              <a:r>
                <a:rPr lang="es-ES_tradnl" dirty="0">
                  <a:latin typeface="Gill Sans MT" panose="020B0502020104020203" pitchFamily="34" charset="77"/>
                </a:rPr>
                <a:t>. De esta manera, la persona j de la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base de datos hace </a:t>
              </a:r>
              <a:r>
                <a:rPr lang="es-ES_tradnl" dirty="0" err="1">
                  <a:latin typeface="Gill Sans MT" panose="020B0502020104020203" pitchFamily="34" charset="77"/>
                </a:rPr>
                <a:t>matching</a:t>
              </a:r>
              <a:r>
                <a:rPr lang="es-ES_tradnl" dirty="0">
                  <a:latin typeface="Gill Sans MT" panose="020B0502020104020203" pitchFamily="34" charset="77"/>
                </a:rPr>
                <a:t> con la persona</a:t>
              </a:r>
            </a:p>
            <a:p>
              <a:r>
                <a:rPr lang="es-ES_tradnl" dirty="0">
                  <a:latin typeface="Gill Sans MT" panose="020B0502020104020203" pitchFamily="34" charset="77"/>
                </a:rPr>
                <a:t>de prueba, si se cumple: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F2D1A69-75D8-3943-8548-622BBDD3A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6206" y="5007457"/>
              <a:ext cx="812800" cy="3175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C062194-5380-BC45-AB34-E6C3E8903AED}"/>
              </a:ext>
            </a:extLst>
          </p:cNvPr>
          <p:cNvGrpSpPr/>
          <p:nvPr/>
        </p:nvGrpSpPr>
        <p:grpSpPr>
          <a:xfrm>
            <a:off x="1612442" y="1618506"/>
            <a:ext cx="857927" cy="4906912"/>
            <a:chOff x="88441" y="1618506"/>
            <a:chExt cx="857927" cy="490691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D4AADDD-89EB-4747-B80F-3E9AEB4C9E87}"/>
                </a:ext>
              </a:extLst>
            </p:cNvPr>
            <p:cNvSpPr txBox="1"/>
            <p:nvPr/>
          </p:nvSpPr>
          <p:spPr>
            <a:xfrm>
              <a:off x="88441" y="2001103"/>
              <a:ext cx="857927" cy="4524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0.1231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0.7845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0.2191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0.3985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0.1197</a:t>
              </a: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es-ES_tradnl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s-ES_tradnl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0.4323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24A1F1-8C90-4F42-8985-D8BF2A44F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9195" y="1618506"/>
              <a:ext cx="127000" cy="152400"/>
            </a:xfrm>
            <a:prstGeom prst="rect">
              <a:avLst/>
            </a:prstGeom>
          </p:spPr>
        </p:pic>
      </p:grp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A13AB8A-3DBF-4949-BFC9-2E501747F8E3}"/>
              </a:ext>
            </a:extLst>
          </p:cNvPr>
          <p:cNvSpPr/>
          <p:nvPr/>
        </p:nvSpPr>
        <p:spPr>
          <a:xfrm>
            <a:off x="1612441" y="2584452"/>
            <a:ext cx="1471328" cy="8445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1FD138-B0E5-6A4B-8649-3C814981FED2}"/>
              </a:ext>
            </a:extLst>
          </p:cNvPr>
          <p:cNvGrpSpPr/>
          <p:nvPr/>
        </p:nvGrpSpPr>
        <p:grpSpPr>
          <a:xfrm>
            <a:off x="4577039" y="3809097"/>
            <a:ext cx="1054588" cy="790649"/>
            <a:chOff x="3053039" y="3809096"/>
            <a:chExt cx="1054588" cy="79064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9F4E545-580A-5041-A7CF-AF66D5F66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63687" y="3809096"/>
              <a:ext cx="381000" cy="3175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452564D-78B0-AD4B-B309-A64C2646D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53039" y="4383845"/>
              <a:ext cx="1054588" cy="2159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EAB55C3-0FBD-8246-9C66-A75C47E176F6}"/>
              </a:ext>
            </a:extLst>
          </p:cNvPr>
          <p:cNvGrpSpPr/>
          <p:nvPr/>
        </p:nvGrpSpPr>
        <p:grpSpPr>
          <a:xfrm>
            <a:off x="3230454" y="1807936"/>
            <a:ext cx="1196403" cy="4756150"/>
            <a:chOff x="1706453" y="1807936"/>
            <a:chExt cx="1196403" cy="475615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E28B380-A430-1143-BD2E-4454448BEC79}"/>
                </a:ext>
              </a:extLst>
            </p:cNvPr>
            <p:cNvGrpSpPr/>
            <p:nvPr/>
          </p:nvGrpSpPr>
          <p:grpSpPr>
            <a:xfrm>
              <a:off x="1706453" y="1807936"/>
              <a:ext cx="1196403" cy="4756150"/>
              <a:chOff x="1706453" y="1807936"/>
              <a:chExt cx="1196403" cy="4756150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9DB2616F-EC88-DA4D-93AD-9BEBC28E5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77188" y="2095623"/>
                <a:ext cx="431800" cy="304800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F1CF0985-C7B1-1C4C-97EA-18B80EE3C1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77188" y="2852056"/>
                <a:ext cx="444500" cy="304800"/>
              </a:xfrm>
              <a:prstGeom prst="rect">
                <a:avLst/>
              </a:prstGeom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FBB7F48B-5BA3-BA44-BE62-70936AD597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47703" y="6132201"/>
                <a:ext cx="584200" cy="304800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E875E4-1D83-1F47-8CCA-47BF0107233F}"/>
                  </a:ext>
                </a:extLst>
              </p:cNvPr>
              <p:cNvSpPr txBox="1"/>
              <p:nvPr/>
            </p:nvSpPr>
            <p:spPr>
              <a:xfrm>
                <a:off x="2162811" y="4310249"/>
                <a:ext cx="2359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dirty="0">
                    <a:latin typeface="Gill Sans MT" panose="020B0502020104020203" pitchFamily="34" charset="77"/>
                  </a:rPr>
                  <a:t>:</a:t>
                </a:r>
              </a:p>
              <a:p>
                <a:r>
                  <a:rPr lang="es-ES_tradnl" dirty="0">
                    <a:latin typeface="Gill Sans MT" panose="020B0502020104020203" pitchFamily="34" charset="77"/>
                  </a:rPr>
                  <a:t>:</a:t>
                </a:r>
              </a:p>
            </p:txBody>
          </p:sp>
          <p:sp>
            <p:nvSpPr>
              <p:cNvPr id="50" name="Right Brace 49">
                <a:extLst>
                  <a:ext uri="{FF2B5EF4-FFF2-40B4-BE49-F238E27FC236}">
                    <a16:creationId xmlns:a16="http://schemas.microsoft.com/office/drawing/2014/main" id="{F95963C0-C0BD-0044-B3CA-11792D9D29D8}"/>
                  </a:ext>
                </a:extLst>
              </p:cNvPr>
              <p:cNvSpPr/>
              <p:nvPr/>
            </p:nvSpPr>
            <p:spPr>
              <a:xfrm>
                <a:off x="2655672" y="1807936"/>
                <a:ext cx="247184" cy="4756150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1758E0B5-0176-964E-8179-6E3EDDC51C73}"/>
                  </a:ext>
                </a:extLst>
              </p:cNvPr>
              <p:cNvCxnSpPr/>
              <p:nvPr/>
            </p:nvCxnSpPr>
            <p:spPr>
              <a:xfrm>
                <a:off x="1711610" y="2246516"/>
                <a:ext cx="365578" cy="0"/>
              </a:xfrm>
              <a:prstGeom prst="straightConnector1">
                <a:avLst/>
              </a:prstGeom>
              <a:ln w="2222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2396EEEB-7CAD-D04C-AB4A-E3CA58F7E938}"/>
                  </a:ext>
                </a:extLst>
              </p:cNvPr>
              <p:cNvCxnSpPr/>
              <p:nvPr/>
            </p:nvCxnSpPr>
            <p:spPr>
              <a:xfrm>
                <a:off x="1709172" y="2988078"/>
                <a:ext cx="365578" cy="0"/>
              </a:xfrm>
              <a:prstGeom prst="straightConnector1">
                <a:avLst/>
              </a:prstGeom>
              <a:ln w="2222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19020BA-7670-9E4F-930F-E5EDFDD8F001}"/>
                  </a:ext>
                </a:extLst>
              </p:cNvPr>
              <p:cNvCxnSpPr/>
              <p:nvPr/>
            </p:nvCxnSpPr>
            <p:spPr>
              <a:xfrm>
                <a:off x="1706453" y="6275541"/>
                <a:ext cx="365578" cy="0"/>
              </a:xfrm>
              <a:prstGeom prst="straightConnector1">
                <a:avLst/>
              </a:prstGeom>
              <a:ln w="2222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B3042BF-861D-9341-A6F4-E24D1FE80975}"/>
                </a:ext>
              </a:extLst>
            </p:cNvPr>
            <p:cNvGrpSpPr/>
            <p:nvPr/>
          </p:nvGrpSpPr>
          <p:grpSpPr>
            <a:xfrm>
              <a:off x="1803439" y="2177913"/>
              <a:ext cx="144963" cy="4169308"/>
              <a:chOff x="1803439" y="2177913"/>
              <a:chExt cx="144963" cy="4169308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E4E9B3F-3BB7-DF46-BD07-A8BC2CFA83E4}"/>
                  </a:ext>
                </a:extLst>
              </p:cNvPr>
              <p:cNvSpPr/>
              <p:nvPr/>
            </p:nvSpPr>
            <p:spPr>
              <a:xfrm>
                <a:off x="1803439" y="2177913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7505D8B-A074-CE42-8413-229AD5C3E520}"/>
                  </a:ext>
                </a:extLst>
              </p:cNvPr>
              <p:cNvSpPr/>
              <p:nvPr/>
            </p:nvSpPr>
            <p:spPr>
              <a:xfrm>
                <a:off x="1803439" y="2916909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7FDC466-DABB-9C41-A1C4-018E6C4C8FB5}"/>
                  </a:ext>
                </a:extLst>
              </p:cNvPr>
              <p:cNvSpPr/>
              <p:nvPr/>
            </p:nvSpPr>
            <p:spPr>
              <a:xfrm>
                <a:off x="1804402" y="6203221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latin typeface="Gill Sans MT" panose="020B0502020104020203" pitchFamily="34" charset="77"/>
                </a:endParaRPr>
              </a:p>
            </p:txBody>
          </p:sp>
        </p:grp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C5E2AE-DF11-0641-89AE-CCFE64CE999D}"/>
              </a:ext>
            </a:extLst>
          </p:cNvPr>
          <p:cNvCxnSpPr/>
          <p:nvPr/>
        </p:nvCxnSpPr>
        <p:spPr>
          <a:xfrm>
            <a:off x="9116786" y="744164"/>
            <a:ext cx="365578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ECC977DA-B55C-2B46-BD2C-016536EDF2DE}"/>
              </a:ext>
            </a:extLst>
          </p:cNvPr>
          <p:cNvSpPr/>
          <p:nvPr/>
        </p:nvSpPr>
        <p:spPr>
          <a:xfrm>
            <a:off x="9202732" y="670189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736FA2D-BBA2-6E47-922A-7775DC2AA450}"/>
              </a:ext>
            </a:extLst>
          </p:cNvPr>
          <p:cNvGrpSpPr/>
          <p:nvPr/>
        </p:nvGrpSpPr>
        <p:grpSpPr>
          <a:xfrm>
            <a:off x="9142125" y="170122"/>
            <a:ext cx="1511376" cy="1113109"/>
            <a:chOff x="7618124" y="170121"/>
            <a:chExt cx="1511376" cy="1113109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6F50D1D-9001-E342-848D-963E75E9B206}"/>
                </a:ext>
              </a:extLst>
            </p:cNvPr>
            <p:cNvSpPr txBox="1"/>
            <p:nvPr/>
          </p:nvSpPr>
          <p:spPr>
            <a:xfrm>
              <a:off x="7618124" y="170121"/>
              <a:ext cx="1511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</a:rPr>
                <a:t>DESCRIPTOR</a:t>
              </a:r>
            </a:p>
          </p:txBody>
        </p: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50472A4-673E-3547-97CC-801A10740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149798" y="475285"/>
              <a:ext cx="495300" cy="419100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596A01C5-86E2-944E-AA2C-69995E203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884024" y="1067330"/>
              <a:ext cx="930031" cy="2159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C434E-A15C-41E3-82F4-924ABDF3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FAC70D-8A2D-6B18-8327-3F376A00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2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68F837B-3100-B340-B60A-E2837251E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92164"/>
            <a:ext cx="9144000" cy="527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E2A5300-9951-9540-A1BE-32249E531FC2}"/>
              </a:ext>
            </a:extLst>
          </p:cNvPr>
          <p:cNvSpPr/>
          <p:nvPr/>
        </p:nvSpPr>
        <p:spPr>
          <a:xfrm>
            <a:off x="6761019" y="359425"/>
            <a:ext cx="3713019" cy="6137563"/>
          </a:xfrm>
          <a:prstGeom prst="roundRect">
            <a:avLst>
              <a:gd name="adj" fmla="val 770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dirty="0">
                <a:latin typeface="Gill Sans MT" panose="020B0502020104020203" pitchFamily="34" charset="77"/>
              </a:rPr>
              <a:t>PASOS: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s-ES_tradnl" dirty="0">
                <a:latin typeface="Gill Sans MT" panose="020B0502020104020203" pitchFamily="34" charset="77"/>
              </a:rPr>
              <a:t>Descriptor de cara enrolada (x)</a:t>
            </a:r>
          </a:p>
          <a:p>
            <a:pPr marL="342900" indent="-342900">
              <a:buAutoNum type="arabicPeriod"/>
            </a:pPr>
            <a:endParaRPr lang="es-ES_tradnl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s-ES_tradnl" dirty="0">
                <a:latin typeface="Gill Sans MT" panose="020B0502020104020203" pitchFamily="34" charset="77"/>
              </a:rPr>
              <a:t>Detectar las caras de la galería</a:t>
            </a:r>
          </a:p>
          <a:p>
            <a:pPr marL="342900" indent="-342900">
              <a:buAutoNum type="arabicPeriod"/>
            </a:pPr>
            <a:endParaRPr lang="es-ES_tradnl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s-ES_tradnl" dirty="0">
                <a:latin typeface="Gill Sans MT" panose="020B0502020104020203" pitchFamily="34" charset="77"/>
              </a:rPr>
              <a:t>Por cada cara detectada extraer descriptor (</a:t>
            </a:r>
            <a:r>
              <a:rPr lang="es-ES_tradnl" dirty="0" err="1">
                <a:latin typeface="Gill Sans MT" panose="020B0502020104020203" pitchFamily="34" charset="77"/>
              </a:rPr>
              <a:t>y</a:t>
            </a:r>
            <a:r>
              <a:rPr lang="es-ES_tradnl" baseline="-25000" dirty="0" err="1">
                <a:latin typeface="Gill Sans MT" panose="020B0502020104020203" pitchFamily="34" charset="77"/>
              </a:rPr>
              <a:t>j</a:t>
            </a:r>
            <a:r>
              <a:rPr lang="es-ES_tradnl" dirty="0">
                <a:latin typeface="Gill Sans MT" panose="020B0502020104020203" pitchFamily="34" charset="77"/>
              </a:rPr>
              <a:t>), y guardar coordenadas de cada </a:t>
            </a:r>
            <a:r>
              <a:rPr lang="es-ES_tradnl" dirty="0" err="1">
                <a:latin typeface="Gill Sans MT" panose="020B0502020104020203" pitchFamily="34" charset="77"/>
              </a:rPr>
              <a:t>bounding</a:t>
            </a:r>
            <a:r>
              <a:rPr lang="es-ES_tradnl" dirty="0">
                <a:latin typeface="Gill Sans MT" panose="020B0502020104020203" pitchFamily="34" charset="77"/>
              </a:rPr>
              <a:t> box.</a:t>
            </a:r>
          </a:p>
          <a:p>
            <a:pPr marL="342900" indent="-342900">
              <a:buAutoNum type="arabicPeriod"/>
            </a:pPr>
            <a:endParaRPr lang="es-ES_tradnl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r>
              <a:rPr lang="es-ES_tradnl" dirty="0">
                <a:latin typeface="Gill Sans MT" panose="020B0502020104020203" pitchFamily="34" charset="77"/>
              </a:rPr>
              <a:t>Generar matriz Y, y calcular </a:t>
            </a:r>
          </a:p>
          <a:p>
            <a:r>
              <a:rPr lang="es-ES_tradnl" dirty="0">
                <a:latin typeface="Gill Sans MT" panose="020B0502020104020203" pitchFamily="34" charset="77"/>
              </a:rPr>
              <a:t>	s = </a:t>
            </a:r>
            <a:r>
              <a:rPr lang="es-ES_tradnl" dirty="0" err="1">
                <a:latin typeface="Gill Sans MT" panose="020B0502020104020203" pitchFamily="34" charset="77"/>
              </a:rPr>
              <a:t>Yx</a:t>
            </a:r>
            <a:r>
              <a:rPr lang="es-ES_tradnl" baseline="30000" dirty="0" err="1">
                <a:latin typeface="Gill Sans MT" panose="020B0502020104020203" pitchFamily="34" charset="77"/>
              </a:rPr>
              <a:t>T</a:t>
            </a:r>
            <a:endParaRPr lang="es-ES_tradnl" baseline="30000" dirty="0">
              <a:latin typeface="Gill Sans MT" panose="020B0502020104020203" pitchFamily="34" charset="77"/>
            </a:endParaRPr>
          </a:p>
          <a:p>
            <a:pPr marL="342900" indent="-342900">
              <a:buAutoNum type="arabicPeriod"/>
            </a:pPr>
            <a:endParaRPr lang="es-ES_tradnl" dirty="0">
              <a:latin typeface="Gill Sans MT" panose="020B0502020104020203" pitchFamily="34" charset="77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s-ES_tradnl" dirty="0">
                <a:latin typeface="Gill Sans MT" panose="020B0502020104020203" pitchFamily="34" charset="77"/>
              </a:rPr>
              <a:t>Buscar los elementos de s mayores a umbral</a:t>
            </a:r>
          </a:p>
          <a:p>
            <a:pPr marL="342900" indent="-342900">
              <a:buFont typeface="+mj-lt"/>
              <a:buAutoNum type="arabicPeriod" startAt="5"/>
            </a:pPr>
            <a:endParaRPr lang="es-ES_tradnl" baseline="30000" dirty="0">
              <a:latin typeface="Gill Sans MT" panose="020B0502020104020203" pitchFamily="34" charset="77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s-ES_tradnl" dirty="0">
                <a:latin typeface="Gill Sans MT" panose="020B0502020104020203" pitchFamily="34" charset="77"/>
              </a:rPr>
              <a:t>Marcar las caras que cumplan condición anterior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25E44-F798-7146-BFF2-2FF5BFBD2E4E}"/>
              </a:ext>
            </a:extLst>
          </p:cNvPr>
          <p:cNvSpPr txBox="1"/>
          <p:nvPr/>
        </p:nvSpPr>
        <p:spPr>
          <a:xfrm>
            <a:off x="1908924" y="107850"/>
            <a:ext cx="8160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>
                <a:latin typeface="Gill Sans MT" panose="020B0502020104020203" pitchFamily="34" charset="77"/>
              </a:rPr>
              <a:t>Ejemplo: Búsqueda en una galería de fotos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709194-0308-C55B-3651-98EF4F154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DD96A-5173-8416-74C5-BFA58EC6A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0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FEAE-3174-6842-A923-41FB3BBC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A8D22-BD8D-BF4B-9131-1F6CCC48C8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7" r="12000" b="27446"/>
          <a:stretch/>
        </p:blipFill>
        <p:spPr>
          <a:xfrm>
            <a:off x="1794388" y="1201328"/>
            <a:ext cx="4464087" cy="271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636493-5EED-F34C-A70C-FCDD571E9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85" y="3234177"/>
            <a:ext cx="4464087" cy="271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7D4A39-D535-FC4D-B7DA-3E6EFE323E9C}"/>
              </a:ext>
            </a:extLst>
          </p:cNvPr>
          <p:cNvSpPr txBox="1"/>
          <p:nvPr/>
        </p:nvSpPr>
        <p:spPr>
          <a:xfrm>
            <a:off x="2091133" y="6024857"/>
            <a:ext cx="7105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Identity Document to Selfie Face Matching Across Adolescence,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Albiero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, V.; Srinivas, N.; Villalobos, E.; Perez-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Facuse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, J.; Rosenthal, R.; Mery, D.;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Ricanek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, K.; Bowyer. K., International Joint Conference on Biometrics (IJCB 2020).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03087-F759-C382-A36A-F6F3D42C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7DAD-E77F-F609-8727-734074DC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5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FEAE-3174-6842-A923-41FB3BBC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D6755-3489-B944-9661-E65AAEBF87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34" b="3419"/>
          <a:stretch/>
        </p:blipFill>
        <p:spPr>
          <a:xfrm>
            <a:off x="2694040" y="1248697"/>
            <a:ext cx="6646607" cy="1927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A4C81B-3F68-CC45-BC16-C80845708C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5"/>
          <a:stretch/>
        </p:blipFill>
        <p:spPr>
          <a:xfrm>
            <a:off x="6107369" y="3391961"/>
            <a:ext cx="3505794" cy="30191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1EBD19-6B40-1243-9CB1-671B555340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14"/>
          <a:stretch/>
        </p:blipFill>
        <p:spPr>
          <a:xfrm>
            <a:off x="2680234" y="3293803"/>
            <a:ext cx="3505794" cy="3215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47528A-EA3C-2F49-8616-6AD3F4BC6FE6}"/>
              </a:ext>
            </a:extLst>
          </p:cNvPr>
          <p:cNvSpPr txBox="1"/>
          <p:nvPr/>
        </p:nvSpPr>
        <p:spPr>
          <a:xfrm>
            <a:off x="2261420" y="6420796"/>
            <a:ext cx="7502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Face Recognition in Low-Quality Images using Adaptive Sparse Representations,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Heinsohn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</a:rPr>
              <a:t>, D.; Villalobos, E.; Prieto, L.; and Mery, D. Image and Vision Computing. 2019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8F262-2D7C-6907-9CDF-4985E931E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B03C-7A33-8FC5-CA19-696F4E7B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277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3AD627-CD77-124C-B4A8-2AD59DE27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461" y="1423793"/>
            <a:ext cx="5055685" cy="49272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9CBF00-303C-8B48-B0B3-66EFC9AE512B}"/>
              </a:ext>
            </a:extLst>
          </p:cNvPr>
          <p:cNvSpPr/>
          <p:nvPr/>
        </p:nvSpPr>
        <p:spPr>
          <a:xfrm>
            <a:off x="2352903" y="6125737"/>
            <a:ext cx="5382328" cy="286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47CBA-0F66-454D-951E-A7487A24F861}"/>
              </a:ext>
            </a:extLst>
          </p:cNvPr>
          <p:cNvSpPr txBox="1"/>
          <p:nvPr/>
        </p:nvSpPr>
        <p:spPr>
          <a:xfrm>
            <a:off x="7389542" y="5207322"/>
            <a:ext cx="23119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Dataset: </a:t>
            </a:r>
          </a:p>
          <a:p>
            <a:r>
              <a:rPr lang="en-US" dirty="0">
                <a:latin typeface="Gill Sans MT" panose="020B0502020104020203" pitchFamily="34" charset="77"/>
              </a:rPr>
              <a:t>Faces with expressions</a:t>
            </a:r>
          </a:p>
          <a:p>
            <a:r>
              <a:rPr lang="en-US" dirty="0">
                <a:latin typeface="Gill Sans MT" panose="020B0502020104020203" pitchFamily="34" charset="77"/>
              </a:rPr>
              <a:t>7-class problem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0C58836-DC0F-3F4C-8CBA-0DE16FDC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Expresiones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Faciales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54CD4-F643-AC5D-D81C-4FB4C605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7CB651-DEE9-8E99-C16E-774EDD10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18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3AD627-CD77-124C-B4A8-2AD59DE275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25"/>
          <a:stretch/>
        </p:blipFill>
        <p:spPr>
          <a:xfrm>
            <a:off x="2055077" y="1936750"/>
            <a:ext cx="2909875" cy="2713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3A19F-29BB-E540-B952-5AC871BDC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879" y="2692304"/>
            <a:ext cx="4352839" cy="126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F3D7A-54FA-F14A-A1F2-AE4D032F10E0}"/>
              </a:ext>
            </a:extLst>
          </p:cNvPr>
          <p:cNvSpPr txBox="1"/>
          <p:nvPr/>
        </p:nvSpPr>
        <p:spPr>
          <a:xfrm>
            <a:off x="6174059" y="2364058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Deep Learning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C2974-9AA8-8240-963B-B3E654C89B0D}"/>
              </a:ext>
            </a:extLst>
          </p:cNvPr>
          <p:cNvSpPr txBox="1"/>
          <p:nvPr/>
        </p:nvSpPr>
        <p:spPr>
          <a:xfrm>
            <a:off x="9336662" y="2899317"/>
            <a:ext cx="1152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Output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7-element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vector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5C2CD0-93E9-E740-9532-5EC97EB29A88}"/>
              </a:ext>
            </a:extLst>
          </p:cNvPr>
          <p:cNvGraphicFramePr>
            <a:graphicFrameLocks noGrp="1"/>
          </p:cNvGraphicFramePr>
          <p:nvPr/>
        </p:nvGraphicFramePr>
        <p:xfrm>
          <a:off x="1613210" y="5355683"/>
          <a:ext cx="888752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646">
                  <a:extLst>
                    <a:ext uri="{9D8B030D-6E8A-4147-A177-3AD203B41FA5}">
                      <a16:colId xmlns:a16="http://schemas.microsoft.com/office/drawing/2014/main" val="3882262648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3438321647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1456878616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485767579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3563721401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2181405509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1340159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Angry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Scared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Surprised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5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0.2161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0.2403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0.0337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0.2423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0.16780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0.0259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0.0739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30793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800342F-C996-6D47-A6E5-EDCF10B59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075" y="6290468"/>
            <a:ext cx="672945" cy="30371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40E12D5-A4E3-0745-88C5-08ED8076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Expresiones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Faciales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A36D5-4B15-2F3A-3986-937E1C47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1AD7F4-0D0B-3917-A444-E40E0928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27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CBF00-303C-8B48-B0B3-66EFC9AE512B}"/>
              </a:ext>
            </a:extLst>
          </p:cNvPr>
          <p:cNvSpPr/>
          <p:nvPr/>
        </p:nvSpPr>
        <p:spPr>
          <a:xfrm>
            <a:off x="2352903" y="6125737"/>
            <a:ext cx="5382328" cy="286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47CBA-0F66-454D-951E-A7487A24F861}"/>
              </a:ext>
            </a:extLst>
          </p:cNvPr>
          <p:cNvSpPr txBox="1"/>
          <p:nvPr/>
        </p:nvSpPr>
        <p:spPr>
          <a:xfrm>
            <a:off x="6229840" y="4993631"/>
            <a:ext cx="23679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Dataset: </a:t>
            </a:r>
          </a:p>
          <a:p>
            <a:r>
              <a:rPr lang="en-US" dirty="0">
                <a:latin typeface="Gill Sans MT" panose="020B0502020104020203" pitchFamily="34" charset="77"/>
              </a:rPr>
              <a:t>Female and Male Faces</a:t>
            </a:r>
          </a:p>
          <a:p>
            <a:r>
              <a:rPr lang="en-US" dirty="0">
                <a:latin typeface="Gill Sans MT" panose="020B0502020104020203" pitchFamily="34" charset="77"/>
              </a:rPr>
              <a:t>2-Class Problem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304E76-8265-FC48-A20D-7A7A544EA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28" y="1817649"/>
            <a:ext cx="4117613" cy="40993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DCD6522-0653-3043-B387-77150DF0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Género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ECDCB-FEED-8241-B61C-5A98B8D4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357DC-7679-3AF7-AD90-A4A1ED30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33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23A19F-29BB-E540-B952-5AC871BD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879" y="2692304"/>
            <a:ext cx="4352839" cy="126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F3D7A-54FA-F14A-A1F2-AE4D032F10E0}"/>
              </a:ext>
            </a:extLst>
          </p:cNvPr>
          <p:cNvSpPr txBox="1"/>
          <p:nvPr/>
        </p:nvSpPr>
        <p:spPr>
          <a:xfrm>
            <a:off x="6174059" y="2364058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Deep Learning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C2974-9AA8-8240-963B-B3E654C89B0D}"/>
              </a:ext>
            </a:extLst>
          </p:cNvPr>
          <p:cNvSpPr txBox="1"/>
          <p:nvPr/>
        </p:nvSpPr>
        <p:spPr>
          <a:xfrm>
            <a:off x="9336663" y="2899317"/>
            <a:ext cx="1152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Output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2-element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vector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5C2CD0-93E9-E740-9532-5EC97EB29A88}"/>
              </a:ext>
            </a:extLst>
          </p:cNvPr>
          <p:cNvGraphicFramePr>
            <a:graphicFrameLocks noGrp="1"/>
          </p:cNvGraphicFramePr>
          <p:nvPr/>
        </p:nvGraphicFramePr>
        <p:xfrm>
          <a:off x="5984488" y="5366834"/>
          <a:ext cx="25392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646">
                  <a:extLst>
                    <a:ext uri="{9D8B030D-6E8A-4147-A177-3AD203B41FA5}">
                      <a16:colId xmlns:a16="http://schemas.microsoft.com/office/drawing/2014/main" val="3882262648"/>
                    </a:ext>
                  </a:extLst>
                </a:gridCol>
                <a:gridCol w="1269646">
                  <a:extLst>
                    <a:ext uri="{9D8B030D-6E8A-4147-A177-3AD203B41FA5}">
                      <a16:colId xmlns:a16="http://schemas.microsoft.com/office/drawing/2014/main" val="34383216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chemeClr val="tx2"/>
                          </a:solidFill>
                          <a:latin typeface="Gill Sans MT" panose="020B0502020104020203" pitchFamily="34" charset="77"/>
                        </a:rPr>
                        <a:t>Female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54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MT" panose="020B0502020104020203" pitchFamily="34" charset="77"/>
                        </a:rPr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30793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800342F-C996-6D47-A6E5-EDCF10B59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812" y="6295580"/>
            <a:ext cx="672945" cy="3037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77625-8E59-F946-A453-E79F48D7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194" y="2007220"/>
            <a:ext cx="2634475" cy="262276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EEEF8B-094C-634B-827C-03EE7BF8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3.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Género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9F2E8-1BBD-84D6-0B07-D1088CCC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70399-B9E6-E486-38EF-96BAE3CB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35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CBF00-303C-8B48-B0B3-66EFC9AE512B}"/>
              </a:ext>
            </a:extLst>
          </p:cNvPr>
          <p:cNvSpPr/>
          <p:nvPr/>
        </p:nvSpPr>
        <p:spPr>
          <a:xfrm>
            <a:off x="2352903" y="6125737"/>
            <a:ext cx="5382328" cy="2862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A47CBA-0F66-454D-951E-A7487A24F861}"/>
              </a:ext>
            </a:extLst>
          </p:cNvPr>
          <p:cNvSpPr txBox="1"/>
          <p:nvPr/>
        </p:nvSpPr>
        <p:spPr>
          <a:xfrm>
            <a:off x="8504664" y="4716967"/>
            <a:ext cx="1553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Dataset: </a:t>
            </a:r>
          </a:p>
          <a:p>
            <a:r>
              <a:rPr lang="en-US" dirty="0">
                <a:latin typeface="Gill Sans MT" panose="020B0502020104020203" pitchFamily="34" charset="77"/>
              </a:rPr>
              <a:t>Faces with 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649C76-804E-5D43-AC24-A0A9A26B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413" y="1293541"/>
            <a:ext cx="6760117" cy="40886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2A1843-3EF0-744B-91AA-89BDCD2067A5}"/>
              </a:ext>
            </a:extLst>
          </p:cNvPr>
          <p:cNvSpPr txBox="1"/>
          <p:nvPr/>
        </p:nvSpPr>
        <p:spPr>
          <a:xfrm>
            <a:off x="2256264" y="5627649"/>
            <a:ext cx="68400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Two approaches: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Output is a class (class 1: from 0 to 2 years, class 2: from 3 to 8,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Output is a scalar (age of the person)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75EFE1-E0A1-F94F-A8D1-754A8CA7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4.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Edad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59314-2E8D-C14B-BA1E-C0AFC1C5B87F}"/>
              </a:ext>
            </a:extLst>
          </p:cNvPr>
          <p:cNvSpPr/>
          <p:nvPr/>
        </p:nvSpPr>
        <p:spPr>
          <a:xfrm>
            <a:off x="1816608" y="2755392"/>
            <a:ext cx="7254240" cy="280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9496A6-4713-6B4C-B4AC-89D68037FB3C}"/>
              </a:ext>
            </a:extLst>
          </p:cNvPr>
          <p:cNvSpPr/>
          <p:nvPr/>
        </p:nvSpPr>
        <p:spPr>
          <a:xfrm>
            <a:off x="1816608" y="4047298"/>
            <a:ext cx="7254240" cy="280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F7FF0-3CDB-D144-98D3-DF4C2275BAFD}"/>
              </a:ext>
            </a:extLst>
          </p:cNvPr>
          <p:cNvSpPr/>
          <p:nvPr/>
        </p:nvSpPr>
        <p:spPr>
          <a:xfrm rot="5400000">
            <a:off x="1667177" y="3321964"/>
            <a:ext cx="4088628" cy="257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EE0C6-C724-404C-8951-AE5C675FF46F}"/>
              </a:ext>
            </a:extLst>
          </p:cNvPr>
          <p:cNvSpPr/>
          <p:nvPr/>
        </p:nvSpPr>
        <p:spPr>
          <a:xfrm rot="5400000">
            <a:off x="2870765" y="3331606"/>
            <a:ext cx="4088628" cy="257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D0A9E-A5AB-584B-8957-6307710F055B}"/>
              </a:ext>
            </a:extLst>
          </p:cNvPr>
          <p:cNvSpPr/>
          <p:nvPr/>
        </p:nvSpPr>
        <p:spPr>
          <a:xfrm rot="5400000">
            <a:off x="4035197" y="3295253"/>
            <a:ext cx="4088628" cy="349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70058F-8722-6943-A3DA-1BF0973C959F}"/>
              </a:ext>
            </a:extLst>
          </p:cNvPr>
          <p:cNvSpPr/>
          <p:nvPr/>
        </p:nvSpPr>
        <p:spPr>
          <a:xfrm rot="5400000">
            <a:off x="5325198" y="3275057"/>
            <a:ext cx="4088628" cy="257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19524-47B9-254D-AA70-1C298605FBCE}"/>
              </a:ext>
            </a:extLst>
          </p:cNvPr>
          <p:cNvSpPr txBox="1"/>
          <p:nvPr/>
        </p:nvSpPr>
        <p:spPr>
          <a:xfrm>
            <a:off x="2727865" y="1266068"/>
            <a:ext cx="5250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1951           1960          1970          1980            1990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D5BE78-DC2B-914C-9980-B215F7B8ADB1}"/>
              </a:ext>
            </a:extLst>
          </p:cNvPr>
          <p:cNvSpPr txBox="1"/>
          <p:nvPr/>
        </p:nvSpPr>
        <p:spPr>
          <a:xfrm>
            <a:off x="1704278" y="2122023"/>
            <a:ext cx="671979" cy="286232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2004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2008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2013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79E75-7E21-5901-4AB2-DC91DE86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ECCB9-B60D-AA58-23EE-92AFE196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882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83F2-F208-AC4F-A1AC-713278B5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4.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Reconocimiento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Edad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3A19F-29BB-E540-B952-5AC871BD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879" y="2692304"/>
            <a:ext cx="4352839" cy="126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DF3D7A-54FA-F14A-A1F2-AE4D032F10E0}"/>
              </a:ext>
            </a:extLst>
          </p:cNvPr>
          <p:cNvSpPr txBox="1"/>
          <p:nvPr/>
        </p:nvSpPr>
        <p:spPr>
          <a:xfrm>
            <a:off x="6174059" y="2364058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Deep Learning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C2974-9AA8-8240-963B-B3E654C89B0D}"/>
              </a:ext>
            </a:extLst>
          </p:cNvPr>
          <p:cNvSpPr txBox="1"/>
          <p:nvPr/>
        </p:nvSpPr>
        <p:spPr>
          <a:xfrm>
            <a:off x="9334257" y="2899318"/>
            <a:ext cx="11571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Output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n-element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Vector or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scalar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89B3AA-8D59-C34F-84BF-48D62D31B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8159" y="2274849"/>
            <a:ext cx="3392008" cy="20629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A827C-6CAB-D081-54F6-134F634E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C115D-EB9D-C212-C448-92BA4065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1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AD97-6774-5144-B4DD-EC7CC44F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75F2C-A9C6-0A4F-973B-D13583ABC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30511"/>
            <a:ext cx="9144000" cy="491137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22D39-8127-ED1E-8A0D-DBC81D8B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D468C-5F17-B8C8-55DC-422B5D8E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7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5C7FEF-B828-A64B-BDB2-FE0CED2D6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734" y="1887097"/>
            <a:ext cx="7428022" cy="1699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0A8350-2760-C84A-9AD2-6252225A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737" y="3514284"/>
            <a:ext cx="7447441" cy="1699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F77D77-3175-6140-B405-DA40E1E6C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554" y="5148383"/>
            <a:ext cx="7408602" cy="167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D88F2-E489-1B48-AE3F-B2D671763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737" y="280590"/>
            <a:ext cx="7418312" cy="167980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295AB-487D-2E93-D7FE-0EC6AFDC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9B2AA-5A31-C251-3BCB-0E1593AE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559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09F3-D3A1-BC4C-B652-2787E21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5. Landmarks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D984F-40B1-5E45-9E66-EA321E1E9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982" y="1362152"/>
            <a:ext cx="5397500" cy="50927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EED3C-069D-51AB-86EA-4F0AFD99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35E61-EA23-87A3-048F-03CE1CF7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43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709F3-D3A1-BC4C-B652-2787E21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6.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Estimación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Pose </a:t>
            </a:r>
            <a:r>
              <a:rPr lang="en-US" sz="3100" dirty="0">
                <a:solidFill>
                  <a:srgbClr val="0070C0"/>
                </a:solidFill>
              </a:rPr>
              <a:t>(from landmarks)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DF2B4-DB78-A040-A7BD-81238285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25334"/>
            <a:ext cx="9144000" cy="289798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53F99-2381-1014-A77E-914298F4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B42AD-92A4-9F98-B1D5-A0F77F2A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36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83F2-F208-AC4F-A1AC-713278B5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6.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Estimación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Pose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EC20D-2989-4545-93E7-AD145246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00" y="1831317"/>
            <a:ext cx="4298081" cy="4313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CCFF98-2AD2-EE4A-BEF6-A896BB40E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444" y="1903761"/>
            <a:ext cx="2133600" cy="233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FF5CA9-CB15-A343-AE9C-11D3C5B8BC62}"/>
              </a:ext>
            </a:extLst>
          </p:cNvPr>
          <p:cNvSpPr txBox="1"/>
          <p:nvPr/>
        </p:nvSpPr>
        <p:spPr>
          <a:xfrm>
            <a:off x="7188820" y="4962293"/>
            <a:ext cx="2203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FF00"/>
                </a:solidFill>
                <a:latin typeface="Gill Sans MT" panose="020B0502020104020203" pitchFamily="34" charset="77"/>
              </a:rPr>
              <a:t>Yaw</a:t>
            </a:r>
            <a:r>
              <a:rPr lang="en-US" dirty="0">
                <a:latin typeface="Gill Sans MT" panose="020B0502020104020203" pitchFamily="34" charset="77"/>
              </a:rPr>
              <a:t>: 	‘say no’</a:t>
            </a:r>
          </a:p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Pitch</a:t>
            </a:r>
            <a:r>
              <a:rPr lang="en-US" dirty="0">
                <a:latin typeface="Gill Sans MT" panose="020B0502020104020203" pitchFamily="34" charset="77"/>
              </a:rPr>
              <a:t>:	‘say yes’</a:t>
            </a:r>
          </a:p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Roll</a:t>
            </a:r>
            <a:r>
              <a:rPr lang="en-US" dirty="0">
                <a:latin typeface="Gill Sans MT" panose="020B0502020104020203" pitchFamily="34" charset="77"/>
              </a:rPr>
              <a:t>:	‘say maybe’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0CBBB-AA21-A11A-772B-18A0479A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3948D-C86D-1A20-DA10-56B46A02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23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0C1D-37C1-04ED-B988-D7BDDFC0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0566-6E77-9B3B-2529-4F618D5B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7. Mesh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98685E-7448-E343-5E50-4A22E974FB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1" t="8161" r="4853" b="7547"/>
          <a:stretch/>
        </p:blipFill>
        <p:spPr bwMode="auto">
          <a:xfrm>
            <a:off x="4429115" y="446352"/>
            <a:ext cx="5900221" cy="596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449CC8-C5FF-F07C-9039-752411728F4E}"/>
              </a:ext>
            </a:extLst>
          </p:cNvPr>
          <p:cNvSpPr/>
          <p:nvPr/>
        </p:nvSpPr>
        <p:spPr>
          <a:xfrm>
            <a:off x="4114801" y="274638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0E700-1199-7884-18D3-3F9776D1D4E8}"/>
              </a:ext>
            </a:extLst>
          </p:cNvPr>
          <p:cNvSpPr/>
          <p:nvPr/>
        </p:nvSpPr>
        <p:spPr>
          <a:xfrm>
            <a:off x="10210801" y="243153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3101CA-F7B4-CAB0-2437-B415F930EBCF}"/>
              </a:ext>
            </a:extLst>
          </p:cNvPr>
          <p:cNvSpPr/>
          <p:nvPr/>
        </p:nvSpPr>
        <p:spPr>
          <a:xfrm rot="5400000">
            <a:off x="7254083" y="3318895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D7B7A-AEE9-C576-478A-2BF731D0E246}"/>
              </a:ext>
            </a:extLst>
          </p:cNvPr>
          <p:cNvSpPr/>
          <p:nvPr/>
        </p:nvSpPr>
        <p:spPr>
          <a:xfrm rot="5400000">
            <a:off x="6834453" y="-2912502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E13C0-3044-F8E8-60E8-DA3D2A4D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B8F83-103C-DC29-2150-087189980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330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F888D-3480-E637-7DB6-F65CC00D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7AD7-D290-104E-1E76-A7C4EF48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7. Mesh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E7D2C-6BFD-E816-9743-5AD9A042C5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6" t="2737" r="1528" b="4440"/>
          <a:stretch/>
        </p:blipFill>
        <p:spPr bwMode="auto">
          <a:xfrm>
            <a:off x="4385948" y="429340"/>
            <a:ext cx="6001783" cy="596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D0BF3A-E446-9FC4-C1F1-534E4958492A}"/>
              </a:ext>
            </a:extLst>
          </p:cNvPr>
          <p:cNvSpPr/>
          <p:nvPr/>
        </p:nvSpPr>
        <p:spPr>
          <a:xfrm>
            <a:off x="4114801" y="274638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CC40A1-F907-78B8-B5F8-64AF9B58A44E}"/>
              </a:ext>
            </a:extLst>
          </p:cNvPr>
          <p:cNvSpPr/>
          <p:nvPr/>
        </p:nvSpPr>
        <p:spPr>
          <a:xfrm>
            <a:off x="10210801" y="243153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9D49C-B74C-372F-39F5-8F3103F68A41}"/>
              </a:ext>
            </a:extLst>
          </p:cNvPr>
          <p:cNvSpPr/>
          <p:nvPr/>
        </p:nvSpPr>
        <p:spPr>
          <a:xfrm rot="5400000">
            <a:off x="7254083" y="3318895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F373F-2E05-1ABA-4C7A-2135D853B4C6}"/>
              </a:ext>
            </a:extLst>
          </p:cNvPr>
          <p:cNvSpPr/>
          <p:nvPr/>
        </p:nvSpPr>
        <p:spPr>
          <a:xfrm rot="5400000">
            <a:off x="6834453" y="-2912502"/>
            <a:ext cx="474133" cy="62785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E7FCA-572D-A14A-982D-0409DE0C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8D9747-38BF-B2FD-CA4E-86DD2D68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676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8.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Detección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Caras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C00E1-B9D4-CF46-A189-502BBAB6D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59812"/>
            <a:ext cx="9144000" cy="489738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04CA0B-0EBF-CB56-8A80-CE227F3F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E5D23-5B66-7C30-F1E0-4D004DB7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072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9. Clustering de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Caras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5C7E25-5417-9D44-84BF-4E952689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75682"/>
            <a:ext cx="9144000" cy="43526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11347-207B-ED4D-0FFD-E53B9A85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A6E89-6D01-DECA-E493-69A6508F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53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B48BB-5AEF-8D48-B18F-0D39D7509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98168"/>
            <a:ext cx="9144000" cy="4978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99A4E-C206-9812-518C-F5F4A98F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091F5-371E-EE52-4447-1D69DE0D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01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 Clustering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CFD2F-6525-1745-855D-9C4C051D86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652"/>
          <a:stretch>
            <a:fillRect/>
          </a:stretch>
        </p:blipFill>
        <p:spPr>
          <a:xfrm>
            <a:off x="1524000" y="1690688"/>
            <a:ext cx="9144000" cy="5167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B08183-BB30-4A46-8CAE-0E672A84C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046853"/>
            <a:ext cx="9144000" cy="34592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6E5DF-12E4-A886-44C3-395EEE21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18247-0EBD-4DA9-F29D-7113B759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20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AD97-6774-5144-B4DD-EC7CC44F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Ejemplo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8BD3F7-9B06-CE4F-852A-EC2561E3A66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54" y="3983464"/>
            <a:ext cx="2059200" cy="205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B9E25-F531-4E4C-BCA5-BCBB15D93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600" y="1321442"/>
            <a:ext cx="2057400" cy="20574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18943B-F1A0-0043-B061-0C02F5DB5C8A}"/>
              </a:ext>
            </a:extLst>
          </p:cNvPr>
          <p:cNvGraphicFramePr>
            <a:graphicFrameLocks noGrp="1"/>
          </p:cNvGraphicFramePr>
          <p:nvPr/>
        </p:nvGraphicFramePr>
        <p:xfrm>
          <a:off x="4257367" y="2016558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1681">
                  <a:extLst>
                    <a:ext uri="{9D8B030D-6E8A-4147-A177-3AD203B41FA5}">
                      <a16:colId xmlns:a16="http://schemas.microsoft.com/office/drawing/2014/main" val="95635920"/>
                    </a:ext>
                  </a:extLst>
                </a:gridCol>
                <a:gridCol w="537519">
                  <a:extLst>
                    <a:ext uri="{9D8B030D-6E8A-4147-A177-3AD203B41FA5}">
                      <a16:colId xmlns:a16="http://schemas.microsoft.com/office/drawing/2014/main" val="802034316"/>
                    </a:ext>
                  </a:extLst>
                </a:gridCol>
                <a:gridCol w="639462">
                  <a:extLst>
                    <a:ext uri="{9D8B030D-6E8A-4147-A177-3AD203B41FA5}">
                      <a16:colId xmlns:a16="http://schemas.microsoft.com/office/drawing/2014/main" val="2866500033"/>
                    </a:ext>
                  </a:extLst>
                </a:gridCol>
                <a:gridCol w="695068">
                  <a:extLst>
                    <a:ext uri="{9D8B030D-6E8A-4147-A177-3AD203B41FA5}">
                      <a16:colId xmlns:a16="http://schemas.microsoft.com/office/drawing/2014/main" val="3359354249"/>
                    </a:ext>
                  </a:extLst>
                </a:gridCol>
                <a:gridCol w="657997">
                  <a:extLst>
                    <a:ext uri="{9D8B030D-6E8A-4147-A177-3AD203B41FA5}">
                      <a16:colId xmlns:a16="http://schemas.microsoft.com/office/drawing/2014/main" val="1476085262"/>
                    </a:ext>
                  </a:extLst>
                </a:gridCol>
                <a:gridCol w="630195">
                  <a:extLst>
                    <a:ext uri="{9D8B030D-6E8A-4147-A177-3AD203B41FA5}">
                      <a16:colId xmlns:a16="http://schemas.microsoft.com/office/drawing/2014/main" val="107177841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131945905"/>
                    </a:ext>
                  </a:extLst>
                </a:gridCol>
                <a:gridCol w="890945">
                  <a:extLst>
                    <a:ext uri="{9D8B030D-6E8A-4147-A177-3AD203B41FA5}">
                      <a16:colId xmlns:a16="http://schemas.microsoft.com/office/drawing/2014/main" val="120049493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03359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Angry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Scared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Surprised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noProof="0" dirty="0">
                          <a:latin typeface="Gill Sans MT" panose="020B0502020104020203" pitchFamily="34" charset="77"/>
                        </a:rP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58.5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0.8540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0.0532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80879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9B9309-7A78-DA49-94F7-C5085ED22908}"/>
              </a:ext>
            </a:extLst>
          </p:cNvPr>
          <p:cNvGraphicFramePr>
            <a:graphicFrameLocks noGrp="1"/>
          </p:cNvGraphicFramePr>
          <p:nvPr/>
        </p:nvGraphicFramePr>
        <p:xfrm>
          <a:off x="4299647" y="4556226"/>
          <a:ext cx="605372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76953">
                  <a:extLst>
                    <a:ext uri="{9D8B030D-6E8A-4147-A177-3AD203B41FA5}">
                      <a16:colId xmlns:a16="http://schemas.microsoft.com/office/drawing/2014/main" val="95635920"/>
                    </a:ext>
                  </a:extLst>
                </a:gridCol>
                <a:gridCol w="533792">
                  <a:extLst>
                    <a:ext uri="{9D8B030D-6E8A-4147-A177-3AD203B41FA5}">
                      <a16:colId xmlns:a16="http://schemas.microsoft.com/office/drawing/2014/main" val="802034316"/>
                    </a:ext>
                  </a:extLst>
                </a:gridCol>
                <a:gridCol w="635027">
                  <a:extLst>
                    <a:ext uri="{9D8B030D-6E8A-4147-A177-3AD203B41FA5}">
                      <a16:colId xmlns:a16="http://schemas.microsoft.com/office/drawing/2014/main" val="2866500033"/>
                    </a:ext>
                  </a:extLst>
                </a:gridCol>
                <a:gridCol w="690247">
                  <a:extLst>
                    <a:ext uri="{9D8B030D-6E8A-4147-A177-3AD203B41FA5}">
                      <a16:colId xmlns:a16="http://schemas.microsoft.com/office/drawing/2014/main" val="3359354249"/>
                    </a:ext>
                  </a:extLst>
                </a:gridCol>
                <a:gridCol w="653434">
                  <a:extLst>
                    <a:ext uri="{9D8B030D-6E8A-4147-A177-3AD203B41FA5}">
                      <a16:colId xmlns:a16="http://schemas.microsoft.com/office/drawing/2014/main" val="1476085262"/>
                    </a:ext>
                  </a:extLst>
                </a:gridCol>
                <a:gridCol w="625823">
                  <a:extLst>
                    <a:ext uri="{9D8B030D-6E8A-4147-A177-3AD203B41FA5}">
                      <a16:colId xmlns:a16="http://schemas.microsoft.com/office/drawing/2014/main" val="1071778419"/>
                    </a:ext>
                  </a:extLst>
                </a:gridCol>
                <a:gridCol w="681044">
                  <a:extLst>
                    <a:ext uri="{9D8B030D-6E8A-4147-A177-3AD203B41FA5}">
                      <a16:colId xmlns:a16="http://schemas.microsoft.com/office/drawing/2014/main" val="4131945905"/>
                    </a:ext>
                  </a:extLst>
                </a:gridCol>
                <a:gridCol w="884765">
                  <a:extLst>
                    <a:ext uri="{9D8B030D-6E8A-4147-A177-3AD203B41FA5}">
                      <a16:colId xmlns:a16="http://schemas.microsoft.com/office/drawing/2014/main" val="1200494938"/>
                    </a:ext>
                  </a:extLst>
                </a:gridCol>
                <a:gridCol w="672636">
                  <a:extLst>
                    <a:ext uri="{9D8B030D-6E8A-4147-A177-3AD203B41FA5}">
                      <a16:colId xmlns:a16="http://schemas.microsoft.com/office/drawing/2014/main" val="1303359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Angry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Scared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Surprised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Neutral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noProof="0" dirty="0">
                          <a:latin typeface="Gill Sans MT" panose="020B0502020104020203" pitchFamily="34" charset="77"/>
                        </a:rP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59.9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0.9371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latin typeface="Gill Sans MT" panose="020B0502020104020203" pitchFamily="34" charset="77"/>
                        </a:rPr>
                        <a:t>0.0491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80879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062F8-2EF6-61DC-6598-88FB855A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7FF32-6BA5-2BBF-E77A-2FAA6271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1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29EE-7801-D54E-B1AD-7E5B3FAC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797312"/>
          </a:xfrm>
        </p:spPr>
        <p:txBody>
          <a:bodyPr/>
          <a:lstStyle/>
          <a:p>
            <a:r>
              <a:rPr lang="en-US" dirty="0"/>
              <a:t>Images in which two persons are present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8A6AD-8D4D-724A-8A1C-11B7FC69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102" y="2706650"/>
            <a:ext cx="9076898" cy="30906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AEC27-ADAE-6C31-78B3-228BC5A3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EF1F3-5157-72C0-E015-D7F4EC2E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202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0FF52-4E95-D34C-B2C5-9E85DCB6D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37846"/>
            <a:ext cx="9144000" cy="427958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5D200-21DF-9DF6-647F-B2E81108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698C-79EC-91BB-0A93-06F38D0D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62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29EE-7801-D54E-B1AD-7E5B3FAC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797312"/>
          </a:xfrm>
        </p:spPr>
        <p:txBody>
          <a:bodyPr/>
          <a:lstStyle/>
          <a:p>
            <a:r>
              <a:rPr lang="en-US" dirty="0"/>
              <a:t>Images in which two persons are present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B987A-9F22-7946-BE58-98DAEF84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147" y="2750014"/>
            <a:ext cx="8686800" cy="25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1F7DF0-537E-6B48-9471-3D6983026BFC}"/>
              </a:ext>
            </a:extLst>
          </p:cNvPr>
          <p:cNvSpPr txBox="1"/>
          <p:nvPr/>
        </p:nvSpPr>
        <p:spPr>
          <a:xfrm>
            <a:off x="4023642" y="5586760"/>
            <a:ext cx="41655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Co-occurrence Matrix for 6 subjects</a:t>
            </a:r>
          </a:p>
          <a:p>
            <a:pPr algn="ctr"/>
            <a:endParaRPr lang="en-US" dirty="0">
              <a:latin typeface="Gill Sans MT" panose="020B0502020104020203" pitchFamily="34" charset="77"/>
            </a:endParaRP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Subjects 1 and 2 are present in 12 pictures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2485FB-63BD-2345-F958-897640D2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25AA9-A863-0CF8-3025-ACCCD0BD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69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B987A-9F22-7946-BE58-98DAEF84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56" y="3675565"/>
            <a:ext cx="3485315" cy="1019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3CAB7-EE4A-524F-BB0A-1E5FA3854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646" y="2235665"/>
            <a:ext cx="4737100" cy="4483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D0024-7090-26BB-B7EC-56A118EE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D6530-3B43-56AE-944A-686DAE2D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31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Co-occurrence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B987A-9F22-7946-BE58-98DAEF84D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476" y="3095701"/>
            <a:ext cx="3485315" cy="1019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03CAB7-EE4A-524F-BB0A-1E5FA3854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3341" y="1745011"/>
            <a:ext cx="4069828" cy="4483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DA56F-B848-7346-BE7F-EE064592696A}"/>
              </a:ext>
            </a:extLst>
          </p:cNvPr>
          <p:cNvSpPr txBox="1"/>
          <p:nvPr/>
        </p:nvSpPr>
        <p:spPr>
          <a:xfrm>
            <a:off x="1657816" y="4750420"/>
            <a:ext cx="3683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New representation:</a:t>
            </a:r>
          </a:p>
          <a:p>
            <a:r>
              <a:rPr lang="en-US" dirty="0">
                <a:latin typeface="Gill Sans MT" panose="020B0502020104020203" pitchFamily="34" charset="77"/>
              </a:rPr>
              <a:t>Closeness mean more co-occurrence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A09EA-21F6-D4B9-FB56-7D0704C1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A54E3-0E2D-3535-3794-5B125B20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694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Representation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3CAB7-EE4A-524F-BB0A-1E5FA385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23341" y="1805624"/>
            <a:ext cx="4069828" cy="43618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DA56F-B848-7346-BE7F-EE064592696A}"/>
              </a:ext>
            </a:extLst>
          </p:cNvPr>
          <p:cNvSpPr txBox="1"/>
          <p:nvPr/>
        </p:nvSpPr>
        <p:spPr>
          <a:xfrm>
            <a:off x="2115016" y="1330563"/>
            <a:ext cx="354207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Ideas for more representations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In this representations we could choose 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Length of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Color of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Width of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Size of each 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Boundary color of each 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>
                <a:latin typeface="Gill Sans MT" panose="020B0502020104020203" pitchFamily="34" charset="77"/>
              </a:rPr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Color of connection could be related to facial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Width of connection related to co-occurrence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Length of connection related to distance in pixels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A5BFE-100B-4599-38BF-006D7CCF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E3628-08C4-2B5A-A65D-792742CB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233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4697F-A348-5A44-8DF6-CAF6EA779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64744"/>
            <a:ext cx="9144000" cy="364291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2E0F9-1CE0-635C-D086-FCC7CDF9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9F82-BB26-E022-985F-3755EE60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363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6FD-14E9-3D4B-BC5B-F476726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9F0DE-4E86-8B4A-A1CB-C66AE7653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78978"/>
            <a:ext cx="9144000" cy="3657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AA536-E6B4-FA33-2263-80FCF8BB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EEC83-2552-92B8-AEEE-2B9029DD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178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10. GAN / Deep Fakes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(BONUS)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2BFFB-58E4-6645-A87B-9C70418E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01785"/>
            <a:ext cx="9144000" cy="4254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FC9BF8-4FF4-6C45-A4C4-AE7D3EF29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0" y="1912036"/>
            <a:ext cx="860079" cy="89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12C0AA-DC9E-1B4C-8017-1B128CA2A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976" y="3921383"/>
            <a:ext cx="892948" cy="89294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D7746-F173-3545-2B6F-CB0D7382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5DA-0116-2D26-4942-0F2332DA4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737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sta persona no existe: La escalofriante inteligencia artificial que  inventa rostros humanos - La Tercera">
            <a:extLst>
              <a:ext uri="{FF2B5EF4-FFF2-40B4-BE49-F238E27FC236}">
                <a16:creationId xmlns:a16="http://schemas.microsoft.com/office/drawing/2014/main" id="{A982AFFB-A7B8-5746-A1F4-F55187143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32937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912E07-8202-0246-B0AF-4D96D47BB88E}"/>
              </a:ext>
            </a:extLst>
          </p:cNvPr>
          <p:cNvSpPr txBox="1"/>
          <p:nvPr/>
        </p:nvSpPr>
        <p:spPr>
          <a:xfrm>
            <a:off x="1672282" y="253998"/>
            <a:ext cx="6339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accent6"/>
                </a:solidFill>
                <a:latin typeface="Gill Sans MT" panose="020B0502020104020203" pitchFamily="34" charset="77"/>
              </a:rPr>
              <a:t>www.ThisPearsonDoesNotExist.com</a:t>
            </a:r>
            <a:endParaRPr lang="en-US" sz="3200" dirty="0">
              <a:solidFill>
                <a:schemeClr val="accent6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3268E-24FF-33A2-5F58-B37C8A41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B72575-968F-48A6-7809-49AAE60C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06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D9477F0B-73C0-FF4E-83E8-5F4556451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73001B-C79C-A215-CFD9-95751F7110E7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92233-FDF9-0541-3655-03447CE7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C322F-11B9-D20A-5357-F614021D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564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E701D93-FD27-4842-9932-D8E388AD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B0C109-76A1-779D-F26A-382A237D4DDE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99C8D-8604-BE77-C1CB-BD4F8256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1B37E-49FB-25A2-75CD-E645C1AE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297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6127AE7-C7FE-7A46-BF14-A7DD0321A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EF6BF1-4FFC-E31D-3420-FE4B0961B553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03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E6861-7D8D-F0E4-92FC-5570109F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21F33-597A-0766-F8E0-AAF70E0E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997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5D40B1E3-2E25-3843-A63F-A04997BC3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D16B84-6CDF-D53F-0A16-14BCF4C58E3A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04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63054-70F5-00D5-521C-DD5CE5CC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C87BB-E0E4-E331-4A90-9CA4E05A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134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FA00606-C8C7-0942-B314-3E22632F7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B31EE7-F1D4-591B-3E60-1776EE5802EA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569F6-14A5-D9AB-DC09-241175753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93240-E9CB-0798-CA1E-8B091731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222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98027D77-4FF7-804B-8BB2-2E9915A9E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8CE277-732A-D8A3-F53F-0D8136A88105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CBCD0-A3E9-C95E-EF4D-1595EECB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DE0F0-C1AA-C8B9-9690-DDCCB2D2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42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844A7E9F-7480-C543-B468-8AED035F4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BE7192-5443-B8E0-AF51-C7899D41A7D7}"/>
              </a:ext>
            </a:extLst>
          </p:cNvPr>
          <p:cNvSpPr txBox="1"/>
          <p:nvPr/>
        </p:nvSpPr>
        <p:spPr>
          <a:xfrm>
            <a:off x="1537829" y="158497"/>
            <a:ext cx="114255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2800" dirty="0">
                <a:solidFill>
                  <a:schemeClr val="bg1"/>
                </a:solidFill>
                <a:latin typeface="Gill Sans MT" panose="020B0502020104020203" pitchFamily="34" charset="77"/>
              </a:rPr>
              <a:t>CARA</a:t>
            </a:r>
          </a:p>
          <a:p>
            <a:pPr algn="ctr"/>
            <a:r>
              <a:rPr lang="en-CL" sz="4000" dirty="0">
                <a:solidFill>
                  <a:schemeClr val="bg1"/>
                </a:solidFill>
                <a:latin typeface="Gill Sans MT" panose="020B0502020104020203" pitchFamily="34" charset="77"/>
              </a:rPr>
              <a:t>06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466D76-6089-9ADF-19F3-BCB38468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21091-C209-D2D6-4EE1-417FA6BC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888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DD140-E6FF-9544-B795-22C383117CA2}"/>
              </a:ext>
            </a:extLst>
          </p:cNvPr>
          <p:cNvSpPr txBox="1"/>
          <p:nvPr/>
        </p:nvSpPr>
        <p:spPr>
          <a:xfrm>
            <a:off x="1860331" y="6505904"/>
            <a:ext cx="6475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https://syncedreview.com/2019/02/09/nvidia-open-sources-hyper-realistic-face-generator-stylegan/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5" name="GAN1.mov" descr="GAN1.mov">
            <a:hlinkClick r:id="" action="ppaction://media"/>
            <a:extLst>
              <a:ext uri="{FF2B5EF4-FFF2-40B4-BE49-F238E27FC236}">
                <a16:creationId xmlns:a16="http://schemas.microsoft.com/office/drawing/2014/main" id="{FCCF143F-786F-DD47-963A-AB32FAB047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1047"/>
          <a:stretch/>
        </p:blipFill>
        <p:spPr>
          <a:xfrm>
            <a:off x="2117124" y="1143000"/>
            <a:ext cx="8042876" cy="4572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E9676-D7DC-7AD2-E55C-68059B20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1C3F5-547D-A0FB-1623-1311980E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0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CCC4C5-89AE-5941-968A-20B8F9B56E7E}"/>
              </a:ext>
            </a:extLst>
          </p:cNvPr>
          <p:cNvSpPr txBox="1"/>
          <p:nvPr/>
        </p:nvSpPr>
        <p:spPr>
          <a:xfrm>
            <a:off x="1860331" y="6505904"/>
            <a:ext cx="6475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https://syncedreview.com/2019/02/09/nvidia-open-sources-hyper-realistic-face-generator-stylegan/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7" name="GAN2.mov" descr="GAN2.mov">
            <a:hlinkClick r:id="" action="ppaction://media"/>
            <a:extLst>
              <a:ext uri="{FF2B5EF4-FFF2-40B4-BE49-F238E27FC236}">
                <a16:creationId xmlns:a16="http://schemas.microsoft.com/office/drawing/2014/main" id="{2A2B1F99-7032-7D43-A26C-A72DC37886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32000" y="1143000"/>
            <a:ext cx="8128000" cy="45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71639-290F-E039-5A43-AFB0EDE5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379B13-D918-8D77-0FC8-3A941DDC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0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6C97-430D-0E4A-8645-64C71E57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8. GAN / Deep Fakes</a:t>
            </a:r>
          </a:p>
        </p:txBody>
      </p:sp>
      <p:pic>
        <p:nvPicPr>
          <p:cNvPr id="1026" name="Picture 2" descr="FakeApp: ¿cómo hacer un DeepFake y cómo funciona la app? - Cultura Geek">
            <a:extLst>
              <a:ext uri="{FF2B5EF4-FFF2-40B4-BE49-F238E27FC236}">
                <a16:creationId xmlns:a16="http://schemas.microsoft.com/office/drawing/2014/main" id="{EC1EFA6A-F224-204F-AFB7-C59247CCF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6739"/>
            <a:ext cx="9144000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42734D-EA75-3D42-B74A-2890F750882F}"/>
              </a:ext>
            </a:extLst>
          </p:cNvPr>
          <p:cNvSpPr txBox="1"/>
          <p:nvPr/>
        </p:nvSpPr>
        <p:spPr>
          <a:xfrm>
            <a:off x="1524001" y="6388443"/>
            <a:ext cx="730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4" tooltip="FakeApp: ¿cómo hacer un DeepFake y cómo funciona la app? - Cultura Gee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FakeApp: ¿cómo hacer un DeepFake y cómo funciona la app? - Cultura Geek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8CB8D-6140-7A09-3B5E-F5CFC876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0F3ED-4516-93AF-F0B6-04E7E954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380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8 steps to verify Deep Fake videos | by Konrad Weber | Medium">
            <a:extLst>
              <a:ext uri="{FF2B5EF4-FFF2-40B4-BE49-F238E27FC236}">
                <a16:creationId xmlns:a16="http://schemas.microsoft.com/office/drawing/2014/main" id="{3C44732A-D65A-4240-BE9C-5CF843347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21492"/>
            <a:ext cx="9144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2E6E61-E153-EE44-B743-8A790B594FEF}"/>
              </a:ext>
            </a:extLst>
          </p:cNvPr>
          <p:cNvSpPr txBox="1"/>
          <p:nvPr/>
        </p:nvSpPr>
        <p:spPr>
          <a:xfrm>
            <a:off x="1659924" y="6079525"/>
            <a:ext cx="619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hlinkClick r:id="rId3" tooltip="8 steps to verify Deep Fake videos | by Konrad Weber | Medi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 steps to verify Deep Fake videos | by Konrad Weber | Medium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8FDE37-C0F0-D37E-35E8-5327568B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73FD0-1C0A-5BD9-88A8-9AE8D87D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552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807D99-3F4B-0340-BAB9-E5D89B501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71" y="1513006"/>
            <a:ext cx="9144000" cy="50085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49F807-8D47-FB4F-A643-3FF5A609E45C}"/>
              </a:ext>
            </a:extLst>
          </p:cNvPr>
          <p:cNvSpPr txBox="1"/>
          <p:nvPr/>
        </p:nvSpPr>
        <p:spPr>
          <a:xfrm>
            <a:off x="1981201" y="1535676"/>
            <a:ext cx="20855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Collection of Images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4C0893-CF60-4C46-849F-2F5A5FC1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13678"/>
            <a:ext cx="8229600" cy="11430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Análisis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Facial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4FCB-20F9-3423-C1D9-40E140C8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44BC1-E82C-1406-B180-C35569A9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313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54B66D-260B-FB4A-8EA8-9C300C247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41880"/>
            <a:ext cx="9144000" cy="601612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065A604-E984-6846-B023-43434B4B7581}"/>
              </a:ext>
            </a:extLst>
          </p:cNvPr>
          <p:cNvGrpSpPr/>
          <p:nvPr/>
        </p:nvGrpSpPr>
        <p:grpSpPr>
          <a:xfrm>
            <a:off x="1621537" y="170688"/>
            <a:ext cx="2678169" cy="2852928"/>
            <a:chOff x="97536" y="170688"/>
            <a:chExt cx="2678169" cy="285292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409EEC-8E96-1E4E-8A12-E73E94213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" y="1094232"/>
              <a:ext cx="1447038" cy="192938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CB12C5-B575-D845-849D-2269AA9AB820}"/>
                </a:ext>
              </a:extLst>
            </p:cNvPr>
            <p:cNvSpPr txBox="1"/>
            <p:nvPr/>
          </p:nvSpPr>
          <p:spPr>
            <a:xfrm>
              <a:off x="97536" y="170688"/>
              <a:ext cx="26781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Buscando</a:t>
              </a:r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 a Jorge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6FDE62-D82D-2A48-B184-C1C017DED8A8}"/>
              </a:ext>
            </a:extLst>
          </p:cNvPr>
          <p:cNvSpPr txBox="1"/>
          <p:nvPr/>
        </p:nvSpPr>
        <p:spPr>
          <a:xfrm>
            <a:off x="6572008" y="170689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Database with 1122 pictures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E3381-D439-DA47-A6A9-EE64F9939F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062" y="204841"/>
            <a:ext cx="454914" cy="45491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EFB70-BB0C-AEEA-C9C1-709B72DA2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46669-E317-EF7F-BDAA-1AAB802F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047F7C-D5FC-7E4B-A7A1-467A48350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21759"/>
            <a:ext cx="9144000" cy="58999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2FE7978-3452-3A46-A671-525FC8D9C291}"/>
              </a:ext>
            </a:extLst>
          </p:cNvPr>
          <p:cNvGrpSpPr/>
          <p:nvPr/>
        </p:nvGrpSpPr>
        <p:grpSpPr>
          <a:xfrm>
            <a:off x="1621537" y="170688"/>
            <a:ext cx="2678169" cy="2852928"/>
            <a:chOff x="97536" y="170688"/>
            <a:chExt cx="2678169" cy="28529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500DCFB-A8D3-724A-85CB-4579D4E94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" y="1094232"/>
              <a:ext cx="1447038" cy="192938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46034D-434C-E249-A5AA-B4B4B5C6D03D}"/>
                </a:ext>
              </a:extLst>
            </p:cNvPr>
            <p:cNvSpPr txBox="1"/>
            <p:nvPr/>
          </p:nvSpPr>
          <p:spPr>
            <a:xfrm>
              <a:off x="97536" y="170688"/>
              <a:ext cx="26781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Buscando</a:t>
              </a:r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 a Jorge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1DADFD-41C3-E241-83B0-3E7CBC50C596}"/>
              </a:ext>
            </a:extLst>
          </p:cNvPr>
          <p:cNvSpPr txBox="1"/>
          <p:nvPr/>
        </p:nvSpPr>
        <p:spPr>
          <a:xfrm>
            <a:off x="6572008" y="170689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Database with 1122 pictures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F897A9-F4A6-DB4A-AF02-8EEA9AA0C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062" y="204841"/>
            <a:ext cx="454914" cy="45491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2DD7F-CA49-1C6B-7616-F39F7DA2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42F736-BA0D-BE5E-4A89-79A1335AE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524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960647-406A-F342-97EB-A1B752158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000" y="828290"/>
            <a:ext cx="9144000" cy="550142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BB0DEB4-3EF1-BC42-9181-DBADD12A60D8}"/>
              </a:ext>
            </a:extLst>
          </p:cNvPr>
          <p:cNvGrpSpPr/>
          <p:nvPr/>
        </p:nvGrpSpPr>
        <p:grpSpPr>
          <a:xfrm>
            <a:off x="1621537" y="170688"/>
            <a:ext cx="2678169" cy="2852928"/>
            <a:chOff x="97536" y="170688"/>
            <a:chExt cx="2678169" cy="28529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7A5742-ACC4-9641-A086-19F7732FF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" y="1094232"/>
              <a:ext cx="1447038" cy="192938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6E4125-8332-6A47-B6B2-FBB5979776B3}"/>
                </a:ext>
              </a:extLst>
            </p:cNvPr>
            <p:cNvSpPr txBox="1"/>
            <p:nvPr/>
          </p:nvSpPr>
          <p:spPr>
            <a:xfrm>
              <a:off x="97536" y="170688"/>
              <a:ext cx="26781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Buscando</a:t>
              </a:r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 a Jorge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5A3623E-DCD1-0144-A281-4982CD8B9F3F}"/>
              </a:ext>
            </a:extLst>
          </p:cNvPr>
          <p:cNvSpPr txBox="1"/>
          <p:nvPr/>
        </p:nvSpPr>
        <p:spPr>
          <a:xfrm>
            <a:off x="6572008" y="170689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Database with 1122 pictures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4CAE1-7115-8049-ACC2-CF8C720FE6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062" y="204841"/>
            <a:ext cx="454914" cy="45491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EA12C-4630-08CC-6685-3725813D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4B976-8C64-696B-4DBD-8E1E2B9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36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558800-17C4-8F48-B899-69CF94AF1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82176"/>
            <a:ext cx="9144000" cy="60788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FFED80-3489-3647-8D41-E1D25891A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56" y="954783"/>
            <a:ext cx="4816348" cy="4570987"/>
          </a:xfrm>
          <a:prstGeom prst="rect">
            <a:avLst/>
          </a:prstGeom>
          <a:ln w="88900">
            <a:solidFill>
              <a:srgbClr val="FF0000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54A534-64F0-7746-9C9D-B488BFDE926C}"/>
              </a:ext>
            </a:extLst>
          </p:cNvPr>
          <p:cNvSpPr/>
          <p:nvPr/>
        </p:nvSpPr>
        <p:spPr>
          <a:xfrm>
            <a:off x="9290304" y="4267200"/>
            <a:ext cx="877824" cy="926592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A2DE3-1FB3-254F-AB74-2F4F65D28AF7}"/>
              </a:ext>
            </a:extLst>
          </p:cNvPr>
          <p:cNvSpPr/>
          <p:nvPr/>
        </p:nvSpPr>
        <p:spPr>
          <a:xfrm>
            <a:off x="7077456" y="2993136"/>
            <a:ext cx="1078992" cy="1237488"/>
          </a:xfrm>
          <a:prstGeom prst="rect">
            <a:avLst/>
          </a:prstGeom>
          <a:noFill/>
          <a:ln w="730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36CE686-99A6-CF45-9707-516ED51EB94D}"/>
              </a:ext>
            </a:extLst>
          </p:cNvPr>
          <p:cNvGrpSpPr/>
          <p:nvPr/>
        </p:nvGrpSpPr>
        <p:grpSpPr>
          <a:xfrm>
            <a:off x="1621537" y="170688"/>
            <a:ext cx="2678169" cy="2852928"/>
            <a:chOff x="97536" y="170688"/>
            <a:chExt cx="2678169" cy="285292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8BF270-487D-A747-AD1C-EF791379B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" y="1094232"/>
              <a:ext cx="1447038" cy="192938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0E313A-BEA4-3D4E-821A-D1FECA227CCB}"/>
                </a:ext>
              </a:extLst>
            </p:cNvPr>
            <p:cNvSpPr txBox="1"/>
            <p:nvPr/>
          </p:nvSpPr>
          <p:spPr>
            <a:xfrm>
              <a:off x="97536" y="170688"/>
              <a:ext cx="26781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Buscando</a:t>
              </a:r>
              <a:r>
                <a:rPr lang="en-US" sz="2800" dirty="0">
                  <a:solidFill>
                    <a:schemeClr val="accent6">
                      <a:lumMod val="75000"/>
                    </a:schemeClr>
                  </a:solidFill>
                  <a:latin typeface="Gill Sans MT" panose="020B0502020104020203" pitchFamily="34" charset="77"/>
                </a:rPr>
                <a:t> a Jorge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A82F17A-EE28-404C-8707-B4DF8ACD1422}"/>
              </a:ext>
            </a:extLst>
          </p:cNvPr>
          <p:cNvSpPr txBox="1"/>
          <p:nvPr/>
        </p:nvSpPr>
        <p:spPr>
          <a:xfrm>
            <a:off x="6572008" y="170689"/>
            <a:ext cx="3741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Gill Sans MT" panose="020B0502020104020203" pitchFamily="34" charset="77"/>
              </a:rPr>
              <a:t>Database with 1122 pictures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BCB8E4-3617-9349-A9D2-8BA4D5A336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062" y="204841"/>
            <a:ext cx="454914" cy="45491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4EE09-C45C-119F-062B-E361EC10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2CFF8-5D29-6975-6E44-74BF5E71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1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8776</TotalTime>
  <Words>2054</Words>
  <Application>Microsoft Macintosh PowerPoint</Application>
  <PresentationFormat>Widescreen</PresentationFormat>
  <Paragraphs>586</Paragraphs>
  <Slides>75</Slides>
  <Notes>6</Notes>
  <HiddenSlides>4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Arial</vt:lpstr>
      <vt:lpstr>Ayuthaya</vt:lpstr>
      <vt:lpstr>Consolas</vt:lpstr>
      <vt:lpstr>Gill Sans MT</vt:lpstr>
      <vt:lpstr>Times</vt:lpstr>
      <vt:lpstr>Trebuchet MS</vt:lpstr>
      <vt:lpstr>Office Theme</vt:lpstr>
      <vt:lpstr>PowerPoint Presentation</vt:lpstr>
      <vt:lpstr>PowerPoint Presentation</vt:lpstr>
      <vt:lpstr>Análisis Facial</vt:lpstr>
      <vt:lpstr>1. Reconocimiento Facial</vt:lpstr>
      <vt:lpstr>PowerPoint Presentation</vt:lpstr>
      <vt:lpstr>PowerPoint Presentation</vt:lpstr>
      <vt:lpstr>PowerPoint Presentation</vt:lpstr>
      <vt:lpstr>PowerPoint Presentation</vt:lpstr>
      <vt:lpstr>Reconocimiento Facial</vt:lpstr>
      <vt:lpstr>Reconocimiento Facial</vt:lpstr>
      <vt:lpstr>Reconocimiento Facial</vt:lpstr>
      <vt:lpstr>Reconocimiento Facial</vt:lpstr>
      <vt:lpstr>Reconocimiento Facial</vt:lpstr>
      <vt:lpstr>Reconocimiento Facial</vt:lpstr>
      <vt:lpstr>Reconocimiento Facial</vt:lpstr>
      <vt:lpstr>PowerPoint Presentation</vt:lpstr>
      <vt:lpstr>PowerPoint Presentation</vt:lpstr>
      <vt:lpstr>Reconocimiento Facial</vt:lpstr>
      <vt:lpstr>Reconocimiento Facial</vt:lpstr>
      <vt:lpstr>Reconocimiento Facial</vt:lpstr>
      <vt:lpstr>Reconocimiento Facial</vt:lpstr>
      <vt:lpstr>Embeddings</vt:lpstr>
      <vt:lpstr>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Reconocimiento Facial</vt:lpstr>
      <vt:lpstr>1. Reconocimiento Facial</vt:lpstr>
      <vt:lpstr>2. Expresiones Faciales</vt:lpstr>
      <vt:lpstr>2. Expresiones Faciales</vt:lpstr>
      <vt:lpstr>3. Reconocimiento de Género</vt:lpstr>
      <vt:lpstr>3. Reconocimiento de Género</vt:lpstr>
      <vt:lpstr>4. Reconocimiento de Edad</vt:lpstr>
      <vt:lpstr>4. Reconocimiento de Edad</vt:lpstr>
      <vt:lpstr>Example</vt:lpstr>
      <vt:lpstr>PowerPoint Presentation</vt:lpstr>
      <vt:lpstr>5. Landmarks</vt:lpstr>
      <vt:lpstr>6. Estimación de Pose (from landmarks)</vt:lpstr>
      <vt:lpstr>6. Estimación de Pose</vt:lpstr>
      <vt:lpstr>7. Mesh</vt:lpstr>
      <vt:lpstr>7. Mesh</vt:lpstr>
      <vt:lpstr>8. Detección de Caras</vt:lpstr>
      <vt:lpstr>9. Clustering de Caras</vt:lpstr>
      <vt:lpstr>Face Clustering</vt:lpstr>
      <vt:lpstr>Face Clustering</vt:lpstr>
      <vt:lpstr>Ejemplo</vt:lpstr>
      <vt:lpstr>Co-occurrence</vt:lpstr>
      <vt:lpstr>Co-occurrence</vt:lpstr>
      <vt:lpstr>Co-occurrence</vt:lpstr>
      <vt:lpstr>Co-occurrence</vt:lpstr>
      <vt:lpstr>Co-occurrence</vt:lpstr>
      <vt:lpstr>Graph Representation</vt:lpstr>
      <vt:lpstr>Interactions</vt:lpstr>
      <vt:lpstr>Interactions</vt:lpstr>
      <vt:lpstr>10. GAN / Deep Fakes (BONUS)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GAN / Deep Fakes</vt:lpstr>
      <vt:lpstr>PowerPoint Presentation</vt:lpstr>
      <vt:lpstr>Análisis Facial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Domingo Mery</dc:creator>
  <cp:lastModifiedBy>Domingo Mery</cp:lastModifiedBy>
  <cp:revision>161</cp:revision>
  <dcterms:created xsi:type="dcterms:W3CDTF">2021-07-17T22:29:06Z</dcterms:created>
  <dcterms:modified xsi:type="dcterms:W3CDTF">2026-10-20T13:41:06Z</dcterms:modified>
</cp:coreProperties>
</file>