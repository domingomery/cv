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1559" r:id="rId3"/>
    <p:sldId id="1565" r:id="rId4"/>
    <p:sldId id="1553" r:id="rId5"/>
    <p:sldId id="1554" r:id="rId6"/>
    <p:sldId id="1561" r:id="rId7"/>
    <p:sldId id="1560" r:id="rId8"/>
    <p:sldId id="1555" r:id="rId9"/>
    <p:sldId id="1556" r:id="rId10"/>
    <p:sldId id="1557" r:id="rId11"/>
    <p:sldId id="1558" r:id="rId12"/>
    <p:sldId id="1563" r:id="rId13"/>
    <p:sldId id="1562" r:id="rId14"/>
    <p:sldId id="15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1E"/>
    <a:srgbClr val="607232"/>
    <a:srgbClr val="9AA1DF"/>
    <a:srgbClr val="6772D4"/>
    <a:srgbClr val="0000FF"/>
    <a:srgbClr val="0096FF"/>
    <a:srgbClr val="004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11"/>
    <p:restoredTop sz="78700"/>
  </p:normalViewPr>
  <p:slideViewPr>
    <p:cSldViewPr snapToGrid="0" snapToObjects="1">
      <p:cViewPr varScale="1">
        <p:scale>
          <a:sx n="97" d="100"/>
          <a:sy n="97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EDCF66C8-757E-7C42-B2DD-441E14BFDBC6}" type="datetimeFigureOut">
              <a:rPr lang="en-US" smtClean="0"/>
              <a:pPr/>
              <a:t>10/23/26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BE965B19-3131-284A-93A8-E39D12ACFB0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313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12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58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94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84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965B19-3131-284A-93A8-E39D12ACFB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FC08-79A3-3749-939A-7481D41DA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2147D-B1F2-1446-81E3-A61F77DD1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3988-B08C-A04B-9BCB-5C3509DF6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7A8A5-7DA1-4949-B09B-275E443A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13503-A296-484A-8723-A6BD3693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0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FF61-1D42-2840-95AA-D8DD7FA06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365DA-76DF-A54E-AD1C-91FA5089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089B3-01FC-FE41-8762-970AB4DD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31BB6-92F8-B249-AAAE-12208B00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12AEB-EDEE-AB40-9460-31A5BC2F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9010C-1335-3048-8BD6-DA326CF9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06AA4-2B4E-A94A-96B2-B09C45673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F1CF4-3F36-C146-9B04-90FBE2D03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B4AD1-B164-994A-BBAD-1B6F0264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3115E-7F58-2A40-A632-34C924F6D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2C37-62B1-7042-8E8D-F4922B33E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ADB92-5211-8841-8C12-4B9AD93CC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9F37D-0CC3-9A40-A4D1-59D52D162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68EDF-CD72-F84E-8134-F3E0569F4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FB1AE-DDB9-D64F-886F-2D67556D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81E4C-BB5D-634B-A5CC-39D8ACE7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2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BA8EC-78E9-9441-85FF-8B3527C0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C1FD5A-95A2-2544-B741-02AB98C8D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6C3E1B-96EA-5A4B-85E1-D3B319468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4BD96D-2E63-1C4F-8087-53BB4E694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9810C-69C3-4B47-842C-B10122354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754B84-595A-5945-B611-9EB3A615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A12348-24FC-5143-9637-33BCB6AE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202D09-2BE8-E041-8E1B-3616FA2D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FEB1-A47A-C84D-9DA4-1E609D98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BB052-A367-9D41-AEE1-BEAA7A84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E0484C-AC3C-9449-9C8A-A6EC7E72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54AB1-3149-154E-84A8-BA81F752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172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35BDF-B0C7-B942-988F-F11F3FB4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0A7BA-144F-2747-BDC7-9933DDA8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C16C5-07FE-B642-B739-A6D58236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87666-E595-BD47-9DCF-F18FF492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0FD0-5D61-7443-99FD-B9501DA17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CEC03-F2AB-2F40-BD9F-920DF28F4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C7721-5E10-664D-9A03-30926213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315D1-8C82-CC43-91EF-30F1BDF1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54DC-699B-F940-95EA-4AFEF77D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7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8FBB-7CFB-5C42-B781-6C32FCF49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B86AC-35A1-804D-A955-BA8084AEC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B6403-16F6-B847-99C1-4119C5906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25757-FF0C-C542-93DC-6F03E01E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97146-618F-5140-983F-B8FC09D6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90FE1-8C82-1645-AA18-A902EF46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37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EEEA-3A91-5140-ACDF-68FE85F91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56A7E-C0A0-3F41-886A-F7BDBC293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043DE-876D-A246-A704-2A1643A0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C946A-8411-0F46-A272-D18F93585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96FB-A6CD-114E-A7BE-9F86DC78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2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F9168-3263-7743-B128-1AC9882CE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9F845-4EF3-0E4E-AEFA-2C5FA13B0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B52FA-AC1C-CF43-BF4E-810BBF0D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40A63-9FE0-FA47-85A1-0D49077C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316C1-46E8-F947-A57E-F6E831EF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8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ED3D62-98A3-F54A-92E9-3459A735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AC63DE-4515-DA4E-9C63-3D51471F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2D62-6D59-C047-A407-7A07940299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CV03E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117E-B35F-8942-89D6-2B6C47AE1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46474-7102-B54C-8867-9C5EEB204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57EB8209-5138-1B4E-A98D-88D629BB22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azM57JuQpQI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tiff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c2nGJC3mUY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IC-DKFZ/nnUNet" TargetMode="External"/><Relationship Id="rId4" Type="http://schemas.openxmlformats.org/officeDocument/2006/relationships/hyperlink" Target="https://medium.com/miccai-educational-initiative/nnu-net-the-no-new-unet-for-automatic-segmentation-8d655f3f6d2a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miccai-educational-initiative/nnu-net-the-no-new-unet-for-automatic-segmentation-8d655f3f6d2a" TargetMode="External"/><Relationship Id="rId2" Type="http://schemas.openxmlformats.org/officeDocument/2006/relationships/hyperlink" Target="https://youtu.be/fc2nGJC3mU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github.com/MIC-DKFZ/nnUN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204222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UNet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3 – CV03E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17950E-6D6E-C57B-1D08-97CA4D618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2794912"/>
            <a:ext cx="5208199" cy="261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DEC146-EB1A-9444-BDD2-E7634F289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658" y="0"/>
            <a:ext cx="7202683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45F76-229A-E525-D06F-3FA0CBDF5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3DF962-9B67-3C72-2611-02F99FB8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9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EAE67C-BCF9-7E4C-6A49-57DD32905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20D594-9461-3A34-6153-D8785F6D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3683E-5F8B-DD3B-F629-2E5F141BD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824" y="365125"/>
            <a:ext cx="8714351" cy="580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18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773498" y="1770751"/>
            <a:ext cx="113227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&gt; Get a target output image from an input image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71850" y="151252"/>
            <a:ext cx="5555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Processing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Problem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B0FE88-1727-DE46-99E0-141D459E6F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87694" y="3954428"/>
            <a:ext cx="1980000" cy="175153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67B5AAE-98D6-8145-B56C-92A6BF0E8593}"/>
              </a:ext>
            </a:extLst>
          </p:cNvPr>
          <p:cNvGrpSpPr/>
          <p:nvPr/>
        </p:nvGrpSpPr>
        <p:grpSpPr>
          <a:xfrm>
            <a:off x="2608519" y="5864032"/>
            <a:ext cx="7951471" cy="369332"/>
            <a:chOff x="2608519" y="5864032"/>
            <a:chExt cx="7951471" cy="3693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27F5F2-0FFA-CD4E-AB84-A0CB9FE51A97}"/>
                </a:ext>
              </a:extLst>
            </p:cNvPr>
            <p:cNvSpPr/>
            <p:nvPr/>
          </p:nvSpPr>
          <p:spPr>
            <a:xfrm>
              <a:off x="2608519" y="5864032"/>
              <a:ext cx="1338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Input: image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C3D0736-587F-DF41-8CBA-382E82A5DCCB}"/>
                </a:ext>
              </a:extLst>
            </p:cNvPr>
            <p:cNvSpPr/>
            <p:nvPr/>
          </p:nvSpPr>
          <p:spPr>
            <a:xfrm>
              <a:off x="8296171" y="5864032"/>
              <a:ext cx="226381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Output: Segmentation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7313D18-45B4-064C-923F-E406CFBE2EAB}"/>
              </a:ext>
            </a:extLst>
          </p:cNvPr>
          <p:cNvGrpSpPr/>
          <p:nvPr/>
        </p:nvGrpSpPr>
        <p:grpSpPr>
          <a:xfrm>
            <a:off x="4256009" y="3973089"/>
            <a:ext cx="6117372" cy="1751538"/>
            <a:chOff x="4256009" y="3973089"/>
            <a:chExt cx="6117372" cy="17515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C4D2773-8A56-104F-A1E5-FDFC491AE520}"/>
                </a:ext>
              </a:extLst>
            </p:cNvPr>
            <p:cNvGrpSpPr/>
            <p:nvPr/>
          </p:nvGrpSpPr>
          <p:grpSpPr>
            <a:xfrm>
              <a:off x="4256009" y="4251399"/>
              <a:ext cx="4172926" cy="1169244"/>
              <a:chOff x="4256009" y="4251399"/>
              <a:chExt cx="4172926" cy="1169244"/>
            </a:xfrm>
          </p:grpSpPr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5BD905CD-8EDB-F341-85BB-69D44A0CB6B5}"/>
                  </a:ext>
                </a:extLst>
              </p:cNvPr>
              <p:cNvSpPr/>
              <p:nvPr/>
            </p:nvSpPr>
            <p:spPr>
              <a:xfrm>
                <a:off x="5090423" y="4251399"/>
                <a:ext cx="2486025" cy="11692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latin typeface="Gill Sans MT" panose="020B0502020104020203" pitchFamily="34" charset="77"/>
                  </a:rPr>
                  <a:t>Image Segmentation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51C825D-82DA-A242-ABCE-D266404AF1A1}"/>
                  </a:ext>
                </a:extLst>
              </p:cNvPr>
              <p:cNvCxnSpPr>
                <a:cxnSpLocks/>
                <a:endCxn id="24" idx="1"/>
              </p:cNvCxnSpPr>
              <p:nvPr/>
            </p:nvCxnSpPr>
            <p:spPr>
              <a:xfrm>
                <a:off x="4256009" y="4836021"/>
                <a:ext cx="83441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BF402343-6A2A-0F47-B923-1D1FDBC7164F}"/>
                  </a:ext>
                </a:extLst>
              </p:cNvPr>
              <p:cNvCxnSpPr/>
              <p:nvPr/>
            </p:nvCxnSpPr>
            <p:spPr>
              <a:xfrm>
                <a:off x="7594521" y="4836021"/>
                <a:ext cx="83441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9C5A1AF-B13A-3645-8803-73FEE4935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511684" y="3973089"/>
              <a:ext cx="1861697" cy="1751538"/>
            </a:xfrm>
            <a:prstGeom prst="rect">
              <a:avLst/>
            </a:prstGeom>
            <a:ln>
              <a:noFill/>
            </a:ln>
            <a:effectLst>
              <a:reflection blurRad="12700" stA="30000" endPos="30000" dist="5000" dir="5400000" sy="-100000" algn="bl" rotWithShape="0"/>
            </a:effectLst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E7792-15F9-39E9-118A-C9D689118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0D5183-ECBF-3C78-D9C6-F0CE4FA5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82CF9161-7CC9-B746-A75B-F7B2C1C16474}"/>
              </a:ext>
            </a:extLst>
          </p:cNvPr>
          <p:cNvGrpSpPr/>
          <p:nvPr/>
        </p:nvGrpSpPr>
        <p:grpSpPr>
          <a:xfrm>
            <a:off x="-201705" y="1192121"/>
            <a:ext cx="12213340" cy="4613029"/>
            <a:chOff x="-201705" y="1192121"/>
            <a:chExt cx="12213340" cy="461302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298CA33-5B0C-E845-96B4-DC8303EF024A}"/>
                </a:ext>
              </a:extLst>
            </p:cNvPr>
            <p:cNvGrpSpPr/>
            <p:nvPr/>
          </p:nvGrpSpPr>
          <p:grpSpPr>
            <a:xfrm>
              <a:off x="9944552" y="1192121"/>
              <a:ext cx="2067083" cy="1916636"/>
              <a:chOff x="9944552" y="1192121"/>
              <a:chExt cx="2067083" cy="1916636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519D8EE-9631-2141-B0FD-6D55F386DD9F}"/>
                  </a:ext>
                </a:extLst>
              </p:cNvPr>
              <p:cNvSpPr/>
              <p:nvPr/>
            </p:nvSpPr>
            <p:spPr>
              <a:xfrm>
                <a:off x="10070058" y="1192121"/>
                <a:ext cx="1941577" cy="180009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9AFD73C-70A6-8E4B-A8FC-FCE6DEF186BE}"/>
                  </a:ext>
                </a:extLst>
              </p:cNvPr>
              <p:cNvSpPr/>
              <p:nvPr/>
            </p:nvSpPr>
            <p:spPr>
              <a:xfrm>
                <a:off x="9944552" y="1308661"/>
                <a:ext cx="1941577" cy="1800096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3B43200-F5E5-B041-BEF9-FF450360C481}"/>
                </a:ext>
              </a:extLst>
            </p:cNvPr>
            <p:cNvGrpSpPr/>
            <p:nvPr/>
          </p:nvGrpSpPr>
          <p:grpSpPr>
            <a:xfrm>
              <a:off x="-201705" y="1280464"/>
              <a:ext cx="2188786" cy="4524686"/>
              <a:chOff x="-201705" y="1280464"/>
              <a:chExt cx="2188786" cy="4524686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FA241506-C129-4846-BE2C-CD5BE9BD6A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/>
            </p:blipFill>
            <p:spPr>
              <a:xfrm>
                <a:off x="-201705" y="1280464"/>
                <a:ext cx="2036386" cy="4372286"/>
              </a:xfrm>
              <a:prstGeom prst="rect">
                <a:avLst/>
              </a:prstGeom>
              <a:ln w="31750">
                <a:solidFill>
                  <a:srgbClr val="FF0000"/>
                </a:solidFill>
              </a:ln>
              <a:effectLst>
                <a:reflection blurRad="12700" stA="30000" endPos="0" dist="5000" dir="5400000" sy="-100000" algn="bl" rotWithShape="0"/>
              </a:effectLst>
              <a:scene3d>
                <a:camera prst="orthographicFront">
                  <a:rot lat="2500522" lon="18881592" rev="0"/>
                </a:camera>
                <a:lightRig rig="threePt" dir="t"/>
              </a:scene3d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B6DDB641-5F96-7C4B-A0F7-F966EAD92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/>
            </p:blipFill>
            <p:spPr>
              <a:xfrm>
                <a:off x="-49305" y="1432864"/>
                <a:ext cx="2036386" cy="4372286"/>
              </a:xfrm>
              <a:prstGeom prst="rect">
                <a:avLst/>
              </a:prstGeom>
              <a:ln w="31750">
                <a:solidFill>
                  <a:srgbClr val="FF0000"/>
                </a:solidFill>
              </a:ln>
              <a:effectLst>
                <a:reflection blurRad="12700" stA="30000" endPos="0" dist="5000" dir="5400000" sy="-100000" algn="bl" rotWithShape="0"/>
              </a:effectLst>
              <a:scene3d>
                <a:camera prst="orthographicFront">
                  <a:rot lat="2500522" lon="18881592" rev="0"/>
                </a:camera>
                <a:lightRig rig="threePt" dir="t"/>
              </a:scene3d>
            </p:spPr>
          </p:pic>
        </p:grpSp>
      </p:grpSp>
      <p:sp>
        <p:nvSpPr>
          <p:cNvPr id="4" name="TextBox 3"/>
          <p:cNvSpPr txBox="1"/>
          <p:nvPr/>
        </p:nvSpPr>
        <p:spPr>
          <a:xfrm>
            <a:off x="6162657" y="151252"/>
            <a:ext cx="5615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600" dirty="0">
                <a:latin typeface="Gill Sans MT" panose="020B0502020104020203" pitchFamily="34" charset="77"/>
                <a:cs typeface="Trebuchet MS"/>
              </a:rPr>
              <a:t>Deep Learning Model: </a:t>
            </a:r>
            <a:r>
              <a:rPr lang="en-US" sz="3600" dirty="0">
                <a:solidFill>
                  <a:srgbClr val="0096FF"/>
                </a:solidFill>
                <a:latin typeface="Gill Sans MT" panose="020B0502020104020203" pitchFamily="34" charset="77"/>
                <a:cs typeface="Trebuchet MS"/>
              </a:rPr>
              <a:t>U-Net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E4705C-FA70-314D-84E1-3D9B867E3660}"/>
              </a:ext>
            </a:extLst>
          </p:cNvPr>
          <p:cNvSpPr txBox="1"/>
          <p:nvPr/>
        </p:nvSpPr>
        <p:spPr>
          <a:xfrm>
            <a:off x="71850" y="151252"/>
            <a:ext cx="5524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Processing – </a:t>
            </a:r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Solution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8195848-C7F6-6A48-8027-6C6EE4395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455" y="1242857"/>
            <a:ext cx="7773137" cy="499050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B43FFD9-3297-3343-BF99-73830E319C3D}"/>
              </a:ext>
            </a:extLst>
          </p:cNvPr>
          <p:cNvGrpSpPr/>
          <p:nvPr/>
        </p:nvGrpSpPr>
        <p:grpSpPr>
          <a:xfrm>
            <a:off x="2234088" y="5690530"/>
            <a:ext cx="1473199" cy="912167"/>
            <a:chOff x="2234088" y="5690530"/>
            <a:chExt cx="1473199" cy="912167"/>
          </a:xfrm>
        </p:grpSpPr>
        <p:sp>
          <p:nvSpPr>
            <p:cNvPr id="8" name="Rectangle 7"/>
            <p:cNvSpPr/>
            <p:nvPr/>
          </p:nvSpPr>
          <p:spPr>
            <a:xfrm>
              <a:off x="2234088" y="6233365"/>
              <a:ext cx="1473199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  <a:cs typeface="Trebuchet MS"/>
                </a:rPr>
                <a:t>Input image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EABA11-B941-FE44-B41C-676389655CAD}"/>
                </a:ext>
              </a:extLst>
            </p:cNvPr>
            <p:cNvCxnSpPr/>
            <p:nvPr/>
          </p:nvCxnSpPr>
          <p:spPr>
            <a:xfrm>
              <a:off x="2330340" y="5690530"/>
              <a:ext cx="0" cy="542835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5D6CEBAC-1248-064B-B4B9-8BF9E0E3282C}"/>
              </a:ext>
            </a:extLst>
          </p:cNvPr>
          <p:cNvSpPr/>
          <p:nvPr/>
        </p:nvSpPr>
        <p:spPr>
          <a:xfrm>
            <a:off x="5849471" y="1734671"/>
            <a:ext cx="3862121" cy="44986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3691C5-B177-2E41-B73C-183D39C3D7DF}"/>
              </a:ext>
            </a:extLst>
          </p:cNvPr>
          <p:cNvGrpSpPr/>
          <p:nvPr/>
        </p:nvGrpSpPr>
        <p:grpSpPr>
          <a:xfrm>
            <a:off x="8983734" y="1422856"/>
            <a:ext cx="2794819" cy="3074500"/>
            <a:chOff x="8983734" y="1422856"/>
            <a:chExt cx="2794819" cy="307450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4F2F19D-C50B-774B-8176-C5924158DB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162" t="2754" r="2880" b="3671"/>
            <a:stretch/>
          </p:blipFill>
          <p:spPr>
            <a:xfrm>
              <a:off x="9836976" y="1422856"/>
              <a:ext cx="1941577" cy="1800096"/>
            </a:xfrm>
            <a:prstGeom prst="rect">
              <a:avLst/>
            </a:prstGeom>
            <a:ln w="25400">
              <a:solidFill>
                <a:schemeClr val="tx1">
                  <a:lumMod val="50000"/>
                  <a:lumOff val="50000"/>
                </a:schemeClr>
              </a:solidFill>
            </a:ln>
            <a:effectLst>
              <a:reflection blurRad="12700" stA="30000" endPos="0" dist="5000" dir="5400000" sy="-100000" algn="bl" rotWithShape="0"/>
            </a:effec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D2194C8-EC6E-774D-AEC1-5F36324B1AFA}"/>
                </a:ext>
              </a:extLst>
            </p:cNvPr>
            <p:cNvSpPr/>
            <p:nvPr/>
          </p:nvSpPr>
          <p:spPr>
            <a:xfrm>
              <a:off x="10543585" y="3937520"/>
              <a:ext cx="534628" cy="55983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C3529B1-7028-4A40-8963-F7D7CB64FF35}"/>
                </a:ext>
              </a:extLst>
            </p:cNvPr>
            <p:cNvCxnSpPr>
              <a:cxnSpLocks/>
              <a:stCxn id="25" idx="2"/>
              <a:endCxn id="7" idx="0"/>
            </p:cNvCxnSpPr>
            <p:nvPr/>
          </p:nvCxnSpPr>
          <p:spPr>
            <a:xfrm>
              <a:off x="10807765" y="3222952"/>
              <a:ext cx="3134" cy="714568"/>
            </a:xfrm>
            <a:prstGeom prst="straightConnector1">
              <a:avLst/>
            </a:prstGeom>
            <a:ln w="825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03EF572-62B6-154B-8C7E-627199A905E6}"/>
                </a:ext>
              </a:extLst>
            </p:cNvPr>
            <p:cNvCxnSpPr>
              <a:cxnSpLocks/>
            </p:cNvCxnSpPr>
            <p:nvPr/>
          </p:nvCxnSpPr>
          <p:spPr>
            <a:xfrm>
              <a:off x="8983734" y="4049486"/>
              <a:ext cx="1518161" cy="167951"/>
            </a:xfrm>
            <a:prstGeom prst="straightConnector1">
              <a:avLst/>
            </a:prstGeom>
            <a:ln w="825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D622C1-9500-604A-A5A3-D4B374A6C654}"/>
              </a:ext>
            </a:extLst>
          </p:cNvPr>
          <p:cNvGrpSpPr/>
          <p:nvPr/>
        </p:nvGrpSpPr>
        <p:grpSpPr>
          <a:xfrm>
            <a:off x="5302899" y="4855077"/>
            <a:ext cx="5508000" cy="1476202"/>
            <a:chOff x="5302899" y="4855077"/>
            <a:chExt cx="5508000" cy="1476202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F31484B6-5BE6-CA4E-B60E-137473E13C1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34344" y="2723632"/>
              <a:ext cx="1245110" cy="5508000"/>
            </a:xfrm>
            <a:prstGeom prst="bentConnector3">
              <a:avLst>
                <a:gd name="adj1" fmla="val 118360"/>
              </a:avLst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79895D-79DF-9140-9574-C9E15CCC1083}"/>
                </a:ext>
              </a:extLst>
            </p:cNvPr>
            <p:cNvSpPr txBox="1"/>
            <p:nvPr/>
          </p:nvSpPr>
          <p:spPr>
            <a:xfrm>
              <a:off x="9960446" y="5321198"/>
              <a:ext cx="776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errors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0A7A2D-3556-1645-A760-98B210D3A379}"/>
                </a:ext>
              </a:extLst>
            </p:cNvPr>
            <p:cNvSpPr txBox="1"/>
            <p:nvPr/>
          </p:nvSpPr>
          <p:spPr>
            <a:xfrm>
              <a:off x="5574528" y="5961947"/>
              <a:ext cx="1823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Back-propagation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BC127437-1DC5-8E49-87B1-C6B4BD01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3095" y="1585264"/>
            <a:ext cx="2036386" cy="4372286"/>
          </a:xfrm>
          <a:prstGeom prst="rect">
            <a:avLst/>
          </a:prstGeom>
          <a:ln w="31750">
            <a:solidFill>
              <a:srgbClr val="FF0000"/>
            </a:solidFill>
          </a:ln>
          <a:effectLst>
            <a:reflection blurRad="12700" stA="30000" endPos="0" dist="5000" dir="5400000" sy="-100000" algn="bl" rotWithShape="0"/>
          </a:effectLst>
          <a:scene3d>
            <a:camera prst="orthographicFront">
              <a:rot lat="2500522" lon="18881592" rev="0"/>
            </a:camera>
            <a:lightRig rig="threePt" dir="t"/>
          </a:scene3d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98F674-6336-414B-AE95-5E9BCD3E864B}"/>
              </a:ext>
            </a:extLst>
          </p:cNvPr>
          <p:cNvCxnSpPr>
            <a:cxnSpLocks/>
          </p:cNvCxnSpPr>
          <p:nvPr/>
        </p:nvCxnSpPr>
        <p:spPr>
          <a:xfrm>
            <a:off x="1381101" y="3778624"/>
            <a:ext cx="846887" cy="98891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1EC5F6-C56F-484A-86E8-918A8CCFDB89}"/>
              </a:ext>
            </a:extLst>
          </p:cNvPr>
          <p:cNvGrpSpPr/>
          <p:nvPr/>
        </p:nvGrpSpPr>
        <p:grpSpPr>
          <a:xfrm>
            <a:off x="3670041" y="1258185"/>
            <a:ext cx="2179430" cy="369332"/>
            <a:chOff x="3670041" y="1258185"/>
            <a:chExt cx="2179430" cy="369332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B84AA3A-22E0-0F40-AF38-0128F2E84DC4}"/>
                </a:ext>
              </a:extLst>
            </p:cNvPr>
            <p:cNvCxnSpPr/>
            <p:nvPr/>
          </p:nvCxnSpPr>
          <p:spPr>
            <a:xfrm>
              <a:off x="3670041" y="1432864"/>
              <a:ext cx="217943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1450718-55B3-4D41-863D-13A522F3E8D1}"/>
                </a:ext>
              </a:extLst>
            </p:cNvPr>
            <p:cNvSpPr/>
            <p:nvPr/>
          </p:nvSpPr>
          <p:spPr>
            <a:xfrm>
              <a:off x="4268696" y="1258185"/>
              <a:ext cx="109668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Encoder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283D020-E847-714B-B483-95D238ECAABF}"/>
              </a:ext>
            </a:extLst>
          </p:cNvPr>
          <p:cNvGrpSpPr/>
          <p:nvPr/>
        </p:nvGrpSpPr>
        <p:grpSpPr>
          <a:xfrm>
            <a:off x="6605903" y="1238190"/>
            <a:ext cx="2179430" cy="369332"/>
            <a:chOff x="3670041" y="1258185"/>
            <a:chExt cx="2179430" cy="369332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220B649-3D0B-6B43-8F51-79DE214C6C76}"/>
                </a:ext>
              </a:extLst>
            </p:cNvPr>
            <p:cNvCxnSpPr/>
            <p:nvPr/>
          </p:nvCxnSpPr>
          <p:spPr>
            <a:xfrm>
              <a:off x="3670041" y="1432864"/>
              <a:ext cx="217943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044DA30-B40A-2F45-86B2-F7DDD3876F00}"/>
                </a:ext>
              </a:extLst>
            </p:cNvPr>
            <p:cNvSpPr/>
            <p:nvPr/>
          </p:nvSpPr>
          <p:spPr>
            <a:xfrm>
              <a:off x="4268696" y="1258185"/>
              <a:ext cx="109668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Decoder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21AF197-5629-EB40-A685-969A273E519B}"/>
              </a:ext>
            </a:extLst>
          </p:cNvPr>
          <p:cNvGrpSpPr/>
          <p:nvPr/>
        </p:nvGrpSpPr>
        <p:grpSpPr>
          <a:xfrm>
            <a:off x="-240164" y="840973"/>
            <a:ext cx="12106159" cy="962407"/>
            <a:chOff x="-240164" y="840973"/>
            <a:chExt cx="12106159" cy="962407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5E246A5-D438-4447-873A-D9E326AC0682}"/>
                </a:ext>
              </a:extLst>
            </p:cNvPr>
            <p:cNvSpPr/>
            <p:nvPr/>
          </p:nvSpPr>
          <p:spPr>
            <a:xfrm>
              <a:off x="-240164" y="1157049"/>
              <a:ext cx="157556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Training </a:t>
              </a:r>
            </a:p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Data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4C5FA3B-08B5-7B4C-873A-89A03C7A6456}"/>
                </a:ext>
              </a:extLst>
            </p:cNvPr>
            <p:cNvSpPr/>
            <p:nvPr/>
          </p:nvSpPr>
          <p:spPr>
            <a:xfrm>
              <a:off x="10290431" y="840973"/>
              <a:ext cx="1575564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Gill Sans MT" panose="020B0502020104020203" pitchFamily="34" charset="77"/>
                  <a:cs typeface="Trebuchet MS"/>
                </a:rPr>
                <a:t>Training Data</a:t>
              </a:r>
              <a:endPara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A5F677B-FADE-554B-A061-DE991E7A3582}"/>
              </a:ext>
            </a:extLst>
          </p:cNvPr>
          <p:cNvGrpSpPr/>
          <p:nvPr/>
        </p:nvGrpSpPr>
        <p:grpSpPr>
          <a:xfrm>
            <a:off x="2819835" y="1790586"/>
            <a:ext cx="5965498" cy="1564627"/>
            <a:chOff x="2819835" y="1790586"/>
            <a:chExt cx="5965498" cy="1564627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A8E949-B57D-8E44-91AB-00EC5B3A87A3}"/>
                </a:ext>
              </a:extLst>
            </p:cNvPr>
            <p:cNvCxnSpPr>
              <a:cxnSpLocks/>
            </p:cNvCxnSpPr>
            <p:nvPr/>
          </p:nvCxnSpPr>
          <p:spPr>
            <a:xfrm>
              <a:off x="2819835" y="1790586"/>
              <a:ext cx="5965498" cy="623391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5F6DABBB-1B39-394A-9FB2-72C8D08E3FD5}"/>
                </a:ext>
              </a:extLst>
            </p:cNvPr>
            <p:cNvCxnSpPr>
              <a:cxnSpLocks/>
            </p:cNvCxnSpPr>
            <p:nvPr/>
          </p:nvCxnSpPr>
          <p:spPr>
            <a:xfrm>
              <a:off x="3259774" y="2228332"/>
              <a:ext cx="5041465" cy="527636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1DDF19EC-094F-E942-9712-E63E0C5CD59E}"/>
                </a:ext>
              </a:extLst>
            </p:cNvPr>
            <p:cNvCxnSpPr>
              <a:cxnSpLocks/>
            </p:cNvCxnSpPr>
            <p:nvPr/>
          </p:nvCxnSpPr>
          <p:spPr>
            <a:xfrm>
              <a:off x="3976487" y="2681517"/>
              <a:ext cx="3608038" cy="377023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87C24F2-6F01-A547-9100-072D500A57B8}"/>
                </a:ext>
              </a:extLst>
            </p:cNvPr>
            <p:cNvCxnSpPr>
              <a:cxnSpLocks/>
            </p:cNvCxnSpPr>
            <p:nvPr/>
          </p:nvCxnSpPr>
          <p:spPr>
            <a:xfrm>
              <a:off x="4759756" y="3134053"/>
              <a:ext cx="2052873" cy="221160"/>
            </a:xfrm>
            <a:prstGeom prst="straightConnector1">
              <a:avLst/>
            </a:prstGeom>
            <a:ln w="22225">
              <a:solidFill>
                <a:schemeClr val="bg2">
                  <a:lumMod val="50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8D336814-9309-1C49-8EB0-401023325CEC}"/>
              </a:ext>
            </a:extLst>
          </p:cNvPr>
          <p:cNvSpPr/>
          <p:nvPr/>
        </p:nvSpPr>
        <p:spPr>
          <a:xfrm>
            <a:off x="10915340" y="3266887"/>
            <a:ext cx="1473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Target 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AC6D0DD-BC7C-CA4C-BC06-0CEA18D247DD}"/>
              </a:ext>
            </a:extLst>
          </p:cNvPr>
          <p:cNvSpPr/>
          <p:nvPr/>
        </p:nvSpPr>
        <p:spPr>
          <a:xfrm>
            <a:off x="9442141" y="4208746"/>
            <a:ext cx="1473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Output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image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307C84-FDED-EBBB-FF29-4FB50F617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15F6AD-BD3C-EC5E-7752-139C364F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08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11F5F-2EA7-4543-9F16-972E58C66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48" y="0"/>
            <a:ext cx="8500704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A91C4-4F35-E476-3385-BBCE32FF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CE2762-AD50-B8D5-34C8-2D6FBEED5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6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611F5F-2EA7-4543-9F16-972E58C66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5648" y="0"/>
            <a:ext cx="8500704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D1A1CE-5C09-6A4F-AB7F-AB0D6046E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6" y="0"/>
            <a:ext cx="1209972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FB9B28-E75E-4841-A9F6-ECA88DF9132C}"/>
              </a:ext>
            </a:extLst>
          </p:cNvPr>
          <p:cNvSpPr txBox="1"/>
          <p:nvPr/>
        </p:nvSpPr>
        <p:spPr>
          <a:xfrm>
            <a:off x="46136" y="5934670"/>
            <a:ext cx="3204147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endParaRPr lang="es-ES_tradnl" dirty="0"/>
          </a:p>
          <a:p>
            <a:r>
              <a:rPr lang="es-ES_tradnl" dirty="0">
                <a:hlinkClick r:id="rId5"/>
              </a:rPr>
              <a:t>https://youtu.be/azM57JuQpQI</a:t>
            </a:r>
            <a:r>
              <a:rPr lang="es-ES_tradnl" dirty="0"/>
              <a:t> </a:t>
            </a:r>
          </a:p>
          <a:p>
            <a:endParaRPr lang="es-ES_trad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E043C-37F6-868F-5498-938575A0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391C7-5B08-DFD1-9062-217C611E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3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ED9A3FB0-FD32-5B44-BD44-C4C4FEEA5536}"/>
              </a:ext>
            </a:extLst>
          </p:cNvPr>
          <p:cNvSpPr txBox="1"/>
          <p:nvPr/>
        </p:nvSpPr>
        <p:spPr>
          <a:xfrm>
            <a:off x="71850" y="2828835"/>
            <a:ext cx="27142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Gill Sans MT" panose="020B0502020104020203" pitchFamily="34" charset="77"/>
                <a:cs typeface="Trebuchet MS"/>
              </a:rPr>
              <a:t>Güiñas</a:t>
            </a:r>
            <a:r>
              <a:rPr lang="en-US" sz="3600" dirty="0">
                <a:latin typeface="Gill Sans MT" panose="020B0502020104020203" pitchFamily="34" charset="77"/>
                <a:cs typeface="Trebuchet MS"/>
              </a:rPr>
              <a:t> </a:t>
            </a:r>
          </a:p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Segmentation</a:t>
            </a:r>
            <a:endParaRPr lang="en-US" sz="28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5F3D04-D683-7642-8144-06A2DF7F832F}"/>
              </a:ext>
            </a:extLst>
          </p:cNvPr>
          <p:cNvSpPr txBox="1"/>
          <p:nvPr/>
        </p:nvSpPr>
        <p:spPr>
          <a:xfrm>
            <a:off x="71850" y="151252"/>
            <a:ext cx="39292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Segmentation</a:t>
            </a:r>
          </a:p>
          <a:p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5" name="Picture 2" descr="Conoce a la güiña, un 'gato misterioso' en peligro de extinción | National  Geographic">
            <a:extLst>
              <a:ext uri="{FF2B5EF4-FFF2-40B4-BE49-F238E27FC236}">
                <a16:creationId xmlns:a16="http://schemas.microsoft.com/office/drawing/2014/main" id="{C86781F7-1FB9-0E49-AE1F-6F2AD675A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50" y="4297919"/>
            <a:ext cx="3612128" cy="240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1D97AE-41FE-5348-917D-36CC18CBE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130" y="0"/>
            <a:ext cx="4717007" cy="6858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1C80D0-C28E-A146-A8A9-1A731764C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841" y="0"/>
            <a:ext cx="4704159" cy="685800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CE4888-84A8-3147-B516-D845DAF1C722}"/>
              </a:ext>
            </a:extLst>
          </p:cNvPr>
          <p:cNvSpPr txBox="1"/>
          <p:nvPr/>
        </p:nvSpPr>
        <p:spPr>
          <a:xfrm>
            <a:off x="4535322" y="289751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Trap Camera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46029-93D6-7049-A6D1-60D31664D20B}"/>
              </a:ext>
            </a:extLst>
          </p:cNvPr>
          <p:cNvSpPr txBox="1"/>
          <p:nvPr/>
        </p:nvSpPr>
        <p:spPr>
          <a:xfrm>
            <a:off x="9960812" y="289750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Segmentation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8266C6-EBF6-FA7E-AE0A-A811FA16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A5F98-05CA-4294-7500-0E8212A6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7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ED9A3FB0-FD32-5B44-BD44-C4C4FEEA5536}"/>
              </a:ext>
            </a:extLst>
          </p:cNvPr>
          <p:cNvSpPr txBox="1"/>
          <p:nvPr/>
        </p:nvSpPr>
        <p:spPr>
          <a:xfrm>
            <a:off x="71850" y="2828835"/>
            <a:ext cx="27142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Skin Lesion </a:t>
            </a:r>
          </a:p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Segmentation</a:t>
            </a:r>
            <a:endParaRPr lang="en-US" sz="28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5F3D04-D683-7642-8144-06A2DF7F832F}"/>
              </a:ext>
            </a:extLst>
          </p:cNvPr>
          <p:cNvSpPr txBox="1"/>
          <p:nvPr/>
        </p:nvSpPr>
        <p:spPr>
          <a:xfrm>
            <a:off x="71850" y="151252"/>
            <a:ext cx="39292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Segmentation</a:t>
            </a:r>
          </a:p>
          <a:p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80D7E-6636-D54C-8F1C-D21F2B8C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706" y="0"/>
            <a:ext cx="806196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4EFAF-2929-7679-B6C9-6C5675EE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7C4472-E79E-1BFF-DC5F-3D313396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01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ED9A3FB0-FD32-5B44-BD44-C4C4FEEA5536}"/>
              </a:ext>
            </a:extLst>
          </p:cNvPr>
          <p:cNvSpPr txBox="1"/>
          <p:nvPr/>
        </p:nvSpPr>
        <p:spPr>
          <a:xfrm>
            <a:off x="71850" y="2828835"/>
            <a:ext cx="27142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Breast Tumor</a:t>
            </a:r>
          </a:p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Segmentation</a:t>
            </a:r>
            <a:endParaRPr lang="en-US" sz="28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5F3D04-D683-7642-8144-06A2DF7F832F}"/>
              </a:ext>
            </a:extLst>
          </p:cNvPr>
          <p:cNvSpPr txBox="1"/>
          <p:nvPr/>
        </p:nvSpPr>
        <p:spPr>
          <a:xfrm>
            <a:off x="71850" y="151252"/>
            <a:ext cx="39292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Segmentation</a:t>
            </a:r>
          </a:p>
          <a:p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80D7E-6636-D54C-8F1C-D21F2B8C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920706" y="0"/>
            <a:ext cx="8061960" cy="6858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99A79-8BE2-4F14-2A4D-606D53CB3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3735F0-4CA2-7599-D942-2A2249BF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81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>
            <a:extLst>
              <a:ext uri="{FF2B5EF4-FFF2-40B4-BE49-F238E27FC236}">
                <a16:creationId xmlns:a16="http://schemas.microsoft.com/office/drawing/2014/main" id="{ED9A3FB0-FD32-5B44-BD44-C4C4FEEA5536}"/>
              </a:ext>
            </a:extLst>
          </p:cNvPr>
          <p:cNvSpPr txBox="1"/>
          <p:nvPr/>
        </p:nvSpPr>
        <p:spPr>
          <a:xfrm>
            <a:off x="71850" y="2828835"/>
            <a:ext cx="3838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  <a:cs typeface="Trebuchet MS"/>
              </a:rPr>
              <a:t>MRI reconstruction</a:t>
            </a:r>
            <a:endParaRPr lang="en-US" sz="2800" dirty="0">
              <a:solidFill>
                <a:srgbClr val="0096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8F820-3C0E-3046-923E-AD7C766E000B}"/>
              </a:ext>
            </a:extLst>
          </p:cNvPr>
          <p:cNvSpPr txBox="1"/>
          <p:nvPr/>
        </p:nvSpPr>
        <p:spPr>
          <a:xfrm>
            <a:off x="71850" y="151252"/>
            <a:ext cx="32608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Image Denoising</a:t>
            </a:r>
          </a:p>
          <a:p>
            <a:r>
              <a:rPr lang="en-US" sz="3600" dirty="0">
                <a:solidFill>
                  <a:srgbClr val="0041A1"/>
                </a:solidFill>
                <a:latin typeface="Gill Sans MT" panose="020B0502020104020203" pitchFamily="34" charset="77"/>
              </a:rPr>
              <a:t>Example</a:t>
            </a:r>
            <a:r>
              <a:rPr lang="en-US" sz="3600" dirty="0">
                <a:solidFill>
                  <a:schemeClr val="accent2"/>
                </a:solidFill>
                <a:latin typeface="Gill Sans MT" panose="020B0502020104020203" pitchFamily="34" charset="77"/>
              </a:rPr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87BD25-0DE9-8E45-B3C1-5D132069E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2384" y="1701799"/>
            <a:ext cx="6908800" cy="345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30AFF9-409F-3445-9EFB-1BEB3E895F58}"/>
              </a:ext>
            </a:extLst>
          </p:cNvPr>
          <p:cNvSpPr txBox="1"/>
          <p:nvPr/>
        </p:nvSpPr>
        <p:spPr>
          <a:xfrm>
            <a:off x="71850" y="5718125"/>
            <a:ext cx="1092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Han, </a:t>
            </a:r>
            <a:r>
              <a:rPr lang="en-AU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Yoseob</a:t>
            </a:r>
            <a:r>
              <a:rPr lang="en-A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, and Jong </a:t>
            </a:r>
            <a:r>
              <a:rPr lang="en-AU" sz="1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Chul</a:t>
            </a:r>
            <a:r>
              <a:rPr lang="en-A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 Ye. "Framing U-Net via deep convolutional framelets: Application to sparse-view CT." </a:t>
            </a:r>
            <a:r>
              <a:rPr lang="en-AU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IEEE transactions on medical imaging</a:t>
            </a:r>
            <a:r>
              <a:rPr lang="en-A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 37.6 (2018): 1418-1429.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7EE5A2-2B62-B947-8BBD-8F12FF412808}"/>
              </a:ext>
            </a:extLst>
          </p:cNvPr>
          <p:cNvSpPr txBox="1"/>
          <p:nvPr/>
        </p:nvSpPr>
        <p:spPr>
          <a:xfrm>
            <a:off x="5797296" y="1351581"/>
            <a:ext cx="411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Input                                           Output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42408C-680D-C2B0-2172-1695E73D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2DBC32-7D16-5BF0-33A3-8522F228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6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F30E99-9871-714D-AA66-16FE765B2F71}"/>
              </a:ext>
            </a:extLst>
          </p:cNvPr>
          <p:cNvSpPr txBox="1"/>
          <p:nvPr/>
        </p:nvSpPr>
        <p:spPr>
          <a:xfrm>
            <a:off x="963706" y="954742"/>
            <a:ext cx="83531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dirty="0" err="1"/>
              <a:t>Automated</a:t>
            </a:r>
            <a:r>
              <a:rPr lang="es-ES_tradnl" sz="4400" dirty="0"/>
              <a:t> </a:t>
            </a:r>
            <a:r>
              <a:rPr lang="es-ES_tradnl" sz="4400" dirty="0" err="1"/>
              <a:t>Design</a:t>
            </a:r>
            <a:r>
              <a:rPr lang="es-ES_tradnl" sz="4400" dirty="0"/>
              <a:t> of </a:t>
            </a:r>
            <a:r>
              <a:rPr lang="es-ES_tradnl" sz="4400" dirty="0" err="1"/>
              <a:t>Unet</a:t>
            </a:r>
            <a:r>
              <a:rPr lang="es-ES_tradnl" sz="4400" dirty="0"/>
              <a:t>: </a:t>
            </a:r>
            <a:r>
              <a:rPr lang="es-ES_tradnl" sz="4400" dirty="0" err="1"/>
              <a:t>nnUNet</a:t>
            </a:r>
            <a:endParaRPr lang="es-ES_tradnl" sz="4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AF1012-9D9A-EC4D-8B3E-45D7E973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60155"/>
            <a:ext cx="12192000" cy="338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EFB74A-AD5F-9A44-820B-045EDA1630B6}"/>
              </a:ext>
            </a:extLst>
          </p:cNvPr>
          <p:cNvSpPr/>
          <p:nvPr/>
        </p:nvSpPr>
        <p:spPr>
          <a:xfrm>
            <a:off x="0" y="5885663"/>
            <a:ext cx="128015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1155CC"/>
                </a:solidFill>
                <a:latin typeface="Gill Sans MT" panose="020B0502020104020203" pitchFamily="34" charset="77"/>
                <a:hlinkClick r:id="rId3"/>
              </a:rPr>
              <a:t>https://youtu.be/fc2nGJC3mUY</a:t>
            </a:r>
            <a:br>
              <a:rPr lang="en-AU" dirty="0"/>
            </a:br>
            <a:r>
              <a:rPr lang="en-AU" dirty="0">
                <a:solidFill>
                  <a:srgbClr val="1155CC"/>
                </a:solidFill>
                <a:latin typeface="Gill Sans MT" panose="020B0502020104020203" pitchFamily="34" charset="77"/>
                <a:hlinkClick r:id="rId4"/>
              </a:rPr>
              <a:t>https://medium.com/miccai-educational-initiative/nnu-net-the-no-new-unet-for-automatic-segmentation-8d655f3f6d2a</a:t>
            </a:r>
            <a:br>
              <a:rPr lang="en-AU" dirty="0"/>
            </a:br>
            <a:r>
              <a:rPr lang="en-AU" dirty="0">
                <a:solidFill>
                  <a:srgbClr val="1155CC"/>
                </a:solidFill>
                <a:latin typeface="Gill Sans MT" panose="020B0502020104020203" pitchFamily="34" charset="77"/>
                <a:hlinkClick r:id="rId5"/>
              </a:rPr>
              <a:t>https://github.com/MIC-DKFZ/nnUNet</a:t>
            </a:r>
            <a:endParaRPr lang="es-ES_trad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54DB1-8EBE-574D-B19C-402FC6EDDAAA}"/>
              </a:ext>
            </a:extLst>
          </p:cNvPr>
          <p:cNvSpPr txBox="1"/>
          <p:nvPr/>
        </p:nvSpPr>
        <p:spPr>
          <a:xfrm>
            <a:off x="-13446" y="5553635"/>
            <a:ext cx="1279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 err="1"/>
              <a:t>References</a:t>
            </a:r>
            <a:r>
              <a:rPr lang="es-ES_tradnl" dirty="0"/>
              <a:t>: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5C524-EB7B-D94E-FA9F-6805D7AA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96707-37E0-E930-CD22-97E3AF51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015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9737D9-F272-974B-A9BB-399323994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936"/>
            <a:ext cx="12192000" cy="63741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36CE39-5FA7-03C8-FF15-A1F6FF7D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8DB9E5-866E-1208-41F8-46283542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52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EF98B5-9442-A740-92A6-DD4646A6020C}"/>
              </a:ext>
            </a:extLst>
          </p:cNvPr>
          <p:cNvSpPr/>
          <p:nvPr/>
        </p:nvSpPr>
        <p:spPr>
          <a:xfrm>
            <a:off x="963706" y="260159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n-AU" dirty="0"/>
            </a:br>
            <a:r>
              <a:rPr lang="en-AU" dirty="0" err="1">
                <a:solidFill>
                  <a:srgbClr val="222222"/>
                </a:solidFill>
                <a:latin typeface="Gill Sans MT" panose="020B0502020104020203" pitchFamily="34" charset="77"/>
              </a:rPr>
              <a:t>nnUNet</a:t>
            </a:r>
            <a:r>
              <a:rPr lang="en-AU" dirty="0">
                <a:solidFill>
                  <a:srgbClr val="222222"/>
                </a:solidFill>
                <a:latin typeface="Gill Sans MT" panose="020B0502020104020203" pitchFamily="34" charset="77"/>
              </a:rPr>
              <a:t>: </a:t>
            </a:r>
            <a:r>
              <a:rPr lang="en-AU" dirty="0" err="1">
                <a:solidFill>
                  <a:srgbClr val="222222"/>
                </a:solidFill>
                <a:latin typeface="Gill Sans MT" panose="020B0502020104020203" pitchFamily="34" charset="77"/>
              </a:rPr>
              <a:t>configuracion</a:t>
            </a:r>
            <a:r>
              <a:rPr lang="en-AU" dirty="0">
                <a:solidFill>
                  <a:srgbClr val="222222"/>
                </a:solidFill>
                <a:latin typeface="Gill Sans MT" panose="020B0502020104020203" pitchFamily="34" charset="77"/>
              </a:rPr>
              <a:t> </a:t>
            </a:r>
            <a:r>
              <a:rPr lang="en-AU" dirty="0" err="1">
                <a:solidFill>
                  <a:srgbClr val="222222"/>
                </a:solidFill>
                <a:latin typeface="Gill Sans MT" panose="020B0502020104020203" pitchFamily="34" charset="77"/>
              </a:rPr>
              <a:t>automatica</a:t>
            </a:r>
            <a:r>
              <a:rPr lang="en-AU" dirty="0">
                <a:solidFill>
                  <a:srgbClr val="222222"/>
                </a:solidFill>
                <a:latin typeface="Gill Sans MT" panose="020B0502020104020203" pitchFamily="34" charset="77"/>
              </a:rPr>
              <a:t> de </a:t>
            </a:r>
            <a:r>
              <a:rPr lang="en-AU" dirty="0" err="1">
                <a:solidFill>
                  <a:srgbClr val="222222"/>
                </a:solidFill>
                <a:latin typeface="Gill Sans MT" panose="020B0502020104020203" pitchFamily="34" charset="77"/>
              </a:rPr>
              <a:t>UNet</a:t>
            </a:r>
            <a:br>
              <a:rPr lang="en-AU" dirty="0"/>
            </a:br>
            <a:r>
              <a:rPr lang="en-AU" dirty="0">
                <a:solidFill>
                  <a:srgbClr val="222222"/>
                </a:solidFill>
                <a:latin typeface="Gill Sans MT" panose="020B0502020104020203" pitchFamily="34" charset="77"/>
              </a:rPr>
              <a:t>video: </a:t>
            </a:r>
            <a:r>
              <a:rPr lang="en-AU" dirty="0">
                <a:solidFill>
                  <a:srgbClr val="1155CC"/>
                </a:solidFill>
                <a:latin typeface="Gill Sans MT" panose="020B0502020104020203" pitchFamily="34" charset="77"/>
                <a:hlinkClick r:id="rId2"/>
              </a:rPr>
              <a:t>https://youtu.be/fc2nGJC3mUY</a:t>
            </a:r>
            <a:br>
              <a:rPr lang="en-AU" dirty="0"/>
            </a:br>
            <a:r>
              <a:rPr lang="en-AU" dirty="0" err="1">
                <a:solidFill>
                  <a:srgbClr val="222222"/>
                </a:solidFill>
                <a:latin typeface="Gill Sans MT" panose="020B0502020104020203" pitchFamily="34" charset="77"/>
              </a:rPr>
              <a:t>explicacion</a:t>
            </a:r>
            <a:r>
              <a:rPr lang="en-AU" dirty="0">
                <a:solidFill>
                  <a:srgbClr val="222222"/>
                </a:solidFill>
                <a:latin typeface="Gill Sans MT" panose="020B0502020104020203" pitchFamily="34" charset="77"/>
              </a:rPr>
              <a:t>: </a:t>
            </a:r>
            <a:r>
              <a:rPr lang="en-AU" dirty="0">
                <a:solidFill>
                  <a:srgbClr val="1155CC"/>
                </a:solidFill>
                <a:latin typeface="Gill Sans MT" panose="020B0502020104020203" pitchFamily="34" charset="77"/>
                <a:hlinkClick r:id="rId3"/>
              </a:rPr>
              <a:t>https://medium.com/miccai-educational-initiative/nnu-net-the-no-new-unet-for-automatic-segmentation-8d655f3f6d2a</a:t>
            </a:r>
            <a:br>
              <a:rPr lang="en-AU" dirty="0"/>
            </a:br>
            <a:r>
              <a:rPr lang="en-AU" dirty="0" err="1">
                <a:solidFill>
                  <a:srgbClr val="222222"/>
                </a:solidFill>
                <a:latin typeface="Gill Sans MT" panose="020B0502020104020203" pitchFamily="34" charset="77"/>
              </a:rPr>
              <a:t>github</a:t>
            </a:r>
            <a:r>
              <a:rPr lang="en-AU" dirty="0">
                <a:solidFill>
                  <a:srgbClr val="222222"/>
                </a:solidFill>
                <a:latin typeface="Gill Sans MT" panose="020B0502020104020203" pitchFamily="34" charset="77"/>
              </a:rPr>
              <a:t>: </a:t>
            </a:r>
            <a:r>
              <a:rPr lang="en-AU" dirty="0">
                <a:solidFill>
                  <a:srgbClr val="1155CC"/>
                </a:solidFill>
                <a:latin typeface="Gill Sans MT" panose="020B0502020104020203" pitchFamily="34" charset="77"/>
                <a:hlinkClick r:id="rId4"/>
              </a:rPr>
              <a:t>https://github.com/MIC-DKFZ/nnUNet</a:t>
            </a:r>
            <a:endParaRPr lang="es-ES_trad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4CF1BC-C1B3-D348-8F6F-7E48E9598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6914"/>
            <a:ext cx="12192000" cy="584417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64ACC-8A7B-0ABD-587D-827B16672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CV03E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A3F475-EE81-99D4-0266-D501849D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B8209-5138-1B4E-A98D-88D629BB22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24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8782</TotalTime>
  <Words>350</Words>
  <Application>Microsoft Macintosh PowerPoint</Application>
  <PresentationFormat>Widescreen</PresentationFormat>
  <Paragraphs>86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Domingo Mery</dc:creator>
  <cp:lastModifiedBy>Domingo Mery</cp:lastModifiedBy>
  <cp:revision>162</cp:revision>
  <dcterms:created xsi:type="dcterms:W3CDTF">2021-07-17T22:29:06Z</dcterms:created>
  <dcterms:modified xsi:type="dcterms:W3CDTF">2026-10-23T18:38:17Z</dcterms:modified>
</cp:coreProperties>
</file>