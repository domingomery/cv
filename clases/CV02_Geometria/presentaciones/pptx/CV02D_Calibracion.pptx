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7" r:id="rId2"/>
    <p:sldId id="729" r:id="rId3"/>
    <p:sldId id="702" r:id="rId4"/>
    <p:sldId id="730" r:id="rId5"/>
    <p:sldId id="731" r:id="rId6"/>
    <p:sldId id="716" r:id="rId7"/>
    <p:sldId id="724" r:id="rId8"/>
    <p:sldId id="723" r:id="rId9"/>
    <p:sldId id="725" r:id="rId10"/>
    <p:sldId id="713" r:id="rId11"/>
    <p:sldId id="726" r:id="rId12"/>
    <p:sldId id="715" r:id="rId13"/>
    <p:sldId id="717" r:id="rId14"/>
    <p:sldId id="718" r:id="rId15"/>
    <p:sldId id="719" r:id="rId16"/>
    <p:sldId id="720" r:id="rId17"/>
    <p:sldId id="721" r:id="rId18"/>
    <p:sldId id="727" r:id="rId19"/>
    <p:sldId id="728" r:id="rId20"/>
    <p:sldId id="732" r:id="rId21"/>
    <p:sldId id="703" r:id="rId22"/>
    <p:sldId id="704" r:id="rId23"/>
    <p:sldId id="705" r:id="rId24"/>
    <p:sldId id="706" r:id="rId25"/>
    <p:sldId id="707" r:id="rId26"/>
    <p:sldId id="708" r:id="rId27"/>
    <p:sldId id="709" r:id="rId28"/>
    <p:sldId id="711" r:id="rId29"/>
    <p:sldId id="712" r:id="rId30"/>
    <p:sldId id="733" r:id="rId31"/>
    <p:sldId id="483" r:id="rId32"/>
    <p:sldId id="474" r:id="rId33"/>
    <p:sldId id="469" r:id="rId34"/>
    <p:sldId id="470" r:id="rId35"/>
    <p:sldId id="491" r:id="rId36"/>
    <p:sldId id="471" r:id="rId37"/>
    <p:sldId id="472" r:id="rId38"/>
    <p:sldId id="482" r:id="rId39"/>
    <p:sldId id="484" r:id="rId40"/>
    <p:sldId id="485" r:id="rId41"/>
    <p:sldId id="444" r:id="rId42"/>
    <p:sldId id="445" r:id="rId43"/>
    <p:sldId id="461" r:id="rId44"/>
    <p:sldId id="486" r:id="rId45"/>
    <p:sldId id="462" r:id="rId46"/>
    <p:sldId id="465" r:id="rId47"/>
    <p:sldId id="492" r:id="rId48"/>
    <p:sldId id="494" r:id="rId49"/>
    <p:sldId id="493" r:id="rId50"/>
    <p:sldId id="463" r:id="rId51"/>
    <p:sldId id="487" r:id="rId52"/>
    <p:sldId id="466" r:id="rId53"/>
    <p:sldId id="467" r:id="rId54"/>
    <p:sldId id="468" r:id="rId55"/>
    <p:sldId id="488" r:id="rId56"/>
    <p:sldId id="475" r:id="rId57"/>
    <p:sldId id="477" r:id="rId58"/>
    <p:sldId id="476" r:id="rId59"/>
    <p:sldId id="478" r:id="rId60"/>
    <p:sldId id="479" r:id="rId61"/>
    <p:sldId id="481" r:id="rId62"/>
    <p:sldId id="480" r:id="rId63"/>
    <p:sldId id="490" r:id="rId64"/>
    <p:sldId id="489" r:id="rId6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16-08-26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4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77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68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5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36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45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44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21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41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5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27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392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46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06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41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42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43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0990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45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514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46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439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50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5194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52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0602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53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3844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54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963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CV02D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5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40.png"/><Relationship Id="rId7" Type="http://schemas.openxmlformats.org/officeDocument/2006/relationships/image" Target="../media/image4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21.png"/><Relationship Id="rId9" Type="http://schemas.openxmlformats.org/officeDocument/2006/relationships/image" Target="../media/image4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emf"/><Relationship Id="rId4" Type="http://schemas.openxmlformats.org/officeDocument/2006/relationships/image" Target="../media/image13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60.emf"/><Relationship Id="rId7" Type="http://schemas.openxmlformats.org/officeDocument/2006/relationships/image" Target="../media/image64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10" Type="http://schemas.openxmlformats.org/officeDocument/2006/relationships/image" Target="../media/image67.emf"/><Relationship Id="rId4" Type="http://schemas.openxmlformats.org/officeDocument/2006/relationships/image" Target="../media/image61.emf"/><Relationship Id="rId9" Type="http://schemas.openxmlformats.org/officeDocument/2006/relationships/image" Target="../media/image6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emf"/><Relationship Id="rId7" Type="http://schemas.openxmlformats.org/officeDocument/2006/relationships/image" Target="../media/image75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60.emf"/><Relationship Id="rId7" Type="http://schemas.openxmlformats.org/officeDocument/2006/relationships/image" Target="../media/image64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emf"/><Relationship Id="rId11" Type="http://schemas.openxmlformats.org/officeDocument/2006/relationships/image" Target="../media/image81.emf"/><Relationship Id="rId5" Type="http://schemas.openxmlformats.org/officeDocument/2006/relationships/image" Target="../media/image62.emf"/><Relationship Id="rId10" Type="http://schemas.openxmlformats.org/officeDocument/2006/relationships/image" Target="../media/image67.emf"/><Relationship Id="rId4" Type="http://schemas.openxmlformats.org/officeDocument/2006/relationships/image" Target="../media/image61.emf"/><Relationship Id="rId9" Type="http://schemas.openxmlformats.org/officeDocument/2006/relationships/image" Target="../media/image66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emf"/><Relationship Id="rId5" Type="http://schemas.openxmlformats.org/officeDocument/2006/relationships/image" Target="../media/image84.emf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7.emf"/><Relationship Id="rId4" Type="http://schemas.openxmlformats.org/officeDocument/2006/relationships/image" Target="../media/image8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.emf"/><Relationship Id="rId7" Type="http://schemas.openxmlformats.org/officeDocument/2006/relationships/image" Target="../media/image9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92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5.png"/><Relationship Id="rId4" Type="http://schemas.openxmlformats.org/officeDocument/2006/relationships/image" Target="../media/image7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60.emf"/><Relationship Id="rId7" Type="http://schemas.openxmlformats.org/officeDocument/2006/relationships/image" Target="../media/image64.emf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emf"/><Relationship Id="rId11" Type="http://schemas.openxmlformats.org/officeDocument/2006/relationships/image" Target="../media/image81.emf"/><Relationship Id="rId5" Type="http://schemas.openxmlformats.org/officeDocument/2006/relationships/image" Target="../media/image62.emf"/><Relationship Id="rId10" Type="http://schemas.openxmlformats.org/officeDocument/2006/relationships/image" Target="../media/image67.emf"/><Relationship Id="rId4" Type="http://schemas.openxmlformats.org/officeDocument/2006/relationships/image" Target="../media/image61.emf"/><Relationship Id="rId9" Type="http://schemas.openxmlformats.org/officeDocument/2006/relationships/image" Target="../media/image66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277992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Calibración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2 – CV02D)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B3B91-0EB9-DFC1-80EF-5861484F7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302" y="2680961"/>
            <a:ext cx="48768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1">
            <a:extLst>
              <a:ext uri="{FF2B5EF4-FFF2-40B4-BE49-F238E27FC236}">
                <a16:creationId xmlns:a16="http://schemas.microsoft.com/office/drawing/2014/main" id="{DA349938-FAA0-2B47-BC1E-46D6724F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54" y="2967336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40311-E3DA-17D4-4834-233E5443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B11ED-0C7D-DF92-C670-5C4661A4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801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Freeform 11"/>
          <p:cNvSpPr>
            <a:spLocks/>
          </p:cNvSpPr>
          <p:nvPr/>
        </p:nvSpPr>
        <p:spPr bwMode="auto">
          <a:xfrm>
            <a:off x="6461125" y="2098676"/>
            <a:ext cx="1284288" cy="1801813"/>
          </a:xfrm>
          <a:custGeom>
            <a:avLst/>
            <a:gdLst>
              <a:gd name="T0" fmla="*/ 0 w 809"/>
              <a:gd name="T1" fmla="*/ 0 h 1135"/>
              <a:gd name="T2" fmla="*/ 809 w 809"/>
              <a:gd name="T3" fmla="*/ 276 h 1135"/>
              <a:gd name="T4" fmla="*/ 809 w 809"/>
              <a:gd name="T5" fmla="*/ 1135 h 1135"/>
              <a:gd name="T6" fmla="*/ 0 w 809"/>
              <a:gd name="T7" fmla="*/ 843 h 1135"/>
              <a:gd name="T8" fmla="*/ 0 w 809"/>
              <a:gd name="T9" fmla="*/ 0 h 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135"/>
              <a:gd name="T17" fmla="*/ 809 w 809"/>
              <a:gd name="T18" fmla="*/ 1135 h 1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135">
                <a:moveTo>
                  <a:pt x="0" y="0"/>
                </a:moveTo>
                <a:lnTo>
                  <a:pt x="809" y="276"/>
                </a:lnTo>
                <a:lnTo>
                  <a:pt x="809" y="1135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508501" y="2695106"/>
            <a:ext cx="2379477" cy="1869096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831975" y="654603"/>
            <a:ext cx="83663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Calibration: Estimation of the parameters of the projection model</a:t>
            </a:r>
          </a:p>
        </p:txBody>
      </p:sp>
      <p:sp>
        <p:nvSpPr>
          <p:cNvPr id="3086" name="Oval 23"/>
          <p:cNvSpPr>
            <a:spLocks noChangeArrowheads="1"/>
          </p:cNvSpPr>
          <p:nvPr/>
        </p:nvSpPr>
        <p:spPr bwMode="auto">
          <a:xfrm>
            <a:off x="4433888" y="4541838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7" name="Oval 24"/>
          <p:cNvSpPr>
            <a:spLocks noChangeArrowheads="1"/>
          </p:cNvSpPr>
          <p:nvPr/>
        </p:nvSpPr>
        <p:spPr bwMode="auto">
          <a:xfrm>
            <a:off x="6877051" y="2646363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2" name="Text Box 29"/>
          <p:cNvSpPr txBox="1">
            <a:spLocks noChangeArrowheads="1"/>
          </p:cNvSpPr>
          <p:nvPr/>
        </p:nvSpPr>
        <p:spPr bwMode="auto">
          <a:xfrm>
            <a:off x="6807200" y="235743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5792789" y="3184525"/>
            <a:ext cx="344487" cy="319088"/>
            <a:chOff x="2689" y="2006"/>
            <a:chExt cx="217" cy="201"/>
          </a:xfrm>
        </p:grpSpPr>
        <p:sp>
          <p:nvSpPr>
            <p:cNvPr id="3114" name="Oval 31"/>
            <p:cNvSpPr>
              <a:spLocks noChangeArrowheads="1"/>
            </p:cNvSpPr>
            <p:nvPr/>
          </p:nvSpPr>
          <p:spPr bwMode="auto">
            <a:xfrm>
              <a:off x="2734" y="2160"/>
              <a:ext cx="47" cy="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5" name="Text Box 32"/>
            <p:cNvSpPr txBox="1">
              <a:spLocks noChangeArrowheads="1"/>
            </p:cNvSpPr>
            <p:nvPr/>
          </p:nvSpPr>
          <p:spPr bwMode="auto">
            <a:xfrm>
              <a:off x="2689" y="2006"/>
              <a:ext cx="21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noProof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M</a:t>
              </a:r>
              <a:endParaRPr lang="en-US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4" name="Text Box 33"/>
          <p:cNvSpPr txBox="1">
            <a:spLocks noChangeArrowheads="1"/>
          </p:cNvSpPr>
          <p:nvPr/>
        </p:nvSpPr>
        <p:spPr bwMode="auto">
          <a:xfrm>
            <a:off x="4270375" y="4246564"/>
            <a:ext cx="344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endParaRPr lang="en-US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7C499-46DF-284A-84A7-031FA123E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119" y="5068479"/>
            <a:ext cx="4449539" cy="13600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3818E61-F34A-1C43-ACA3-00265ABB1AA9}"/>
              </a:ext>
            </a:extLst>
          </p:cNvPr>
          <p:cNvGrpSpPr/>
          <p:nvPr/>
        </p:nvGrpSpPr>
        <p:grpSpPr>
          <a:xfrm>
            <a:off x="8382001" y="5184588"/>
            <a:ext cx="2211294" cy="1210236"/>
            <a:chOff x="6858001" y="5184588"/>
            <a:chExt cx="2211294" cy="1210236"/>
          </a:xfrm>
        </p:grpSpPr>
        <p:sp>
          <p:nvSpPr>
            <p:cNvPr id="10" name="Rectangle 9"/>
            <p:cNvSpPr/>
            <p:nvPr/>
          </p:nvSpPr>
          <p:spPr>
            <a:xfrm>
              <a:off x="6858001" y="5184588"/>
              <a:ext cx="2211294" cy="12102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07BE05-BDFD-A748-8DE2-0FD686B2A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6791" y="5620522"/>
              <a:ext cx="1653714" cy="25593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DB4C21-26BB-D846-80FB-7F04CD1AFC0C}"/>
              </a:ext>
            </a:extLst>
          </p:cNvPr>
          <p:cNvGrpSpPr/>
          <p:nvPr/>
        </p:nvGrpSpPr>
        <p:grpSpPr>
          <a:xfrm>
            <a:off x="6394750" y="3070820"/>
            <a:ext cx="380299" cy="566055"/>
            <a:chOff x="4870749" y="3070819"/>
            <a:chExt cx="380299" cy="5660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A7891DC-1813-D64A-9C1F-73B20796E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3900" y="3112840"/>
              <a:ext cx="50800" cy="76200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7366D7A-14C0-1C46-A0E6-811E519CD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687" y="3070819"/>
              <a:ext cx="0" cy="432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95DEDCD-462B-6743-8A6C-0FDA890A9BAF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49" y="3415054"/>
              <a:ext cx="380299" cy="12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CFEB5C6-CE38-4B47-A807-FD049F4C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3690" y="3586074"/>
              <a:ext cx="63500" cy="508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4CBA30-678D-FD4F-A032-89CCE7133A28}"/>
              </a:ext>
            </a:extLst>
          </p:cNvPr>
          <p:cNvGrpSpPr/>
          <p:nvPr/>
        </p:nvGrpSpPr>
        <p:grpSpPr>
          <a:xfrm>
            <a:off x="5400962" y="4107563"/>
            <a:ext cx="1001138" cy="945028"/>
            <a:chOff x="1574892" y="2700149"/>
            <a:chExt cx="1001138" cy="945028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73FAB2B-B107-0A48-A263-8FC79B43D750}"/>
                </a:ext>
              </a:extLst>
            </p:cNvPr>
            <p:cNvCxnSpPr/>
            <p:nvPr/>
          </p:nvCxnSpPr>
          <p:spPr>
            <a:xfrm flipV="1">
              <a:off x="1915623" y="2723145"/>
              <a:ext cx="0" cy="6300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82D1F47-E75B-C046-9B96-E22682CDA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0483" y="3288822"/>
              <a:ext cx="63469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5EA5B68-C2C2-FD43-A6D7-EB4CA54CE9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4395" y="3242526"/>
              <a:ext cx="277565" cy="2996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54EA6FB-84BF-8D48-B278-9B45A62D8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74892" y="3568977"/>
              <a:ext cx="88900" cy="76200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4E79AAB-6172-B24E-9468-922CB7382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87130" y="3250722"/>
              <a:ext cx="88900" cy="7620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C50C83-962F-1F41-8438-FC69747FB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52136" y="2700149"/>
              <a:ext cx="76200" cy="762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E448AD1-E742-5F48-9DF0-B6A7CD0F8026}"/>
              </a:ext>
            </a:extLst>
          </p:cNvPr>
          <p:cNvSpPr txBox="1"/>
          <p:nvPr/>
        </p:nvSpPr>
        <p:spPr>
          <a:xfrm>
            <a:off x="8759457" y="5997140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latin typeface="Consolas" panose="020B0609020204030204" pitchFamily="49" charset="0"/>
                <a:cs typeface="Consolas" panose="020B0609020204030204" pitchFamily="49" charset="0"/>
              </a:rPr>
              <a:t>[3x1]   [3x4][4x1]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E4C062-5891-4D47-AB4F-EC9EAFBBC696}"/>
              </a:ext>
            </a:extLst>
          </p:cNvPr>
          <p:cNvGrpSpPr/>
          <p:nvPr/>
        </p:nvGrpSpPr>
        <p:grpSpPr>
          <a:xfrm>
            <a:off x="3328666" y="1194056"/>
            <a:ext cx="6525950" cy="5234442"/>
            <a:chOff x="1804665" y="1194055"/>
            <a:chExt cx="6525950" cy="52344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8B96CF-DF11-6F4E-B661-6A16D1FD471A}"/>
                </a:ext>
              </a:extLst>
            </p:cNvPr>
            <p:cNvCxnSpPr/>
            <p:nvPr/>
          </p:nvCxnSpPr>
          <p:spPr>
            <a:xfrm>
              <a:off x="4186022" y="1194055"/>
              <a:ext cx="4144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98EBE0-CD31-FB45-B84C-1A1C34D92F37}"/>
                </a:ext>
              </a:extLst>
            </p:cNvPr>
            <p:cNvCxnSpPr>
              <a:cxnSpLocks/>
            </p:cNvCxnSpPr>
            <p:nvPr/>
          </p:nvCxnSpPr>
          <p:spPr>
            <a:xfrm>
              <a:off x="1804665" y="6428497"/>
              <a:ext cx="2610172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E52543-4657-7264-13FA-A0692825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AB2DC-8B62-0055-665E-72C42480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4627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C50D1-22DD-A94A-802E-761F8A393D54}"/>
              </a:ext>
            </a:extLst>
          </p:cNvPr>
          <p:cNvSpPr txBox="1"/>
          <p:nvPr/>
        </p:nvSpPr>
        <p:spPr>
          <a:xfrm>
            <a:off x="2228539" y="2683240"/>
            <a:ext cx="824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INPUT: 		3D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M</a:t>
            </a:r>
            <a:r>
              <a:rPr lang="en-US" baseline="-25000" dirty="0">
                <a:latin typeface="Gill Sans MT" panose="020B0502020104020203" pitchFamily="34" charset="77"/>
              </a:rPr>
              <a:t>n</a:t>
            </a:r>
            <a:endParaRPr lang="en-US" dirty="0">
              <a:latin typeface="Gill Sans MT" panose="020B0502020104020203" pitchFamily="34" charset="77"/>
            </a:endParaRPr>
          </a:p>
          <a:p>
            <a:r>
              <a:rPr lang="en-US" baseline="-25000" dirty="0">
                <a:latin typeface="Gill Sans MT" panose="020B0502020104020203" pitchFamily="34" charset="77"/>
              </a:rPr>
              <a:t>		</a:t>
            </a:r>
            <a:r>
              <a:rPr lang="en-US" dirty="0">
                <a:latin typeface="Gill Sans MT" panose="020B0502020104020203" pitchFamily="34" charset="77"/>
              </a:rPr>
              <a:t>2D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</a:t>
            </a:r>
            <a:r>
              <a:rPr lang="en-US" dirty="0" err="1">
                <a:latin typeface="Gill Sans MT" panose="020B0502020104020203" pitchFamily="34" charset="77"/>
              </a:rPr>
              <a:t>m</a:t>
            </a:r>
            <a:r>
              <a:rPr lang="en-US" baseline="-25000" dirty="0" err="1">
                <a:latin typeface="Gill Sans MT" panose="020B0502020104020203" pitchFamily="34" charset="77"/>
              </a:rPr>
              <a:t>n</a:t>
            </a:r>
            <a:r>
              <a:rPr lang="en-US" baseline="-25000" dirty="0">
                <a:latin typeface="Gill Sans MT" panose="020B0502020104020203" pitchFamily="34" charset="77"/>
              </a:rPr>
              <a:t>	</a:t>
            </a:r>
            <a:r>
              <a:rPr lang="en-US" dirty="0">
                <a:latin typeface="Gill Sans MT" panose="020B0502020104020203" pitchFamily="34" charset="77"/>
              </a:rPr>
              <a:t>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is the projection of 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.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E175B-0172-E54C-9116-A168203CA5AA}"/>
              </a:ext>
            </a:extLst>
          </p:cNvPr>
          <p:cNvSpPr txBox="1"/>
          <p:nvPr/>
        </p:nvSpPr>
        <p:spPr>
          <a:xfrm>
            <a:off x="2228538" y="3692603"/>
            <a:ext cx="118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OUTPUT: 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13F231-69F3-3B4A-A02E-879D7D81715D}"/>
              </a:ext>
            </a:extLst>
          </p:cNvPr>
          <p:cNvSpPr/>
          <p:nvPr/>
        </p:nvSpPr>
        <p:spPr>
          <a:xfrm>
            <a:off x="4028926" y="3692603"/>
            <a:ext cx="2509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Parameters of the Model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0328D-413E-EEB2-24E8-6F3591D9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5B78B-B755-D2FF-D098-8D30D323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354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0D67476-EB63-9345-8BAA-94E009D2563B}"/>
              </a:ext>
            </a:extLst>
          </p:cNvPr>
          <p:cNvSpPr/>
          <p:nvPr/>
        </p:nvSpPr>
        <p:spPr>
          <a:xfrm>
            <a:off x="3929530" y="2608857"/>
            <a:ext cx="3830378" cy="7950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BB644E-AF13-2141-9BF0-8E84F1938A9F}"/>
              </a:ext>
            </a:extLst>
          </p:cNvPr>
          <p:cNvSpPr/>
          <p:nvPr/>
        </p:nvSpPr>
        <p:spPr>
          <a:xfrm>
            <a:off x="3929530" y="3429001"/>
            <a:ext cx="3830378" cy="883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0AF056-8F86-584B-8A93-36F9111F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470" y="5120416"/>
            <a:ext cx="2908300" cy="469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ED9EA5-F041-344F-8586-9FADB9495790}"/>
              </a:ext>
            </a:extLst>
          </p:cNvPr>
          <p:cNvSpPr txBox="1"/>
          <p:nvPr/>
        </p:nvSpPr>
        <p:spPr>
          <a:xfrm>
            <a:off x="2228539" y="2683240"/>
            <a:ext cx="824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INPUT: 		3D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M</a:t>
            </a:r>
            <a:r>
              <a:rPr lang="en-US" baseline="-25000" dirty="0">
                <a:latin typeface="Gill Sans MT" panose="020B0502020104020203" pitchFamily="34" charset="77"/>
              </a:rPr>
              <a:t>n</a:t>
            </a:r>
            <a:endParaRPr lang="en-US" dirty="0">
              <a:latin typeface="Gill Sans MT" panose="020B0502020104020203" pitchFamily="34" charset="77"/>
            </a:endParaRPr>
          </a:p>
          <a:p>
            <a:r>
              <a:rPr lang="en-US" baseline="-25000" dirty="0">
                <a:latin typeface="Gill Sans MT" panose="020B0502020104020203" pitchFamily="34" charset="77"/>
              </a:rPr>
              <a:t>		</a:t>
            </a:r>
            <a:r>
              <a:rPr lang="en-US" dirty="0">
                <a:latin typeface="Gill Sans MT" panose="020B0502020104020203" pitchFamily="34" charset="77"/>
              </a:rPr>
              <a:t>2D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</a:t>
            </a:r>
            <a:r>
              <a:rPr lang="en-US" dirty="0" err="1">
                <a:latin typeface="Gill Sans MT" panose="020B0502020104020203" pitchFamily="34" charset="77"/>
              </a:rPr>
              <a:t>m</a:t>
            </a:r>
            <a:r>
              <a:rPr lang="en-US" baseline="-25000" dirty="0" err="1">
                <a:latin typeface="Gill Sans MT" panose="020B0502020104020203" pitchFamily="34" charset="77"/>
              </a:rPr>
              <a:t>n</a:t>
            </a:r>
            <a:r>
              <a:rPr lang="en-US" baseline="-25000" dirty="0">
                <a:latin typeface="Gill Sans MT" panose="020B0502020104020203" pitchFamily="34" charset="77"/>
              </a:rPr>
              <a:t>	</a:t>
            </a:r>
            <a:r>
              <a:rPr lang="en-US" dirty="0">
                <a:latin typeface="Gill Sans MT" panose="020B0502020104020203" pitchFamily="34" charset="77"/>
              </a:rPr>
              <a:t>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is the projection of 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.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1A70E-38CB-1A47-81D6-F9D9FD69C092}"/>
              </a:ext>
            </a:extLst>
          </p:cNvPr>
          <p:cNvSpPr txBox="1"/>
          <p:nvPr/>
        </p:nvSpPr>
        <p:spPr>
          <a:xfrm>
            <a:off x="2228538" y="3692603"/>
            <a:ext cx="118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OUTPUT: 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0D4257-9C57-7C44-A131-DB518FCFAE10}"/>
              </a:ext>
            </a:extLst>
          </p:cNvPr>
          <p:cNvSpPr txBox="1"/>
          <p:nvPr/>
        </p:nvSpPr>
        <p:spPr>
          <a:xfrm>
            <a:off x="7894821" y="3648272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parameter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DEE3A-39D4-7548-8856-BA1BC476A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330" y="3656666"/>
            <a:ext cx="203200" cy="342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12E348-D3B8-9543-94C0-322A809A1265}"/>
              </a:ext>
            </a:extLst>
          </p:cNvPr>
          <p:cNvSpPr txBox="1"/>
          <p:nvPr/>
        </p:nvSpPr>
        <p:spPr>
          <a:xfrm>
            <a:off x="3929531" y="2166875"/>
            <a:ext cx="159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Measurements: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FC44D8-CE61-B648-B593-EB90E7D14B09}"/>
              </a:ext>
            </a:extLst>
          </p:cNvPr>
          <p:cNvSpPr txBox="1"/>
          <p:nvPr/>
        </p:nvSpPr>
        <p:spPr>
          <a:xfrm>
            <a:off x="6770202" y="517070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26404-DF68-0744-8A05-ACA70F74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762" y="5644962"/>
            <a:ext cx="4118146" cy="10672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287421-0CE9-FE41-9C36-8D1C0B106853}"/>
              </a:ext>
            </a:extLst>
          </p:cNvPr>
          <p:cNvSpPr/>
          <p:nvPr/>
        </p:nvSpPr>
        <p:spPr>
          <a:xfrm>
            <a:off x="4028926" y="3692603"/>
            <a:ext cx="2509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Parameters of the Model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2DA2B-6D74-2E5F-3411-89159BD3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B3604E-E10C-1DAD-85E8-3A86C5DE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6077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1">
            <a:extLst>
              <a:ext uri="{FF2B5EF4-FFF2-40B4-BE49-F238E27FC236}">
                <a16:creationId xmlns:a16="http://schemas.microsoft.com/office/drawing/2014/main" id="{DA349938-FAA0-2B47-BC1E-46D6724F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103" y="2967336"/>
            <a:ext cx="28632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Simple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5F476-222F-51EA-5E11-EDE7E507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A41CF-D03B-93CE-8519-53B238A4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8490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C9C2D-55B9-804E-BF6F-DE2206CA4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9" y="425992"/>
            <a:ext cx="6607435" cy="50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298FF2-0AEA-05A5-7BD2-BFCF0036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68BD-7584-A65B-7EF7-48AC66C5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4282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CBF44B-645B-1745-9AFD-1C33315C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9" y="425992"/>
            <a:ext cx="6607435" cy="50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71">
            <a:extLst>
              <a:ext uri="{FF2B5EF4-FFF2-40B4-BE49-F238E27FC236}">
                <a16:creationId xmlns:a16="http://schemas.microsoft.com/office/drawing/2014/main" id="{04B2E11E-18A2-024D-A65D-1490246A3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003" y="396013"/>
            <a:ext cx="14093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Selection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of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Points</a:t>
            </a: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8F4A7-6C25-E7D7-C608-A574EC0D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2F75-7A37-74D0-0B6B-F74C38B1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2826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CBF44B-645B-1745-9AFD-1C33315C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9" y="425992"/>
            <a:ext cx="6607435" cy="50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CBFD6C-48F0-A74C-9D19-531BA4220AC4}"/>
              </a:ext>
            </a:extLst>
          </p:cNvPr>
          <p:cNvCxnSpPr>
            <a:cxnSpLocks/>
          </p:cNvCxnSpPr>
          <p:nvPr/>
        </p:nvCxnSpPr>
        <p:spPr>
          <a:xfrm flipH="1">
            <a:off x="2693237" y="659575"/>
            <a:ext cx="18217" cy="1139253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1144C-3EC8-174F-B60D-213474B1BA50}"/>
              </a:ext>
            </a:extLst>
          </p:cNvPr>
          <p:cNvCxnSpPr>
            <a:cxnSpLocks/>
          </p:cNvCxnSpPr>
          <p:nvPr/>
        </p:nvCxnSpPr>
        <p:spPr>
          <a:xfrm>
            <a:off x="2711453" y="659574"/>
            <a:ext cx="860166" cy="0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5BE5476-FA99-8247-822E-0CFFD4F98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579" y="1437638"/>
            <a:ext cx="203200" cy="215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C78C08-BAE5-D249-B53D-80A4A9BD7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770" y="317549"/>
            <a:ext cx="241300" cy="2159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17E846-83C1-BB4C-BBD1-87066870B959}"/>
              </a:ext>
            </a:extLst>
          </p:cNvPr>
          <p:cNvSpPr txBox="1"/>
          <p:nvPr/>
        </p:nvSpPr>
        <p:spPr>
          <a:xfrm>
            <a:off x="3474614" y="4370448"/>
            <a:ext cx="1402307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0: (268,1178)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9DF6E8-9D0D-9947-9583-BC191A3B3BF1}"/>
              </a:ext>
            </a:extLst>
          </p:cNvPr>
          <p:cNvSpPr txBox="1"/>
          <p:nvPr/>
        </p:nvSpPr>
        <p:spPr>
          <a:xfrm>
            <a:off x="2721082" y="972295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1: (166,294)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EE2BCB-B4CB-D54E-A8FD-80F7C16065A3}"/>
              </a:ext>
            </a:extLst>
          </p:cNvPr>
          <p:cNvSpPr txBox="1"/>
          <p:nvPr/>
        </p:nvSpPr>
        <p:spPr>
          <a:xfrm>
            <a:off x="4101482" y="1632637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2: (412,328)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CB6007-4576-794A-A53C-F32574697B56}"/>
              </a:ext>
            </a:extLst>
          </p:cNvPr>
          <p:cNvSpPr txBox="1"/>
          <p:nvPr/>
        </p:nvSpPr>
        <p:spPr>
          <a:xfrm>
            <a:off x="4244471" y="3023948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3: (470,940)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979114-8E0F-3147-9DEA-F13A2CB9F432}"/>
              </a:ext>
            </a:extLst>
          </p:cNvPr>
          <p:cNvSpPr txBox="1"/>
          <p:nvPr/>
        </p:nvSpPr>
        <p:spPr>
          <a:xfrm>
            <a:off x="6673125" y="4267080"/>
            <a:ext cx="188876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4: (</a:t>
            </a:r>
            <a:r>
              <a:rPr lang="en-AU" dirty="0">
                <a:latin typeface="Gill Sans MT" panose="020B0502020104020203" pitchFamily="34" charset="77"/>
              </a:rPr>
              <a:t>1654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1118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5D9CBB-672D-F84E-A55C-E20DC22A8730}"/>
              </a:ext>
            </a:extLst>
          </p:cNvPr>
          <p:cNvSpPr txBox="1"/>
          <p:nvPr/>
        </p:nvSpPr>
        <p:spPr>
          <a:xfrm>
            <a:off x="7252158" y="771910"/>
            <a:ext cx="2066730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5: (</a:t>
            </a:r>
            <a:r>
              <a:rPr lang="en-AU" dirty="0">
                <a:latin typeface="Gill Sans MT" panose="020B0502020104020203" pitchFamily="34" charset="77"/>
              </a:rPr>
              <a:t>1704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 246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EA6EF1-F8E6-DB40-9DE5-4B5B9D99117A}"/>
              </a:ext>
            </a:extLst>
          </p:cNvPr>
          <p:cNvSpPr txBox="1"/>
          <p:nvPr/>
        </p:nvSpPr>
        <p:spPr>
          <a:xfrm>
            <a:off x="6262314" y="1781532"/>
            <a:ext cx="2844318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6: (</a:t>
            </a:r>
            <a:r>
              <a:rPr lang="en-AU" dirty="0">
                <a:latin typeface="Gill Sans MT" panose="020B0502020104020203" pitchFamily="34" charset="77"/>
              </a:rPr>
              <a:t>1426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 304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4A67F3-0C85-864E-AF21-AE809C40CE8A}"/>
              </a:ext>
            </a:extLst>
          </p:cNvPr>
          <p:cNvSpPr txBox="1"/>
          <p:nvPr/>
        </p:nvSpPr>
        <p:spPr>
          <a:xfrm>
            <a:off x="6354503" y="2915192"/>
            <a:ext cx="1402307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7: (</a:t>
            </a:r>
            <a:r>
              <a:rPr lang="en-AU" dirty="0">
                <a:latin typeface="Gill Sans MT" panose="020B0502020104020203" pitchFamily="34" charset="77"/>
              </a:rPr>
              <a:t>1420</a:t>
            </a:r>
            <a:r>
              <a:rPr lang="es-ES_tradnl" dirty="0">
                <a:latin typeface="Gill Sans MT" panose="020B0502020104020203" pitchFamily="34" charset="77"/>
              </a:rPr>
              <a:t>,900)</a:t>
            </a:r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09170A0C-EE24-6040-81CD-F3E3DBC3F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004" y="396012"/>
            <a:ext cx="14549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2D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Points</a:t>
            </a: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eaLnBrk="0" hangingPunct="0"/>
            <a:r>
              <a:rPr lang="es-ES" sz="1600" dirty="0">
                <a:solidFill>
                  <a:srgbClr val="000000"/>
                </a:solidFill>
                <a:latin typeface="Gill Sans MT" panose="020B0502020104020203" pitchFamily="34" charset="77"/>
              </a:rPr>
              <a:t>(</a:t>
            </a:r>
            <a:r>
              <a:rPr lang="es-ES" sz="16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measurement</a:t>
            </a:r>
            <a:r>
              <a:rPr lang="es-ES" sz="1600" dirty="0">
                <a:solidFill>
                  <a:srgbClr val="000000"/>
                </a:solidFill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70F0A5-6781-DA42-BC45-2F252F1C5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523" y="1188137"/>
            <a:ext cx="482600" cy="444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9B366-B7C4-F9CB-5CDB-C9E3024C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A5EF5-665B-8CC9-2334-1353DD1E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067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CBF44B-645B-1745-9AFD-1C33315C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9" y="425992"/>
            <a:ext cx="6607435" cy="50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94F392-AF58-2545-81C0-AFE2BA03A308}"/>
              </a:ext>
            </a:extLst>
          </p:cNvPr>
          <p:cNvCxnSpPr>
            <a:cxnSpLocks/>
          </p:cNvCxnSpPr>
          <p:nvPr/>
        </p:nvCxnSpPr>
        <p:spPr>
          <a:xfrm flipH="1" flipV="1">
            <a:off x="3842111" y="170733"/>
            <a:ext cx="320163" cy="338770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BFE1D0-035E-CC44-838B-67D3AB283DEF}"/>
              </a:ext>
            </a:extLst>
          </p:cNvPr>
          <p:cNvCxnSpPr>
            <a:cxnSpLocks/>
          </p:cNvCxnSpPr>
          <p:nvPr/>
        </p:nvCxnSpPr>
        <p:spPr>
          <a:xfrm flipV="1">
            <a:off x="4162273" y="3357804"/>
            <a:ext cx="5021705" cy="2006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E81C52-9F4A-0547-8CF0-8A94D86A03B5}"/>
              </a:ext>
            </a:extLst>
          </p:cNvPr>
          <p:cNvCxnSpPr>
            <a:cxnSpLocks/>
          </p:cNvCxnSpPr>
          <p:nvPr/>
        </p:nvCxnSpPr>
        <p:spPr>
          <a:xfrm flipH="1">
            <a:off x="2273512" y="3558438"/>
            <a:ext cx="1888761" cy="2167812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6707A8A-B272-ED45-BA5C-35C77DFBA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236" y="5726250"/>
            <a:ext cx="508000" cy="368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904FCA-B137-E04D-8572-718C17888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3918" y="3173654"/>
            <a:ext cx="457200" cy="3683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EB2AE0A-9259-A744-9480-B69478129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117" y="5882481"/>
            <a:ext cx="6344450" cy="8835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C702EA7-80B6-F344-8829-776C3F806E42}"/>
              </a:ext>
            </a:extLst>
          </p:cNvPr>
          <p:cNvSpPr txBox="1"/>
          <p:nvPr/>
        </p:nvSpPr>
        <p:spPr>
          <a:xfrm>
            <a:off x="3141536" y="6180304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200" dirty="0">
                <a:latin typeface="Gill Sans MT" panose="020B0502020104020203" pitchFamily="34" charset="77"/>
              </a:rPr>
              <a:t>3D POINTS</a:t>
            </a:r>
          </a:p>
          <a:p>
            <a:pPr algn="ctr"/>
            <a:r>
              <a:rPr lang="es-ES_tradnl" sz="1200" dirty="0">
                <a:latin typeface="Gill Sans MT" panose="020B0502020104020203" pitchFamily="34" charset="77"/>
              </a:rPr>
              <a:t>(in mm)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E0AE89-0E42-A643-8244-F55843672DB3}"/>
              </a:ext>
            </a:extLst>
          </p:cNvPr>
          <p:cNvSpPr txBox="1"/>
          <p:nvPr/>
        </p:nvSpPr>
        <p:spPr>
          <a:xfrm>
            <a:off x="4336831" y="5582116"/>
            <a:ext cx="6426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latin typeface="Gill Sans MT" panose="020B0502020104020203" pitchFamily="34" charset="77"/>
              </a:rPr>
              <a:t>0                   1                2                 3                  4                  5                   6                 7    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87345-AB2A-E64A-B2C3-8E10F65689E8}"/>
              </a:ext>
            </a:extLst>
          </p:cNvPr>
          <p:cNvSpPr txBox="1"/>
          <p:nvPr/>
        </p:nvSpPr>
        <p:spPr>
          <a:xfrm>
            <a:off x="3474613" y="4370448"/>
            <a:ext cx="30008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D0C2BC-28E9-4548-9CE4-3E88F39F603C}"/>
              </a:ext>
            </a:extLst>
          </p:cNvPr>
          <p:cNvSpPr txBox="1"/>
          <p:nvPr/>
        </p:nvSpPr>
        <p:spPr>
          <a:xfrm>
            <a:off x="3031978" y="972295"/>
            <a:ext cx="30008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E52401-9919-6743-AEA5-CF00DE963AFD}"/>
              </a:ext>
            </a:extLst>
          </p:cNvPr>
          <p:cNvSpPr txBox="1"/>
          <p:nvPr/>
        </p:nvSpPr>
        <p:spPr>
          <a:xfrm>
            <a:off x="4101482" y="1632637"/>
            <a:ext cx="30008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FBC008-4553-AB47-B6E4-1B631074E87D}"/>
              </a:ext>
            </a:extLst>
          </p:cNvPr>
          <p:cNvSpPr txBox="1"/>
          <p:nvPr/>
        </p:nvSpPr>
        <p:spPr>
          <a:xfrm>
            <a:off x="4244471" y="3023948"/>
            <a:ext cx="30008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96158B-1596-F54E-B663-287CB76135C9}"/>
              </a:ext>
            </a:extLst>
          </p:cNvPr>
          <p:cNvSpPr txBox="1"/>
          <p:nvPr/>
        </p:nvSpPr>
        <p:spPr>
          <a:xfrm>
            <a:off x="7637590" y="4267081"/>
            <a:ext cx="392140" cy="373279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4BD5D6-8B27-204D-9ADC-4349576CF0DD}"/>
              </a:ext>
            </a:extLst>
          </p:cNvPr>
          <p:cNvSpPr txBox="1"/>
          <p:nvPr/>
        </p:nvSpPr>
        <p:spPr>
          <a:xfrm>
            <a:off x="7910526" y="826774"/>
            <a:ext cx="38543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6F1107-E2B0-0545-8A0B-F371D3E95751}"/>
              </a:ext>
            </a:extLst>
          </p:cNvPr>
          <p:cNvSpPr txBox="1"/>
          <p:nvPr/>
        </p:nvSpPr>
        <p:spPr>
          <a:xfrm>
            <a:off x="6776763" y="1765564"/>
            <a:ext cx="403085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334EB3-E359-6542-937E-A82FC1A03BB4}"/>
              </a:ext>
            </a:extLst>
          </p:cNvPr>
          <p:cNvSpPr txBox="1"/>
          <p:nvPr/>
        </p:nvSpPr>
        <p:spPr>
          <a:xfrm>
            <a:off x="6665399" y="2915192"/>
            <a:ext cx="300082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9" name="Rectangle 71">
            <a:extLst>
              <a:ext uri="{FF2B5EF4-FFF2-40B4-BE49-F238E27FC236}">
                <a16:creationId xmlns:a16="http://schemas.microsoft.com/office/drawing/2014/main" id="{C02A726C-6598-304B-9042-748F2ACDE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004" y="396012"/>
            <a:ext cx="14549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3D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Points</a:t>
            </a: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eaLnBrk="0" hangingPunct="0"/>
            <a:r>
              <a:rPr lang="es-ES" sz="1600" dirty="0">
                <a:solidFill>
                  <a:srgbClr val="000000"/>
                </a:solidFill>
                <a:latin typeface="Gill Sans MT" panose="020B0502020104020203" pitchFamily="34" charset="77"/>
              </a:rPr>
              <a:t>(</a:t>
            </a:r>
            <a:r>
              <a:rPr lang="es-ES" sz="16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measurement</a:t>
            </a:r>
            <a:r>
              <a:rPr lang="es-ES" sz="1600" dirty="0">
                <a:solidFill>
                  <a:srgbClr val="000000"/>
                </a:solidFill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405A97-06D5-3945-8927-DC064B47A8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70" y="1344883"/>
            <a:ext cx="558800" cy="444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7D20DE-9B3D-C04F-8CEF-EB674A6FF9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72" y="1275622"/>
            <a:ext cx="177800" cy="266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38B16-EBE5-FC3E-B367-A4565A4C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159DE-4215-4240-7F27-39EEDC28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854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CBF44B-645B-1745-9AFD-1C33315C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9" y="425992"/>
            <a:ext cx="6607435" cy="50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94F392-AF58-2545-81C0-AFE2BA03A308}"/>
              </a:ext>
            </a:extLst>
          </p:cNvPr>
          <p:cNvCxnSpPr>
            <a:cxnSpLocks/>
          </p:cNvCxnSpPr>
          <p:nvPr/>
        </p:nvCxnSpPr>
        <p:spPr>
          <a:xfrm flipH="1" flipV="1">
            <a:off x="3842111" y="170733"/>
            <a:ext cx="320163" cy="338770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BFE1D0-035E-CC44-838B-67D3AB283DEF}"/>
              </a:ext>
            </a:extLst>
          </p:cNvPr>
          <p:cNvCxnSpPr>
            <a:cxnSpLocks/>
          </p:cNvCxnSpPr>
          <p:nvPr/>
        </p:nvCxnSpPr>
        <p:spPr>
          <a:xfrm flipV="1">
            <a:off x="4162273" y="3357804"/>
            <a:ext cx="5021705" cy="2006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E81C52-9F4A-0547-8CF0-8A94D86A03B5}"/>
              </a:ext>
            </a:extLst>
          </p:cNvPr>
          <p:cNvCxnSpPr>
            <a:cxnSpLocks/>
          </p:cNvCxnSpPr>
          <p:nvPr/>
        </p:nvCxnSpPr>
        <p:spPr>
          <a:xfrm flipH="1">
            <a:off x="2273512" y="3558438"/>
            <a:ext cx="1888761" cy="2167812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6707A8A-B272-ED45-BA5C-35C77DFBA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236" y="5726250"/>
            <a:ext cx="508000" cy="368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904FCA-B137-E04D-8572-718C17888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3918" y="3173654"/>
            <a:ext cx="4572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EEF6F0-EE81-F149-A305-D477D0802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6190" y="170732"/>
            <a:ext cx="431800" cy="3683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CBFD6C-48F0-A74C-9D19-531BA4220AC4}"/>
              </a:ext>
            </a:extLst>
          </p:cNvPr>
          <p:cNvCxnSpPr>
            <a:cxnSpLocks/>
          </p:cNvCxnSpPr>
          <p:nvPr/>
        </p:nvCxnSpPr>
        <p:spPr>
          <a:xfrm flipH="1">
            <a:off x="2693237" y="659575"/>
            <a:ext cx="18217" cy="1139253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1144C-3EC8-174F-B60D-213474B1BA50}"/>
              </a:ext>
            </a:extLst>
          </p:cNvPr>
          <p:cNvCxnSpPr>
            <a:cxnSpLocks/>
          </p:cNvCxnSpPr>
          <p:nvPr/>
        </p:nvCxnSpPr>
        <p:spPr>
          <a:xfrm>
            <a:off x="2711453" y="659574"/>
            <a:ext cx="860166" cy="0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5BE5476-FA99-8247-822E-0CFFD4F98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579" y="1437638"/>
            <a:ext cx="203200" cy="215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C78C08-BAE5-D249-B53D-80A4A9BD79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0770" y="317549"/>
            <a:ext cx="241300" cy="2159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17E846-83C1-BB4C-BBD1-87066870B959}"/>
              </a:ext>
            </a:extLst>
          </p:cNvPr>
          <p:cNvSpPr txBox="1"/>
          <p:nvPr/>
        </p:nvSpPr>
        <p:spPr>
          <a:xfrm>
            <a:off x="3474614" y="4370448"/>
            <a:ext cx="1402307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0: (268,1178)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9DF6E8-9D0D-9947-9583-BC191A3B3BF1}"/>
              </a:ext>
            </a:extLst>
          </p:cNvPr>
          <p:cNvSpPr txBox="1"/>
          <p:nvPr/>
        </p:nvSpPr>
        <p:spPr>
          <a:xfrm>
            <a:off x="2721082" y="972295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1: (166,294)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EE2BCB-B4CB-D54E-A8FD-80F7C16065A3}"/>
              </a:ext>
            </a:extLst>
          </p:cNvPr>
          <p:cNvSpPr txBox="1"/>
          <p:nvPr/>
        </p:nvSpPr>
        <p:spPr>
          <a:xfrm>
            <a:off x="4101482" y="1632637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2: (412,328)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CB6007-4576-794A-A53C-F32574697B56}"/>
              </a:ext>
            </a:extLst>
          </p:cNvPr>
          <p:cNvSpPr txBox="1"/>
          <p:nvPr/>
        </p:nvSpPr>
        <p:spPr>
          <a:xfrm>
            <a:off x="4244471" y="3023948"/>
            <a:ext cx="128689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3: (470,940)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979114-8E0F-3147-9DEA-F13A2CB9F432}"/>
              </a:ext>
            </a:extLst>
          </p:cNvPr>
          <p:cNvSpPr txBox="1"/>
          <p:nvPr/>
        </p:nvSpPr>
        <p:spPr>
          <a:xfrm>
            <a:off x="6673125" y="4267080"/>
            <a:ext cx="1888761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4: (</a:t>
            </a:r>
            <a:r>
              <a:rPr lang="en-AU" dirty="0">
                <a:latin typeface="Gill Sans MT" panose="020B0502020104020203" pitchFamily="34" charset="77"/>
              </a:rPr>
              <a:t>1654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1118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5D9CBB-672D-F84E-A55C-E20DC22A8730}"/>
              </a:ext>
            </a:extLst>
          </p:cNvPr>
          <p:cNvSpPr txBox="1"/>
          <p:nvPr/>
        </p:nvSpPr>
        <p:spPr>
          <a:xfrm>
            <a:off x="7252158" y="771910"/>
            <a:ext cx="2066730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5: (</a:t>
            </a:r>
            <a:r>
              <a:rPr lang="en-AU" dirty="0">
                <a:latin typeface="Gill Sans MT" panose="020B0502020104020203" pitchFamily="34" charset="77"/>
              </a:rPr>
              <a:t>1704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 246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EA6EF1-F8E6-DB40-9DE5-4B5B9D99117A}"/>
              </a:ext>
            </a:extLst>
          </p:cNvPr>
          <p:cNvSpPr txBox="1"/>
          <p:nvPr/>
        </p:nvSpPr>
        <p:spPr>
          <a:xfrm>
            <a:off x="6262314" y="1781532"/>
            <a:ext cx="2844318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6: (</a:t>
            </a:r>
            <a:r>
              <a:rPr lang="en-AU" dirty="0">
                <a:latin typeface="Gill Sans MT" panose="020B0502020104020203" pitchFamily="34" charset="77"/>
              </a:rPr>
              <a:t>1426</a:t>
            </a:r>
            <a:r>
              <a:rPr lang="es-ES_tradnl" dirty="0">
                <a:latin typeface="Gill Sans MT" panose="020B0502020104020203" pitchFamily="34" charset="77"/>
              </a:rPr>
              <a:t>,</a:t>
            </a:r>
            <a:r>
              <a:rPr lang="en-AU" dirty="0">
                <a:latin typeface="Gill Sans MT" panose="020B0502020104020203" pitchFamily="34" charset="77"/>
              </a:rPr>
              <a:t> 304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4A67F3-0C85-864E-AF21-AE809C40CE8A}"/>
              </a:ext>
            </a:extLst>
          </p:cNvPr>
          <p:cNvSpPr txBox="1"/>
          <p:nvPr/>
        </p:nvSpPr>
        <p:spPr>
          <a:xfrm>
            <a:off x="6354503" y="2915192"/>
            <a:ext cx="1402307" cy="369332"/>
          </a:xfrm>
          <a:prstGeom prst="rect">
            <a:avLst/>
          </a:prstGeom>
          <a:solidFill>
            <a:schemeClr val="bg1">
              <a:alpha val="49912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7: (</a:t>
            </a:r>
            <a:r>
              <a:rPr lang="en-AU" dirty="0">
                <a:latin typeface="Gill Sans MT" panose="020B0502020104020203" pitchFamily="34" charset="77"/>
              </a:rPr>
              <a:t>1420</a:t>
            </a:r>
            <a:r>
              <a:rPr lang="es-ES_tradnl" dirty="0">
                <a:latin typeface="Gill Sans MT" panose="020B0502020104020203" pitchFamily="34" charset="77"/>
              </a:rPr>
              <a:t>,900)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EB2AE0A-9259-A744-9480-B694781293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117" y="5882481"/>
            <a:ext cx="6344450" cy="88352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6E0AE89-0E42-A643-8244-F55843672DB3}"/>
              </a:ext>
            </a:extLst>
          </p:cNvPr>
          <p:cNvSpPr txBox="1"/>
          <p:nvPr/>
        </p:nvSpPr>
        <p:spPr>
          <a:xfrm>
            <a:off x="4336831" y="5582116"/>
            <a:ext cx="6426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latin typeface="Gill Sans MT" panose="020B0502020104020203" pitchFamily="34" charset="77"/>
              </a:rPr>
              <a:t>0                   1                2                 3                  4                  5                   6                 7      </a:t>
            </a:r>
          </a:p>
        </p:txBody>
      </p:sp>
      <p:sp>
        <p:nvSpPr>
          <p:cNvPr id="27" name="Rectangle 71">
            <a:extLst>
              <a:ext uri="{FF2B5EF4-FFF2-40B4-BE49-F238E27FC236}">
                <a16:creationId xmlns:a16="http://schemas.microsoft.com/office/drawing/2014/main" id="{ED8BEFAD-919E-714F-A147-437CD6EBB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003" y="396013"/>
            <a:ext cx="14093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Selection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of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Points</a:t>
            </a: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33321-4193-1E40-A9E7-5E0E34964578}"/>
              </a:ext>
            </a:extLst>
          </p:cNvPr>
          <p:cNvSpPr/>
          <p:nvPr/>
        </p:nvSpPr>
        <p:spPr>
          <a:xfrm>
            <a:off x="8686988" y="1227009"/>
            <a:ext cx="1613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s-ES" dirty="0">
                <a:solidFill>
                  <a:srgbClr val="000000"/>
                </a:solidFill>
                <a:latin typeface="Gill Sans MT" panose="020B0502020104020203" pitchFamily="34" charset="77"/>
              </a:rPr>
              <a:t>(</a:t>
            </a:r>
            <a:r>
              <a:rPr lang="es-ES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measurement</a:t>
            </a:r>
            <a:r>
              <a:rPr lang="es-ES" dirty="0">
                <a:solidFill>
                  <a:srgbClr val="000000"/>
                </a:solidFill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E9D69-EE77-153F-474D-D68781DA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C0CE-9B4B-3DC6-F7F0-2A39E819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FF1D9-0CC4-CB7A-C464-4F93AF7FCB20}"/>
              </a:ext>
            </a:extLst>
          </p:cNvPr>
          <p:cNvSpPr txBox="1"/>
          <p:nvPr/>
        </p:nvSpPr>
        <p:spPr>
          <a:xfrm>
            <a:off x="3141536" y="6180304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200" dirty="0">
                <a:latin typeface="Gill Sans MT" panose="020B0502020104020203" pitchFamily="34" charset="77"/>
              </a:rPr>
              <a:t>3D POINTS</a:t>
            </a:r>
          </a:p>
          <a:p>
            <a:pPr algn="ctr"/>
            <a:r>
              <a:rPr lang="es-ES_tradnl" sz="1200" dirty="0">
                <a:latin typeface="Gill Sans MT" panose="020B0502020104020203" pitchFamily="34" charset="77"/>
              </a:rPr>
              <a:t>(in mm)</a:t>
            </a:r>
          </a:p>
        </p:txBody>
      </p:sp>
    </p:spTree>
    <p:extLst>
      <p:ext uri="{BB962C8B-B14F-4D97-AF65-F5344CB8AC3E}">
        <p14:creationId xmlns:p14="http://schemas.microsoft.com/office/powerpoint/2010/main" val="425438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9ED48E-AF1E-C047-A928-781C6A87E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491005"/>
            <a:ext cx="6402312" cy="1836816"/>
          </a:xfrm>
          <a:prstGeom prst="rect">
            <a:avLst/>
          </a:prstGeom>
        </p:spPr>
      </p:pic>
      <p:sp>
        <p:nvSpPr>
          <p:cNvPr id="4" name="Rectangle 71">
            <a:extLst>
              <a:ext uri="{FF2B5EF4-FFF2-40B4-BE49-F238E27FC236}">
                <a16:creationId xmlns:a16="http://schemas.microsoft.com/office/drawing/2014/main" id="{CC7874BD-03C2-1946-930E-DA185DAB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440" y="599612"/>
            <a:ext cx="20859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For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each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point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12B37-1F41-8D41-B888-D2EA3B327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578" y="673598"/>
            <a:ext cx="3320114" cy="38767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8771428-6DC1-3A4D-93FB-5851C534E458}"/>
              </a:ext>
            </a:extLst>
          </p:cNvPr>
          <p:cNvGrpSpPr/>
          <p:nvPr/>
        </p:nvGrpSpPr>
        <p:grpSpPr>
          <a:xfrm>
            <a:off x="2408212" y="4447391"/>
            <a:ext cx="7065989" cy="1607371"/>
            <a:chOff x="884211" y="4447390"/>
            <a:chExt cx="7065989" cy="16073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966D626-37FB-E149-9E2E-91DD3ADF6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00" y="4980169"/>
              <a:ext cx="7035800" cy="4953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D3971E-C73B-724C-A0D9-D3BA6C698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211" y="4447390"/>
              <a:ext cx="7061200" cy="4953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708BD3-E93E-7240-90C8-D05EED90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6760" y="5559461"/>
              <a:ext cx="6261100" cy="4953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0B51C-C9BC-D58F-2A54-8DC78154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31712-78C2-2B78-7F9F-189CB8AF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236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4DC55E-EE04-1048-B04A-F9D05B732825}"/>
              </a:ext>
            </a:extLst>
          </p:cNvPr>
          <p:cNvGrpSpPr/>
          <p:nvPr/>
        </p:nvGrpSpPr>
        <p:grpSpPr>
          <a:xfrm>
            <a:off x="2408212" y="4447391"/>
            <a:ext cx="7065989" cy="1607371"/>
            <a:chOff x="884211" y="4447390"/>
            <a:chExt cx="7065989" cy="16073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966D626-37FB-E149-9E2E-91DD3ADF6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4980169"/>
              <a:ext cx="7035800" cy="4953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D3971E-C73B-724C-A0D9-D3BA6C698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211" y="4447390"/>
              <a:ext cx="7061200" cy="4953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708BD3-E93E-7240-90C8-D05EED90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6760" y="5559461"/>
              <a:ext cx="6261100" cy="4953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77015-C84A-7A1A-6D2F-575EC85F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F8E0-42CE-B8B6-4D59-0C638FDF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445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-0.00949 L 0.00382 -0.52755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4DC55E-EE04-1048-B04A-F9D05B732825}"/>
              </a:ext>
            </a:extLst>
          </p:cNvPr>
          <p:cNvGrpSpPr/>
          <p:nvPr/>
        </p:nvGrpSpPr>
        <p:grpSpPr>
          <a:xfrm>
            <a:off x="2423202" y="834762"/>
            <a:ext cx="7065989" cy="1607371"/>
            <a:chOff x="884211" y="4447390"/>
            <a:chExt cx="7065989" cy="16073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966D626-37FB-E149-9E2E-91DD3ADF6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4980169"/>
              <a:ext cx="7035800" cy="4953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D3971E-C73B-724C-A0D9-D3BA6C698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211" y="4447390"/>
              <a:ext cx="7061200" cy="4953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708BD3-E93E-7240-90C8-D05EED90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6760" y="5559461"/>
              <a:ext cx="6261100" cy="4953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287356-26FF-5E4B-8F58-475BD0B2893A}"/>
              </a:ext>
            </a:extLst>
          </p:cNvPr>
          <p:cNvGrpSpPr/>
          <p:nvPr/>
        </p:nvGrpSpPr>
        <p:grpSpPr>
          <a:xfrm>
            <a:off x="1663700" y="3244851"/>
            <a:ext cx="8864600" cy="847981"/>
            <a:chOff x="139700" y="3244850"/>
            <a:chExt cx="8864600" cy="8479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A648574-CF8D-C34F-BA94-F1C74B23A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700" y="3244850"/>
              <a:ext cx="8864600" cy="3683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01638C-CF14-D441-A163-E7DCF61AA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" y="3724531"/>
              <a:ext cx="8839200" cy="3683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5E10FE-48EC-0C4D-A0E5-44129E5110B8}"/>
              </a:ext>
            </a:extLst>
          </p:cNvPr>
          <p:cNvGrpSpPr/>
          <p:nvPr/>
        </p:nvGrpSpPr>
        <p:grpSpPr>
          <a:xfrm>
            <a:off x="1524000" y="4927746"/>
            <a:ext cx="9144000" cy="796992"/>
            <a:chOff x="0" y="4927746"/>
            <a:chExt cx="9144000" cy="796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9906E9C-9375-C249-9FF2-77D0F13CE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4927746"/>
              <a:ext cx="9144000" cy="36029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A01666-219E-904F-A65F-3E6A3F45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5360485"/>
              <a:ext cx="9144000" cy="364253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817C8-CBB0-A4BA-9B9E-D8DA65B9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12B1114-A0F3-57B0-5914-BF9F7338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287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B5E10FE-48EC-0C4D-A0E5-44129E5110B8}"/>
              </a:ext>
            </a:extLst>
          </p:cNvPr>
          <p:cNvGrpSpPr/>
          <p:nvPr/>
        </p:nvGrpSpPr>
        <p:grpSpPr>
          <a:xfrm>
            <a:off x="1524000" y="4927746"/>
            <a:ext cx="9144000" cy="796992"/>
            <a:chOff x="0" y="4927746"/>
            <a:chExt cx="9144000" cy="796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9906E9C-9375-C249-9FF2-77D0F13CE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927746"/>
              <a:ext cx="9144000" cy="36029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A01666-219E-904F-A65F-3E6A3F45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360485"/>
              <a:ext cx="9144000" cy="364253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569DF-6DC7-0A3B-3BD7-5606EBD6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E874C-A8C6-51CF-1D78-496C5318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6652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509 L 0 -0.62569 " pathEditMode="relative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B5E10FE-48EC-0C4D-A0E5-44129E5110B8}"/>
              </a:ext>
            </a:extLst>
          </p:cNvPr>
          <p:cNvGrpSpPr/>
          <p:nvPr/>
        </p:nvGrpSpPr>
        <p:grpSpPr>
          <a:xfrm>
            <a:off x="1524000" y="655549"/>
            <a:ext cx="9144000" cy="796992"/>
            <a:chOff x="0" y="4927746"/>
            <a:chExt cx="9144000" cy="796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9906E9C-9375-C249-9FF2-77D0F13CE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927746"/>
              <a:ext cx="9144000" cy="36029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A01666-219E-904F-A65F-3E6A3F45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360485"/>
              <a:ext cx="9144000" cy="36425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94219FE-8A10-F14D-867E-1CB3B9A1B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592" y="1963712"/>
            <a:ext cx="4867398" cy="4427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4F16A-AC44-4B41-8689-A70F763B0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181" y="5829672"/>
            <a:ext cx="18034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E9D3A6-FEA6-234F-BADB-71ABDAB86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101" y="1963711"/>
            <a:ext cx="3048000" cy="2197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91867-C8B7-2949-AA9D-833E63555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073" y="4642785"/>
            <a:ext cx="1524000" cy="330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553503-87DB-844A-9F27-634BC43E2F8B}"/>
              </a:ext>
            </a:extLst>
          </p:cNvPr>
          <p:cNvGrpSpPr/>
          <p:nvPr/>
        </p:nvGrpSpPr>
        <p:grpSpPr>
          <a:xfrm>
            <a:off x="7110959" y="5497759"/>
            <a:ext cx="3402142" cy="778340"/>
            <a:chOff x="5586959" y="5497759"/>
            <a:chExt cx="3402142" cy="7783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F87B38-FDFE-FE48-A67B-C37698EEB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4401" y="5742699"/>
              <a:ext cx="3314700" cy="533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1DD845-C7A1-DD49-8140-E385D9D0F743}"/>
                </a:ext>
              </a:extLst>
            </p:cNvPr>
            <p:cNvSpPr txBox="1"/>
            <p:nvPr/>
          </p:nvSpPr>
          <p:spPr>
            <a:xfrm>
              <a:off x="5586959" y="5497759"/>
              <a:ext cx="1283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dirty="0">
                  <a:latin typeface="Gill Sans MT" panose="020B0502020104020203" pitchFamily="34" charset="77"/>
                </a:rPr>
                <a:t>LEAST SQUARES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7C0445C-2244-B74A-9729-91C040916F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088" y="3905504"/>
            <a:ext cx="203200" cy="25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EFAD8-7C89-3783-FC6A-EF099D27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C2CA37-D08F-D41A-A029-CE1DBC49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294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BBB9415-77D2-714B-B014-F107192CA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804" y="82428"/>
            <a:ext cx="4536814" cy="33972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8762DBD-1BB8-D74B-8B44-1642F4C757E9}"/>
              </a:ext>
            </a:extLst>
          </p:cNvPr>
          <p:cNvGrpSpPr/>
          <p:nvPr/>
        </p:nvGrpSpPr>
        <p:grpSpPr>
          <a:xfrm>
            <a:off x="2093625" y="3366555"/>
            <a:ext cx="5336350" cy="855279"/>
            <a:chOff x="569625" y="3366554"/>
            <a:chExt cx="5336350" cy="855279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304FB80-58DA-6F48-BF6D-CB228FC5F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625" y="3643553"/>
              <a:ext cx="4152544" cy="57828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4FE3E4-0157-6140-94AA-714612DC59A8}"/>
                </a:ext>
              </a:extLst>
            </p:cNvPr>
            <p:cNvSpPr txBox="1"/>
            <p:nvPr/>
          </p:nvSpPr>
          <p:spPr>
            <a:xfrm>
              <a:off x="2142393" y="3366554"/>
              <a:ext cx="9476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dirty="0">
                  <a:latin typeface="Gill Sans MT" panose="020B0502020104020203" pitchFamily="34" charset="77"/>
                </a:rPr>
                <a:t>3D POINTS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CFDD14-F5BC-4C42-9810-3BBB9121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51875" y="3719900"/>
              <a:ext cx="1054100" cy="49530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8E48C1B-C2DA-B449-B697-BC1EF51F1F76}"/>
              </a:ext>
            </a:extLst>
          </p:cNvPr>
          <p:cNvSpPr/>
          <p:nvPr/>
        </p:nvSpPr>
        <p:spPr>
          <a:xfrm>
            <a:off x="8659318" y="2149846"/>
            <a:ext cx="209862" cy="23359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4CB6D43-5B4A-6544-B3D3-0994348CE9A7}"/>
              </a:ext>
            </a:extLst>
          </p:cNvPr>
          <p:cNvSpPr/>
          <p:nvPr/>
        </p:nvSpPr>
        <p:spPr>
          <a:xfrm>
            <a:off x="9696138" y="2149846"/>
            <a:ext cx="209862" cy="23359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E7DCF1-7573-504A-A42A-08BB81826149}"/>
              </a:ext>
            </a:extLst>
          </p:cNvPr>
          <p:cNvGrpSpPr/>
          <p:nvPr/>
        </p:nvGrpSpPr>
        <p:grpSpPr>
          <a:xfrm>
            <a:off x="6902926" y="1450299"/>
            <a:ext cx="3405310" cy="2557173"/>
            <a:chOff x="5378926" y="1450298"/>
            <a:chExt cx="3405310" cy="2557173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9ABEE1D8-072C-4342-BF50-B9C7FE589DB8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5776417" y="1450298"/>
              <a:ext cx="2500652" cy="69954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7A745F52-441F-0341-9EF3-EBD189B7163B}"/>
                </a:ext>
              </a:extLst>
            </p:cNvPr>
            <p:cNvCxnSpPr>
              <a:cxnSpLocks/>
              <a:stCxn id="8" idx="0"/>
              <a:endCxn id="11" idx="0"/>
            </p:cNvCxnSpPr>
            <p:nvPr/>
          </p:nvCxnSpPr>
          <p:spPr>
            <a:xfrm rot="5400000" flipH="1" flipV="1">
              <a:off x="5524560" y="2004211"/>
              <a:ext cx="1570055" cy="1861324"/>
            </a:xfrm>
            <a:prstGeom prst="bentConnector3">
              <a:avLst>
                <a:gd name="adj1" fmla="val 11456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714D937-8746-6A40-9BD2-EC92EA3BBFEB}"/>
                </a:ext>
              </a:extLst>
            </p:cNvPr>
            <p:cNvSpPr/>
            <p:nvPr/>
          </p:nvSpPr>
          <p:spPr>
            <a:xfrm>
              <a:off x="6715593" y="2165013"/>
              <a:ext cx="2068643" cy="844267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 err="1">
                  <a:latin typeface="Gill Sans MT" panose="020B0502020104020203" pitchFamily="34" charset="77"/>
                </a:rPr>
                <a:t>Calibration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9018794-EED0-5549-B46D-8460BDD08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91164" y="3689971"/>
              <a:ext cx="317500" cy="317500"/>
            </a:xfrm>
            <a:prstGeom prst="rect">
              <a:avLst/>
            </a:prstGeom>
          </p:spPr>
        </p:pic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324FD7-D6A2-7943-BB43-A93915023781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7749914" y="3009280"/>
              <a:ext cx="1" cy="603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4FF68A-E115-354B-B594-D6BB34D8DA2D}"/>
              </a:ext>
            </a:extLst>
          </p:cNvPr>
          <p:cNvGrpSpPr/>
          <p:nvPr/>
        </p:nvGrpSpPr>
        <p:grpSpPr>
          <a:xfrm>
            <a:off x="1918031" y="4788142"/>
            <a:ext cx="4358886" cy="1600438"/>
            <a:chOff x="394031" y="4788142"/>
            <a:chExt cx="4358886" cy="160043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319121-B69B-A04B-9CB8-1820057FC15E}"/>
                </a:ext>
              </a:extLst>
            </p:cNvPr>
            <p:cNvSpPr txBox="1"/>
            <p:nvPr/>
          </p:nvSpPr>
          <p:spPr>
            <a:xfrm>
              <a:off x="394031" y="4788142"/>
              <a:ext cx="4358886" cy="1600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u  =  268 166 412 470 1654 1704 1426 1420 </a:t>
              </a:r>
            </a:p>
            <a:p>
              <a:endParaRPr lang="en-AU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AU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=  271 164 412 468 1656 1699 1429 1417 </a:t>
              </a:r>
            </a:p>
            <a:p>
              <a:endParaRPr lang="en-AU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AU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  = 1178 294 328 940 1118  246  304  900</a:t>
              </a:r>
            </a:p>
            <a:p>
              <a:endParaRPr lang="es-ES_tradnl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AU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= 1180 289 331 937 1119  246  302  899 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07E293-3677-3648-B55D-3E0BBCBA8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6327" y="5306998"/>
              <a:ext cx="95173" cy="13023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A3BEBB-9333-FC4A-AB32-12D302A3C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4428" y="6158979"/>
              <a:ext cx="80146" cy="130237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91CC39-EF96-8843-ABBE-2BE577FBE3BB}"/>
              </a:ext>
            </a:extLst>
          </p:cNvPr>
          <p:cNvGrpSpPr/>
          <p:nvPr/>
        </p:nvGrpSpPr>
        <p:grpSpPr>
          <a:xfrm>
            <a:off x="6204886" y="828814"/>
            <a:ext cx="1045837" cy="856434"/>
            <a:chOff x="4680886" y="828814"/>
            <a:chExt cx="1045837" cy="85643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572ADA6-ACA9-C044-A8C9-9FA4918AA4DC}"/>
                </a:ext>
              </a:extLst>
            </p:cNvPr>
            <p:cNvSpPr txBox="1"/>
            <p:nvPr/>
          </p:nvSpPr>
          <p:spPr>
            <a:xfrm>
              <a:off x="4779028" y="828814"/>
              <a:ext cx="9476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dirty="0">
                  <a:latin typeface="Gill Sans MT" panose="020B0502020104020203" pitchFamily="34" charset="77"/>
                </a:rPr>
                <a:t>2D POINTS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911421C-6BEA-2445-B7E2-4AD0DF725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80886" y="1215348"/>
              <a:ext cx="990600" cy="4699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A113685-E45E-5743-8777-8DC7EB0E6A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8358" y="4540492"/>
            <a:ext cx="2565400" cy="495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566448-90BB-CF48-AA21-C06D32F71C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0186" y="5856383"/>
            <a:ext cx="36576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9C70D-9BB2-73FD-DA20-15E6518D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CBF10-A345-73E6-3B08-6E22F992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9823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A2D24B-748B-444A-9796-AD30AE38E85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872" y="438370"/>
            <a:ext cx="8013600" cy="61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55D067-6140-EC43-AFFC-B6F4EE7FD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987" y="3187700"/>
            <a:ext cx="520700" cy="48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EA637E-E071-B047-8183-6C1FDBF0F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778" y="1146439"/>
            <a:ext cx="546100" cy="482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169B387-9871-0147-9D50-79E52248B407}"/>
              </a:ext>
            </a:extLst>
          </p:cNvPr>
          <p:cNvSpPr/>
          <p:nvPr/>
        </p:nvSpPr>
        <p:spPr>
          <a:xfrm>
            <a:off x="9987466" y="162903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C602DA-7C08-2144-81EF-785234A5FB10}"/>
              </a:ext>
            </a:extLst>
          </p:cNvPr>
          <p:cNvSpPr/>
          <p:nvPr/>
        </p:nvSpPr>
        <p:spPr>
          <a:xfrm>
            <a:off x="9997975" y="3673308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382FC-9117-5449-53D8-6ADFC1E2F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990D2-1187-1411-412D-78417EB92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83896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19C16C1-7FAF-FF4E-9E80-457EEAE2475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642" y="438370"/>
            <a:ext cx="8013600" cy="61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90AEA-8FDC-1735-B5E7-67A13A84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4A8E1-017D-0E09-E97B-C41AEBA0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3346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1">
            <a:extLst>
              <a:ext uri="{FF2B5EF4-FFF2-40B4-BE49-F238E27FC236}">
                <a16:creationId xmlns:a16="http://schemas.microsoft.com/office/drawing/2014/main" id="{DA349938-FAA0-2B47-BC1E-46D6724F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555" y="2967336"/>
            <a:ext cx="34852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Non-Linear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BAD0A-5B4B-E5C6-13F5-FD367A74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704F4-8E26-435C-7D6A-D1A6C591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11318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>
            <a:off x="9306703" y="3803649"/>
            <a:ext cx="2397" cy="1113980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9286875" y="3228884"/>
            <a:ext cx="654875" cy="600166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976600" y="294746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86960" y="466858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3175" cmpd="sng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878153" y="277439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12399" y="4926473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116176" name="Text Box 16"/>
          <p:cNvSpPr txBox="1">
            <a:spLocks noChangeArrowheads="1"/>
          </p:cNvSpPr>
          <p:nvPr/>
        </p:nvSpPr>
        <p:spPr bwMode="auto">
          <a:xfrm>
            <a:off x="8186739" y="29511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(</a:t>
            </a:r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u,v</a:t>
            </a:r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)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6350" cmpd="sng">
            <a:solidFill>
              <a:srgbClr val="FFCC66"/>
            </a:solidFill>
            <a:prstDash val="sysDash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1" y="28495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381751" y="3249614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(X',Y',Z')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162550" y="31496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5708650" y="328930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5708650" y="38735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 flipV="1">
            <a:off x="5784850" y="25844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5162550" y="25717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6318250" y="32893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5708650" y="38036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168900" y="31559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 flipV="1">
            <a:off x="5772150" y="31242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5778500" y="26225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1" y="1"/>
            <a:ext cx="71322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Camera Model ]  </a:t>
            </a:r>
            <a:r>
              <a:rPr lang="es-ES" sz="1600" dirty="0">
                <a:solidFill>
                  <a:schemeClr val="bg1"/>
                </a:solidFill>
                <a:latin typeface="Gill Sans MT" panose="020B0502020104020203" pitchFamily="34" charset="77"/>
              </a:rPr>
              <a:t>(</a:t>
            </a:r>
            <a:r>
              <a:rPr lang="es-ES" sz="1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see</a:t>
            </a:r>
            <a:r>
              <a:rPr lang="es-ES" sz="16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1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explanation</a:t>
            </a:r>
            <a:r>
              <a:rPr lang="es-ES" sz="1600" dirty="0">
                <a:solidFill>
                  <a:schemeClr val="bg1"/>
                </a:solidFill>
                <a:latin typeface="Gill Sans MT" panose="020B0502020104020203" pitchFamily="34" charset="77"/>
              </a:rPr>
              <a:t> in CV02C_Transformaciones3D.pptx)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04991" y="38117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089775" y="18160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>
            <a:off x="3469676" y="3782792"/>
            <a:ext cx="0" cy="152662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 flipV="1">
            <a:off x="3442652" y="2877624"/>
            <a:ext cx="918792" cy="9321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2" name="Picture 1" descr="Screen Shot 2014-11-14 at 9.27.2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240" y="5556805"/>
            <a:ext cx="2705100" cy="6223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0D888-55CD-7304-EE9B-C1544A31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CFEBE-67F5-DE67-919E-43FF0D5B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59057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441" y="2935844"/>
            <a:ext cx="7044436" cy="1721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773" y="4814515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271" y="883856"/>
            <a:ext cx="9016089" cy="183288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3985B-A1D1-FC15-7C9E-F1E54A99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8DFE-EF6C-1289-E2E0-CC165061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780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57" y="2485883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941CF-9654-67EC-A2E7-F14E35D9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B18C2-7F0F-2DD7-D8B9-6637593C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8868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6809569" y="2481032"/>
            <a:ext cx="1929089" cy="1735204"/>
          </a:xfrm>
          <a:prstGeom prst="ellipse">
            <a:avLst/>
          </a:prstGeom>
          <a:solidFill>
            <a:srgbClr val="EC973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58161" y="2293352"/>
            <a:ext cx="2663600" cy="215222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57" y="2485883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8" name="Rectangle 71"/>
          <p:cNvSpPr>
            <a:spLocks noChangeArrowheads="1"/>
          </p:cNvSpPr>
          <p:nvPr/>
        </p:nvSpPr>
        <p:spPr bwMode="auto">
          <a:xfrm>
            <a:off x="2452544" y="4403918"/>
            <a:ext cx="350929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11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DoF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:  </a:t>
            </a:r>
          </a:p>
          <a:p>
            <a:pPr eaLnBrk="0" hangingPunct="0"/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5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intrinsec</a:t>
            </a: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parameters</a:t>
            </a:r>
            <a:endParaRPr lang="es-ES" sz="2400" dirty="0">
              <a:solidFill>
                <a:srgbClr val="0000DE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6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extrinsec</a:t>
            </a: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parameters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156" y="5181152"/>
            <a:ext cx="2235461" cy="3742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477" y="5904439"/>
            <a:ext cx="4423430" cy="4240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4ED8-69F1-C6CA-AE97-0C14ED27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55F90-8F6B-00D7-8E4B-7DE4BC22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0017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6809569" y="2481032"/>
            <a:ext cx="1929089" cy="1735204"/>
          </a:xfrm>
          <a:prstGeom prst="ellipse">
            <a:avLst/>
          </a:prstGeom>
          <a:solidFill>
            <a:srgbClr val="EC973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58161" y="2293352"/>
            <a:ext cx="2663600" cy="215222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57" y="2485883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8" name="Rectangle 71"/>
          <p:cNvSpPr>
            <a:spLocks noChangeArrowheads="1"/>
          </p:cNvSpPr>
          <p:nvPr/>
        </p:nvSpPr>
        <p:spPr bwMode="auto">
          <a:xfrm>
            <a:off x="2452544" y="4403918"/>
            <a:ext cx="350929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11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DoF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:  </a:t>
            </a:r>
          </a:p>
          <a:p>
            <a:pPr eaLnBrk="0" hangingPunct="0"/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5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intrinsec</a:t>
            </a: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parameters</a:t>
            </a:r>
            <a:endParaRPr lang="es-ES" sz="2400" dirty="0">
              <a:solidFill>
                <a:srgbClr val="0000DE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6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extrinsec</a:t>
            </a: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parameters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156" y="5181152"/>
            <a:ext cx="2235461" cy="3742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477" y="5904439"/>
            <a:ext cx="4423430" cy="424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7ADE8-1ADC-8B9F-AB85-B3BB5A53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FA447B3-8422-EDDB-193C-3792C9EC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8904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C50D1-22DD-A94A-802E-761F8A393D54}"/>
              </a:ext>
            </a:extLst>
          </p:cNvPr>
          <p:cNvSpPr txBox="1"/>
          <p:nvPr/>
        </p:nvSpPr>
        <p:spPr>
          <a:xfrm>
            <a:off x="2228539" y="2683240"/>
            <a:ext cx="824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INPUT: 		3D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M</a:t>
            </a:r>
            <a:r>
              <a:rPr lang="en-US" baseline="-25000" dirty="0">
                <a:latin typeface="Gill Sans MT" panose="020B0502020104020203" pitchFamily="34" charset="77"/>
              </a:rPr>
              <a:t>n</a:t>
            </a:r>
            <a:endParaRPr lang="en-US" dirty="0">
              <a:latin typeface="Gill Sans MT" panose="020B0502020104020203" pitchFamily="34" charset="77"/>
            </a:endParaRPr>
          </a:p>
          <a:p>
            <a:r>
              <a:rPr lang="en-US" baseline="-25000" dirty="0">
                <a:latin typeface="Gill Sans MT" panose="020B0502020104020203" pitchFamily="34" charset="77"/>
              </a:rPr>
              <a:t>		</a:t>
            </a:r>
            <a:r>
              <a:rPr lang="en-US" dirty="0">
                <a:latin typeface="Gill Sans MT" panose="020B0502020104020203" pitchFamily="34" charset="77"/>
              </a:rPr>
              <a:t>2D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</a:t>
            </a:r>
            <a:r>
              <a:rPr lang="en-US" dirty="0" err="1">
                <a:latin typeface="Gill Sans MT" panose="020B0502020104020203" pitchFamily="34" charset="77"/>
              </a:rPr>
              <a:t>m</a:t>
            </a:r>
            <a:r>
              <a:rPr lang="en-US" baseline="-25000" dirty="0" err="1">
                <a:latin typeface="Gill Sans MT" panose="020B0502020104020203" pitchFamily="34" charset="77"/>
              </a:rPr>
              <a:t>n</a:t>
            </a:r>
            <a:r>
              <a:rPr lang="en-US" baseline="-25000" dirty="0">
                <a:latin typeface="Gill Sans MT" panose="020B0502020104020203" pitchFamily="34" charset="77"/>
              </a:rPr>
              <a:t>	</a:t>
            </a:r>
            <a:r>
              <a:rPr lang="en-US" dirty="0">
                <a:latin typeface="Gill Sans MT" panose="020B0502020104020203" pitchFamily="34" charset="77"/>
              </a:rPr>
              <a:t>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is the projection of 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.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E175B-0172-E54C-9116-A168203CA5AA}"/>
              </a:ext>
            </a:extLst>
          </p:cNvPr>
          <p:cNvSpPr txBox="1"/>
          <p:nvPr/>
        </p:nvSpPr>
        <p:spPr>
          <a:xfrm>
            <a:off x="2228538" y="3692603"/>
            <a:ext cx="118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OUTPUT: 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0BCEDA-0C2F-964A-A4A7-5BEA49C52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180" y="3692603"/>
            <a:ext cx="1935247" cy="32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AFCB31-AB5B-FC4A-99DF-661A71375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132" y="4217894"/>
            <a:ext cx="3380112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9DF80-4A6F-2FD1-EB0E-DB73E0CC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E62F0-7B20-DE43-DA46-3DE47CC0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77667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>
            <a:off x="9306703" y="3803649"/>
            <a:ext cx="2397" cy="1113980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9286875" y="3228884"/>
            <a:ext cx="654875" cy="600166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976600" y="294746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86960" y="466858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3175" cmpd="sng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878153" y="277439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12399" y="4926473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6350" cmpd="sng">
            <a:solidFill>
              <a:srgbClr val="FFCC66"/>
            </a:solidFill>
            <a:prstDash val="sysDash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0" y="2849563"/>
            <a:ext cx="6905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>
                <a:solidFill>
                  <a:srgbClr val="FFFF00"/>
                </a:solidFill>
                <a:latin typeface="Times New Roman" charset="0"/>
              </a:rPr>
              <a:t>1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0"/>
            <a:ext cx="6772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>
                <a:solidFill>
                  <a:srgbClr val="FFFF00"/>
                </a:solidFill>
                <a:latin typeface="Times New Roman" charset="0"/>
              </a:rPr>
              <a:t>1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1" y="1"/>
            <a:ext cx="24144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Camera Model ]</a:t>
            </a:r>
            <a:endParaRPr lang="es-ES" sz="16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04991" y="38117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089775" y="18160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>
            <a:off x="3469676" y="3782792"/>
            <a:ext cx="0" cy="152662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 flipV="1">
            <a:off x="3442652" y="2877624"/>
            <a:ext cx="918792" cy="9321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" name="Line 41">
            <a:extLst>
              <a:ext uri="{FF2B5EF4-FFF2-40B4-BE49-F238E27FC236}">
                <a16:creationId xmlns:a16="http://schemas.microsoft.com/office/drawing/2014/main" id="{1764AA1B-E91D-3E42-B212-AA35AF43FB3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" name="Text Box 43">
            <a:extLst>
              <a:ext uri="{FF2B5EF4-FFF2-40B4-BE49-F238E27FC236}">
                <a16:creationId xmlns:a16="http://schemas.microsoft.com/office/drawing/2014/main" id="{6A2F2FC3-1121-1D43-B285-A67356268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53" name="Line 8">
            <a:extLst>
              <a:ext uri="{FF2B5EF4-FFF2-40B4-BE49-F238E27FC236}">
                <a16:creationId xmlns:a16="http://schemas.microsoft.com/office/drawing/2014/main" id="{8C0E3357-41E9-CC4F-961F-D9C123814F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5110" y="3426368"/>
            <a:ext cx="4879127" cy="396868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8EDC493A-9CC2-1149-A205-AC1EC8523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726" y="3077876"/>
            <a:ext cx="6905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>
                <a:solidFill>
                  <a:srgbClr val="FFFF00"/>
                </a:solidFill>
                <a:latin typeface="Times New Roman" charset="0"/>
              </a:rPr>
              <a:t>2</a:t>
            </a:r>
          </a:p>
        </p:txBody>
      </p:sp>
      <p:sp>
        <p:nvSpPr>
          <p:cNvPr id="55" name="Oval 25">
            <a:extLst>
              <a:ext uri="{FF2B5EF4-FFF2-40B4-BE49-F238E27FC236}">
                <a16:creationId xmlns:a16="http://schemas.microsoft.com/office/drawing/2014/main" id="{6F822AFC-A7A6-4448-AAC8-3C7659E8D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543" y="351037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56" name="Text Box 50">
            <a:extLst>
              <a:ext uri="{FF2B5EF4-FFF2-40B4-BE49-F238E27FC236}">
                <a16:creationId xmlns:a16="http://schemas.microsoft.com/office/drawing/2014/main" id="{9E9F5BCD-5784-5146-91AC-1DC20C8F8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812" y="3010443"/>
            <a:ext cx="6772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>
                <a:solidFill>
                  <a:srgbClr val="FFFF00"/>
                </a:solidFill>
                <a:latin typeface="Times New Roman" charset="0"/>
              </a:rPr>
              <a:t>2</a:t>
            </a:r>
          </a:p>
        </p:txBody>
      </p:sp>
      <p:sp>
        <p:nvSpPr>
          <p:cNvPr id="57" name="Oval 49">
            <a:extLst>
              <a:ext uri="{FF2B5EF4-FFF2-40B4-BE49-F238E27FC236}">
                <a16:creationId xmlns:a16="http://schemas.microsoft.com/office/drawing/2014/main" id="{5A35A712-DF90-B644-A826-C42CD709C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561" y="340960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58" name="Line 8">
            <a:extLst>
              <a:ext uri="{FF2B5EF4-FFF2-40B4-BE49-F238E27FC236}">
                <a16:creationId xmlns:a16="http://schemas.microsoft.com/office/drawing/2014/main" id="{95B6768A-7E00-5B45-B3C7-53D0CA098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9677" y="3823237"/>
            <a:ext cx="4759325" cy="69743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9" name="Text Box 24">
            <a:extLst>
              <a:ext uri="{FF2B5EF4-FFF2-40B4-BE49-F238E27FC236}">
                <a16:creationId xmlns:a16="http://schemas.microsoft.com/office/drawing/2014/main" id="{B1BDE445-6580-6545-A616-1A7322350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926" y="3812418"/>
            <a:ext cx="6905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>
                <a:solidFill>
                  <a:srgbClr val="FFFF00"/>
                </a:solidFill>
                <a:latin typeface="Times New Roman" charset="0"/>
              </a:rPr>
              <a:t>n</a:t>
            </a:r>
          </a:p>
        </p:txBody>
      </p:sp>
      <p:sp>
        <p:nvSpPr>
          <p:cNvPr id="60" name="Oval 25">
            <a:extLst>
              <a:ext uri="{FF2B5EF4-FFF2-40B4-BE49-F238E27FC236}">
                <a16:creationId xmlns:a16="http://schemas.microsoft.com/office/drawing/2014/main" id="{E987A69A-34A5-C343-97D9-3FB4330B5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851" y="41999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2" name="Oval 49">
            <a:extLst>
              <a:ext uri="{FF2B5EF4-FFF2-40B4-BE49-F238E27FC236}">
                <a16:creationId xmlns:a16="http://schemas.microsoft.com/office/drawing/2014/main" id="{738B4754-2400-1745-85B1-AEB530A88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2326" y="44739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6" name="Text Box 50">
            <a:extLst>
              <a:ext uri="{FF2B5EF4-FFF2-40B4-BE49-F238E27FC236}">
                <a16:creationId xmlns:a16="http://schemas.microsoft.com/office/drawing/2014/main" id="{7A1178DA-9EBB-3943-B328-D3A24E2B3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312" y="4122209"/>
            <a:ext cx="6772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s-ES_tradnl" sz="2000" baseline="-25000" dirty="0" err="1">
                <a:solidFill>
                  <a:srgbClr val="FFFF00"/>
                </a:solidFill>
                <a:latin typeface="Times New Roman" charset="0"/>
              </a:rPr>
              <a:t>n</a:t>
            </a:r>
            <a:endParaRPr lang="es-ES_tradnl" sz="2000" baseline="-25000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95B84-46E9-3A70-F21D-57A5CFC7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10DD-5EB0-5E10-27A7-AD13306A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10157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0D67476-EB63-9345-8BAA-94E009D2563B}"/>
              </a:ext>
            </a:extLst>
          </p:cNvPr>
          <p:cNvSpPr/>
          <p:nvPr/>
        </p:nvSpPr>
        <p:spPr>
          <a:xfrm>
            <a:off x="3929530" y="2608857"/>
            <a:ext cx="3830378" cy="7950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BB644E-AF13-2141-9BF0-8E84F1938A9F}"/>
              </a:ext>
            </a:extLst>
          </p:cNvPr>
          <p:cNvSpPr/>
          <p:nvPr/>
        </p:nvSpPr>
        <p:spPr>
          <a:xfrm>
            <a:off x="3929530" y="3429001"/>
            <a:ext cx="3830378" cy="14278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0AF056-8F86-584B-8A93-36F9111F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470" y="5120416"/>
            <a:ext cx="2908300" cy="469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ED9EA5-F041-344F-8586-9FADB9495790}"/>
              </a:ext>
            </a:extLst>
          </p:cNvPr>
          <p:cNvSpPr txBox="1"/>
          <p:nvPr/>
        </p:nvSpPr>
        <p:spPr>
          <a:xfrm>
            <a:off x="2228539" y="2683240"/>
            <a:ext cx="824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INPUT: 		3D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M</a:t>
            </a:r>
            <a:r>
              <a:rPr lang="en-US" baseline="-25000" dirty="0">
                <a:latin typeface="Gill Sans MT" panose="020B0502020104020203" pitchFamily="34" charset="77"/>
              </a:rPr>
              <a:t>n</a:t>
            </a:r>
            <a:endParaRPr lang="en-US" dirty="0">
              <a:latin typeface="Gill Sans MT" panose="020B0502020104020203" pitchFamily="34" charset="77"/>
            </a:endParaRPr>
          </a:p>
          <a:p>
            <a:r>
              <a:rPr lang="en-US" baseline="-25000" dirty="0">
                <a:latin typeface="Gill Sans MT" panose="020B0502020104020203" pitchFamily="34" charset="77"/>
              </a:rPr>
              <a:t>		</a:t>
            </a:r>
            <a:r>
              <a:rPr lang="en-US" dirty="0">
                <a:latin typeface="Gill Sans MT" panose="020B0502020104020203" pitchFamily="34" charset="77"/>
              </a:rPr>
              <a:t>2D points m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3</a:t>
            </a:r>
            <a:r>
              <a:rPr lang="en-US" dirty="0">
                <a:latin typeface="Gill Sans MT" panose="020B0502020104020203" pitchFamily="34" charset="77"/>
              </a:rPr>
              <a:t>, m</a:t>
            </a:r>
            <a:r>
              <a:rPr lang="en-US" baseline="-25000" dirty="0">
                <a:latin typeface="Gill Sans MT" panose="020B0502020104020203" pitchFamily="34" charset="77"/>
              </a:rPr>
              <a:t>4</a:t>
            </a:r>
            <a:r>
              <a:rPr lang="en-US" dirty="0">
                <a:latin typeface="Gill Sans MT" panose="020B0502020104020203" pitchFamily="34" charset="77"/>
              </a:rPr>
              <a:t>, ... </a:t>
            </a:r>
            <a:r>
              <a:rPr lang="en-US" dirty="0" err="1">
                <a:latin typeface="Gill Sans MT" panose="020B0502020104020203" pitchFamily="34" charset="77"/>
              </a:rPr>
              <a:t>m</a:t>
            </a:r>
            <a:r>
              <a:rPr lang="en-US" baseline="-25000" dirty="0" err="1">
                <a:latin typeface="Gill Sans MT" panose="020B0502020104020203" pitchFamily="34" charset="77"/>
              </a:rPr>
              <a:t>n</a:t>
            </a:r>
            <a:r>
              <a:rPr lang="en-US" baseline="-25000" dirty="0">
                <a:latin typeface="Gill Sans MT" panose="020B0502020104020203" pitchFamily="34" charset="77"/>
              </a:rPr>
              <a:t>	</a:t>
            </a:r>
            <a:r>
              <a:rPr lang="en-US" dirty="0">
                <a:latin typeface="Gill Sans MT" panose="020B0502020104020203" pitchFamily="34" charset="77"/>
              </a:rPr>
              <a:t>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is the projection of M</a:t>
            </a:r>
            <a:r>
              <a:rPr lang="en-US" baseline="-25000" dirty="0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.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1A70E-38CB-1A47-81D6-F9D9FD69C092}"/>
              </a:ext>
            </a:extLst>
          </p:cNvPr>
          <p:cNvSpPr txBox="1"/>
          <p:nvPr/>
        </p:nvSpPr>
        <p:spPr>
          <a:xfrm>
            <a:off x="2228538" y="3692603"/>
            <a:ext cx="118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OUTPUT: 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0E394B-5E4E-EB4F-B540-ACDFA97A8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180" y="3692603"/>
            <a:ext cx="1935247" cy="324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9137A6-B84A-B941-A955-8FF3A0903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132" y="4217894"/>
            <a:ext cx="3380112" cy="32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0D4257-9C57-7C44-A131-DB518FCFAE10}"/>
              </a:ext>
            </a:extLst>
          </p:cNvPr>
          <p:cNvSpPr txBox="1"/>
          <p:nvPr/>
        </p:nvSpPr>
        <p:spPr>
          <a:xfrm>
            <a:off x="7894821" y="3963062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parameter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DEE3A-39D4-7548-8856-BA1BC476A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4330" y="3971456"/>
            <a:ext cx="203200" cy="342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12E348-D3B8-9543-94C0-322A809A1265}"/>
              </a:ext>
            </a:extLst>
          </p:cNvPr>
          <p:cNvSpPr txBox="1"/>
          <p:nvPr/>
        </p:nvSpPr>
        <p:spPr>
          <a:xfrm>
            <a:off x="3929531" y="2166875"/>
            <a:ext cx="159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Measurements: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FC44D8-CE61-B648-B593-EB90E7D14B09}"/>
              </a:ext>
            </a:extLst>
          </p:cNvPr>
          <p:cNvSpPr txBox="1"/>
          <p:nvPr/>
        </p:nvSpPr>
        <p:spPr>
          <a:xfrm>
            <a:off x="6770202" y="517070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26404-DF68-0744-8A05-ACA70F74F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1762" y="5644962"/>
            <a:ext cx="4118146" cy="106726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48904-6D08-0057-7488-C7DCC16A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596500-A30F-6304-7412-EE7ECBE0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32610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1963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Calibration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A4E9B-94E7-874E-BC37-EF406267812D}"/>
              </a:ext>
            </a:extLst>
          </p:cNvPr>
          <p:cNvSpPr txBox="1"/>
          <p:nvPr/>
        </p:nvSpPr>
        <p:spPr>
          <a:xfrm>
            <a:off x="1988696" y="1289154"/>
            <a:ext cx="830455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Calibration is the process that estimates the parameters of the camera given corresponding points 3D – 2D</a:t>
            </a: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r>
              <a:rPr lang="en-US" sz="2000" dirty="0">
                <a:latin typeface="Gill Sans MT" panose="020B0502020104020203" pitchFamily="34" charset="77"/>
              </a:rPr>
              <a:t>For each corresponding pair  of points m</a:t>
            </a:r>
            <a:r>
              <a:rPr lang="en-US" sz="2000" baseline="-25000" dirty="0">
                <a:latin typeface="Gill Sans MT" panose="020B0502020104020203" pitchFamily="34" charset="77"/>
              </a:rPr>
              <a:t>i</a:t>
            </a:r>
            <a:r>
              <a:rPr lang="en-US" sz="2000" dirty="0">
                <a:latin typeface="Gill Sans MT" panose="020B0502020104020203" pitchFamily="34" charset="77"/>
              </a:rPr>
              <a:t> – M</a:t>
            </a:r>
            <a:r>
              <a:rPr lang="en-US" sz="2000" baseline="-25000" dirty="0">
                <a:latin typeface="Gill Sans MT" panose="020B0502020104020203" pitchFamily="34" charset="77"/>
              </a:rPr>
              <a:t>i</a:t>
            </a:r>
            <a:r>
              <a:rPr lang="en-US" sz="2000" dirty="0">
                <a:latin typeface="Gill Sans MT" panose="020B0502020104020203" pitchFamily="34" charset="77"/>
              </a:rPr>
              <a:t>:</a:t>
            </a: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r>
              <a:rPr lang="en-US" sz="2000" dirty="0">
                <a:latin typeface="Gill Sans MT" panose="020B0502020104020203" pitchFamily="34" charset="77"/>
              </a:rPr>
              <a:t>Error:</a:t>
            </a: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r>
              <a:rPr lang="en-US" sz="2000" dirty="0">
                <a:latin typeface="Gill Sans MT" panose="020B0502020104020203" pitchFamily="34" charset="77"/>
              </a:rPr>
              <a:t>Objective Function to be minimized:</a:t>
            </a: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0AF056-8F86-584B-8A93-36F9111F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824" y="3009384"/>
            <a:ext cx="2908300" cy="4699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FC44D8-CE61-B648-B593-EB90E7D14B09}"/>
              </a:ext>
            </a:extLst>
          </p:cNvPr>
          <p:cNvSpPr txBox="1"/>
          <p:nvPr/>
        </p:nvSpPr>
        <p:spPr>
          <a:xfrm>
            <a:off x="6230556" y="3059668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26404-DF68-0744-8A05-ACA70F74F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825" y="5654447"/>
            <a:ext cx="4471173" cy="11587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3190C1-35D1-7A49-9113-20F7937E4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012" y="4306773"/>
            <a:ext cx="31496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EF33E-57CF-5835-DDB2-1C0CBE91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E28AC5-7D06-6482-D94F-2368FC1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1590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9FF-C27D-127F-FE83-FCAF2499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L" dirty="0"/>
              <a:t>Estimación de Parametros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CB785-14FE-2428-2812-15FB38C7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6A35A-6F91-EDB7-2A32-9711E634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80282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2902" y="3198168"/>
            <a:ext cx="27661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Example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5D6D2-8FBA-2073-D6FE-DD42EE3A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88F68-6F78-1564-0044-DBC5DB55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16631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Example: Estimation of a line ]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2CE335-7C9D-E349-A682-CE120B35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819426"/>
            <a:ext cx="5511800" cy="371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569D9CF-3CCD-ED43-8CE7-C4468DC39A54}"/>
              </a:ext>
            </a:extLst>
          </p:cNvPr>
          <p:cNvGrpSpPr/>
          <p:nvPr/>
        </p:nvGrpSpPr>
        <p:grpSpPr>
          <a:xfrm>
            <a:off x="7145822" y="793218"/>
            <a:ext cx="3191978" cy="3616463"/>
            <a:chOff x="5621822" y="793217"/>
            <a:chExt cx="3191978" cy="361646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EE9012-38E7-A24D-9C62-D4E98B95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4700" y="1257300"/>
              <a:ext cx="1778000" cy="355600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8C6461D-822C-B24D-8A5C-3F623883FFCC}"/>
                </a:ext>
              </a:extLst>
            </p:cNvPr>
            <p:cNvSpPr txBox="1"/>
            <p:nvPr/>
          </p:nvSpPr>
          <p:spPr>
            <a:xfrm>
              <a:off x="5789613" y="79321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MODEL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55663E-CCBA-F341-B528-C331B7F83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7713" y="1905000"/>
              <a:ext cx="2222500" cy="533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50A7F0-17F6-C74F-8B9A-A7D0B64E3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5963" y="2596651"/>
              <a:ext cx="2540000" cy="533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4C3AD5-80FC-A84E-A49A-D1EC8B81A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5800" y="3399531"/>
              <a:ext cx="3048000" cy="41910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1CFF619-2408-DE45-AB15-59CF8B383ECD}"/>
                </a:ext>
              </a:extLst>
            </p:cNvPr>
            <p:cNvSpPr txBox="1"/>
            <p:nvPr/>
          </p:nvSpPr>
          <p:spPr>
            <a:xfrm>
              <a:off x="5621822" y="4040348"/>
              <a:ext cx="2728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(for each point: 1 equation)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EDFBE9A-BC56-0245-9152-BF4A90F63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613" y="5153483"/>
            <a:ext cx="3194508" cy="1458179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3367A85-C2A8-6F41-9991-3588F8085B4A}"/>
              </a:ext>
            </a:extLst>
          </p:cNvPr>
          <p:cNvGrpSpPr/>
          <p:nvPr/>
        </p:nvGrpSpPr>
        <p:grpSpPr>
          <a:xfrm>
            <a:off x="1934152" y="4561299"/>
            <a:ext cx="5609782" cy="1968058"/>
            <a:chOff x="-294832" y="3825036"/>
            <a:chExt cx="5609782" cy="196805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AB8B477-3558-FC4B-8B94-E8A4DD8EC47C}"/>
                </a:ext>
              </a:extLst>
            </p:cNvPr>
            <p:cNvGrpSpPr/>
            <p:nvPr/>
          </p:nvGrpSpPr>
          <p:grpSpPr>
            <a:xfrm>
              <a:off x="-294832" y="4196948"/>
              <a:ext cx="2320348" cy="220272"/>
              <a:chOff x="-294832" y="4196948"/>
              <a:chExt cx="2320348" cy="220272"/>
            </a:xfrm>
          </p:grpSpPr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F38972F-6D4D-1444-87DA-5B726FFE57EB}"/>
                  </a:ext>
                </a:extLst>
              </p:cNvPr>
              <p:cNvSpPr/>
              <p:nvPr/>
            </p:nvSpPr>
            <p:spPr>
              <a:xfrm rot="5400000">
                <a:off x="459530" y="3460835"/>
                <a:ext cx="202023" cy="1710748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10" name="Left Brace 109">
                <a:extLst>
                  <a:ext uri="{FF2B5EF4-FFF2-40B4-BE49-F238E27FC236}">
                    <a16:creationId xmlns:a16="http://schemas.microsoft.com/office/drawing/2014/main" id="{8261A6DA-12B9-B641-8EEC-ED3F6521014C}"/>
                  </a:ext>
                </a:extLst>
              </p:cNvPr>
              <p:cNvSpPr/>
              <p:nvPr/>
            </p:nvSpPr>
            <p:spPr>
              <a:xfrm rot="5400000">
                <a:off x="1699368" y="4072824"/>
                <a:ext cx="202024" cy="450272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7EF9F458-C924-4047-99A0-0C486214E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6491" y="3825036"/>
              <a:ext cx="368300" cy="317500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E4334D7-B267-1E4A-9E29-9E1498288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6303" y="3927726"/>
              <a:ext cx="254000" cy="2159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5D1A4AB8-AC5D-0D4C-8E2C-5F74EEA4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2FD3A-70DF-9C42-9E39-4E84B23C8E8B}"/>
              </a:ext>
            </a:extLst>
          </p:cNvPr>
          <p:cNvCxnSpPr/>
          <p:nvPr/>
        </p:nvCxnSpPr>
        <p:spPr>
          <a:xfrm flipV="1">
            <a:off x="2200894" y="1068780"/>
            <a:ext cx="4600090" cy="2971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6C18F-7FAB-C469-0933-0E3E39D4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DF43E-734B-484C-CB1A-46FC163C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9708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65B75-D832-D24A-8FE9-D062C593B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52769"/>
            <a:ext cx="8077200" cy="2052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E35F6A-3F52-FE45-BCD5-C1D8AA6D3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8FA3F-E9CF-2075-1164-4EA67511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94E2C-2AC7-635C-E378-74F5C983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0461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35F6A-3F52-FE45-BCD5-C1D8AA6D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5AEFF-6E71-5347-BCCE-856E712A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325059"/>
            <a:ext cx="8077200" cy="2080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75025-0A76-8E46-B56D-3BCE1B963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822655"/>
            <a:ext cx="17018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5C9A4-33F9-2336-B5ED-695357F3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2EDC3-4054-1423-60DC-87F0D7B4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01721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35F6A-3F52-FE45-BCD5-C1D8AA6D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8DB9B-7AC9-C040-A0D6-E79430F5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2470266"/>
            <a:ext cx="8077200" cy="19174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6B3CBC-0E6E-9800-2691-61DA06C45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822655"/>
            <a:ext cx="1701800" cy="469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4D86-D56C-11F7-5B7B-1A6B9A82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627CD-FDA7-598C-A459-B354B88F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33347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35F6A-3F52-FE45-BCD5-C1D8AA6D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8DB9B-7AC9-C040-A0D6-E79430F5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2470266"/>
            <a:ext cx="8077200" cy="19174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786585-AE98-8147-9787-FE3E38C4261F}"/>
              </a:ext>
            </a:extLst>
          </p:cNvPr>
          <p:cNvGrpSpPr/>
          <p:nvPr/>
        </p:nvGrpSpPr>
        <p:grpSpPr>
          <a:xfrm>
            <a:off x="2036189" y="1908851"/>
            <a:ext cx="5947935" cy="421735"/>
            <a:chOff x="512188" y="1451645"/>
            <a:chExt cx="5947935" cy="421735"/>
          </a:xfrm>
        </p:grpSpPr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3EDA98A6-C543-9342-AAF8-B9589E3C8E34}"/>
                </a:ext>
              </a:extLst>
            </p:cNvPr>
            <p:cNvSpPr/>
            <p:nvPr/>
          </p:nvSpPr>
          <p:spPr>
            <a:xfrm rot="5400000">
              <a:off x="2615247" y="-651414"/>
              <a:ext cx="421734" cy="462785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A32F3CD4-2AD9-F642-9536-C1057D776EF9}"/>
                </a:ext>
              </a:extLst>
            </p:cNvPr>
            <p:cNvSpPr/>
            <p:nvPr/>
          </p:nvSpPr>
          <p:spPr>
            <a:xfrm rot="5400000">
              <a:off x="5833620" y="1246876"/>
              <a:ext cx="421734" cy="83127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7" name="Left Brace 16">
            <a:extLst>
              <a:ext uri="{FF2B5EF4-FFF2-40B4-BE49-F238E27FC236}">
                <a16:creationId xmlns:a16="http://schemas.microsoft.com/office/drawing/2014/main" id="{A0F0A66B-E58E-F54D-85D1-0A270E650F1D}"/>
              </a:ext>
            </a:extLst>
          </p:cNvPr>
          <p:cNvSpPr/>
          <p:nvPr/>
        </p:nvSpPr>
        <p:spPr>
          <a:xfrm rot="5400000">
            <a:off x="9200276" y="1704080"/>
            <a:ext cx="421734" cy="83127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EBC6BE-66C1-6044-9734-5FE44DE15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664" y="1385274"/>
            <a:ext cx="342900" cy="419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99A5BF-31AD-7248-8FD0-30907BB23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893" y="1531324"/>
            <a:ext cx="190500" cy="215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775D97-0646-FB4F-AD9E-B6FA779AF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252" y="1384828"/>
            <a:ext cx="355600" cy="381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4CE86AB-C113-9121-8E43-1225294A32CA}"/>
              </a:ext>
            </a:extLst>
          </p:cNvPr>
          <p:cNvGrpSpPr/>
          <p:nvPr/>
        </p:nvGrpSpPr>
        <p:grpSpPr>
          <a:xfrm>
            <a:off x="3130331" y="4961841"/>
            <a:ext cx="5891148" cy="1104900"/>
            <a:chOff x="1606331" y="4961841"/>
            <a:chExt cx="5891148" cy="11049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4B7605-3C60-F64E-8A1B-1D23BE0DF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6331" y="5206026"/>
              <a:ext cx="3619500" cy="5334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542380A-9490-0448-A41C-22F02652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97279" y="4961841"/>
              <a:ext cx="1600200" cy="1104900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2865017-EDA6-AB47-B7EE-C7988B9708EA}"/>
              </a:ext>
            </a:extLst>
          </p:cNvPr>
          <p:cNvSpPr/>
          <p:nvPr/>
        </p:nvSpPr>
        <p:spPr>
          <a:xfrm>
            <a:off x="2104804" y="6240738"/>
            <a:ext cx="7982393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AU" sz="20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a_prime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AU" sz="20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np.linalg.lstsq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Q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 r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AU" sz="20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rcond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AU" sz="2000" b="1" dirty="0">
                <a:solidFill>
                  <a:srgbClr val="569CD6"/>
                </a:solidFill>
                <a:latin typeface="Courier New" panose="02070309020205020404" pitchFamily="49" charset="0"/>
              </a:rPr>
              <a:t>None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)[</a:t>
            </a:r>
            <a:r>
              <a:rPr lang="en-AU" sz="2000" b="1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AU" sz="20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747BB-7026-6F4A-4BB5-8A2E0086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53B54-8519-7C9F-9F55-1E01389D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337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2 ]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35F6A-3F52-FE45-BCD5-C1D8AA6D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7A9ADA-4F96-BC47-B702-7D36A28C6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13" y="822655"/>
            <a:ext cx="1879600" cy="46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EB7FC-B589-304A-AE94-CDA39CFC2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450" y="2348918"/>
            <a:ext cx="39751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BC211-8093-2842-9A4D-4E25E6202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896" y="3876394"/>
            <a:ext cx="1562100" cy="40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815582-7DA1-694C-9E6B-92258FE46E39}"/>
              </a:ext>
            </a:extLst>
          </p:cNvPr>
          <p:cNvSpPr txBox="1"/>
          <p:nvPr/>
        </p:nvSpPr>
        <p:spPr>
          <a:xfrm>
            <a:off x="7287491" y="3876394"/>
            <a:ext cx="182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last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r>
              <a:rPr lang="es-ES_tradnl" dirty="0" err="1">
                <a:latin typeface="Gill Sans MT" panose="020B0502020104020203" pitchFamily="34" charset="77"/>
              </a:rPr>
              <a:t>column</a:t>
            </a:r>
            <a:r>
              <a:rPr lang="es-ES_tradnl" dirty="0">
                <a:latin typeface="Gill Sans MT" panose="020B0502020104020203" pitchFamily="34" charset="77"/>
              </a:rPr>
              <a:t> of V)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0A4171-0F2F-464C-A415-0770E12129C4}"/>
              </a:ext>
            </a:extLst>
          </p:cNvPr>
          <p:cNvSpPr/>
          <p:nvPr/>
        </p:nvSpPr>
        <p:spPr>
          <a:xfrm>
            <a:off x="3694113" y="5197871"/>
            <a:ext cx="4572000" cy="707886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U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S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V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AU" sz="20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np.linalg.svd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AU" sz="20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AU" sz="20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a_hat</a:t>
            </a:r>
            <a:r>
              <a:rPr lang="en-AU" sz="2000" b="1" dirty="0">
                <a:solidFill>
                  <a:srgbClr val="D4D4D4"/>
                </a:solidFill>
                <a:latin typeface="Courier New" panose="02070309020205020404" pitchFamily="49" charset="0"/>
              </a:rPr>
              <a:t>   = V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AU" sz="2000" b="1" dirty="0">
                <a:solidFill>
                  <a:srgbClr val="B5CEA8"/>
                </a:solidFill>
                <a:latin typeface="Courier New" panose="02070309020205020404" pitchFamily="49" charset="0"/>
              </a:rPr>
              <a:t>-1</a:t>
            </a:r>
            <a:r>
              <a:rPr lang="en-AU" sz="2000" b="1" dirty="0">
                <a:solidFill>
                  <a:srgbClr val="DCDCDC"/>
                </a:solidFill>
                <a:latin typeface="Courier New" panose="02070309020205020404" pitchFamily="49" charset="0"/>
              </a:rPr>
              <a:t>,:]</a:t>
            </a:r>
            <a:endParaRPr lang="en-AU" sz="20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6AA3ED-E35D-BA48-8888-767231CB1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643" y="3050098"/>
            <a:ext cx="2324100" cy="431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8AA0F-05D5-4936-E6DF-37D265BE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3C44F7-42C2-8617-529A-FEAC5E15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21357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412021AC-A85B-1F41-BD44-B076F6D4A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Example: Estimation of a line ]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2CE335-7C9D-E349-A682-CE120B35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819426"/>
            <a:ext cx="5511800" cy="371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569D9CF-3CCD-ED43-8CE7-C4468DC39A54}"/>
              </a:ext>
            </a:extLst>
          </p:cNvPr>
          <p:cNvGrpSpPr/>
          <p:nvPr/>
        </p:nvGrpSpPr>
        <p:grpSpPr>
          <a:xfrm>
            <a:off x="7145822" y="793218"/>
            <a:ext cx="3191978" cy="3616463"/>
            <a:chOff x="5621822" y="793217"/>
            <a:chExt cx="3191978" cy="361646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EE9012-38E7-A24D-9C62-D4E98B95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4700" y="1257300"/>
              <a:ext cx="1778000" cy="355600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8C6461D-822C-B24D-8A5C-3F623883FFCC}"/>
                </a:ext>
              </a:extLst>
            </p:cNvPr>
            <p:cNvSpPr txBox="1"/>
            <p:nvPr/>
          </p:nvSpPr>
          <p:spPr>
            <a:xfrm>
              <a:off x="5789613" y="79321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MODEL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55663E-CCBA-F341-B528-C331B7F83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7713" y="1905000"/>
              <a:ext cx="2222500" cy="533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50A7F0-17F6-C74F-8B9A-A7D0B64E3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5963" y="2596651"/>
              <a:ext cx="2540000" cy="533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4C3AD5-80FC-A84E-A49A-D1EC8B81A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5800" y="3399531"/>
              <a:ext cx="3048000" cy="41910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1CFF619-2408-DE45-AB15-59CF8B383ECD}"/>
                </a:ext>
              </a:extLst>
            </p:cNvPr>
            <p:cNvSpPr txBox="1"/>
            <p:nvPr/>
          </p:nvSpPr>
          <p:spPr>
            <a:xfrm>
              <a:off x="5621822" y="4040348"/>
              <a:ext cx="2728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(for each point: 1 equation)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EDFBE9A-BC56-0245-9152-BF4A90F63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613" y="5153483"/>
            <a:ext cx="3194508" cy="1458179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3367A85-C2A8-6F41-9991-3588F8085B4A}"/>
              </a:ext>
            </a:extLst>
          </p:cNvPr>
          <p:cNvGrpSpPr/>
          <p:nvPr/>
        </p:nvGrpSpPr>
        <p:grpSpPr>
          <a:xfrm>
            <a:off x="1934152" y="4561299"/>
            <a:ext cx="5609782" cy="1968058"/>
            <a:chOff x="-294832" y="3825036"/>
            <a:chExt cx="5609782" cy="196805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AB8B477-3558-FC4B-8B94-E8A4DD8EC47C}"/>
                </a:ext>
              </a:extLst>
            </p:cNvPr>
            <p:cNvGrpSpPr/>
            <p:nvPr/>
          </p:nvGrpSpPr>
          <p:grpSpPr>
            <a:xfrm>
              <a:off x="-294832" y="4196948"/>
              <a:ext cx="2320348" cy="220272"/>
              <a:chOff x="-294832" y="4196948"/>
              <a:chExt cx="2320348" cy="220272"/>
            </a:xfrm>
          </p:grpSpPr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F38972F-6D4D-1444-87DA-5B726FFE57EB}"/>
                  </a:ext>
                </a:extLst>
              </p:cNvPr>
              <p:cNvSpPr/>
              <p:nvPr/>
            </p:nvSpPr>
            <p:spPr>
              <a:xfrm rot="5400000">
                <a:off x="459530" y="3460835"/>
                <a:ext cx="202023" cy="1710748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10" name="Left Brace 109">
                <a:extLst>
                  <a:ext uri="{FF2B5EF4-FFF2-40B4-BE49-F238E27FC236}">
                    <a16:creationId xmlns:a16="http://schemas.microsoft.com/office/drawing/2014/main" id="{8261A6DA-12B9-B641-8EEC-ED3F6521014C}"/>
                  </a:ext>
                </a:extLst>
              </p:cNvPr>
              <p:cNvSpPr/>
              <p:nvPr/>
            </p:nvSpPr>
            <p:spPr>
              <a:xfrm rot="5400000">
                <a:off x="1699368" y="4072824"/>
                <a:ext cx="202024" cy="450272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7EF9F458-C924-4047-99A0-0C486214E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6491" y="3825036"/>
              <a:ext cx="368300" cy="317500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E4334D7-B267-1E4A-9E29-9E1498288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6303" y="3927726"/>
              <a:ext cx="254000" cy="2159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5D1A4AB8-AC5D-0D4C-8E2C-5F74EEA4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2FD3A-70DF-9C42-9E39-4E84B23C8E8B}"/>
              </a:ext>
            </a:extLst>
          </p:cNvPr>
          <p:cNvCxnSpPr/>
          <p:nvPr/>
        </p:nvCxnSpPr>
        <p:spPr>
          <a:xfrm flipV="1">
            <a:off x="2200894" y="1068780"/>
            <a:ext cx="4600090" cy="2971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B8AE518-3AFF-964A-8E36-3E601667AF54}"/>
              </a:ext>
            </a:extLst>
          </p:cNvPr>
          <p:cNvGrpSpPr/>
          <p:nvPr/>
        </p:nvGrpSpPr>
        <p:grpSpPr>
          <a:xfrm>
            <a:off x="8324622" y="5666015"/>
            <a:ext cx="1853649" cy="933192"/>
            <a:chOff x="6800621" y="5666015"/>
            <a:chExt cx="1853649" cy="93319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6D1CC9A-8BF0-BF44-BE08-725399E6E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25470" y="6129307"/>
              <a:ext cx="1828800" cy="4699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F9DEBC-956A-FF47-ACCC-22DD5FB06489}"/>
                </a:ext>
              </a:extLst>
            </p:cNvPr>
            <p:cNvSpPr txBox="1"/>
            <p:nvPr/>
          </p:nvSpPr>
          <p:spPr>
            <a:xfrm>
              <a:off x="6800621" y="5666015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SOLUTION</a:t>
              </a:r>
            </a:p>
          </p:txBody>
        </p:sp>
      </p:grp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DE5EB46-160E-CA4C-BDF2-3A04E9E85657}"/>
              </a:ext>
            </a:extLst>
          </p:cNvPr>
          <p:cNvSpPr/>
          <p:nvPr/>
        </p:nvSpPr>
        <p:spPr>
          <a:xfrm>
            <a:off x="7859486" y="6270171"/>
            <a:ext cx="274320" cy="20693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285BD5A-2EA5-2CE8-82D7-5346C80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3A15FC-E674-895D-996F-502E640C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6190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37" y="2459504"/>
            <a:ext cx="33425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In Computer Vision ]</a:t>
            </a:r>
          </a:p>
          <a:p>
            <a:pPr algn="ctr" eaLnBrk="0" hangingPunct="0"/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Homography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Camera Calibration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Fundamental Matrix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8E169-B5A2-DBEF-9929-F6E47A17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C2E9F-442C-3261-0235-0D9F2567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6113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37" y="2459504"/>
            <a:ext cx="33425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In Computer Vision ]</a:t>
            </a:r>
          </a:p>
          <a:p>
            <a:pPr algn="ctr" eaLnBrk="0" hangingPunct="0"/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Homography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Camera Calibration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Fundamental Matrix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EDB01-8F55-41F7-E6A9-96716F6A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8C76DA-4CAE-89C6-8865-D449ACE4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62520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05FE41-E6FF-B140-BBA4-1DFC7D7545A5}"/>
              </a:ext>
            </a:extLst>
          </p:cNvPr>
          <p:cNvSpPr/>
          <p:nvPr/>
        </p:nvSpPr>
        <p:spPr>
          <a:xfrm>
            <a:off x="2323703" y="5374671"/>
            <a:ext cx="8053352" cy="1337856"/>
          </a:xfrm>
          <a:prstGeom prst="roundRect">
            <a:avLst>
              <a:gd name="adj" fmla="val 769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76" y="1618365"/>
            <a:ext cx="2384715" cy="318176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391" y="1633810"/>
            <a:ext cx="2335392" cy="3118032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 rot="5400000">
            <a:off x="1942702" y="2299857"/>
            <a:ext cx="1507067" cy="15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rot="5400000">
            <a:off x="6091373" y="2316790"/>
            <a:ext cx="1507067" cy="15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>
            <a:off x="2636969" y="1605591"/>
            <a:ext cx="1507067" cy="15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>
            <a:off x="6785636" y="1605591"/>
            <a:ext cx="1507067" cy="15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2323703" y="2596197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i="1" dirty="0" err="1">
                <a:latin typeface="Times New Roman"/>
                <a:cs typeface="Times New Roman"/>
              </a:rPr>
              <a:t>x</a:t>
            </a:r>
            <a:r>
              <a:rPr lang="es-ES_tradnl" sz="2400" i="1" dirty="0">
                <a:latin typeface="Times New Roman"/>
                <a:cs typeface="Times New Roman"/>
              </a:rPr>
              <a:t>’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3746078" y="113996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i="1" dirty="0">
                <a:latin typeface="Times New Roman"/>
                <a:cs typeface="Times New Roman"/>
              </a:rPr>
              <a:t>y’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6521053" y="2551747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i="1" dirty="0" err="1">
                <a:latin typeface="Times New Roman"/>
                <a:cs typeface="Times New Roman"/>
              </a:rPr>
              <a:t>x</a:t>
            </a:r>
            <a:endParaRPr lang="es-ES_tradnl" sz="2400" i="1" dirty="0">
              <a:latin typeface="Times New Roman"/>
              <a:cs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7943428" y="1095512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i="1" dirty="0"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17" name="Elipse 16"/>
          <p:cNvSpPr/>
          <p:nvPr/>
        </p:nvSpPr>
        <p:spPr>
          <a:xfrm>
            <a:off x="3878145" y="2325994"/>
            <a:ext cx="118534" cy="16933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8464680" y="2192907"/>
            <a:ext cx="118534" cy="16933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3757500" y="2440291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lang="es-ES_tradnl" dirty="0">
                <a:solidFill>
                  <a:srgbClr val="000000"/>
                </a:solidFill>
                <a:latin typeface="Times New Roman"/>
                <a:cs typeface="Times New Roman"/>
              </a:rPr>
              <a:t>’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8471051" y="2197141"/>
            <a:ext cx="441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latin typeface="Times New Roman"/>
                <a:cs typeface="Times New Roman"/>
              </a:rPr>
              <a:t>m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7" name="Forma libre 26"/>
          <p:cNvSpPr/>
          <p:nvPr/>
        </p:nvSpPr>
        <p:spPr>
          <a:xfrm flipV="1">
            <a:off x="4307068" y="848569"/>
            <a:ext cx="3911600" cy="381000"/>
          </a:xfrm>
          <a:custGeom>
            <a:avLst/>
            <a:gdLst>
              <a:gd name="connsiteX0" fmla="*/ 3911600 w 3911600"/>
              <a:gd name="connsiteY0" fmla="*/ 12700 h 624417"/>
              <a:gd name="connsiteX1" fmla="*/ 1917700 w 3911600"/>
              <a:gd name="connsiteY1" fmla="*/ 622300 h 624417"/>
              <a:gd name="connsiteX2" fmla="*/ 0 w 3911600"/>
              <a:gd name="connsiteY2" fmla="*/ 0 h 624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1600" h="624417">
                <a:moveTo>
                  <a:pt x="3911600" y="12700"/>
                </a:moveTo>
                <a:cubicBezTo>
                  <a:pt x="3240616" y="318558"/>
                  <a:pt x="2569633" y="624417"/>
                  <a:pt x="1917700" y="622300"/>
                </a:cubicBezTo>
                <a:cubicBezTo>
                  <a:pt x="1265767" y="620183"/>
                  <a:pt x="0" y="0"/>
                  <a:pt x="0" y="0"/>
                </a:cubicBezTo>
              </a:path>
            </a:pathLst>
          </a:custGeom>
          <a:ln>
            <a:solidFill>
              <a:srgbClr val="0D0D0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Homography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]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0F8D935-DAC0-0A47-91BC-F5E53A458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069" y="5484126"/>
            <a:ext cx="4129154" cy="1102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54044A-87BE-DB47-8B71-69B8D0A20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399" y="5761617"/>
            <a:ext cx="2260600" cy="38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1E67E6-A552-D84E-A60B-1443FC7EA5E5}"/>
              </a:ext>
            </a:extLst>
          </p:cNvPr>
          <p:cNvSpPr txBox="1"/>
          <p:nvPr/>
        </p:nvSpPr>
        <p:spPr>
          <a:xfrm>
            <a:off x="2323704" y="506774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847A6-D9B8-4C89-7176-B6D8AEDF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1157A-47CE-BDF1-3A01-F3E8E415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3248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1F0936-1474-2745-9A7E-98028488DE6F}"/>
              </a:ext>
            </a:extLst>
          </p:cNvPr>
          <p:cNvSpPr/>
          <p:nvPr/>
        </p:nvSpPr>
        <p:spPr>
          <a:xfrm>
            <a:off x="1636748" y="4209889"/>
            <a:ext cx="8878852" cy="1918158"/>
          </a:xfrm>
          <a:prstGeom prst="roundRect">
            <a:avLst>
              <a:gd name="adj" fmla="val 769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E961CB-422F-1840-AE0F-BA4738979B9E}"/>
              </a:ext>
            </a:extLst>
          </p:cNvPr>
          <p:cNvSpPr txBox="1"/>
          <p:nvPr/>
        </p:nvSpPr>
        <p:spPr>
          <a:xfrm>
            <a:off x="1841500" y="3698317"/>
            <a:ext cx="231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CORRESPONDENCE: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Homography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AEFBCB-6B72-C34B-AEC8-E680DE567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314834"/>
            <a:ext cx="8218487" cy="16826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B06943-CEB0-574D-B6B2-C3C439551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592" y="1487916"/>
            <a:ext cx="6184900" cy="1651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CA9568-ED69-6E40-9520-462772EB3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946" y="3707644"/>
            <a:ext cx="2122055" cy="350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084591-915C-6F4A-8D26-130972352467}"/>
              </a:ext>
            </a:extLst>
          </p:cNvPr>
          <p:cNvSpPr txBox="1"/>
          <p:nvPr/>
        </p:nvSpPr>
        <p:spPr>
          <a:xfrm>
            <a:off x="6542150" y="3698317"/>
            <a:ext cx="384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(for each correspondence: 2 equations)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2B188-230C-0896-3FA7-0A24E726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B0EAB-9188-0BD8-E735-31B6CACF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0627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Homography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E6FF5-F548-E84F-9F91-D0C63CB2F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176" y="2049636"/>
            <a:ext cx="8865695" cy="26747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179E8C7-75CA-144D-8A12-B0BED1E54286}"/>
              </a:ext>
            </a:extLst>
          </p:cNvPr>
          <p:cNvGrpSpPr/>
          <p:nvPr/>
        </p:nvGrpSpPr>
        <p:grpSpPr>
          <a:xfrm>
            <a:off x="1814514" y="1045868"/>
            <a:ext cx="7818303" cy="4747226"/>
            <a:chOff x="290513" y="1045868"/>
            <a:chExt cx="7818303" cy="47472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A086941-09AB-DC45-9A4A-68EFE510CEC9}"/>
                </a:ext>
              </a:extLst>
            </p:cNvPr>
            <p:cNvGrpSpPr/>
            <p:nvPr/>
          </p:nvGrpSpPr>
          <p:grpSpPr>
            <a:xfrm>
              <a:off x="290513" y="1451645"/>
              <a:ext cx="7818303" cy="421735"/>
              <a:chOff x="290513" y="1451645"/>
              <a:chExt cx="7818303" cy="421735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5FFA20E1-35EC-F64E-AD74-BB7675346585}"/>
                  </a:ext>
                </a:extLst>
              </p:cNvPr>
              <p:cNvSpPr/>
              <p:nvPr/>
            </p:nvSpPr>
            <p:spPr>
              <a:xfrm rot="5400000">
                <a:off x="3418593" y="-1676435"/>
                <a:ext cx="421734" cy="6677894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A006FF40-BE8D-DB40-84DF-3C6DBD8759D6}"/>
                  </a:ext>
                </a:extLst>
              </p:cNvPr>
              <p:cNvSpPr/>
              <p:nvPr/>
            </p:nvSpPr>
            <p:spPr>
              <a:xfrm rot="5400000">
                <a:off x="7482313" y="1246876"/>
                <a:ext cx="421734" cy="831273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419423E-918B-034B-93CB-6CD863C30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5310" y="1045868"/>
              <a:ext cx="3683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F7B4C4-FFE3-7A46-B44E-E30536BD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6180" y="1096668"/>
              <a:ext cx="254000" cy="215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98D240-5149-F943-8BB2-4E9CA617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B1689-B9D7-396A-DB78-7323AD61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2F68C-7DFF-A48F-F268-B5486DA7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425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37" y="2459504"/>
            <a:ext cx="33425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In Computer Vision ]</a:t>
            </a:r>
          </a:p>
          <a:p>
            <a:pPr algn="ctr" eaLnBrk="0" hangingPunct="0"/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Homography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Camera Calibration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Fundamental Matrix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94763-F9EA-B44B-0FE0-63C4931D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2DC04-5826-ECFF-A3DC-093E6844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778715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22EC2EF-56AB-4548-A554-5BBF25D294FE}"/>
              </a:ext>
            </a:extLst>
          </p:cNvPr>
          <p:cNvSpPr/>
          <p:nvPr/>
        </p:nvSpPr>
        <p:spPr>
          <a:xfrm>
            <a:off x="2323703" y="4723499"/>
            <a:ext cx="8053352" cy="1801812"/>
          </a:xfrm>
          <a:prstGeom prst="roundRect">
            <a:avLst>
              <a:gd name="adj" fmla="val 769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65F0A-8E58-1C4C-B855-E833104D48D8}"/>
              </a:ext>
            </a:extLst>
          </p:cNvPr>
          <p:cNvSpPr txBox="1"/>
          <p:nvPr/>
        </p:nvSpPr>
        <p:spPr>
          <a:xfrm>
            <a:off x="2323704" y="441657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Camera Calibration ]</a:t>
            </a: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AB3081F9-1E2C-3A48-9FB3-05F769BA2C3D}"/>
              </a:ext>
            </a:extLst>
          </p:cNvPr>
          <p:cNvSpPr>
            <a:spLocks/>
          </p:cNvSpPr>
          <p:nvPr/>
        </p:nvSpPr>
        <p:spPr bwMode="auto">
          <a:xfrm>
            <a:off x="6066520" y="1149206"/>
            <a:ext cx="1284288" cy="1801813"/>
          </a:xfrm>
          <a:custGeom>
            <a:avLst/>
            <a:gdLst>
              <a:gd name="T0" fmla="*/ 0 w 809"/>
              <a:gd name="T1" fmla="*/ 0 h 1135"/>
              <a:gd name="T2" fmla="*/ 809 w 809"/>
              <a:gd name="T3" fmla="*/ 276 h 1135"/>
              <a:gd name="T4" fmla="*/ 809 w 809"/>
              <a:gd name="T5" fmla="*/ 1135 h 1135"/>
              <a:gd name="T6" fmla="*/ 0 w 809"/>
              <a:gd name="T7" fmla="*/ 843 h 1135"/>
              <a:gd name="T8" fmla="*/ 0 w 809"/>
              <a:gd name="T9" fmla="*/ 0 h 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135"/>
              <a:gd name="T17" fmla="*/ 809 w 809"/>
              <a:gd name="T18" fmla="*/ 1135 h 1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135">
                <a:moveTo>
                  <a:pt x="0" y="0"/>
                </a:moveTo>
                <a:lnTo>
                  <a:pt x="809" y="276"/>
                </a:lnTo>
                <a:lnTo>
                  <a:pt x="809" y="1135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76844-C5C2-EA41-91ED-6275A19ABCD4}"/>
              </a:ext>
            </a:extLst>
          </p:cNvPr>
          <p:cNvCxnSpPr/>
          <p:nvPr/>
        </p:nvCxnSpPr>
        <p:spPr>
          <a:xfrm flipV="1">
            <a:off x="4113896" y="1745636"/>
            <a:ext cx="2379477" cy="1869096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23">
            <a:extLst>
              <a:ext uri="{FF2B5EF4-FFF2-40B4-BE49-F238E27FC236}">
                <a16:creationId xmlns:a16="http://schemas.microsoft.com/office/drawing/2014/main" id="{BEE9EC05-586E-9D41-BD4D-C318F66E0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283" y="3592368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9" name="Oval 24">
            <a:extLst>
              <a:ext uri="{FF2B5EF4-FFF2-40B4-BE49-F238E27FC236}">
                <a16:creationId xmlns:a16="http://schemas.microsoft.com/office/drawing/2014/main" id="{7C87D896-E886-B541-BD4C-D2FAA173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2446" y="1696893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637C05E1-31E1-DF44-91CB-0F2684E8B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595" y="140796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</a:p>
        </p:txBody>
      </p:sp>
      <p:grpSp>
        <p:nvGrpSpPr>
          <p:cNvPr id="12" name="Group 30">
            <a:extLst>
              <a:ext uri="{FF2B5EF4-FFF2-40B4-BE49-F238E27FC236}">
                <a16:creationId xmlns:a16="http://schemas.microsoft.com/office/drawing/2014/main" id="{23883FE9-7086-D846-965B-CADC86ADDE65}"/>
              </a:ext>
            </a:extLst>
          </p:cNvPr>
          <p:cNvGrpSpPr>
            <a:grpSpLocks/>
          </p:cNvGrpSpPr>
          <p:nvPr/>
        </p:nvGrpSpPr>
        <p:grpSpPr bwMode="auto">
          <a:xfrm>
            <a:off x="5398184" y="2235055"/>
            <a:ext cx="344487" cy="319088"/>
            <a:chOff x="2689" y="2006"/>
            <a:chExt cx="217" cy="201"/>
          </a:xfrm>
        </p:grpSpPr>
        <p:sp>
          <p:nvSpPr>
            <p:cNvPr id="13" name="Oval 31">
              <a:extLst>
                <a:ext uri="{FF2B5EF4-FFF2-40B4-BE49-F238E27FC236}">
                  <a16:creationId xmlns:a16="http://schemas.microsoft.com/office/drawing/2014/main" id="{7949F6D7-9538-5D4B-86F8-AB3473DD5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2160"/>
              <a:ext cx="47" cy="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14" name="Text Box 32">
              <a:extLst>
                <a:ext uri="{FF2B5EF4-FFF2-40B4-BE49-F238E27FC236}">
                  <a16:creationId xmlns:a16="http://schemas.microsoft.com/office/drawing/2014/main" id="{61F960F9-C129-6B42-9A95-8232916F1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2006"/>
              <a:ext cx="21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noProof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M</a:t>
              </a:r>
              <a:endParaRPr lang="en-US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15" name="Text Box 33">
            <a:extLst>
              <a:ext uri="{FF2B5EF4-FFF2-40B4-BE49-F238E27FC236}">
                <a16:creationId xmlns:a16="http://schemas.microsoft.com/office/drawing/2014/main" id="{8C63065D-2C2B-0D4C-B2FE-B83AE0D6E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770" y="3297094"/>
            <a:ext cx="344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endParaRPr lang="en-US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D21346-4E27-3740-A0E8-908C92CEEB54}"/>
              </a:ext>
            </a:extLst>
          </p:cNvPr>
          <p:cNvGrpSpPr/>
          <p:nvPr/>
        </p:nvGrpSpPr>
        <p:grpSpPr>
          <a:xfrm>
            <a:off x="6000145" y="2121350"/>
            <a:ext cx="380299" cy="471335"/>
            <a:chOff x="4870749" y="3070819"/>
            <a:chExt cx="380299" cy="47133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A33207-5CDA-2B42-A154-DA04F1AB3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687" y="3070819"/>
              <a:ext cx="0" cy="432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CABBF5A-3361-B344-9675-1AB4FACB3971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49" y="3415054"/>
              <a:ext cx="380299" cy="12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659A3F-DD94-0F48-B5C7-83EA05060F4F}"/>
              </a:ext>
            </a:extLst>
          </p:cNvPr>
          <p:cNvGrpSpPr/>
          <p:nvPr/>
        </p:nvGrpSpPr>
        <p:grpSpPr>
          <a:xfrm>
            <a:off x="5006357" y="3158093"/>
            <a:ext cx="1001138" cy="945028"/>
            <a:chOff x="1574892" y="2700149"/>
            <a:chExt cx="1001138" cy="94502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57BDCA-F0BE-EF4B-89E3-FCEF3AA94F9D}"/>
                </a:ext>
              </a:extLst>
            </p:cNvPr>
            <p:cNvCxnSpPr/>
            <p:nvPr/>
          </p:nvCxnSpPr>
          <p:spPr>
            <a:xfrm flipV="1">
              <a:off x="1915623" y="2723145"/>
              <a:ext cx="0" cy="6300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9A130EE-75B5-644C-9ECC-7D4B02462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0483" y="3288822"/>
              <a:ext cx="63469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B911D3-E870-554A-AE3A-F1870A915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4395" y="3242526"/>
              <a:ext cx="277565" cy="2996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8B8F449-C6B4-8447-B17D-E65950F0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892" y="3568977"/>
              <a:ext cx="88900" cy="762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CC8DE5B-6FA5-EA41-91D3-1C4970F72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7130" y="3250722"/>
              <a:ext cx="88900" cy="762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64B15E5-17B7-BC44-9571-885A8D8F0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52136" y="2700149"/>
              <a:ext cx="76200" cy="762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BF397B9-319B-B447-86D7-53026C84D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5861" y="4786717"/>
            <a:ext cx="5026313" cy="153631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5E41F2F-7D13-084B-9889-5B9381D06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2260" y="2599395"/>
            <a:ext cx="114300" cy="101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92A618A-BE2B-2047-9E41-B01CD2972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1732" y="2223517"/>
            <a:ext cx="101600" cy="101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3BC9D63-DB9F-6A45-8AB2-CCEB75A00A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1509" y="5389771"/>
            <a:ext cx="2082800" cy="330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AD-4424-CE35-F44C-A4CA634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5901-33B6-17B2-CD5D-15532811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77669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EDD8F9E-A510-0B4B-BECF-D0FB7D95A1E3}"/>
              </a:ext>
            </a:extLst>
          </p:cNvPr>
          <p:cNvSpPr/>
          <p:nvPr/>
        </p:nvSpPr>
        <p:spPr>
          <a:xfrm>
            <a:off x="1636748" y="4209889"/>
            <a:ext cx="8878852" cy="1918158"/>
          </a:xfrm>
          <a:prstGeom prst="roundRect">
            <a:avLst>
              <a:gd name="adj" fmla="val 769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Camera Calibration 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397B9-319B-B447-86D7-53026C84D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729953"/>
            <a:ext cx="7188200" cy="2197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33EDED-4180-C547-8D9D-ACB420F68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4468417"/>
            <a:ext cx="8509000" cy="12778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34C7BC-362D-E84E-925D-0696E0610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766" y="3743807"/>
            <a:ext cx="2046266" cy="278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B29EB-8826-A240-8B53-AC850177B07B}"/>
              </a:ext>
            </a:extLst>
          </p:cNvPr>
          <p:cNvSpPr txBox="1"/>
          <p:nvPr/>
        </p:nvSpPr>
        <p:spPr>
          <a:xfrm>
            <a:off x="1841500" y="3698317"/>
            <a:ext cx="231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CORRESPONDENCE: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E2797-1B44-4246-8F53-A4270310302B}"/>
              </a:ext>
            </a:extLst>
          </p:cNvPr>
          <p:cNvSpPr txBox="1"/>
          <p:nvPr/>
        </p:nvSpPr>
        <p:spPr>
          <a:xfrm>
            <a:off x="6542150" y="3698317"/>
            <a:ext cx="384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(for each correspondence: 2 equations)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34B419-25D2-E86E-579A-F856E9C2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B4F1E-C63D-5370-C758-9A785C80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6098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677B-1A43-4E80-7D34-98153094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3B0FD484-27CA-0F92-3CCB-20A6C769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EC08C-0541-2678-E686-B4DA3DFE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AF2975-4661-4CC1-2147-970C17B67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325059"/>
            <a:ext cx="8077200" cy="2080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3F1F8A-DFEF-3FC6-4D8D-536220321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822655"/>
            <a:ext cx="17018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1C60C-0D19-76E2-976F-BAA1B80E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1B8BC-EA05-2AF1-EA99-EC3D6EEC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53607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AD144-0D7C-2E93-D190-304C7CC4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99E99444-FE74-AE53-4470-F0749C78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C0FD5-92A1-4D08-7728-36FE63D1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9F4D95-27CA-E075-05CD-85771863B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174" y="276517"/>
            <a:ext cx="3521177" cy="906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AF2FBD-6539-3246-2868-3A9D1BF9A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822655"/>
            <a:ext cx="17018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7CE73-808D-4664-9A79-6C8D5A145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966" y="1443520"/>
            <a:ext cx="7772400" cy="54144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456D9-EE25-0F87-6C41-F21DA69B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565DA-1090-D60C-ED40-51FE5B75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036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79F6-8D2F-46D2-D0D6-61611033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96122065-78D0-08FF-4995-D4E8DFCC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Solution 1 ]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DB539-8B56-254D-52AE-F696C583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78" y="334020"/>
            <a:ext cx="1485900" cy="33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D1BF43-99DA-1246-A3FB-11555349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2470266"/>
            <a:ext cx="8077200" cy="19174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E45A34-A4B4-D312-498E-2E2DB0825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822655"/>
            <a:ext cx="1701800" cy="469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7390F-3E09-D9C6-5555-CBB1D55D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C3879-84AD-8161-C890-910140BD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40749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Camera Calibration 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77A0A-CF0A-6D46-9E17-BB044561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31" y="2494309"/>
            <a:ext cx="8666018" cy="186938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1EDD3F9-FE5A-4C4D-9C1B-AE84CCA4ABE5}"/>
              </a:ext>
            </a:extLst>
          </p:cNvPr>
          <p:cNvGrpSpPr/>
          <p:nvPr/>
        </p:nvGrpSpPr>
        <p:grpSpPr>
          <a:xfrm>
            <a:off x="2188591" y="1045868"/>
            <a:ext cx="7818303" cy="4747226"/>
            <a:chOff x="290513" y="1045868"/>
            <a:chExt cx="7818303" cy="474722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C7CBA23-1549-5C42-AF84-6553F887538F}"/>
                </a:ext>
              </a:extLst>
            </p:cNvPr>
            <p:cNvGrpSpPr/>
            <p:nvPr/>
          </p:nvGrpSpPr>
          <p:grpSpPr>
            <a:xfrm>
              <a:off x="290513" y="1451645"/>
              <a:ext cx="7818303" cy="421735"/>
              <a:chOff x="290513" y="1451645"/>
              <a:chExt cx="7818303" cy="421735"/>
            </a:xfrm>
          </p:grpSpPr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8DB52E10-2AC8-E74A-BC87-E9602A21BE97}"/>
                  </a:ext>
                </a:extLst>
              </p:cNvPr>
              <p:cNvSpPr/>
              <p:nvPr/>
            </p:nvSpPr>
            <p:spPr>
              <a:xfrm rot="5400000">
                <a:off x="3418593" y="-1676435"/>
                <a:ext cx="421734" cy="6677894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0" name="Left Brace 19">
                <a:extLst>
                  <a:ext uri="{FF2B5EF4-FFF2-40B4-BE49-F238E27FC236}">
                    <a16:creationId xmlns:a16="http://schemas.microsoft.com/office/drawing/2014/main" id="{B2FA2ED5-F275-3342-8552-9D8520944F4E}"/>
                  </a:ext>
                </a:extLst>
              </p:cNvPr>
              <p:cNvSpPr/>
              <p:nvPr/>
            </p:nvSpPr>
            <p:spPr>
              <a:xfrm rot="5400000">
                <a:off x="7482313" y="1246876"/>
                <a:ext cx="421734" cy="831273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F05F81-80EA-8949-AC70-461DD2D3D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5310" y="1045868"/>
              <a:ext cx="368300" cy="3175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9DE9DE-18EF-7F4E-B38E-327454102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6180" y="1096668"/>
              <a:ext cx="254000" cy="2159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E16A09F-810A-5A4E-BC16-A49579A83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AD45F-8993-62D6-400E-E5202A50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5B1E1-B18B-CAEA-9A7E-CA5B7913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38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37" y="2459504"/>
            <a:ext cx="33425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In Computer Vision ]</a:t>
            </a:r>
          </a:p>
          <a:p>
            <a:pPr algn="ctr" eaLnBrk="0" hangingPunct="0"/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Homography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Camera Calibration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Fundamental Matrix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1DEFD-7274-1783-3EFF-86D4860A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88840-F1E9-B3FD-A14F-F635D8AB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49827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6EF1DEC-9218-E94F-A991-638D4E67A802}"/>
              </a:ext>
            </a:extLst>
          </p:cNvPr>
          <p:cNvSpPr/>
          <p:nvPr/>
        </p:nvSpPr>
        <p:spPr>
          <a:xfrm>
            <a:off x="1690256" y="5208239"/>
            <a:ext cx="8769927" cy="1555373"/>
          </a:xfrm>
          <a:prstGeom prst="roundRect">
            <a:avLst>
              <a:gd name="adj" fmla="val 769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F456D4-98C3-C649-B49C-13E679EE0DC3}"/>
              </a:ext>
            </a:extLst>
          </p:cNvPr>
          <p:cNvSpPr txBox="1"/>
          <p:nvPr/>
        </p:nvSpPr>
        <p:spPr>
          <a:xfrm>
            <a:off x="1681596" y="4882617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Fundamental Matrix: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Epipolar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Geometry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785176-ADE6-7442-9AF1-D289E86C659F}"/>
              </a:ext>
            </a:extLst>
          </p:cNvPr>
          <p:cNvGrpSpPr/>
          <p:nvPr/>
        </p:nvGrpSpPr>
        <p:grpSpPr>
          <a:xfrm>
            <a:off x="2290842" y="1358845"/>
            <a:ext cx="7610317" cy="2603560"/>
            <a:chOff x="803707" y="3748755"/>
            <a:chExt cx="7610317" cy="26035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762CC1-C9D5-CD47-B78B-B31512665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707" y="3748755"/>
              <a:ext cx="3471413" cy="26035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7F0592-8FE6-824F-BC41-8752C50A6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2611" y="3748755"/>
              <a:ext cx="3471413" cy="26035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5A1EE5-C2CB-C543-91BA-AFF9DEC8C6A8}"/>
                </a:ext>
              </a:extLst>
            </p:cNvPr>
            <p:cNvSpPr txBox="1"/>
            <p:nvPr/>
          </p:nvSpPr>
          <p:spPr>
            <a:xfrm>
              <a:off x="3736058" y="5655675"/>
              <a:ext cx="458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"/>
                  <a:cs typeface="Times"/>
                </a:rPr>
                <a:t>I</a:t>
              </a:r>
              <a:r>
                <a:rPr lang="en-US" sz="3200" baseline="-25000" dirty="0">
                  <a:solidFill>
                    <a:srgbClr val="FFFFFF"/>
                  </a:solidFill>
                  <a:latin typeface="Times"/>
                  <a:cs typeface="Times"/>
                </a:rPr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B395AB-A860-9545-A0ED-DEBCFF131813}"/>
                </a:ext>
              </a:extLst>
            </p:cNvPr>
            <p:cNvSpPr txBox="1"/>
            <p:nvPr/>
          </p:nvSpPr>
          <p:spPr>
            <a:xfrm>
              <a:off x="7901605" y="5640543"/>
              <a:ext cx="458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"/>
                  <a:cs typeface="Times"/>
                </a:rPr>
                <a:t>I</a:t>
              </a:r>
              <a:r>
                <a:rPr lang="en-US" sz="3200" baseline="-25000" dirty="0">
                  <a:solidFill>
                    <a:srgbClr val="FFFFFF"/>
                  </a:solidFill>
                  <a:latin typeface="Times"/>
                  <a:cs typeface="Time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05E176-0129-6241-BE14-E80B756CC3D6}"/>
              </a:ext>
            </a:extLst>
          </p:cNvPr>
          <p:cNvGrpSpPr/>
          <p:nvPr/>
        </p:nvGrpSpPr>
        <p:grpSpPr>
          <a:xfrm>
            <a:off x="3744445" y="1629112"/>
            <a:ext cx="3903013" cy="533392"/>
            <a:chOff x="2257310" y="4019022"/>
            <a:chExt cx="3903013" cy="53339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1D9D93-1857-C743-A0FA-49A76A2F98C0}"/>
                </a:ext>
              </a:extLst>
            </p:cNvPr>
            <p:cNvGrpSpPr/>
            <p:nvPr/>
          </p:nvGrpSpPr>
          <p:grpSpPr>
            <a:xfrm>
              <a:off x="2257310" y="4163813"/>
              <a:ext cx="308098" cy="388601"/>
              <a:chOff x="2370557" y="3070069"/>
              <a:chExt cx="308098" cy="388601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6988F26-0305-4545-B604-A44E9E77D738}"/>
                  </a:ext>
                </a:extLst>
              </p:cNvPr>
              <p:cNvSpPr/>
              <p:nvPr/>
            </p:nvSpPr>
            <p:spPr>
              <a:xfrm>
                <a:off x="2495534" y="3396506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949B39-7572-A94A-A107-D38677C6F731}"/>
                  </a:ext>
                </a:extLst>
              </p:cNvPr>
              <p:cNvSpPr txBox="1"/>
              <p:nvPr/>
            </p:nvSpPr>
            <p:spPr>
              <a:xfrm>
                <a:off x="2370557" y="307006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1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9589962-8C09-924B-AAA4-35A486FADDA2}"/>
                </a:ext>
              </a:extLst>
            </p:cNvPr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7FC4BD-6656-B144-BFAA-C693A2273D7C}"/>
                  </a:ext>
                </a:extLst>
              </p:cNvPr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538C20-EE55-AB44-8781-79581F6F2C7A}"/>
                  </a:ext>
                </a:extLst>
              </p:cNvPr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1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5BD796-7FA4-2843-8838-A998C9B17F71}"/>
              </a:ext>
            </a:extLst>
          </p:cNvPr>
          <p:cNvGrpSpPr/>
          <p:nvPr/>
        </p:nvGrpSpPr>
        <p:grpSpPr>
          <a:xfrm>
            <a:off x="2557571" y="1360876"/>
            <a:ext cx="4449500" cy="579574"/>
            <a:chOff x="1710823" y="4019022"/>
            <a:chExt cx="4449500" cy="57957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B65B07-8FA2-4346-B3B4-C6ED29B0BA3F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B9A6F03-41EA-8341-B3E8-537F5B2A1B97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E03357-1436-3248-8EDC-40DB4A8F7B88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2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20D9B5F-3D9D-1145-B690-4668890B2C80}"/>
                </a:ext>
              </a:extLst>
            </p:cNvPr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1F0165E-B525-D246-A640-E9ECB083D23E}"/>
                  </a:ext>
                </a:extLst>
              </p:cNvPr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4E59AA-101F-354B-96D4-41EE7CAAC016}"/>
                  </a:ext>
                </a:extLst>
              </p:cNvPr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8C16AC-509F-E745-892E-9C0D1EC297AC}"/>
              </a:ext>
            </a:extLst>
          </p:cNvPr>
          <p:cNvGrpSpPr/>
          <p:nvPr/>
        </p:nvGrpSpPr>
        <p:grpSpPr>
          <a:xfrm>
            <a:off x="4945677" y="1309279"/>
            <a:ext cx="4434106" cy="659448"/>
            <a:chOff x="1710823" y="4048358"/>
            <a:chExt cx="4434106" cy="6594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393741-6298-8444-8668-A909AE59A9AA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A939DD1-F862-6D44-941A-28EA54744F65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A1A291-0763-394B-B457-A473F8F090BE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3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F0817F8-5169-BF47-A324-C90F70AC267F}"/>
                </a:ext>
              </a:extLst>
            </p:cNvPr>
            <p:cNvGrpSpPr/>
            <p:nvPr/>
          </p:nvGrpSpPr>
          <p:grpSpPr>
            <a:xfrm>
              <a:off x="5836831" y="4196053"/>
              <a:ext cx="308098" cy="511753"/>
              <a:chOff x="2355163" y="3108554"/>
              <a:chExt cx="308098" cy="511753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02D268E-A37B-024C-BEC6-E8F613DAFBFA}"/>
                  </a:ext>
                </a:extLst>
              </p:cNvPr>
              <p:cNvSpPr/>
              <p:nvPr/>
            </p:nvSpPr>
            <p:spPr>
              <a:xfrm>
                <a:off x="2487837" y="3558143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DCCAEC-172F-9743-B642-3F3B4786EFD3}"/>
                  </a:ext>
                </a:extLst>
              </p:cNvPr>
              <p:cNvSpPr txBox="1"/>
              <p:nvPr/>
            </p:nvSpPr>
            <p:spPr>
              <a:xfrm>
                <a:off x="2355163" y="310855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3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B789ACE-5CE0-C349-A96A-1D99A3C61587}"/>
              </a:ext>
            </a:extLst>
          </p:cNvPr>
          <p:cNvGrpSpPr/>
          <p:nvPr/>
        </p:nvGrpSpPr>
        <p:grpSpPr>
          <a:xfrm>
            <a:off x="2768173" y="1805087"/>
            <a:ext cx="4324039" cy="547824"/>
            <a:chOff x="1710823" y="4050772"/>
            <a:chExt cx="4324039" cy="54782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F1B4534-23E5-6C42-8BAA-1063646C7F49}"/>
                </a:ext>
              </a:extLst>
            </p:cNvPr>
            <p:cNvGrpSpPr/>
            <p:nvPr/>
          </p:nvGrpSpPr>
          <p:grpSpPr>
            <a:xfrm>
              <a:off x="1710823" y="4109934"/>
              <a:ext cx="308098" cy="488662"/>
              <a:chOff x="1824070" y="3016190"/>
              <a:chExt cx="308098" cy="488662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4BBA137-8D99-9440-9765-627F9485BB77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D825F2-DC61-394D-B012-92E48C594FC6}"/>
                  </a:ext>
                </a:extLst>
              </p:cNvPr>
              <p:cNvSpPr txBox="1"/>
              <p:nvPr/>
            </p:nvSpPr>
            <p:spPr>
              <a:xfrm>
                <a:off x="1824070" y="301619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4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CFF53E-5318-2643-A3B3-70D8FECDC77C}"/>
                </a:ext>
              </a:extLst>
            </p:cNvPr>
            <p:cNvGrpSpPr/>
            <p:nvPr/>
          </p:nvGrpSpPr>
          <p:grpSpPr>
            <a:xfrm>
              <a:off x="5726764" y="4050772"/>
              <a:ext cx="308098" cy="448253"/>
              <a:chOff x="2245096" y="2963273"/>
              <a:chExt cx="308098" cy="448253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2014BF0-A086-6446-BDF9-AA29BEE6EB4E}"/>
                  </a:ext>
                </a:extLst>
              </p:cNvPr>
              <p:cNvSpPr/>
              <p:nvPr/>
            </p:nvSpPr>
            <p:spPr>
              <a:xfrm>
                <a:off x="2377770" y="334936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215CF9-1701-C04B-96B3-36EEAB066CF2}"/>
                  </a:ext>
                </a:extLst>
              </p:cNvPr>
              <p:cNvSpPr txBox="1"/>
              <p:nvPr/>
            </p:nvSpPr>
            <p:spPr>
              <a:xfrm>
                <a:off x="2245096" y="29632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4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3C40-17CF-AC46-876E-26D238E2E955}"/>
              </a:ext>
            </a:extLst>
          </p:cNvPr>
          <p:cNvGrpSpPr/>
          <p:nvPr/>
        </p:nvGrpSpPr>
        <p:grpSpPr>
          <a:xfrm>
            <a:off x="3005006" y="2333767"/>
            <a:ext cx="4243911" cy="616118"/>
            <a:chOff x="1724535" y="3982478"/>
            <a:chExt cx="4243911" cy="61611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40971A4-8BCC-514D-ABCD-E309272DA641}"/>
                </a:ext>
              </a:extLst>
            </p:cNvPr>
            <p:cNvGrpSpPr/>
            <p:nvPr/>
          </p:nvGrpSpPr>
          <p:grpSpPr>
            <a:xfrm>
              <a:off x="1724535" y="4048358"/>
              <a:ext cx="308098" cy="550238"/>
              <a:chOff x="1837782" y="2954614"/>
              <a:chExt cx="308098" cy="550238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F29FB56-A177-4E41-8C54-F49204E953FB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D611025-2720-5948-9BE0-4E2E953DABD1}"/>
                  </a:ext>
                </a:extLst>
              </p:cNvPr>
              <p:cNvSpPr txBox="1"/>
              <p:nvPr/>
            </p:nvSpPr>
            <p:spPr>
              <a:xfrm>
                <a:off x="1837782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5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3C1A481-B569-4544-BAE6-26D5CCB87B60}"/>
                </a:ext>
              </a:extLst>
            </p:cNvPr>
            <p:cNvGrpSpPr/>
            <p:nvPr/>
          </p:nvGrpSpPr>
          <p:grpSpPr>
            <a:xfrm>
              <a:off x="5660348" y="3982478"/>
              <a:ext cx="308098" cy="511753"/>
              <a:chOff x="2178680" y="2894979"/>
              <a:chExt cx="308098" cy="511753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3BDAA4B-7E87-1C49-BCC1-63B68793F1D2}"/>
                  </a:ext>
                </a:extLst>
              </p:cNvPr>
              <p:cNvSpPr/>
              <p:nvPr/>
            </p:nvSpPr>
            <p:spPr>
              <a:xfrm>
                <a:off x="2311354" y="334456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A5FA62-6CF4-6842-97F1-78BFA9E6179C}"/>
                  </a:ext>
                </a:extLst>
              </p:cNvPr>
              <p:cNvSpPr txBox="1"/>
              <p:nvPr/>
            </p:nvSpPr>
            <p:spPr>
              <a:xfrm>
                <a:off x="2178680" y="289497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5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266E883-6158-934A-8D17-230D9A7AA4A8}"/>
              </a:ext>
            </a:extLst>
          </p:cNvPr>
          <p:cNvGrpSpPr/>
          <p:nvPr/>
        </p:nvGrpSpPr>
        <p:grpSpPr>
          <a:xfrm>
            <a:off x="2557571" y="3066462"/>
            <a:ext cx="4449500" cy="579574"/>
            <a:chOff x="1710823" y="4019022"/>
            <a:chExt cx="4449500" cy="57957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5207EFA-2286-D144-9E4F-BB96AB7C88A0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E9C0675-96E9-3042-A92C-434B313E6CBE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A720A94-8F22-CE48-AE35-4C153138739D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6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3E2E2FE-6CE7-074B-B637-2ABCDEDB9FAD}"/>
                </a:ext>
              </a:extLst>
            </p:cNvPr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0C3FC23-FE79-4543-8A78-0902A4536C73}"/>
                  </a:ext>
                </a:extLst>
              </p:cNvPr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78A9BE-20A2-6842-BEA5-D0D3B1021F47}"/>
                  </a:ext>
                </a:extLst>
              </p:cNvPr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6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C49B244-D258-8940-B5EB-DBD080AE17D8}"/>
              </a:ext>
            </a:extLst>
          </p:cNvPr>
          <p:cNvGrpSpPr/>
          <p:nvPr/>
        </p:nvGrpSpPr>
        <p:grpSpPr>
          <a:xfrm>
            <a:off x="3744445" y="3295101"/>
            <a:ext cx="3873869" cy="550238"/>
            <a:chOff x="1710823" y="4048358"/>
            <a:chExt cx="3873869" cy="55023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140A373-B31C-EA4D-B943-746892619B61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2404002-3142-E84B-890F-076DEDE88124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CDE2657-24FF-EF45-9BBE-51947EA57CD9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F4E9748-0218-1743-96DA-FD229471D444}"/>
                </a:ext>
              </a:extLst>
            </p:cNvPr>
            <p:cNvGrpSpPr/>
            <p:nvPr/>
          </p:nvGrpSpPr>
          <p:grpSpPr>
            <a:xfrm>
              <a:off x="5276594" y="4055566"/>
              <a:ext cx="308098" cy="511753"/>
              <a:chOff x="1794926" y="2968067"/>
              <a:chExt cx="308098" cy="511753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C5E99D4-F5C4-1745-817D-F6E0A6622024}"/>
                  </a:ext>
                </a:extLst>
              </p:cNvPr>
              <p:cNvSpPr/>
              <p:nvPr/>
            </p:nvSpPr>
            <p:spPr>
              <a:xfrm>
                <a:off x="1927600" y="3417656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D3A4D44-10C6-C04C-85EE-7F8CED9582BF}"/>
                  </a:ext>
                </a:extLst>
              </p:cNvPr>
              <p:cNvSpPr txBox="1"/>
              <p:nvPr/>
            </p:nvSpPr>
            <p:spPr>
              <a:xfrm>
                <a:off x="1794926" y="2968067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A4A0FC5-56C5-434F-B80D-3524D5E6C49F}"/>
              </a:ext>
            </a:extLst>
          </p:cNvPr>
          <p:cNvGrpSpPr/>
          <p:nvPr/>
        </p:nvGrpSpPr>
        <p:grpSpPr>
          <a:xfrm>
            <a:off x="4913339" y="3005315"/>
            <a:ext cx="4440363" cy="637729"/>
            <a:chOff x="1710823" y="4048358"/>
            <a:chExt cx="4440363" cy="63772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EFAA781-EE9B-5048-B268-DC967545D189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AB0372-AED2-1647-A85E-B530256520BA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B223731-0389-DF4F-9902-EF14C710A986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8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EE4CBA2-1CD2-4C4C-9CD6-A9AF07C61842}"/>
                </a:ext>
              </a:extLst>
            </p:cNvPr>
            <p:cNvGrpSpPr/>
            <p:nvPr/>
          </p:nvGrpSpPr>
          <p:grpSpPr>
            <a:xfrm>
              <a:off x="5843088" y="4174334"/>
              <a:ext cx="308098" cy="511753"/>
              <a:chOff x="2361420" y="3086835"/>
              <a:chExt cx="308098" cy="511753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1161EB6A-060B-3D48-98C5-5AA435DF29BD}"/>
                  </a:ext>
                </a:extLst>
              </p:cNvPr>
              <p:cNvSpPr/>
              <p:nvPr/>
            </p:nvSpPr>
            <p:spPr>
              <a:xfrm>
                <a:off x="2494094" y="3536424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FC6E165-9CD0-FC43-878B-864B805456E5}"/>
                  </a:ext>
                </a:extLst>
              </p:cNvPr>
              <p:cNvSpPr txBox="1"/>
              <p:nvPr/>
            </p:nvSpPr>
            <p:spPr>
              <a:xfrm>
                <a:off x="2361420" y="308683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8</a:t>
                </a: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D9B301-7DEE-9C4A-A1C4-FB92577533E6}"/>
              </a:ext>
            </a:extLst>
          </p:cNvPr>
          <p:cNvGrpSpPr/>
          <p:nvPr/>
        </p:nvGrpSpPr>
        <p:grpSpPr>
          <a:xfrm>
            <a:off x="4345521" y="2428983"/>
            <a:ext cx="4120568" cy="550238"/>
            <a:chOff x="1710823" y="4048358"/>
            <a:chExt cx="4120568" cy="55023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2A77A2A-0C81-1048-9620-299D64E1976C}"/>
                </a:ext>
              </a:extLst>
            </p:cNvPr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F6F0175-3500-FE4C-83B0-040D77C7C81A}"/>
                  </a:ext>
                </a:extLst>
              </p:cNvPr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FA6FB4E-769C-0946-AF76-110823C70D47}"/>
                  </a:ext>
                </a:extLst>
              </p:cNvPr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9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D74BA9E-C045-6E47-AF1C-6C945A461D72}"/>
                </a:ext>
              </a:extLst>
            </p:cNvPr>
            <p:cNvGrpSpPr/>
            <p:nvPr/>
          </p:nvGrpSpPr>
          <p:grpSpPr>
            <a:xfrm>
              <a:off x="5523293" y="4082974"/>
              <a:ext cx="308098" cy="511753"/>
              <a:chOff x="2041625" y="2995475"/>
              <a:chExt cx="308098" cy="511753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07CB525-E953-6145-972E-F2CD3AC72B47}"/>
                  </a:ext>
                </a:extLst>
              </p:cNvPr>
              <p:cNvSpPr/>
              <p:nvPr/>
            </p:nvSpPr>
            <p:spPr>
              <a:xfrm>
                <a:off x="2174299" y="3445064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6BB042-91AC-D346-B064-6B93EA3F7478}"/>
                  </a:ext>
                </a:extLst>
              </p:cNvPr>
              <p:cNvSpPr txBox="1"/>
              <p:nvPr/>
            </p:nvSpPr>
            <p:spPr>
              <a:xfrm>
                <a:off x="2041625" y="2995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9</a:t>
                </a:r>
              </a:p>
            </p:txBody>
          </p:sp>
        </p:grp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D791330-26FE-C946-A11C-B0B384B14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295" y="5741224"/>
            <a:ext cx="2118406" cy="45627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606E8BD-75F3-6C4D-8D69-BDF6649C4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685" y="5407542"/>
            <a:ext cx="5393451" cy="1123636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397CE16-63AC-5140-ACCE-E67EEFD603EF}"/>
              </a:ext>
            </a:extLst>
          </p:cNvPr>
          <p:cNvCxnSpPr>
            <a:cxnSpLocks/>
          </p:cNvCxnSpPr>
          <p:nvPr/>
        </p:nvCxnSpPr>
        <p:spPr>
          <a:xfrm flipV="1">
            <a:off x="6436866" y="2162504"/>
            <a:ext cx="3464292" cy="17522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E6F55A0-FF28-1149-896F-715A49E6DA77}"/>
              </a:ext>
            </a:extLst>
          </p:cNvPr>
          <p:cNvSpPr/>
          <p:nvPr/>
        </p:nvSpPr>
        <p:spPr>
          <a:xfrm>
            <a:off x="4365533" y="2815916"/>
            <a:ext cx="252000" cy="252000"/>
          </a:xfrm>
          <a:prstGeom prst="ellipse">
            <a:avLst/>
          </a:prstGeom>
          <a:noFill/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0831E-1579-DC4D-B66C-046D4AE80E1E}"/>
              </a:ext>
            </a:extLst>
          </p:cNvPr>
          <p:cNvSpPr/>
          <p:nvPr/>
        </p:nvSpPr>
        <p:spPr>
          <a:xfrm>
            <a:off x="5871358" y="4015611"/>
            <a:ext cx="1018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Gill Sans MT" panose="020B0502020104020203" pitchFamily="34" charset="77"/>
              </a:rPr>
              <a:t>Epipolar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 </a:t>
            </a:r>
          </a:p>
          <a:p>
            <a:pPr algn="ctr"/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Line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ED670-3A2E-B4EF-3F24-6FE32114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8B83984D-0CC7-4F50-FDB0-BBDDD71B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5466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A509F548-A23A-734A-8F51-13B0A649BC44}"/>
              </a:ext>
            </a:extLst>
          </p:cNvPr>
          <p:cNvSpPr/>
          <p:nvPr/>
        </p:nvSpPr>
        <p:spPr>
          <a:xfrm>
            <a:off x="1636748" y="3560618"/>
            <a:ext cx="8878852" cy="3228106"/>
          </a:xfrm>
          <a:prstGeom prst="roundRect">
            <a:avLst>
              <a:gd name="adj" fmla="val 769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817D23-0A17-294B-B948-FB0EFA311711}"/>
              </a:ext>
            </a:extLst>
          </p:cNvPr>
          <p:cNvSpPr txBox="1"/>
          <p:nvPr/>
        </p:nvSpPr>
        <p:spPr>
          <a:xfrm>
            <a:off x="1841500" y="3157990"/>
            <a:ext cx="231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CORRESPONDENCE: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Fundamental Matrix: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Epipolar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Geometry ]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E606E8BD-75F3-6C4D-8D69-BDF6649C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133" y="1346693"/>
            <a:ext cx="7111247" cy="148151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E51F73A-2CED-F546-9DFB-508883991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472" y="3670596"/>
            <a:ext cx="7260965" cy="30555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9688C0-E9BF-F347-9B2D-C0E621472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767" y="3143954"/>
            <a:ext cx="2651991" cy="352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34EA6-8CFB-0B40-BC3D-BFEC1A624C28}"/>
              </a:ext>
            </a:extLst>
          </p:cNvPr>
          <p:cNvSpPr txBox="1"/>
          <p:nvPr/>
        </p:nvSpPr>
        <p:spPr>
          <a:xfrm>
            <a:off x="6542150" y="3152054"/>
            <a:ext cx="375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(for each correspondence: 1 equation)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AE874-25AC-8D3B-9847-D91CB9BF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9AA18-701B-BA4B-B78B-3897B154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58230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Fundamental Matrix: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</a:rPr>
              <a:t>Epipolar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 Geometry 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BDCFD-F2F9-CC4B-B8D5-896BD67A3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01" y="1848719"/>
            <a:ext cx="8745167" cy="33822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E23E8F4-4B40-2546-8525-5C35FB7760FC}"/>
              </a:ext>
            </a:extLst>
          </p:cNvPr>
          <p:cNvGrpSpPr/>
          <p:nvPr/>
        </p:nvGrpSpPr>
        <p:grpSpPr>
          <a:xfrm>
            <a:off x="1814514" y="1045868"/>
            <a:ext cx="7818303" cy="4747226"/>
            <a:chOff x="290513" y="1045868"/>
            <a:chExt cx="7818303" cy="47472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180B4D-90C6-2E40-827E-96F02E9BB00B}"/>
                </a:ext>
              </a:extLst>
            </p:cNvPr>
            <p:cNvGrpSpPr/>
            <p:nvPr/>
          </p:nvGrpSpPr>
          <p:grpSpPr>
            <a:xfrm>
              <a:off x="290513" y="1451645"/>
              <a:ext cx="7818303" cy="421735"/>
              <a:chOff x="290513" y="1451645"/>
              <a:chExt cx="7818303" cy="421735"/>
            </a:xfrm>
          </p:grpSpPr>
          <p:sp>
            <p:nvSpPr>
              <p:cNvPr id="2" name="Left Brace 1">
                <a:extLst>
                  <a:ext uri="{FF2B5EF4-FFF2-40B4-BE49-F238E27FC236}">
                    <a16:creationId xmlns:a16="http://schemas.microsoft.com/office/drawing/2014/main" id="{FC712028-3496-854F-A311-03AA6FC2A77A}"/>
                  </a:ext>
                </a:extLst>
              </p:cNvPr>
              <p:cNvSpPr/>
              <p:nvPr/>
            </p:nvSpPr>
            <p:spPr>
              <a:xfrm rot="5400000">
                <a:off x="3418593" y="-1676435"/>
                <a:ext cx="421734" cy="6677894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" name="Left Brace 6">
                <a:extLst>
                  <a:ext uri="{FF2B5EF4-FFF2-40B4-BE49-F238E27FC236}">
                    <a16:creationId xmlns:a16="http://schemas.microsoft.com/office/drawing/2014/main" id="{06FD8BD0-E976-2D4B-957D-FA7981687676}"/>
                  </a:ext>
                </a:extLst>
              </p:cNvPr>
              <p:cNvSpPr/>
              <p:nvPr/>
            </p:nvSpPr>
            <p:spPr>
              <a:xfrm rot="5400000">
                <a:off x="7482313" y="1246876"/>
                <a:ext cx="421734" cy="831273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90CA7BE-C1CC-684A-BD8B-70F54DCA4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5310" y="1045868"/>
              <a:ext cx="368300" cy="3175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F562C8-CD08-AD4E-9DA5-8340AE387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6180" y="1096668"/>
              <a:ext cx="254000" cy="2159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5316A07-4A87-1047-86F6-00A781A1E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17F626-36D9-7246-90FD-7F7904F3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3C82B-8E74-339C-30CF-08756329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9177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2902" y="3198168"/>
            <a:ext cx="27661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Outliers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4B527-3094-AEE4-C4C3-AF350332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5E4C61-3A67-E1DF-2718-7A903317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215609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569D9CF-3CCD-ED43-8CE7-C4468DC39A54}"/>
              </a:ext>
            </a:extLst>
          </p:cNvPr>
          <p:cNvGrpSpPr/>
          <p:nvPr/>
        </p:nvGrpSpPr>
        <p:grpSpPr>
          <a:xfrm>
            <a:off x="7145822" y="793218"/>
            <a:ext cx="3191978" cy="3616463"/>
            <a:chOff x="5621822" y="793217"/>
            <a:chExt cx="3191978" cy="361646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EE9012-38E7-A24D-9C62-D4E98B95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4700" y="1257300"/>
              <a:ext cx="1778000" cy="355600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8C6461D-822C-B24D-8A5C-3F623883FFCC}"/>
                </a:ext>
              </a:extLst>
            </p:cNvPr>
            <p:cNvSpPr txBox="1"/>
            <p:nvPr/>
          </p:nvSpPr>
          <p:spPr>
            <a:xfrm>
              <a:off x="5789613" y="79321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MODEL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55663E-CCBA-F341-B528-C331B7F83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7713" y="1905000"/>
              <a:ext cx="2222500" cy="533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50A7F0-17F6-C74F-8B9A-A7D0B64E3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5963" y="2596651"/>
              <a:ext cx="2540000" cy="533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4C3AD5-80FC-A84E-A49A-D1EC8B81A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5800" y="3399531"/>
              <a:ext cx="3048000" cy="41910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1CFF619-2408-DE45-AB15-59CF8B383ECD}"/>
                </a:ext>
              </a:extLst>
            </p:cNvPr>
            <p:cNvSpPr txBox="1"/>
            <p:nvPr/>
          </p:nvSpPr>
          <p:spPr>
            <a:xfrm>
              <a:off x="5621822" y="4040348"/>
              <a:ext cx="2728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(for each point: 1 equation)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EDFBE9A-BC56-0245-9152-BF4A90F63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613" y="5153483"/>
            <a:ext cx="3194508" cy="1458179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3367A85-C2A8-6F41-9991-3588F8085B4A}"/>
              </a:ext>
            </a:extLst>
          </p:cNvPr>
          <p:cNvGrpSpPr/>
          <p:nvPr/>
        </p:nvGrpSpPr>
        <p:grpSpPr>
          <a:xfrm>
            <a:off x="1934152" y="4561299"/>
            <a:ext cx="5609782" cy="1968058"/>
            <a:chOff x="-294832" y="3825036"/>
            <a:chExt cx="5609782" cy="196805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AB8B477-3558-FC4B-8B94-E8A4DD8EC47C}"/>
                </a:ext>
              </a:extLst>
            </p:cNvPr>
            <p:cNvGrpSpPr/>
            <p:nvPr/>
          </p:nvGrpSpPr>
          <p:grpSpPr>
            <a:xfrm>
              <a:off x="-294832" y="4196948"/>
              <a:ext cx="2320348" cy="220272"/>
              <a:chOff x="-294832" y="4196948"/>
              <a:chExt cx="2320348" cy="220272"/>
            </a:xfrm>
          </p:grpSpPr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F38972F-6D4D-1444-87DA-5B726FFE57EB}"/>
                  </a:ext>
                </a:extLst>
              </p:cNvPr>
              <p:cNvSpPr/>
              <p:nvPr/>
            </p:nvSpPr>
            <p:spPr>
              <a:xfrm rot="5400000">
                <a:off x="459530" y="3460835"/>
                <a:ext cx="202023" cy="1710748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10" name="Left Brace 109">
                <a:extLst>
                  <a:ext uri="{FF2B5EF4-FFF2-40B4-BE49-F238E27FC236}">
                    <a16:creationId xmlns:a16="http://schemas.microsoft.com/office/drawing/2014/main" id="{8261A6DA-12B9-B641-8EEC-ED3F6521014C}"/>
                  </a:ext>
                </a:extLst>
              </p:cNvPr>
              <p:cNvSpPr/>
              <p:nvPr/>
            </p:nvSpPr>
            <p:spPr>
              <a:xfrm rot="5400000">
                <a:off x="1699368" y="4072824"/>
                <a:ext cx="202024" cy="450272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7EF9F458-C924-4047-99A0-0C486214E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6491" y="3825036"/>
              <a:ext cx="368300" cy="317500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E4334D7-B267-1E4A-9E29-9E1498288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6303" y="3927726"/>
              <a:ext cx="254000" cy="2159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5D1A4AB8-AC5D-0D4C-8E2C-5F74EEA4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9050" y="5462894"/>
              <a:ext cx="1485900" cy="330200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2FD3A-70DF-9C42-9E39-4E84B23C8E8B}"/>
              </a:ext>
            </a:extLst>
          </p:cNvPr>
          <p:cNvCxnSpPr>
            <a:cxnSpLocks/>
          </p:cNvCxnSpPr>
          <p:nvPr/>
        </p:nvCxnSpPr>
        <p:spPr>
          <a:xfrm>
            <a:off x="3136900" y="952500"/>
            <a:ext cx="3848100" cy="274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Example: Estimation of a line - OUTLIERS ]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A64188-7F52-B346-9820-ED311994A4DB}"/>
              </a:ext>
            </a:extLst>
          </p:cNvPr>
          <p:cNvGrpSpPr/>
          <p:nvPr/>
        </p:nvGrpSpPr>
        <p:grpSpPr>
          <a:xfrm>
            <a:off x="8324622" y="5666015"/>
            <a:ext cx="1853649" cy="933192"/>
            <a:chOff x="6800621" y="5666015"/>
            <a:chExt cx="1853649" cy="93319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634516-7223-164D-B06F-53D093360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25470" y="6129307"/>
              <a:ext cx="1828800" cy="4699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6FF5D4-55CD-8049-82FB-825AE3289965}"/>
                </a:ext>
              </a:extLst>
            </p:cNvPr>
            <p:cNvSpPr txBox="1"/>
            <p:nvPr/>
          </p:nvSpPr>
          <p:spPr>
            <a:xfrm>
              <a:off x="6800621" y="5666015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SOLUTION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49C417C-46F9-654E-985A-55C29E6980E0}"/>
              </a:ext>
            </a:extLst>
          </p:cNvPr>
          <p:cNvSpPr/>
          <p:nvPr/>
        </p:nvSpPr>
        <p:spPr>
          <a:xfrm>
            <a:off x="7859486" y="6270171"/>
            <a:ext cx="274320" cy="20693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C8B22-12F3-3CC8-CBE6-6D3E4126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4870-D020-4B75-CF4D-0874FDC2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3565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A2BC8E-6478-1C45-8A2B-D86AAA35805E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841C1-4A7F-8B08-38AF-348DB557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134EA-EDF3-11C1-FFE3-FADA2401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4729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E19E7-E5D3-7E40-8B9E-13AD7DBBD824}"/>
              </a:ext>
            </a:extLst>
          </p:cNvPr>
          <p:cNvSpPr txBox="1"/>
          <p:nvPr/>
        </p:nvSpPr>
        <p:spPr>
          <a:xfrm>
            <a:off x="7285523" y="954248"/>
            <a:ext cx="2556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4483100" y="2254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3289300" y="32956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643D6-87EF-0641-A3DF-6C5E1D1E608B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078FD-A21F-28B0-D727-C6784F9C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3E1E6-86A9-1913-E6E5-BF7A20DB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456040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E19E7-E5D3-7E40-8B9E-13AD7DBBD824}"/>
              </a:ext>
            </a:extLst>
          </p:cNvPr>
          <p:cNvSpPr txBox="1"/>
          <p:nvPr/>
        </p:nvSpPr>
        <p:spPr>
          <a:xfrm>
            <a:off x="7285523" y="954248"/>
            <a:ext cx="25564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2. Estimate the line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4483100" y="2254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3289300" y="32956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52ABE-DD2B-3E48-88F7-2827FB1AC8A6}"/>
              </a:ext>
            </a:extLst>
          </p:cNvPr>
          <p:cNvCxnSpPr>
            <a:cxnSpLocks/>
          </p:cNvCxnSpPr>
          <p:nvPr/>
        </p:nvCxnSpPr>
        <p:spPr>
          <a:xfrm flipV="1">
            <a:off x="2705100" y="954248"/>
            <a:ext cx="3517900" cy="3122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0ECE02C-10E9-194B-9623-58EDA65B3907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02ACE-1A5C-1387-1C0D-355889E1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F359-1A1F-477B-1BD8-4FB1B122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08762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E19E7-E5D3-7E40-8B9E-13AD7DBBD824}"/>
              </a:ext>
            </a:extLst>
          </p:cNvPr>
          <p:cNvSpPr txBox="1"/>
          <p:nvPr/>
        </p:nvSpPr>
        <p:spPr>
          <a:xfrm>
            <a:off x="7285523" y="954248"/>
            <a:ext cx="26959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2. Estimate the line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3. Define a tolerance range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4483100" y="2254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3289300" y="32956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52ABE-DD2B-3E48-88F7-2827FB1AC8A6}"/>
              </a:ext>
            </a:extLst>
          </p:cNvPr>
          <p:cNvCxnSpPr>
            <a:cxnSpLocks/>
          </p:cNvCxnSpPr>
          <p:nvPr/>
        </p:nvCxnSpPr>
        <p:spPr>
          <a:xfrm flipV="1">
            <a:off x="2705100" y="954248"/>
            <a:ext cx="3517900" cy="3122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7144B9-3584-C846-A76E-8106AF12F974}"/>
              </a:ext>
            </a:extLst>
          </p:cNvPr>
          <p:cNvCxnSpPr>
            <a:cxnSpLocks/>
          </p:cNvCxnSpPr>
          <p:nvPr/>
        </p:nvCxnSpPr>
        <p:spPr>
          <a:xfrm flipV="1">
            <a:off x="2387600" y="964392"/>
            <a:ext cx="3517900" cy="312245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4000F1-0B66-4041-9450-B35FDB87AE6B}"/>
              </a:ext>
            </a:extLst>
          </p:cNvPr>
          <p:cNvCxnSpPr>
            <a:cxnSpLocks/>
          </p:cNvCxnSpPr>
          <p:nvPr/>
        </p:nvCxnSpPr>
        <p:spPr>
          <a:xfrm flipV="1">
            <a:off x="3035300" y="951692"/>
            <a:ext cx="3517900" cy="312245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A0A8D-647D-D040-89C6-A0621E127B98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F5FA9-67C2-9857-B642-ADF55047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7FB32-8374-1994-2A9C-059D0065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86545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E19E7-E5D3-7E40-8B9E-13AD7DBBD824}"/>
              </a:ext>
            </a:extLst>
          </p:cNvPr>
          <p:cNvSpPr txBox="1"/>
          <p:nvPr/>
        </p:nvSpPr>
        <p:spPr>
          <a:xfrm>
            <a:off x="7285523" y="954249"/>
            <a:ext cx="2908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2. Estimate the line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3. Define a tolerance range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4. Count the outliers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4483100" y="2254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3289300" y="32956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52ABE-DD2B-3E48-88F7-2827FB1AC8A6}"/>
              </a:ext>
            </a:extLst>
          </p:cNvPr>
          <p:cNvCxnSpPr>
            <a:cxnSpLocks/>
          </p:cNvCxnSpPr>
          <p:nvPr/>
        </p:nvCxnSpPr>
        <p:spPr>
          <a:xfrm flipV="1">
            <a:off x="2705100" y="954248"/>
            <a:ext cx="3517900" cy="3122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7144B9-3584-C846-A76E-8106AF12F974}"/>
              </a:ext>
            </a:extLst>
          </p:cNvPr>
          <p:cNvCxnSpPr>
            <a:cxnSpLocks/>
          </p:cNvCxnSpPr>
          <p:nvPr/>
        </p:nvCxnSpPr>
        <p:spPr>
          <a:xfrm flipV="1">
            <a:off x="2387600" y="964392"/>
            <a:ext cx="3517900" cy="312245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4000F1-0B66-4041-9450-B35FDB87AE6B}"/>
              </a:ext>
            </a:extLst>
          </p:cNvPr>
          <p:cNvCxnSpPr>
            <a:cxnSpLocks/>
          </p:cNvCxnSpPr>
          <p:nvPr/>
        </p:nvCxnSpPr>
        <p:spPr>
          <a:xfrm flipV="1">
            <a:off x="3035300" y="951692"/>
            <a:ext cx="3517900" cy="312245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C1A207-9244-FF46-B75E-83A3A0FCC89C}"/>
              </a:ext>
            </a:extLst>
          </p:cNvPr>
          <p:cNvCxnSpPr>
            <a:cxnSpLocks/>
          </p:cNvCxnSpPr>
          <p:nvPr/>
        </p:nvCxnSpPr>
        <p:spPr>
          <a:xfrm flipH="1" flipV="1">
            <a:off x="5376779" y="2214480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4A99D3-75F4-5E47-A96A-CD3AF5554ADE}"/>
              </a:ext>
            </a:extLst>
          </p:cNvPr>
          <p:cNvCxnSpPr>
            <a:cxnSpLocks/>
          </p:cNvCxnSpPr>
          <p:nvPr/>
        </p:nvCxnSpPr>
        <p:spPr>
          <a:xfrm flipH="1" flipV="1">
            <a:off x="5629776" y="2084805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4E756A-CD94-5F4B-AD34-64909C8A3E74}"/>
              </a:ext>
            </a:extLst>
          </p:cNvPr>
          <p:cNvCxnSpPr>
            <a:cxnSpLocks/>
          </p:cNvCxnSpPr>
          <p:nvPr/>
        </p:nvCxnSpPr>
        <p:spPr>
          <a:xfrm flipH="1" flipV="1">
            <a:off x="5858044" y="1834695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A58E98-1460-5343-B249-4D9E7309DB08}"/>
              </a:ext>
            </a:extLst>
          </p:cNvPr>
          <p:cNvCxnSpPr>
            <a:cxnSpLocks/>
          </p:cNvCxnSpPr>
          <p:nvPr/>
        </p:nvCxnSpPr>
        <p:spPr>
          <a:xfrm flipH="1" flipV="1">
            <a:off x="6102350" y="1564775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232124-1DF2-8B4D-AEDC-A16EE1A1266A}"/>
              </a:ext>
            </a:extLst>
          </p:cNvPr>
          <p:cNvCxnSpPr>
            <a:cxnSpLocks/>
          </p:cNvCxnSpPr>
          <p:nvPr/>
        </p:nvCxnSpPr>
        <p:spPr>
          <a:xfrm flipH="1" flipV="1">
            <a:off x="6588125" y="1420396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EC4D19-9611-4B42-A13A-AF5BB7E87447}"/>
              </a:ext>
            </a:extLst>
          </p:cNvPr>
          <p:cNvCxnSpPr>
            <a:cxnSpLocks/>
          </p:cNvCxnSpPr>
          <p:nvPr/>
        </p:nvCxnSpPr>
        <p:spPr>
          <a:xfrm flipH="1" flipV="1">
            <a:off x="6819900" y="1149318"/>
            <a:ext cx="127000" cy="22859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30411F-E24E-0440-9A72-858B9A1BE547}"/>
              </a:ext>
            </a:extLst>
          </p:cNvPr>
          <p:cNvCxnSpPr>
            <a:cxnSpLocks/>
          </p:cNvCxnSpPr>
          <p:nvPr/>
        </p:nvCxnSpPr>
        <p:spPr>
          <a:xfrm flipH="1">
            <a:off x="5186279" y="3789947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F4EC79-1FE3-1544-8C2B-D924DC7F89AE}"/>
              </a:ext>
            </a:extLst>
          </p:cNvPr>
          <p:cNvCxnSpPr>
            <a:cxnSpLocks/>
          </p:cNvCxnSpPr>
          <p:nvPr/>
        </p:nvCxnSpPr>
        <p:spPr>
          <a:xfrm>
            <a:off x="2040690" y="3669481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EE7004-F3DA-784A-BDFF-AE0648900FB1}"/>
              </a:ext>
            </a:extLst>
          </p:cNvPr>
          <p:cNvCxnSpPr>
            <a:cxnSpLocks/>
          </p:cNvCxnSpPr>
          <p:nvPr/>
        </p:nvCxnSpPr>
        <p:spPr>
          <a:xfrm flipH="1">
            <a:off x="6362700" y="3498870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445CA4-4683-A74E-9CC4-2F6D41C472B0}"/>
              </a:ext>
            </a:extLst>
          </p:cNvPr>
          <p:cNvCxnSpPr>
            <a:cxnSpLocks/>
          </p:cNvCxnSpPr>
          <p:nvPr/>
        </p:nvCxnSpPr>
        <p:spPr>
          <a:xfrm>
            <a:off x="2277980" y="3557185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C31AAF-B86C-014D-983D-D73845127B5C}"/>
              </a:ext>
            </a:extLst>
          </p:cNvPr>
          <p:cNvCxnSpPr>
            <a:cxnSpLocks/>
          </p:cNvCxnSpPr>
          <p:nvPr/>
        </p:nvCxnSpPr>
        <p:spPr>
          <a:xfrm>
            <a:off x="2716130" y="3211494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5F8A4C-1AF8-134E-A05E-3EB031B53611}"/>
              </a:ext>
            </a:extLst>
          </p:cNvPr>
          <p:cNvCxnSpPr>
            <a:cxnSpLocks/>
          </p:cNvCxnSpPr>
          <p:nvPr/>
        </p:nvCxnSpPr>
        <p:spPr>
          <a:xfrm>
            <a:off x="2920165" y="1744383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DC07C78-6701-C043-A7C4-B51C8D8A21FD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14B7B-A78D-C287-2663-482C6CEF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6624D-0E62-9AD6-AFA8-3CF1E44A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42021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5676900" y="1619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2578100" y="37274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52ABE-DD2B-3E48-88F7-2827FB1AC8A6}"/>
              </a:ext>
            </a:extLst>
          </p:cNvPr>
          <p:cNvCxnSpPr>
            <a:cxnSpLocks/>
          </p:cNvCxnSpPr>
          <p:nvPr/>
        </p:nvCxnSpPr>
        <p:spPr>
          <a:xfrm flipV="1">
            <a:off x="2387600" y="1054100"/>
            <a:ext cx="4432300" cy="3032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7144B9-3584-C846-A76E-8106AF12F974}"/>
              </a:ext>
            </a:extLst>
          </p:cNvPr>
          <p:cNvCxnSpPr>
            <a:cxnSpLocks/>
          </p:cNvCxnSpPr>
          <p:nvPr/>
        </p:nvCxnSpPr>
        <p:spPr>
          <a:xfrm flipV="1">
            <a:off x="2057400" y="1016000"/>
            <a:ext cx="4432300" cy="30327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30411F-E24E-0440-9A72-858B9A1BE547}"/>
              </a:ext>
            </a:extLst>
          </p:cNvPr>
          <p:cNvCxnSpPr>
            <a:cxnSpLocks/>
          </p:cNvCxnSpPr>
          <p:nvPr/>
        </p:nvCxnSpPr>
        <p:spPr>
          <a:xfrm flipH="1">
            <a:off x="5186279" y="3789947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EE7004-F3DA-784A-BDFF-AE0648900FB1}"/>
              </a:ext>
            </a:extLst>
          </p:cNvPr>
          <p:cNvCxnSpPr>
            <a:cxnSpLocks/>
          </p:cNvCxnSpPr>
          <p:nvPr/>
        </p:nvCxnSpPr>
        <p:spPr>
          <a:xfrm flipH="1">
            <a:off x="6362700" y="3498870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5F8A4C-1AF8-134E-A05E-3EB031B53611}"/>
              </a:ext>
            </a:extLst>
          </p:cNvPr>
          <p:cNvCxnSpPr>
            <a:cxnSpLocks/>
          </p:cNvCxnSpPr>
          <p:nvPr/>
        </p:nvCxnSpPr>
        <p:spPr>
          <a:xfrm>
            <a:off x="2920165" y="1744383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99EB6F-502C-DC40-A8CD-1EB554C298D1}"/>
              </a:ext>
            </a:extLst>
          </p:cNvPr>
          <p:cNvCxnSpPr>
            <a:cxnSpLocks/>
          </p:cNvCxnSpPr>
          <p:nvPr/>
        </p:nvCxnSpPr>
        <p:spPr>
          <a:xfrm flipV="1">
            <a:off x="2628900" y="1130300"/>
            <a:ext cx="4432300" cy="30327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56B2D94-B32B-4442-9EF7-BAD54D5482B0}"/>
              </a:ext>
            </a:extLst>
          </p:cNvPr>
          <p:cNvSpPr txBox="1"/>
          <p:nvPr/>
        </p:nvSpPr>
        <p:spPr>
          <a:xfrm>
            <a:off x="7285523" y="954248"/>
            <a:ext cx="29089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  <a:endParaRPr lang="en-US" baseline="30000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2. Estimate the line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3. Define a tolerance range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4. Count the outliers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5. Repeat N times and select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the line that minimizes the number of outliers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824C7-F9D4-0640-A9DF-288043649EC8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E5887-DA76-27F3-2C1B-0FDAC5AA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3DE24-DED9-47B2-CF8C-BEDB669A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13324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086FBA5B-84FF-EA4C-B90C-6D91BA30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99" y="819426"/>
            <a:ext cx="5510214" cy="372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76C256B2-A455-A148-B9D6-0534F458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4" y="190105"/>
            <a:ext cx="96924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How to remove the OUTLIERS ]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5706-2383-3F48-90AC-87BD8E24563B}"/>
              </a:ext>
            </a:extLst>
          </p:cNvPr>
          <p:cNvSpPr/>
          <p:nvPr/>
        </p:nvSpPr>
        <p:spPr>
          <a:xfrm>
            <a:off x="5676900" y="16192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53AF7E-4EEB-954A-938B-586298621A66}"/>
              </a:ext>
            </a:extLst>
          </p:cNvPr>
          <p:cNvSpPr/>
          <p:nvPr/>
        </p:nvSpPr>
        <p:spPr>
          <a:xfrm>
            <a:off x="2578100" y="3727411"/>
            <a:ext cx="252000" cy="2520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52ABE-DD2B-3E48-88F7-2827FB1AC8A6}"/>
              </a:ext>
            </a:extLst>
          </p:cNvPr>
          <p:cNvCxnSpPr>
            <a:cxnSpLocks/>
          </p:cNvCxnSpPr>
          <p:nvPr/>
        </p:nvCxnSpPr>
        <p:spPr>
          <a:xfrm flipV="1">
            <a:off x="2387600" y="1054100"/>
            <a:ext cx="4432300" cy="3032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7144B9-3584-C846-A76E-8106AF12F974}"/>
              </a:ext>
            </a:extLst>
          </p:cNvPr>
          <p:cNvCxnSpPr>
            <a:cxnSpLocks/>
          </p:cNvCxnSpPr>
          <p:nvPr/>
        </p:nvCxnSpPr>
        <p:spPr>
          <a:xfrm flipV="1">
            <a:off x="2057400" y="1016000"/>
            <a:ext cx="4432300" cy="30327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30411F-E24E-0440-9A72-858B9A1BE547}"/>
              </a:ext>
            </a:extLst>
          </p:cNvPr>
          <p:cNvCxnSpPr>
            <a:cxnSpLocks/>
          </p:cNvCxnSpPr>
          <p:nvPr/>
        </p:nvCxnSpPr>
        <p:spPr>
          <a:xfrm flipH="1">
            <a:off x="5186279" y="3789947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EE7004-F3DA-784A-BDFF-AE0648900FB1}"/>
              </a:ext>
            </a:extLst>
          </p:cNvPr>
          <p:cNvCxnSpPr>
            <a:cxnSpLocks/>
          </p:cNvCxnSpPr>
          <p:nvPr/>
        </p:nvCxnSpPr>
        <p:spPr>
          <a:xfrm flipH="1">
            <a:off x="6362700" y="3498870"/>
            <a:ext cx="190500" cy="9748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5F8A4C-1AF8-134E-A05E-3EB031B53611}"/>
              </a:ext>
            </a:extLst>
          </p:cNvPr>
          <p:cNvCxnSpPr>
            <a:cxnSpLocks/>
          </p:cNvCxnSpPr>
          <p:nvPr/>
        </p:nvCxnSpPr>
        <p:spPr>
          <a:xfrm>
            <a:off x="2920165" y="1744383"/>
            <a:ext cx="160421" cy="24093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99EB6F-502C-DC40-A8CD-1EB554C298D1}"/>
              </a:ext>
            </a:extLst>
          </p:cNvPr>
          <p:cNvCxnSpPr>
            <a:cxnSpLocks/>
          </p:cNvCxnSpPr>
          <p:nvPr/>
        </p:nvCxnSpPr>
        <p:spPr>
          <a:xfrm flipV="1">
            <a:off x="2628900" y="1130300"/>
            <a:ext cx="4432300" cy="30327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56B2D94-B32B-4442-9EF7-BAD54D5482B0}"/>
              </a:ext>
            </a:extLst>
          </p:cNvPr>
          <p:cNvSpPr txBox="1"/>
          <p:nvPr/>
        </p:nvSpPr>
        <p:spPr>
          <a:xfrm>
            <a:off x="7285523" y="954248"/>
            <a:ext cx="29089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1. Select random 2 points</a:t>
            </a:r>
            <a:r>
              <a:rPr lang="en-US" baseline="30000" dirty="0">
                <a:solidFill>
                  <a:srgbClr val="FD8627"/>
                </a:solidFill>
                <a:latin typeface="Gill Sans MT" panose="020B0502020104020203" pitchFamily="34" charset="77"/>
              </a:rPr>
              <a:t>(*)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2. Estimate the line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3. Define a tolerance range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4. Count the outliers</a:t>
            </a: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5. Repeat N times and select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the line that minimizes the number of outliers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824C7-F9D4-0640-A9DF-288043649EC8}"/>
              </a:ext>
            </a:extLst>
          </p:cNvPr>
          <p:cNvSpPr/>
          <p:nvPr/>
        </p:nvSpPr>
        <p:spPr>
          <a:xfrm>
            <a:off x="8585009" y="173095"/>
            <a:ext cx="19599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D8627"/>
                </a:solidFill>
                <a:latin typeface="Gill Sans MT" panose="020B0502020104020203" pitchFamily="34" charset="77"/>
              </a:rPr>
              <a:t>RANSAC</a:t>
            </a:r>
            <a:endParaRPr lang="es-ES_tradnl" sz="36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69BF26-1D37-8642-8A5C-F2CDEDF8887A}"/>
              </a:ext>
            </a:extLst>
          </p:cNvPr>
          <p:cNvSpPr/>
          <p:nvPr/>
        </p:nvSpPr>
        <p:spPr>
          <a:xfrm>
            <a:off x="1892890" y="5647184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>
                <a:solidFill>
                  <a:srgbClr val="FD8627"/>
                </a:solidFill>
                <a:latin typeface="Gill Sans MT" panose="020B0502020104020203" pitchFamily="34" charset="77"/>
              </a:rPr>
              <a:t>(*)</a:t>
            </a:r>
            <a:endParaRPr lang="es-ES_tradnl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2EA88-E4F4-BA41-B79D-FE0DF152D8B8}"/>
              </a:ext>
            </a:extLst>
          </p:cNvPr>
          <p:cNvSpPr/>
          <p:nvPr/>
        </p:nvSpPr>
        <p:spPr>
          <a:xfrm>
            <a:off x="2141883" y="5645360"/>
            <a:ext cx="6458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8627"/>
                </a:solidFill>
                <a:latin typeface="Gill Sans MT" panose="020B0502020104020203" pitchFamily="34" charset="77"/>
              </a:rPr>
              <a:t>Minimal number of points to estimate the parameters of the model</a:t>
            </a:r>
            <a:endParaRPr lang="es-ES_tradnl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8FC6-3A1C-3D59-7EFB-9584A2E8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192B-FEBC-279D-4033-C7131881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245800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931A042-EEEA-0F4F-956F-1424D8A6A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37" y="2459504"/>
            <a:ext cx="33425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</a:rPr>
              <a:t>[ In Computer Vision ]</a:t>
            </a:r>
          </a:p>
          <a:p>
            <a:pPr algn="ctr" eaLnBrk="0" hangingPunct="0"/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Homography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Camera Calibration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Fundamental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2FED7-46B0-5140-BBE2-888EF7FC7CFA}"/>
              </a:ext>
            </a:extLst>
          </p:cNvPr>
          <p:cNvSpPr/>
          <p:nvPr/>
        </p:nvSpPr>
        <p:spPr>
          <a:xfrm>
            <a:off x="2826668" y="4746563"/>
            <a:ext cx="6618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D8627"/>
                </a:solidFill>
                <a:latin typeface="Gill Sans MT" panose="020B0502020104020203" pitchFamily="34" charset="77"/>
              </a:rPr>
              <a:t>Corresponding points can be found automatically…</a:t>
            </a:r>
            <a:endParaRPr lang="es-ES_tradnl" sz="24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2CC18D-F22A-B34F-AEF6-A65B815CE89C}"/>
              </a:ext>
            </a:extLst>
          </p:cNvPr>
          <p:cNvSpPr/>
          <p:nvPr/>
        </p:nvSpPr>
        <p:spPr>
          <a:xfrm>
            <a:off x="2826668" y="5208228"/>
            <a:ext cx="52722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D8627"/>
                </a:solidFill>
                <a:latin typeface="Gill Sans MT" panose="020B0502020104020203" pitchFamily="34" charset="77"/>
              </a:rPr>
              <a:t>Outliers can be removed using RANSAC</a:t>
            </a:r>
            <a:endParaRPr lang="es-ES_tradnl" sz="2400" dirty="0">
              <a:solidFill>
                <a:srgbClr val="FD8627"/>
              </a:solidFill>
              <a:latin typeface="Gill Sans MT" panose="020B0502020104020203" pitchFamily="34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AB19B3-9AA3-8749-A2C7-17057700DC65}"/>
              </a:ext>
            </a:extLst>
          </p:cNvPr>
          <p:cNvGrpSpPr/>
          <p:nvPr/>
        </p:nvGrpSpPr>
        <p:grpSpPr>
          <a:xfrm>
            <a:off x="6683829" y="2264574"/>
            <a:ext cx="3365763" cy="1923358"/>
            <a:chOff x="5159829" y="2264574"/>
            <a:chExt cx="3365763" cy="192335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06A994-6E3F-A94F-BFDD-81C4E6F936C0}"/>
                </a:ext>
              </a:extLst>
            </p:cNvPr>
            <p:cNvSpPr txBox="1"/>
            <p:nvPr/>
          </p:nvSpPr>
          <p:spPr>
            <a:xfrm rot="1242033">
              <a:off x="6360512" y="2264574"/>
              <a:ext cx="2165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SIFT </a:t>
              </a:r>
              <a:r>
                <a:rPr lang="es-ES_tradnl" dirty="0" err="1">
                  <a:latin typeface="Gill Sans MT" panose="020B0502020104020203" pitchFamily="34" charset="77"/>
                </a:rPr>
                <a:t>matching</a:t>
              </a:r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r>
                <a:rPr lang="es-ES_tradnl" dirty="0" err="1">
                  <a:latin typeface="Gill Sans MT" panose="020B0502020104020203" pitchFamily="34" charset="77"/>
                </a:rPr>
                <a:t>points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8771CF6-7027-144E-8592-8A466A1B4092}"/>
                </a:ext>
              </a:extLst>
            </p:cNvPr>
            <p:cNvCxnSpPr/>
            <p:nvPr/>
          </p:nvCxnSpPr>
          <p:spPr>
            <a:xfrm flipV="1">
              <a:off x="5159829" y="2659805"/>
              <a:ext cx="1933302" cy="7691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7CCBB9-DC97-7E4E-8ED3-5DFC7F6B51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6480" y="2787429"/>
              <a:ext cx="1227909" cy="14005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66774E-FF97-C54E-A9CB-8CE738E6A7F7}"/>
              </a:ext>
            </a:extLst>
          </p:cNvPr>
          <p:cNvGrpSpPr/>
          <p:nvPr/>
        </p:nvGrpSpPr>
        <p:grpSpPr>
          <a:xfrm>
            <a:off x="1712109" y="2602762"/>
            <a:ext cx="2712627" cy="1174304"/>
            <a:chOff x="188109" y="2602762"/>
            <a:chExt cx="2712627" cy="11743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D93E7C-B967-EF49-B663-92A4358C77A3}"/>
                </a:ext>
              </a:extLst>
            </p:cNvPr>
            <p:cNvSpPr txBox="1"/>
            <p:nvPr/>
          </p:nvSpPr>
          <p:spPr>
            <a:xfrm rot="19007149">
              <a:off x="188109" y="2602762"/>
              <a:ext cx="2606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 err="1">
                  <a:latin typeface="Gill Sans MT" panose="020B0502020104020203" pitchFamily="34" charset="77"/>
                </a:rPr>
                <a:t>Corner</a:t>
              </a:r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r>
                <a:rPr lang="es-ES_tradnl" dirty="0" err="1">
                  <a:latin typeface="Gill Sans MT" panose="020B0502020104020203" pitchFamily="34" charset="77"/>
                </a:rPr>
                <a:t>detection</a:t>
              </a:r>
              <a:r>
                <a:rPr lang="es-ES_tradnl" dirty="0">
                  <a:latin typeface="Gill Sans MT" panose="020B0502020104020203" pitchFamily="34" charset="77"/>
                </a:rPr>
                <a:t> (</a:t>
              </a:r>
              <a:r>
                <a:rPr lang="es-ES_tradnl" dirty="0" err="1">
                  <a:latin typeface="Gill Sans MT" panose="020B0502020104020203" pitchFamily="34" charset="77"/>
                </a:rPr>
                <a:t>Chess</a:t>
              </a:r>
              <a:r>
                <a:rPr lang="es-ES_tradnl" dirty="0">
                  <a:latin typeface="Gill Sans MT" panose="020B0502020104020203" pitchFamily="34" charset="77"/>
                </a:rPr>
                <a:t>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AE00B1-7FF3-7247-91D6-219E77C95E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29" y="3044403"/>
              <a:ext cx="1150407" cy="7326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D008F-BC07-6FB9-DB4C-21E7C1A5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195D53-54CB-9151-749D-3E7AD8C6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9969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2971</Words>
  <Application>Microsoft Macintosh PowerPoint</Application>
  <PresentationFormat>Widescreen</PresentationFormat>
  <Paragraphs>706</Paragraphs>
  <Slides>64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Consolas</vt:lpstr>
      <vt:lpstr>Courier New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Estimación de Parametros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22</cp:revision>
  <dcterms:created xsi:type="dcterms:W3CDTF">2026-03-08T16:41:49Z</dcterms:created>
  <dcterms:modified xsi:type="dcterms:W3CDTF">2026-08-16T14:47:46Z</dcterms:modified>
</cp:coreProperties>
</file>