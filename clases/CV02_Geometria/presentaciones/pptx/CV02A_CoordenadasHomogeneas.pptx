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7" r:id="rId2"/>
    <p:sldId id="300" r:id="rId3"/>
    <p:sldId id="443" r:id="rId4"/>
    <p:sldId id="463" r:id="rId5"/>
    <p:sldId id="444" r:id="rId6"/>
    <p:sldId id="445" r:id="rId7"/>
    <p:sldId id="446" r:id="rId8"/>
    <p:sldId id="464" r:id="rId9"/>
    <p:sldId id="447" r:id="rId10"/>
    <p:sldId id="448" r:id="rId11"/>
    <p:sldId id="465" r:id="rId12"/>
    <p:sldId id="449" r:id="rId13"/>
    <p:sldId id="450" r:id="rId14"/>
    <p:sldId id="451" r:id="rId15"/>
    <p:sldId id="466" r:id="rId16"/>
    <p:sldId id="452" r:id="rId17"/>
    <p:sldId id="457" r:id="rId18"/>
    <p:sldId id="467" r:id="rId19"/>
    <p:sldId id="454" r:id="rId20"/>
    <p:sldId id="458" r:id="rId21"/>
    <p:sldId id="468" r:id="rId22"/>
    <p:sldId id="456" r:id="rId23"/>
    <p:sldId id="469" r:id="rId24"/>
    <p:sldId id="459" r:id="rId25"/>
    <p:sldId id="462" r:id="rId26"/>
    <p:sldId id="460" r:id="rId27"/>
  </p:sldIdLst>
  <p:sldSz cx="12192000" cy="6858000"/>
  <p:notesSz cx="6858000" cy="9144000"/>
  <p:defaultTextStyle>
    <a:defPPr>
      <a:defRPr lang="en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21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188"/>
    <p:restoredTop sz="94658"/>
  </p:normalViewPr>
  <p:slideViewPr>
    <p:cSldViewPr snapToGrid="0">
      <p:cViewPr varScale="1">
        <p:scale>
          <a:sx n="120" d="100"/>
          <a:sy n="120" d="100"/>
        </p:scale>
        <p:origin x="5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49748F-0FE7-C64C-B0B9-9306A54D4824}" type="datetimeFigureOut">
              <a:rPr lang="en-CL" smtClean="0"/>
              <a:t>08-08-26</a:t>
            </a:fld>
            <a:endParaRPr lang="en-C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36E6B2-EC45-1147-8496-DFA2586CC8C4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034571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3F19DA8-E282-4E63-9FB1-69D6A3FD6FEB}" type="slidenum">
              <a:rPr lang="en-US"/>
              <a:pPr/>
              <a:t>3</a:t>
            </a:fld>
            <a:endParaRPr lang="en-US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eaLnBrk="1" hangingPunct="1"/>
            <a:endParaRPr lang="es-E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3F19DA8-E282-4E63-9FB1-69D6A3FD6FEB}" type="slidenum">
              <a:rPr lang="en-US"/>
              <a:pPr/>
              <a:t>5</a:t>
            </a:fld>
            <a:endParaRPr lang="en-US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eaLnBrk="1" hangingPunct="1"/>
            <a:endParaRPr lang="es-E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3F19DA8-E282-4E63-9FB1-69D6A3FD6FEB}" type="slidenum">
              <a:rPr lang="en-US"/>
              <a:pPr/>
              <a:t>6</a:t>
            </a:fld>
            <a:endParaRPr lang="en-US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eaLnBrk="1" hangingPunct="1"/>
            <a:endParaRPr lang="es-E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3F19DA8-E282-4E63-9FB1-69D6A3FD6FEB}" type="slidenum">
              <a:rPr lang="en-US"/>
              <a:pPr/>
              <a:t>7</a:t>
            </a:fld>
            <a:endParaRPr lang="en-US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eaLnBrk="1" hangingPunct="1"/>
            <a:endParaRPr lang="es-E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3F19DA8-E282-4E63-9FB1-69D6A3FD6FEB}" type="slidenum">
              <a:rPr lang="en-US"/>
              <a:pPr/>
              <a:t>9</a:t>
            </a:fld>
            <a:endParaRPr lang="en-US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eaLnBrk="1" hangingPunct="1"/>
            <a:endParaRPr lang="es-E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3F19DA8-E282-4E63-9FB1-69D6A3FD6FEB}" type="slidenum">
              <a:rPr lang="en-US"/>
              <a:pPr/>
              <a:t>10</a:t>
            </a:fld>
            <a:endParaRPr lang="en-US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eaLnBrk="1" hangingPunct="1"/>
            <a:endParaRPr lang="es-E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3F19DA8-E282-4E63-9FB1-69D6A3FD6FEB}" type="slidenum">
              <a:rPr lang="en-US"/>
              <a:pPr/>
              <a:t>12</a:t>
            </a:fld>
            <a:endParaRPr lang="en-US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eaLnBrk="1" hangingPunct="1"/>
            <a:endParaRPr lang="es-E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3F19DA8-E282-4E63-9FB1-69D6A3FD6FEB}" type="slidenum">
              <a:rPr lang="en-US"/>
              <a:pPr/>
              <a:t>13</a:t>
            </a:fld>
            <a:endParaRPr lang="en-US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eaLnBrk="1" hangingPunct="1"/>
            <a:endParaRPr lang="es-E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3F19DA8-E282-4E63-9FB1-69D6A3FD6FEB}" type="slidenum">
              <a:rPr lang="en-US"/>
              <a:pPr/>
              <a:t>14</a:t>
            </a:fld>
            <a:endParaRPr lang="en-US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eaLnBrk="1" hangingPunct="1"/>
            <a:endParaRPr lang="es-E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3F19DA8-E282-4E63-9FB1-69D6A3FD6FEB}" type="slidenum">
              <a:rPr lang="en-US"/>
              <a:pPr/>
              <a:t>16</a:t>
            </a:fld>
            <a:endParaRPr lang="en-US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eaLnBrk="1" hangingPunct="1"/>
            <a:endParaRPr lang="es-E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3F19DA8-E282-4E63-9FB1-69D6A3FD6FEB}" type="slidenum">
              <a:rPr lang="en-US"/>
              <a:pPr/>
              <a:t>17</a:t>
            </a:fld>
            <a:endParaRPr lang="en-US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eaLnBrk="1" hangingPunct="1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68224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3F19DA8-E282-4E63-9FB1-69D6A3FD6FEB}" type="slidenum">
              <a:rPr lang="en-US"/>
              <a:pPr/>
              <a:t>19</a:t>
            </a:fld>
            <a:endParaRPr lang="en-US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eaLnBrk="1" hangingPunct="1"/>
            <a:endParaRPr lang="es-E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3F19DA8-E282-4E63-9FB1-69D6A3FD6FEB}" type="slidenum">
              <a:rPr lang="en-US"/>
              <a:pPr/>
              <a:t>20</a:t>
            </a:fld>
            <a:endParaRPr lang="en-US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eaLnBrk="1" hangingPunct="1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501951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3F19DA8-E282-4E63-9FB1-69D6A3FD6FEB}" type="slidenum">
              <a:rPr lang="en-US"/>
              <a:pPr/>
              <a:t>22</a:t>
            </a:fld>
            <a:endParaRPr lang="en-US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eaLnBrk="1" hangingPunct="1"/>
            <a:endParaRPr lang="es-E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3F19DA8-E282-4E63-9FB1-69D6A3FD6FEB}" type="slidenum">
              <a:rPr lang="en-US"/>
              <a:pPr/>
              <a:t>24</a:t>
            </a:fld>
            <a:endParaRPr lang="en-US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eaLnBrk="1" hangingPunct="1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837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3F19DA8-E282-4E63-9FB1-69D6A3FD6FEB}" type="slidenum">
              <a:rPr lang="en-US"/>
              <a:pPr/>
              <a:t>25</a:t>
            </a:fld>
            <a:endParaRPr lang="en-US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eaLnBrk="1" hangingPunct="1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2360199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3F19DA8-E282-4E63-9FB1-69D6A3FD6FEB}" type="slidenum">
              <a:rPr lang="en-US"/>
              <a:pPr/>
              <a:t>26</a:t>
            </a:fld>
            <a:endParaRPr lang="en-US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eaLnBrk="1" hangingPunct="1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032921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B8DC0-3787-B971-5D00-8727CB18CC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4A3FB4-AFDF-6CFB-84FB-E0438C517C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2F51BE-7742-8427-323B-6746C9276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CV02A</a:t>
            </a:r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17082A-B0F6-05B3-4148-6F125B3BE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35BB3A-30A8-1717-EEEF-CCDD19DE1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4018760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E5084-85EB-0ADC-D7F0-0DA592CED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A50CEA-EC43-5349-1EBB-8F562F4E7D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6EC922-A7D2-9731-7041-D7AC6FB83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CV02A</a:t>
            </a:r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7AEC05-6729-F167-4DA1-FB23E0490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6505FA-C70E-C130-A20D-DB301157A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78850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F4697-BA84-150B-4C2D-F84713796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49B2F4-202A-2BB1-535C-1A428E58FC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EE603-A515-38A5-01CB-993F9D3E6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CV02A</a:t>
            </a:r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6D1643-6231-F3E2-610F-D775A2BB9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27DCF5-082A-FB09-50BE-837F0ACE1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326779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C9F8F-3D31-5054-B98B-32951A347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103B9-D8C0-4B32-EE45-9BD12EF747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52F047-75A3-523A-D879-40B2EDA8D1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9FB8B8-5B4E-1775-617E-5E75D094A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CV02A</a:t>
            </a:r>
            <a:endParaRPr lang="en-C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B9D2B7-35C0-0726-D40B-546E245F6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310F33-EF19-5FAC-1C0C-CC049E95F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265026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2880C-73E3-54CD-F870-565E8A1B1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35B4E4-4FDE-76FD-67FE-AC9066C11E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CE05A7-4548-3D67-22C7-AE2D1FA325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23D907-7359-B8EC-9C20-35EBC1A8C6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E90DD8-E513-9D1B-B62B-8CD564AF80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7A1F58-D509-1FFB-BFE0-0B0A48435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CV02A</a:t>
            </a:r>
            <a:endParaRPr lang="en-C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1A7296-B85D-0D25-EB6E-7FAF5D12D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31504A-0C9E-5FD4-88B8-34EEA6574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040050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B930F-82FE-3339-6D9E-1DCC65EE1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1259F5-F978-F338-03E4-3952DD8EF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CV02A</a:t>
            </a:r>
            <a:endParaRPr lang="en-C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FFF779-7E7D-359E-E5CD-14EA90664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3397C7-7E22-651A-C048-37C544FF4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627500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637C7D-F2B3-C204-E8FB-4C5FB6A76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CV02A</a:t>
            </a:r>
            <a:endParaRPr lang="en-C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EFEE0D-AE5F-8253-4CF5-C157DB29D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587494-01E2-375D-3A6E-278594CEB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217660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2A152-0160-E38E-9640-CE00E472C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EEA249-D00C-C8BF-F952-C8F00CAC92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48AD5D-DACB-DF63-8FE5-FD4EB5F134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DFD239-CEB5-6239-AE07-3B04DD523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CV02A</a:t>
            </a:r>
            <a:endParaRPr lang="en-C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6E91D8-CA73-7BEA-3043-ED8929AA7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BF3F48-2CE1-5E7C-C6F3-86C5FE51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704266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182A3-0F8B-CC16-20BE-CAA209EB5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53BF4D-06F1-F555-7BCE-8DDE12ECAC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78D79A-13B1-0A13-045B-552423534D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0F8041-19BA-61C7-2614-452EAEA62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CV02A</a:t>
            </a:r>
            <a:endParaRPr lang="en-C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2DDC1A-06C5-55BB-AD73-4558907A0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EA2152-78EF-2AC4-BAFC-1632F3AC7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033367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E0AD8-C101-EB20-BB37-5C26D22B6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2D8A52-99B4-C6B9-B1AB-C4AEFAF4B4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50266-8A1C-5C52-C130-674316BD0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CV02A</a:t>
            </a:r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48F916-6B33-A387-4535-E912E9B6D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D0DE79-9DC5-1075-5BCE-A06034D3D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11173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487A33-D0CF-C093-B49B-3DC54A000A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1C567E-C21C-371B-9E0F-758B9066F6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7ED834-5694-C52C-4AFB-CC7182B18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CV02A</a:t>
            </a:r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784DEE-BCC0-3112-ED29-8778C02F0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B55837-C56A-6554-DF4C-C991A899F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205057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788CC3-6112-0648-6A8C-40A7C6624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BAA52D-33E4-8E14-0BD4-6371720A8D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0AAD87-BD69-6E51-34E6-999EF83278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(c) D.Mery - CV02A</a:t>
            </a:r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1F1805-E127-5436-F4BD-B493F4465B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0709C2-DDB7-3E94-C59E-462FCDB337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248052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domingomery.ing.uc.cl/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hyperlink" Target="http://en.wikipedia.org/wiki/Dot_product" TargetMode="Externa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://en.wikipedia.org/wiki/Cross_product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6" Type="http://schemas.openxmlformats.org/officeDocument/2006/relationships/hyperlink" Target="http://en.wikipedia.org/wiki/Cross_product" TargetMode="Externa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6" Type="http://schemas.openxmlformats.org/officeDocument/2006/relationships/hyperlink" Target="http://en.wikipedia.org/wiki/Cross_product" TargetMode="External"/><Relationship Id="rId5" Type="http://schemas.openxmlformats.org/officeDocument/2006/relationships/image" Target="../media/image11.gif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emf"/><Relationship Id="rId3" Type="http://schemas.openxmlformats.org/officeDocument/2006/relationships/image" Target="../media/image16.png"/><Relationship Id="rId7" Type="http://schemas.openxmlformats.org/officeDocument/2006/relationships/image" Target="../media/image20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emf"/><Relationship Id="rId5" Type="http://schemas.openxmlformats.org/officeDocument/2006/relationships/image" Target="../media/image18.emf"/><Relationship Id="rId4" Type="http://schemas.openxmlformats.org/officeDocument/2006/relationships/image" Target="../media/image17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7" Type="http://schemas.openxmlformats.org/officeDocument/2006/relationships/image" Target="../media/image26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5.emf"/><Relationship Id="rId5" Type="http://schemas.openxmlformats.org/officeDocument/2006/relationships/image" Target="../media/image24.emf"/><Relationship Id="rId4" Type="http://schemas.openxmlformats.org/officeDocument/2006/relationships/image" Target="../media/image23.e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emf"/><Relationship Id="rId13" Type="http://schemas.openxmlformats.org/officeDocument/2006/relationships/image" Target="../media/image37.emf"/><Relationship Id="rId3" Type="http://schemas.openxmlformats.org/officeDocument/2006/relationships/image" Target="../media/image27.emf"/><Relationship Id="rId7" Type="http://schemas.openxmlformats.org/officeDocument/2006/relationships/image" Target="../media/image31.emf"/><Relationship Id="rId12" Type="http://schemas.openxmlformats.org/officeDocument/2006/relationships/image" Target="../media/image36.emf"/><Relationship Id="rId17" Type="http://schemas.openxmlformats.org/officeDocument/2006/relationships/image" Target="../media/image41.emf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40.e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0.emf"/><Relationship Id="rId11" Type="http://schemas.openxmlformats.org/officeDocument/2006/relationships/image" Target="../media/image35.emf"/><Relationship Id="rId5" Type="http://schemas.openxmlformats.org/officeDocument/2006/relationships/image" Target="../media/image29.emf"/><Relationship Id="rId15" Type="http://schemas.openxmlformats.org/officeDocument/2006/relationships/image" Target="../media/image39.emf"/><Relationship Id="rId10" Type="http://schemas.openxmlformats.org/officeDocument/2006/relationships/image" Target="../media/image34.emf"/><Relationship Id="rId4" Type="http://schemas.openxmlformats.org/officeDocument/2006/relationships/image" Target="../media/image28.emf"/><Relationship Id="rId9" Type="http://schemas.openxmlformats.org/officeDocument/2006/relationships/image" Target="../media/image33.emf"/><Relationship Id="rId14" Type="http://schemas.openxmlformats.org/officeDocument/2006/relationships/image" Target="../media/image38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A2C7284-77CC-FC88-ACE0-20E53773C64D}"/>
              </a:ext>
            </a:extLst>
          </p:cNvPr>
          <p:cNvSpPr/>
          <p:nvPr/>
        </p:nvSpPr>
        <p:spPr>
          <a:xfrm>
            <a:off x="925897" y="683627"/>
            <a:ext cx="10340205" cy="84741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76E2BE-1E76-0F44-8020-A654157CDF76}"/>
              </a:ext>
            </a:extLst>
          </p:cNvPr>
          <p:cNvSpPr txBox="1"/>
          <p:nvPr/>
        </p:nvSpPr>
        <p:spPr>
          <a:xfrm>
            <a:off x="925898" y="3991689"/>
            <a:ext cx="3783921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600" noProof="1">
                <a:solidFill>
                  <a:srgbClr val="0041A1"/>
                </a:solidFill>
                <a:latin typeface="Gill Sans MT" panose="020B0502020104020203" pitchFamily="34" charset="77"/>
              </a:rPr>
              <a:t>Domingo Mery</a:t>
            </a:r>
          </a:p>
          <a:p>
            <a:endParaRPr lang="es-ES_tradnl" sz="2400" noProof="1">
              <a:solidFill>
                <a:schemeClr val="bg1">
                  <a:lumMod val="50000"/>
                </a:schemeClr>
              </a:solidFill>
              <a:latin typeface="Gill Sans MT" panose="020B0502020104020203" pitchFamily="34" charset="77"/>
            </a:endParaRPr>
          </a:p>
          <a:p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Ciencia de la Computación</a:t>
            </a:r>
          </a:p>
          <a:p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Universidad Católica – Chile</a:t>
            </a:r>
          </a:p>
          <a:p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  <a:hlinkClick r:id="rId2"/>
              </a:rPr>
              <a:t>http://domingomery.ing.uc.cl</a:t>
            </a:r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0B8274-BF81-6D48-B1EC-87E4CF24BC51}"/>
              </a:ext>
            </a:extLst>
          </p:cNvPr>
          <p:cNvSpPr txBox="1"/>
          <p:nvPr/>
        </p:nvSpPr>
        <p:spPr>
          <a:xfrm>
            <a:off x="925898" y="546159"/>
            <a:ext cx="5670142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400" noProof="1">
                <a:solidFill>
                  <a:schemeClr val="accent2"/>
                </a:solidFill>
                <a:latin typeface="Gill Sans MT" panose="020B0502020104020203" pitchFamily="34" charset="77"/>
              </a:rPr>
              <a:t>Visión por Computador</a:t>
            </a:r>
          </a:p>
          <a:p>
            <a:r>
              <a:rPr lang="es-ES_tradnl" sz="1400" noProof="1">
                <a:solidFill>
                  <a:schemeClr val="accent1">
                    <a:lumMod val="60000"/>
                    <a:lumOff val="40000"/>
                  </a:schemeClr>
                </a:solidFill>
                <a:latin typeface="Gill Sans MT" panose="020B0502020104020203" pitchFamily="34" charset="77"/>
              </a:rPr>
              <a:t>Versión 2026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1F84582F-25ED-D64F-A141-4702851F27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2889" y="4153426"/>
            <a:ext cx="671000" cy="396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09BC001-F490-B55D-4087-04CD68E211CA}"/>
              </a:ext>
            </a:extLst>
          </p:cNvPr>
          <p:cNvSpPr txBox="1"/>
          <p:nvPr/>
        </p:nvSpPr>
        <p:spPr>
          <a:xfrm>
            <a:off x="925898" y="2363235"/>
            <a:ext cx="6390980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400" noProof="1">
                <a:latin typeface="Gill Sans MT" panose="020B0502020104020203" pitchFamily="34" charset="77"/>
              </a:rPr>
              <a:t>Coordenadas Homogéneas</a:t>
            </a:r>
            <a:endParaRPr lang="es-ES_tradnl" sz="1400" noProof="1">
              <a:latin typeface="Gill Sans MT" panose="020B0502020104020203" pitchFamily="34" charset="77"/>
            </a:endParaRPr>
          </a:p>
          <a:p>
            <a:r>
              <a:rPr lang="es-ES_tradnl" sz="1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(CAPÍTULO 2 – CV02A)</a:t>
            </a:r>
            <a:endParaRPr lang="es-ES_tradnl" sz="4400" noProof="1">
              <a:solidFill>
                <a:schemeClr val="bg1">
                  <a:lumMod val="50000"/>
                </a:schemeClr>
              </a:solidFill>
              <a:latin typeface="Gill Sans MT" panose="020B0502020104020203" pitchFamily="34" charset="77"/>
            </a:endParaRPr>
          </a:p>
        </p:txBody>
      </p:sp>
      <p:pic>
        <p:nvPicPr>
          <p:cNvPr id="4" name="Picture 3" descr="Screen Shot 2014-07-28 at 3.30.32 PM.png">
            <a:extLst>
              <a:ext uri="{FF2B5EF4-FFF2-40B4-BE49-F238E27FC236}">
                <a16:creationId xmlns:a16="http://schemas.microsoft.com/office/drawing/2014/main" id="{F713277D-8D19-F8E9-D0C7-160CDCD11B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7883" y="683626"/>
            <a:ext cx="2688219" cy="84741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F7C2C46-FB77-25C3-BA3D-A0231C48A0BC}"/>
              </a:ext>
            </a:extLst>
          </p:cNvPr>
          <p:cNvSpPr/>
          <p:nvPr/>
        </p:nvSpPr>
        <p:spPr>
          <a:xfrm>
            <a:off x="8532327" y="889536"/>
            <a:ext cx="94889" cy="94882"/>
          </a:xfrm>
          <a:prstGeom prst="rect">
            <a:avLst/>
          </a:prstGeom>
          <a:solidFill>
            <a:srgbClr val="FF0000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1821CF4-4421-1287-4A0F-68915CE9BDF0}"/>
              </a:ext>
            </a:extLst>
          </p:cNvPr>
          <p:cNvSpPr/>
          <p:nvPr/>
        </p:nvSpPr>
        <p:spPr>
          <a:xfrm>
            <a:off x="9457147" y="1041936"/>
            <a:ext cx="94889" cy="94882"/>
          </a:xfrm>
          <a:prstGeom prst="rect">
            <a:avLst/>
          </a:prstGeom>
          <a:solidFill>
            <a:srgbClr val="FFD300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697AF8-DB10-A907-E9A0-11DBFF2F41AD}"/>
              </a:ext>
            </a:extLst>
          </p:cNvPr>
          <p:cNvSpPr/>
          <p:nvPr/>
        </p:nvSpPr>
        <p:spPr>
          <a:xfrm>
            <a:off x="8450280" y="1194336"/>
            <a:ext cx="94889" cy="94882"/>
          </a:xfrm>
          <a:prstGeom prst="rect">
            <a:avLst/>
          </a:prstGeom>
          <a:solidFill>
            <a:srgbClr val="3366FF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433E66E-94EA-0AAE-A7DB-7F462B910E03}"/>
              </a:ext>
            </a:extLst>
          </p:cNvPr>
          <p:cNvSpPr/>
          <p:nvPr/>
        </p:nvSpPr>
        <p:spPr>
          <a:xfrm>
            <a:off x="9200620" y="814788"/>
            <a:ext cx="94889" cy="94882"/>
          </a:xfrm>
          <a:prstGeom prst="rect">
            <a:avLst/>
          </a:prstGeom>
          <a:solidFill>
            <a:schemeClr val="bg1">
              <a:alpha val="73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7468F98-E38C-0CEE-B1A7-0C8769B40381}"/>
              </a:ext>
            </a:extLst>
          </p:cNvPr>
          <p:cNvSpPr/>
          <p:nvPr/>
        </p:nvSpPr>
        <p:spPr>
          <a:xfrm>
            <a:off x="9043304" y="1325718"/>
            <a:ext cx="94889" cy="94882"/>
          </a:xfrm>
          <a:prstGeom prst="rect">
            <a:avLst/>
          </a:prstGeom>
          <a:solidFill>
            <a:srgbClr val="00FF00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8562CE25-1E0E-B848-34C1-C8C61BBCC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CV02A</a:t>
            </a:r>
            <a:endParaRPr lang="en-CL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DEE84B31-5B77-D43C-96E3-64EF8FD5C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</a:t>
            </a:fld>
            <a:endParaRPr lang="en-CL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3431DC-A8E9-5D8F-47DE-85EC473A6A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326" y="3273692"/>
            <a:ext cx="3792465" cy="3190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940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B34FB-91E2-DEE0-BAA8-F949C8CAD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CL" sz="4800" dirty="0">
                <a:latin typeface="Gill Sans MT" panose="020B0502020104020203" pitchFamily="34" charset="77"/>
                <a:cs typeface="Consolas" panose="020B0609020204030204" pitchFamily="49" charset="0"/>
              </a:rPr>
              <a:t>Puntos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D3C013-15E6-1BBF-AF0D-529944C11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CV02A</a:t>
            </a:r>
            <a:endParaRPr lang="en-CL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87E1617-01FE-FA19-2728-FC27B463A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2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1093821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930" name="Text Box 2"/>
          <p:cNvSpPr txBox="1">
            <a:spLocks noChangeArrowheads="1"/>
          </p:cNvSpPr>
          <p:nvPr/>
        </p:nvSpPr>
        <p:spPr bwMode="auto">
          <a:xfrm>
            <a:off x="1814514" y="268289"/>
            <a:ext cx="8218487" cy="615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sz="2400" dirty="0">
                <a:solidFill>
                  <a:srgbClr val="0000FF"/>
                </a:solidFill>
                <a:latin typeface="Trebuchet MS" pitchFamily="34" charset="0"/>
              </a:rPr>
              <a:t>[ Point ]</a:t>
            </a:r>
          </a:p>
          <a:p>
            <a:pPr eaLnBrk="0" hangingPunct="0"/>
            <a:endParaRPr lang="en-US" sz="1000" dirty="0">
              <a:solidFill>
                <a:srgbClr val="0000FF"/>
              </a:solidFill>
              <a:latin typeface="Trebuchet MS" pitchFamily="34" charset="0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5912561" y="3019771"/>
            <a:ext cx="43124" cy="3894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4117624" y="1413555"/>
            <a:ext cx="3479191" cy="3513669"/>
            <a:chOff x="2593623" y="1413554"/>
            <a:chExt cx="3479191" cy="3513669"/>
          </a:xfrm>
        </p:grpSpPr>
        <p:sp>
          <p:nvSpPr>
            <p:cNvPr id="7" name="Rectangle 6"/>
            <p:cNvSpPr/>
            <p:nvPr/>
          </p:nvSpPr>
          <p:spPr>
            <a:xfrm>
              <a:off x="2921001" y="3044606"/>
              <a:ext cx="1481671" cy="1468127"/>
            </a:xfrm>
            <a:prstGeom prst="rect">
              <a:avLst/>
            </a:prstGeom>
            <a:noFill/>
            <a:ln>
              <a:solidFill>
                <a:srgbClr val="000000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" name="Straight Arrow Connector 3"/>
            <p:cNvCxnSpPr/>
            <p:nvPr/>
          </p:nvCxnSpPr>
          <p:spPr>
            <a:xfrm flipV="1">
              <a:off x="2921001" y="1467556"/>
              <a:ext cx="789" cy="3400777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/>
            <p:nvPr/>
          </p:nvCxnSpPr>
          <p:spPr>
            <a:xfrm flipV="1">
              <a:off x="2593623" y="4512733"/>
              <a:ext cx="3333043" cy="1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/>
            <p:cNvSpPr txBox="1"/>
            <p:nvPr/>
          </p:nvSpPr>
          <p:spPr>
            <a:xfrm>
              <a:off x="5785556" y="4557891"/>
              <a:ext cx="2872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>
                  <a:latin typeface="Times"/>
                  <a:cs typeface="Times"/>
                </a:rPr>
                <a:t>x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101621" y="1413554"/>
              <a:ext cx="2872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>
                  <a:latin typeface="Times"/>
                  <a:cs typeface="Times"/>
                </a:rPr>
                <a:t>y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453306" y="2675274"/>
              <a:ext cx="8318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Times"/>
                  <a:cs typeface="Times"/>
                </a:rPr>
                <a:t>( </a:t>
              </a:r>
              <a:r>
                <a:rPr lang="en-US" i="1" dirty="0">
                  <a:latin typeface="Times"/>
                  <a:cs typeface="Times"/>
                </a:rPr>
                <a:t>x </a:t>
              </a:r>
              <a:r>
                <a:rPr lang="en-US" dirty="0">
                  <a:latin typeface="Times"/>
                  <a:cs typeface="Times"/>
                </a:rPr>
                <a:t>,</a:t>
              </a:r>
              <a:r>
                <a:rPr lang="en-US" i="1" dirty="0">
                  <a:latin typeface="Times"/>
                  <a:cs typeface="Times"/>
                </a:rPr>
                <a:t> y </a:t>
              </a:r>
              <a:r>
                <a:rPr lang="en-US" dirty="0">
                  <a:latin typeface="Times"/>
                  <a:cs typeface="Times"/>
                </a:rPr>
                <a:t>)</a:t>
              </a:r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C85A40-6DD8-913E-4656-1F32E00A6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CV02A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A37BA6-2A5D-A76C-1369-F548E0185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3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210421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86BAD-C9E7-E0B8-808A-E6A68BA0B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7628B-2AA7-BD04-FA49-D7E1469F4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CL" sz="4800" dirty="0">
                <a:latin typeface="Gill Sans MT" panose="020B0502020104020203" pitchFamily="34" charset="77"/>
                <a:cs typeface="Consolas" panose="020B0609020204030204" pitchFamily="49" charset="0"/>
              </a:rPr>
              <a:t>Líneas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8AE3D4-FF5C-8A95-83CF-59F90A641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CV02A</a:t>
            </a:r>
            <a:endParaRPr lang="en-CL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2D0059D-86F2-06A4-E49B-65D4D4BF3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4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817619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930" name="Text Box 2"/>
          <p:cNvSpPr txBox="1">
            <a:spLocks noChangeArrowheads="1"/>
          </p:cNvSpPr>
          <p:nvPr/>
        </p:nvSpPr>
        <p:spPr bwMode="auto">
          <a:xfrm>
            <a:off x="1814514" y="268289"/>
            <a:ext cx="8218487" cy="615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sz="2400" dirty="0">
                <a:solidFill>
                  <a:srgbClr val="0000FF"/>
                </a:solidFill>
                <a:latin typeface="Trebuchet MS" pitchFamily="34" charset="0"/>
              </a:rPr>
              <a:t>[ Line ]</a:t>
            </a:r>
          </a:p>
          <a:p>
            <a:pPr eaLnBrk="0" hangingPunct="0"/>
            <a:endParaRPr lang="en-US" sz="1000" dirty="0">
              <a:solidFill>
                <a:srgbClr val="0000FF"/>
              </a:solidFill>
              <a:latin typeface="Trebuchet MS" pitchFamily="34" charset="0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5912561" y="3019771"/>
            <a:ext cx="43124" cy="3894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/>
          <p:cNvCxnSpPr/>
          <p:nvPr/>
        </p:nvCxnSpPr>
        <p:spPr>
          <a:xfrm>
            <a:off x="3951111" y="2300112"/>
            <a:ext cx="3880556" cy="1453445"/>
          </a:xfrm>
          <a:prstGeom prst="line">
            <a:avLst/>
          </a:prstGeom>
          <a:ln>
            <a:solidFill>
              <a:srgbClr val="FF6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4445002" y="3044607"/>
            <a:ext cx="1481671" cy="1468127"/>
          </a:xfrm>
          <a:prstGeom prst="rect">
            <a:avLst/>
          </a:prstGeom>
          <a:noFill/>
          <a:ln>
            <a:solidFill>
              <a:srgbClr val="0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4117624" y="1413555"/>
            <a:ext cx="3479191" cy="3513669"/>
            <a:chOff x="2593623" y="1413554"/>
            <a:chExt cx="3479191" cy="3513669"/>
          </a:xfrm>
        </p:grpSpPr>
        <p:cxnSp>
          <p:nvCxnSpPr>
            <p:cNvPr id="4" name="Straight Arrow Connector 3"/>
            <p:cNvCxnSpPr/>
            <p:nvPr/>
          </p:nvCxnSpPr>
          <p:spPr>
            <a:xfrm flipV="1">
              <a:off x="2921001" y="1467556"/>
              <a:ext cx="789" cy="3400777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/>
            <p:nvPr/>
          </p:nvCxnSpPr>
          <p:spPr>
            <a:xfrm flipV="1">
              <a:off x="2593623" y="4512733"/>
              <a:ext cx="3333043" cy="1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/>
            <p:cNvSpPr txBox="1"/>
            <p:nvPr/>
          </p:nvSpPr>
          <p:spPr>
            <a:xfrm>
              <a:off x="5785556" y="4557891"/>
              <a:ext cx="2872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>
                  <a:latin typeface="Times"/>
                  <a:cs typeface="Times"/>
                </a:rPr>
                <a:t>x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101621" y="1413554"/>
              <a:ext cx="2872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>
                  <a:latin typeface="Times"/>
                  <a:cs typeface="Times"/>
                </a:rPr>
                <a:t>y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453306" y="2675274"/>
              <a:ext cx="8318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Times"/>
                  <a:cs typeface="Times"/>
                </a:rPr>
                <a:t>( </a:t>
              </a:r>
              <a:r>
                <a:rPr lang="en-US" i="1" dirty="0">
                  <a:latin typeface="Times"/>
                  <a:cs typeface="Times"/>
                </a:rPr>
                <a:t>x </a:t>
              </a:r>
              <a:r>
                <a:rPr lang="en-US" dirty="0">
                  <a:latin typeface="Times"/>
                  <a:cs typeface="Times"/>
                </a:rPr>
                <a:t>,</a:t>
              </a:r>
              <a:r>
                <a:rPr lang="en-US" i="1" dirty="0">
                  <a:latin typeface="Times"/>
                  <a:cs typeface="Times"/>
                </a:rPr>
                <a:t> y </a:t>
              </a:r>
              <a:r>
                <a:rPr lang="en-US" dirty="0">
                  <a:latin typeface="Times"/>
                  <a:cs typeface="Times"/>
                </a:rPr>
                <a:t>)</a:t>
              </a:r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AA340B-A2BD-F7CF-019A-A01B98FA9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CV02A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7E44CB1-30C3-2E8B-4230-6173810A8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5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3465767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930" name="Text Box 2"/>
          <p:cNvSpPr txBox="1">
            <a:spLocks noChangeArrowheads="1"/>
          </p:cNvSpPr>
          <p:nvPr/>
        </p:nvSpPr>
        <p:spPr bwMode="auto">
          <a:xfrm>
            <a:off x="1814514" y="268289"/>
            <a:ext cx="8218487" cy="615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sz="2400" dirty="0">
                <a:solidFill>
                  <a:srgbClr val="0000FF"/>
                </a:solidFill>
                <a:latin typeface="Trebuchet MS" pitchFamily="34" charset="0"/>
              </a:rPr>
              <a:t>[ Line ]</a:t>
            </a:r>
          </a:p>
          <a:p>
            <a:pPr eaLnBrk="0" hangingPunct="0"/>
            <a:endParaRPr lang="en-US" sz="1000" dirty="0">
              <a:solidFill>
                <a:srgbClr val="0000FF"/>
              </a:solidFill>
              <a:latin typeface="Trebuchet MS" pitchFamily="34" charset="0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5912561" y="3019771"/>
            <a:ext cx="43124" cy="3894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4117624" y="1413555"/>
            <a:ext cx="3479191" cy="3513669"/>
            <a:chOff x="2593623" y="1413554"/>
            <a:chExt cx="3479191" cy="3513669"/>
          </a:xfrm>
        </p:grpSpPr>
        <p:sp>
          <p:nvSpPr>
            <p:cNvPr id="7" name="Rectangle 6"/>
            <p:cNvSpPr/>
            <p:nvPr/>
          </p:nvSpPr>
          <p:spPr>
            <a:xfrm>
              <a:off x="2921001" y="3044606"/>
              <a:ext cx="1481671" cy="1468127"/>
            </a:xfrm>
            <a:prstGeom prst="rect">
              <a:avLst/>
            </a:prstGeom>
            <a:noFill/>
            <a:ln>
              <a:solidFill>
                <a:srgbClr val="000000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" name="Straight Arrow Connector 3"/>
            <p:cNvCxnSpPr/>
            <p:nvPr/>
          </p:nvCxnSpPr>
          <p:spPr>
            <a:xfrm flipV="1">
              <a:off x="2921001" y="1467556"/>
              <a:ext cx="789" cy="3400777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/>
            <p:nvPr/>
          </p:nvCxnSpPr>
          <p:spPr>
            <a:xfrm flipV="1">
              <a:off x="2593623" y="4512733"/>
              <a:ext cx="3333043" cy="1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/>
            <p:cNvSpPr txBox="1"/>
            <p:nvPr/>
          </p:nvSpPr>
          <p:spPr>
            <a:xfrm>
              <a:off x="5785556" y="4557891"/>
              <a:ext cx="2872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>
                  <a:latin typeface="Times"/>
                  <a:cs typeface="Times"/>
                </a:rPr>
                <a:t>x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101621" y="1413554"/>
              <a:ext cx="2872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>
                  <a:latin typeface="Times"/>
                  <a:cs typeface="Times"/>
                </a:rPr>
                <a:t>y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453306" y="2675274"/>
              <a:ext cx="8318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Times"/>
                  <a:cs typeface="Times"/>
                </a:rPr>
                <a:t>( </a:t>
              </a:r>
              <a:r>
                <a:rPr lang="en-US" i="1" dirty="0">
                  <a:latin typeface="Times"/>
                  <a:cs typeface="Times"/>
                </a:rPr>
                <a:t>x </a:t>
              </a:r>
              <a:r>
                <a:rPr lang="en-US" dirty="0">
                  <a:latin typeface="Times"/>
                  <a:cs typeface="Times"/>
                </a:rPr>
                <a:t>,</a:t>
              </a:r>
              <a:r>
                <a:rPr lang="en-US" i="1" dirty="0">
                  <a:latin typeface="Times"/>
                  <a:cs typeface="Times"/>
                </a:rPr>
                <a:t> y </a:t>
              </a:r>
              <a:r>
                <a:rPr lang="en-US" dirty="0">
                  <a:latin typeface="Times"/>
                  <a:cs typeface="Times"/>
                </a:rPr>
                <a:t>)</a:t>
              </a:r>
            </a:p>
          </p:txBody>
        </p:sp>
      </p:grpSp>
      <p:cxnSp>
        <p:nvCxnSpPr>
          <p:cNvPr id="12" name="Straight Connector 11"/>
          <p:cNvCxnSpPr/>
          <p:nvPr/>
        </p:nvCxnSpPr>
        <p:spPr>
          <a:xfrm>
            <a:off x="3951111" y="2300112"/>
            <a:ext cx="3880556" cy="1453445"/>
          </a:xfrm>
          <a:prstGeom prst="line">
            <a:avLst/>
          </a:prstGeom>
          <a:ln>
            <a:solidFill>
              <a:srgbClr val="FF6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986134" y="3583001"/>
            <a:ext cx="1220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"/>
                <a:cs typeface="Times"/>
              </a:rPr>
              <a:t>y </a:t>
            </a:r>
            <a:r>
              <a:rPr lang="en-US" dirty="0">
                <a:latin typeface="Times"/>
                <a:cs typeface="Times"/>
              </a:rPr>
              <a:t>= </a:t>
            </a:r>
            <a:r>
              <a:rPr lang="en-US" i="1" dirty="0">
                <a:latin typeface="Times"/>
                <a:cs typeface="Times"/>
              </a:rPr>
              <a:t>m x</a:t>
            </a:r>
            <a:r>
              <a:rPr lang="en-US" dirty="0">
                <a:latin typeface="Times"/>
                <a:cs typeface="Times"/>
              </a:rPr>
              <a:t> + </a:t>
            </a:r>
            <a:r>
              <a:rPr lang="en-US" i="1" dirty="0">
                <a:latin typeface="Times"/>
                <a:cs typeface="Times"/>
              </a:rPr>
              <a:t>b</a:t>
            </a:r>
          </a:p>
        </p:txBody>
      </p:sp>
      <p:sp>
        <p:nvSpPr>
          <p:cNvPr id="2" name="Right Triangle 1"/>
          <p:cNvSpPr/>
          <p:nvPr/>
        </p:nvSpPr>
        <p:spPr>
          <a:xfrm>
            <a:off x="6406444" y="3217333"/>
            <a:ext cx="903112" cy="356524"/>
          </a:xfrm>
          <a:prstGeom prst="rtTriangl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6104455" y="3174609"/>
            <a:ext cx="85244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"/>
                <a:cs typeface="Times"/>
              </a:rPr>
              <a:t>m</a:t>
            </a:r>
            <a:endParaRPr lang="en-US" sz="800" i="1" dirty="0">
              <a:latin typeface="Times"/>
              <a:cs typeface="Times"/>
            </a:endParaRPr>
          </a:p>
          <a:p>
            <a:endParaRPr lang="en-US" sz="800" i="1" dirty="0">
              <a:latin typeface="Times"/>
              <a:cs typeface="Times"/>
            </a:endParaRPr>
          </a:p>
          <a:p>
            <a:r>
              <a:rPr lang="en-US" sz="800" i="1" dirty="0">
                <a:latin typeface="Times"/>
                <a:cs typeface="Times"/>
              </a:rPr>
              <a:t>   </a:t>
            </a:r>
            <a:r>
              <a:rPr lang="en-US" i="1" dirty="0">
                <a:latin typeface="Times"/>
                <a:cs typeface="Times"/>
              </a:rPr>
              <a:t>        </a:t>
            </a:r>
            <a:r>
              <a:rPr lang="en-US" dirty="0">
                <a:latin typeface="Times"/>
                <a:cs typeface="Times"/>
              </a:rPr>
              <a:t>1</a:t>
            </a:r>
          </a:p>
        </p:txBody>
      </p:sp>
      <p:sp>
        <p:nvSpPr>
          <p:cNvPr id="3" name="Left Brace 2"/>
          <p:cNvSpPr/>
          <p:nvPr/>
        </p:nvSpPr>
        <p:spPr>
          <a:xfrm>
            <a:off x="4219223" y="2469445"/>
            <a:ext cx="225779" cy="2043289"/>
          </a:xfrm>
          <a:prstGeom prst="leftBrac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3973694" y="325927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"/>
                <a:cs typeface="Times"/>
              </a:rPr>
              <a:t>b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03607C-40A4-4C20-1E33-55C3C689B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CV02A</a:t>
            </a:r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29C1B2-755E-9692-67A4-725B7102A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6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7917986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3199646" y="1521176"/>
            <a:ext cx="7366755" cy="5093355"/>
            <a:chOff x="1678466" y="987778"/>
            <a:chExt cx="7366755" cy="5093355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26" name="Rounded Rectangle 25"/>
            <p:cNvSpPr/>
            <p:nvPr/>
          </p:nvSpPr>
          <p:spPr>
            <a:xfrm>
              <a:off x="5827887" y="987778"/>
              <a:ext cx="3217334" cy="425776"/>
            </a:xfrm>
            <a:prstGeom prst="round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1678466" y="5655357"/>
              <a:ext cx="1678201" cy="425776"/>
            </a:xfrm>
            <a:prstGeom prst="round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6002191" y="987779"/>
            <a:ext cx="4567030" cy="2099161"/>
            <a:chOff x="4478191" y="987778"/>
            <a:chExt cx="4567030" cy="2099161"/>
          </a:xfrm>
        </p:grpSpPr>
        <p:sp>
          <p:nvSpPr>
            <p:cNvPr id="7" name="Rounded Rectangle 6"/>
            <p:cNvSpPr/>
            <p:nvPr/>
          </p:nvSpPr>
          <p:spPr>
            <a:xfrm>
              <a:off x="5827887" y="987778"/>
              <a:ext cx="3217334" cy="425776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4478191" y="2661163"/>
              <a:ext cx="806968" cy="425776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2" name="Straight Connector 11"/>
          <p:cNvCxnSpPr/>
          <p:nvPr/>
        </p:nvCxnSpPr>
        <p:spPr>
          <a:xfrm>
            <a:off x="3951111" y="2300112"/>
            <a:ext cx="3880556" cy="1453445"/>
          </a:xfrm>
          <a:prstGeom prst="line">
            <a:avLst/>
          </a:prstGeom>
          <a:ln>
            <a:solidFill>
              <a:srgbClr val="FF6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4930" name="Text Box 2"/>
          <p:cNvSpPr txBox="1">
            <a:spLocks noChangeArrowheads="1"/>
          </p:cNvSpPr>
          <p:nvPr/>
        </p:nvSpPr>
        <p:spPr bwMode="auto">
          <a:xfrm>
            <a:off x="1814514" y="268289"/>
            <a:ext cx="8218487" cy="615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sz="2400" dirty="0">
                <a:solidFill>
                  <a:srgbClr val="0000FF"/>
                </a:solidFill>
                <a:latin typeface="Trebuchet MS" pitchFamily="34" charset="0"/>
              </a:rPr>
              <a:t>[ Line ]</a:t>
            </a:r>
          </a:p>
          <a:p>
            <a:pPr eaLnBrk="0" hangingPunct="0"/>
            <a:endParaRPr lang="en-US" sz="1000" dirty="0">
              <a:solidFill>
                <a:srgbClr val="0000FF"/>
              </a:solidFill>
              <a:latin typeface="Trebuchet MS" pitchFamily="34" charset="0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5912561" y="3019771"/>
            <a:ext cx="43124" cy="3894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4117624" y="1413555"/>
            <a:ext cx="3479191" cy="3513669"/>
            <a:chOff x="2593623" y="1413554"/>
            <a:chExt cx="3479191" cy="3513669"/>
          </a:xfrm>
        </p:grpSpPr>
        <p:cxnSp>
          <p:nvCxnSpPr>
            <p:cNvPr id="4" name="Straight Arrow Connector 3"/>
            <p:cNvCxnSpPr/>
            <p:nvPr/>
          </p:nvCxnSpPr>
          <p:spPr>
            <a:xfrm flipV="1">
              <a:off x="2921001" y="1467556"/>
              <a:ext cx="789" cy="3400777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/>
            <p:nvPr/>
          </p:nvCxnSpPr>
          <p:spPr>
            <a:xfrm flipV="1">
              <a:off x="2593623" y="4512733"/>
              <a:ext cx="3333043" cy="1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/>
            <p:cNvSpPr txBox="1"/>
            <p:nvPr/>
          </p:nvSpPr>
          <p:spPr>
            <a:xfrm>
              <a:off x="5785556" y="4557891"/>
              <a:ext cx="2872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>
                  <a:latin typeface="Times"/>
                  <a:cs typeface="Times"/>
                </a:rPr>
                <a:t>x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101621" y="1413554"/>
              <a:ext cx="2872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>
                  <a:latin typeface="Times"/>
                  <a:cs typeface="Times"/>
                </a:rPr>
                <a:t>y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453306" y="2675274"/>
              <a:ext cx="8318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Times"/>
                  <a:cs typeface="Times"/>
                </a:rPr>
                <a:t>( </a:t>
              </a:r>
              <a:r>
                <a:rPr lang="en-US" i="1" dirty="0">
                  <a:latin typeface="Times"/>
                  <a:cs typeface="Times"/>
                </a:rPr>
                <a:t>x </a:t>
              </a:r>
              <a:r>
                <a:rPr lang="en-US" dirty="0">
                  <a:latin typeface="Times"/>
                  <a:cs typeface="Times"/>
                </a:rPr>
                <a:t>,</a:t>
              </a:r>
              <a:r>
                <a:rPr lang="en-US" i="1" dirty="0">
                  <a:latin typeface="Times"/>
                  <a:cs typeface="Times"/>
                </a:rPr>
                <a:t> y </a:t>
              </a:r>
              <a:r>
                <a:rPr lang="en-US" dirty="0">
                  <a:latin typeface="Times"/>
                  <a:cs typeface="Times"/>
                </a:rPr>
                <a:t>)</a:t>
              </a: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7986135" y="3583002"/>
            <a:ext cx="19575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rush Script MT" panose="03060802040406070304" pitchFamily="66" charset="-122"/>
                <a:ea typeface="Brush Script MT" panose="03060802040406070304" pitchFamily="66" charset="-122"/>
                <a:cs typeface="Brush Script MT" panose="03060802040406070304" pitchFamily="66" charset="-122"/>
              </a:rPr>
              <a:t>l</a:t>
            </a:r>
            <a:r>
              <a:rPr lang="en-US" i="1" dirty="0">
                <a:latin typeface="Times"/>
                <a:cs typeface="Times"/>
              </a:rPr>
              <a:t> :</a:t>
            </a:r>
            <a:r>
              <a:rPr lang="en-US" dirty="0">
                <a:latin typeface="Times"/>
                <a:cs typeface="Times"/>
              </a:rPr>
              <a:t> </a:t>
            </a:r>
            <a:r>
              <a:rPr lang="en-US" i="1" dirty="0">
                <a:latin typeface="Times"/>
                <a:cs typeface="Times"/>
              </a:rPr>
              <a:t>a x</a:t>
            </a:r>
            <a:r>
              <a:rPr lang="en-US" dirty="0">
                <a:latin typeface="Times"/>
                <a:cs typeface="Times"/>
              </a:rPr>
              <a:t> + </a:t>
            </a:r>
            <a:r>
              <a:rPr lang="en-US" i="1" dirty="0">
                <a:latin typeface="Times"/>
                <a:cs typeface="Times"/>
              </a:rPr>
              <a:t>b y </a:t>
            </a:r>
            <a:r>
              <a:rPr lang="en-US" dirty="0">
                <a:latin typeface="Times"/>
                <a:cs typeface="Times"/>
              </a:rPr>
              <a:t>+ </a:t>
            </a:r>
            <a:r>
              <a:rPr lang="en-US" i="1" dirty="0">
                <a:latin typeface="Times"/>
                <a:cs typeface="Times"/>
              </a:rPr>
              <a:t>c </a:t>
            </a:r>
            <a:r>
              <a:rPr lang="en-US" dirty="0">
                <a:latin typeface="Times"/>
                <a:cs typeface="Times"/>
              </a:rPr>
              <a:t>= 0</a:t>
            </a:r>
            <a:endParaRPr lang="en-US" i="1" dirty="0">
              <a:latin typeface="Times"/>
              <a:cs typeface="Time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270201" y="5696846"/>
            <a:ext cx="16076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rush Script MT" panose="03060802040406070304" pitchFamily="66" charset="-122"/>
                <a:ea typeface="Brush Script MT" panose="03060802040406070304" pitchFamily="66" charset="-122"/>
                <a:cs typeface="Brush Script MT" panose="03060802040406070304" pitchFamily="66" charset="-122"/>
              </a:rPr>
              <a:t>l</a:t>
            </a:r>
            <a:r>
              <a:rPr lang="en-US" i="1" dirty="0">
                <a:latin typeface="Times"/>
                <a:cs typeface="Times"/>
              </a:rPr>
              <a:t> = </a:t>
            </a:r>
            <a:r>
              <a:rPr lang="en-US" dirty="0">
                <a:latin typeface="Times"/>
                <a:cs typeface="Times"/>
              </a:rPr>
              <a:t>[ </a:t>
            </a:r>
            <a:r>
              <a:rPr lang="en-US" i="1" dirty="0">
                <a:latin typeface="Times"/>
                <a:cs typeface="Times"/>
              </a:rPr>
              <a:t>a   b   c </a:t>
            </a:r>
            <a:r>
              <a:rPr lang="en-US" dirty="0">
                <a:latin typeface="Times"/>
                <a:cs typeface="Times"/>
              </a:rPr>
              <a:t>]</a:t>
            </a:r>
            <a:r>
              <a:rPr lang="en-US" baseline="30000" dirty="0">
                <a:latin typeface="+mj-lt"/>
                <a:cs typeface="Times"/>
              </a:rPr>
              <a:t>T</a:t>
            </a:r>
            <a:endParaRPr lang="en-US" i="1" baseline="30000" dirty="0">
              <a:latin typeface="+mj-lt"/>
              <a:cs typeface="Time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199646" y="6189975"/>
            <a:ext cx="1692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"/>
                <a:cs typeface="Times"/>
              </a:rPr>
              <a:t>m</a:t>
            </a:r>
            <a:r>
              <a:rPr lang="en-US" i="1" dirty="0">
                <a:latin typeface="Times"/>
                <a:cs typeface="Times"/>
              </a:rPr>
              <a:t> = </a:t>
            </a:r>
            <a:r>
              <a:rPr lang="en-US" dirty="0">
                <a:latin typeface="Times"/>
                <a:cs typeface="Times"/>
              </a:rPr>
              <a:t>[ </a:t>
            </a:r>
            <a:r>
              <a:rPr lang="en-US" i="1" dirty="0">
                <a:latin typeface="Times"/>
                <a:cs typeface="Times"/>
              </a:rPr>
              <a:t>x   y   </a:t>
            </a:r>
            <a:r>
              <a:rPr lang="en-US" dirty="0">
                <a:latin typeface="Times"/>
                <a:cs typeface="Times"/>
              </a:rPr>
              <a:t>1</a:t>
            </a:r>
            <a:r>
              <a:rPr lang="en-US" i="1" dirty="0">
                <a:latin typeface="Times"/>
                <a:cs typeface="Times"/>
              </a:rPr>
              <a:t> </a:t>
            </a:r>
            <a:r>
              <a:rPr lang="en-US" dirty="0">
                <a:latin typeface="Times"/>
                <a:cs typeface="Times"/>
              </a:rPr>
              <a:t>]</a:t>
            </a:r>
            <a:r>
              <a:rPr lang="en-US" baseline="30000" dirty="0">
                <a:latin typeface="+mj-lt"/>
                <a:cs typeface="Times"/>
              </a:rPr>
              <a:t>T</a:t>
            </a:r>
            <a:endParaRPr lang="en-US" i="1" baseline="30000" dirty="0">
              <a:latin typeface="+mj-lt"/>
              <a:cs typeface="Times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5207001" y="5728311"/>
            <a:ext cx="3945361" cy="830996"/>
            <a:chOff x="3683000" y="5728311"/>
            <a:chExt cx="3945361" cy="830996"/>
          </a:xfrm>
        </p:grpSpPr>
        <p:sp>
          <p:nvSpPr>
            <p:cNvPr id="2" name="Right Brace 1"/>
            <p:cNvSpPr/>
            <p:nvPr/>
          </p:nvSpPr>
          <p:spPr>
            <a:xfrm>
              <a:off x="3683000" y="5842000"/>
              <a:ext cx="268111" cy="717307"/>
            </a:xfrm>
            <a:prstGeom prst="rightBrace">
              <a:avLst/>
            </a:prstGeom>
            <a:ln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682268" y="5728311"/>
              <a:ext cx="94609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Brush Script MT" panose="03060802040406070304" pitchFamily="66" charset="-122"/>
                  <a:ea typeface="Brush Script MT" panose="03060802040406070304" pitchFamily="66" charset="-122"/>
                  <a:cs typeface="Brush Script MT" panose="03060802040406070304" pitchFamily="66" charset="-122"/>
                </a:rPr>
                <a:t>l</a:t>
              </a:r>
              <a:r>
                <a:rPr lang="en-US" sz="2400" b="1" dirty="0">
                  <a:latin typeface="Xingkai SC Light"/>
                  <a:cs typeface="Xingkai SC Light"/>
                </a:rPr>
                <a:t>  </a:t>
              </a:r>
              <a:r>
                <a:rPr lang="en-US" b="1" dirty="0">
                  <a:latin typeface="Times"/>
                  <a:cs typeface="Times"/>
                </a:rPr>
                <a:t>m</a:t>
              </a:r>
              <a:r>
                <a:rPr lang="en-US" dirty="0">
                  <a:latin typeface="Times"/>
                  <a:cs typeface="Times"/>
                </a:rPr>
                <a:t> = 0</a:t>
              </a:r>
              <a:endParaRPr lang="en-US" i="1" baseline="30000" dirty="0">
                <a:latin typeface="Times"/>
                <a:cs typeface="Times"/>
              </a:endParaRPr>
            </a:p>
          </p:txBody>
        </p:sp>
        <p:sp>
          <p:nvSpPr>
            <p:cNvPr id="3" name="Rectangle 2"/>
            <p:cNvSpPr/>
            <p:nvPr/>
          </p:nvSpPr>
          <p:spPr>
            <a:xfrm>
              <a:off x="6774379" y="5808497"/>
              <a:ext cx="29027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latin typeface="Wingdings"/>
                  <a:ea typeface="Wingdings"/>
                  <a:cs typeface="Wingdings"/>
                  <a:sym typeface="Wingdings"/>
                </a:rPr>
                <a:t></a:t>
              </a:r>
              <a:endParaRPr lang="en-US" dirty="0"/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8203447" y="6106488"/>
            <a:ext cx="10663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rush Script MT" panose="03060802040406070304" pitchFamily="66" charset="-122"/>
                <a:ea typeface="Brush Script MT" panose="03060802040406070304" pitchFamily="66" charset="-122"/>
                <a:cs typeface="Brush Script MT" panose="03060802040406070304" pitchFamily="66" charset="-122"/>
              </a:rPr>
              <a:t>l </a:t>
            </a:r>
            <a:r>
              <a:rPr lang="en-US" sz="2400" baseline="30000" dirty="0">
                <a:cs typeface="Times"/>
              </a:rPr>
              <a:t>T</a:t>
            </a:r>
            <a:r>
              <a:rPr lang="en-US" sz="2400" b="1" dirty="0">
                <a:latin typeface="Xingkai SC Light"/>
                <a:cs typeface="Xingkai SC Light"/>
              </a:rPr>
              <a:t> </a:t>
            </a:r>
            <a:r>
              <a:rPr lang="en-US" b="1" dirty="0">
                <a:latin typeface="Times"/>
                <a:cs typeface="Times"/>
              </a:rPr>
              <a:t>m</a:t>
            </a:r>
            <a:r>
              <a:rPr lang="en-US" dirty="0">
                <a:latin typeface="Times"/>
                <a:cs typeface="Times"/>
              </a:rPr>
              <a:t> = 0</a:t>
            </a:r>
            <a:endParaRPr lang="en-US" i="1" baseline="30000" dirty="0">
              <a:latin typeface="Times"/>
              <a:cs typeface="Time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582348" y="3033498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"/>
                <a:cs typeface="Times"/>
              </a:rPr>
              <a:t>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80116" y="437450"/>
            <a:ext cx="3159839" cy="17851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rebuchet MS"/>
                <a:cs typeface="Trebuchet MS"/>
              </a:rPr>
              <a:t>Two representations of </a:t>
            </a:r>
            <a:r>
              <a:rPr lang="en-US" sz="2000" i="1" dirty="0">
                <a:latin typeface="Times"/>
                <a:cs typeface="Times"/>
              </a:rPr>
              <a:t>m</a:t>
            </a:r>
            <a:r>
              <a:rPr lang="en-US" dirty="0">
                <a:latin typeface="Trebuchet MS"/>
                <a:cs typeface="Trebuchet MS"/>
              </a:rPr>
              <a:t>:</a:t>
            </a:r>
          </a:p>
          <a:p>
            <a:endParaRPr lang="en-US" dirty="0">
              <a:latin typeface="Trebuchet MS"/>
              <a:cs typeface="Trebuchet MS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Trebuchet MS"/>
                <a:cs typeface="Trebuchet MS"/>
              </a:rPr>
              <a:t>Cartesian coordinates</a:t>
            </a:r>
          </a:p>
          <a:p>
            <a:endParaRPr lang="en-US" dirty="0">
              <a:latin typeface="Trebuchet MS"/>
              <a:cs typeface="Trebuchet MS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Trebuchet MS"/>
                <a:cs typeface="Trebuchet MS"/>
              </a:rPr>
              <a:t>Homogeneous coordinates</a:t>
            </a:r>
          </a:p>
          <a:p>
            <a:r>
              <a:rPr lang="en-US" dirty="0">
                <a:latin typeface="Trebuchet MS"/>
                <a:cs typeface="Trebuchet MS"/>
              </a:rPr>
              <a:t>	</a:t>
            </a:r>
          </a:p>
        </p:txBody>
      </p:sp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37F57956-209C-0136-5BB0-4D8758134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CV02A</a:t>
            </a:r>
            <a:endParaRPr lang="en-CL"/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BF840093-1868-12C4-CA5A-B92D45BF7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7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017393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21" grpId="0"/>
      <p:bldP spid="22" grpId="0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C9B3C-AC72-C492-D5D4-2420BB7B7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20CA9-930A-A701-A56D-6ADECF3B0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CL" sz="4800" dirty="0">
                <a:latin typeface="Gill Sans MT" panose="020B0502020104020203" pitchFamily="34" charset="77"/>
                <a:cs typeface="Consolas" panose="020B0609020204030204" pitchFamily="49" charset="0"/>
              </a:rPr>
              <a:t>Producto Punto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E0119A-C31E-D4E5-10B8-2F4A4AC61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CV02A</a:t>
            </a:r>
            <a:endParaRPr lang="en-CL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BE2ECD5-F360-B0FD-42E3-B75F637C4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8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3349259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930" name="Text Box 2"/>
          <p:cNvSpPr txBox="1">
            <a:spLocks noChangeArrowheads="1"/>
          </p:cNvSpPr>
          <p:nvPr/>
        </p:nvSpPr>
        <p:spPr bwMode="auto">
          <a:xfrm>
            <a:off x="1814514" y="268289"/>
            <a:ext cx="8218487" cy="615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sz="2400" dirty="0">
                <a:solidFill>
                  <a:srgbClr val="0000FF"/>
                </a:solidFill>
                <a:latin typeface="Trebuchet MS" pitchFamily="34" charset="0"/>
              </a:rPr>
              <a:t>[ Dot Product ]</a:t>
            </a:r>
          </a:p>
          <a:p>
            <a:pPr eaLnBrk="0" hangingPunct="0"/>
            <a:endParaRPr lang="en-US" sz="1000" dirty="0">
              <a:solidFill>
                <a:srgbClr val="0000FF"/>
              </a:solidFill>
              <a:latin typeface="Trebuchet MS" pitchFamily="34" charset="0"/>
            </a:endParaRPr>
          </a:p>
        </p:txBody>
      </p:sp>
      <p:pic>
        <p:nvPicPr>
          <p:cNvPr id="3" name="Picture 2" descr="Screen Shot 2014-11-09 at 10.34.22 A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2436" y="1023057"/>
            <a:ext cx="5245100" cy="864577"/>
          </a:xfrm>
          <a:prstGeom prst="rect">
            <a:avLst/>
          </a:prstGeom>
        </p:spPr>
      </p:pic>
      <p:pic>
        <p:nvPicPr>
          <p:cNvPr id="5" name="Picture 4" descr="Screen Shot 2014-11-09 at 10.35.43 AM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3104" y="2864549"/>
            <a:ext cx="5770012" cy="332457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0222" y="1298231"/>
            <a:ext cx="3298473" cy="2638778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1793660" y="3457223"/>
            <a:ext cx="5417117" cy="273190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3987290" y="6400412"/>
            <a:ext cx="31502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rebuchet MS"/>
                <a:cs typeface="Trebuchet MS"/>
                <a:hlinkClick r:id="rId6"/>
              </a:rPr>
              <a:t>http://en.wikipedia.org/wiki/Dot_product</a:t>
            </a:r>
            <a:r>
              <a:rPr lang="en-US" sz="1200" dirty="0">
                <a:latin typeface="Trebuchet MS"/>
                <a:cs typeface="Trebuchet MS"/>
              </a:rPr>
              <a:t>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9861D5-3BDD-82D5-6913-1D755125F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CV02A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A8D25D-E833-6399-2A4C-D280A0D0D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9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668823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930" name="Text Box 2"/>
          <p:cNvSpPr txBox="1">
            <a:spLocks noChangeArrowheads="1"/>
          </p:cNvSpPr>
          <p:nvPr/>
        </p:nvSpPr>
        <p:spPr bwMode="auto">
          <a:xfrm>
            <a:off x="1814514" y="268289"/>
            <a:ext cx="8218487" cy="615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sz="2400" dirty="0">
                <a:solidFill>
                  <a:srgbClr val="0000FF"/>
                </a:solidFill>
                <a:latin typeface="Trebuchet MS" pitchFamily="34" charset="0"/>
              </a:rPr>
              <a:t>[ Dot Product ]</a:t>
            </a:r>
          </a:p>
          <a:p>
            <a:pPr eaLnBrk="0" hangingPunct="0"/>
            <a:endParaRPr lang="en-US" sz="1000" dirty="0">
              <a:solidFill>
                <a:srgbClr val="0000FF"/>
              </a:solidFill>
              <a:latin typeface="Trebuchet MS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191202" y="2874618"/>
            <a:ext cx="16076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rush Script MT" panose="03060802040406070304" pitchFamily="66" charset="-122"/>
                <a:ea typeface="Brush Script MT" panose="03060802040406070304" pitchFamily="66" charset="-122"/>
                <a:cs typeface="Brush Script MT" panose="03060802040406070304" pitchFamily="66" charset="-122"/>
              </a:rPr>
              <a:t>l</a:t>
            </a:r>
            <a:r>
              <a:rPr lang="en-US" i="1" dirty="0">
                <a:latin typeface="Times"/>
                <a:cs typeface="Times"/>
              </a:rPr>
              <a:t> = </a:t>
            </a:r>
            <a:r>
              <a:rPr lang="en-US" dirty="0">
                <a:latin typeface="Times"/>
                <a:cs typeface="Times"/>
              </a:rPr>
              <a:t>[ </a:t>
            </a:r>
            <a:r>
              <a:rPr lang="en-US" i="1" dirty="0">
                <a:latin typeface="Times"/>
                <a:cs typeface="Times"/>
              </a:rPr>
              <a:t>a   b   c </a:t>
            </a:r>
            <a:r>
              <a:rPr lang="en-US" dirty="0">
                <a:latin typeface="Times"/>
                <a:cs typeface="Times"/>
              </a:rPr>
              <a:t>]</a:t>
            </a:r>
            <a:r>
              <a:rPr lang="en-US" baseline="30000" dirty="0">
                <a:latin typeface="+mj-lt"/>
                <a:cs typeface="Times"/>
              </a:rPr>
              <a:t>T</a:t>
            </a:r>
            <a:endParaRPr lang="en-US" i="1" baseline="30000" dirty="0">
              <a:latin typeface="+mj-lt"/>
              <a:cs typeface="Time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120647" y="3367747"/>
            <a:ext cx="1692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"/>
                <a:cs typeface="Times"/>
              </a:rPr>
              <a:t>m</a:t>
            </a:r>
            <a:r>
              <a:rPr lang="en-US" i="1" dirty="0">
                <a:latin typeface="Times"/>
                <a:cs typeface="Times"/>
              </a:rPr>
              <a:t> = </a:t>
            </a:r>
            <a:r>
              <a:rPr lang="en-US" dirty="0">
                <a:latin typeface="Times"/>
                <a:cs typeface="Times"/>
              </a:rPr>
              <a:t>[ </a:t>
            </a:r>
            <a:r>
              <a:rPr lang="en-US" i="1" dirty="0">
                <a:latin typeface="Times"/>
                <a:cs typeface="Times"/>
              </a:rPr>
              <a:t>x   y   </a:t>
            </a:r>
            <a:r>
              <a:rPr lang="en-US" dirty="0">
                <a:latin typeface="Times"/>
                <a:cs typeface="Times"/>
              </a:rPr>
              <a:t>1</a:t>
            </a:r>
            <a:r>
              <a:rPr lang="en-US" i="1" dirty="0">
                <a:latin typeface="Times"/>
                <a:cs typeface="Times"/>
              </a:rPr>
              <a:t> </a:t>
            </a:r>
            <a:r>
              <a:rPr lang="en-US" dirty="0">
                <a:latin typeface="Times"/>
                <a:cs typeface="Times"/>
              </a:rPr>
              <a:t>]</a:t>
            </a:r>
            <a:r>
              <a:rPr lang="en-US" baseline="30000" dirty="0">
                <a:latin typeface="+mj-lt"/>
                <a:cs typeface="Times"/>
              </a:rPr>
              <a:t>T</a:t>
            </a:r>
            <a:endParaRPr lang="en-US" i="1" baseline="30000" dirty="0">
              <a:latin typeface="+mj-lt"/>
              <a:cs typeface="Times"/>
            </a:endParaRPr>
          </a:p>
        </p:txBody>
      </p:sp>
      <p:sp>
        <p:nvSpPr>
          <p:cNvPr id="20" name="Right Brace 19"/>
          <p:cNvSpPr/>
          <p:nvPr/>
        </p:nvSpPr>
        <p:spPr>
          <a:xfrm>
            <a:off x="5128002" y="3019773"/>
            <a:ext cx="268111" cy="717307"/>
          </a:xfrm>
          <a:prstGeom prst="rightBrace">
            <a:avLst/>
          </a:prstGeom>
          <a:ln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5855382" y="3136916"/>
            <a:ext cx="6431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rush Script MT" panose="03060802040406070304" pitchFamily="66" charset="-122"/>
                <a:ea typeface="Brush Script MT" panose="03060802040406070304" pitchFamily="66" charset="-122"/>
                <a:cs typeface="Brush Script MT" panose="03060802040406070304" pitchFamily="66" charset="-122"/>
              </a:rPr>
              <a:t>l</a:t>
            </a:r>
            <a:r>
              <a:rPr lang="en-US" sz="2400" b="1" dirty="0">
                <a:latin typeface="Xingkai SC Light"/>
                <a:cs typeface="Xingkai SC Light"/>
              </a:rPr>
              <a:t>  </a:t>
            </a:r>
            <a:r>
              <a:rPr lang="en-US" b="1" dirty="0">
                <a:latin typeface="Times"/>
                <a:cs typeface="Times"/>
              </a:rPr>
              <a:t>m</a:t>
            </a:r>
            <a:r>
              <a:rPr lang="en-US" dirty="0">
                <a:latin typeface="Times"/>
                <a:cs typeface="Times"/>
              </a:rPr>
              <a:t> </a:t>
            </a:r>
            <a:endParaRPr lang="en-US" i="1" baseline="30000" dirty="0">
              <a:latin typeface="Times"/>
              <a:cs typeface="Time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947492" y="3217101"/>
            <a:ext cx="2902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Wingdings"/>
                <a:ea typeface="Wingdings"/>
                <a:cs typeface="Wingdings"/>
                <a:sym typeface="Wingdings"/>
              </a:rPr>
              <a:t></a:t>
            </a:r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6448491" y="3220360"/>
            <a:ext cx="19265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"/>
                <a:cs typeface="Times"/>
              </a:rPr>
              <a:t>= </a:t>
            </a:r>
            <a:r>
              <a:rPr lang="en-US" i="1" dirty="0">
                <a:latin typeface="Times"/>
                <a:cs typeface="Times"/>
              </a:rPr>
              <a:t>a x</a:t>
            </a:r>
            <a:r>
              <a:rPr lang="en-US" dirty="0">
                <a:latin typeface="Times"/>
                <a:cs typeface="Times"/>
              </a:rPr>
              <a:t> + </a:t>
            </a:r>
            <a:r>
              <a:rPr lang="en-US" i="1" dirty="0">
                <a:latin typeface="Times"/>
                <a:cs typeface="Times"/>
              </a:rPr>
              <a:t>b y </a:t>
            </a:r>
            <a:r>
              <a:rPr lang="en-US" dirty="0">
                <a:latin typeface="Times"/>
                <a:cs typeface="Times"/>
              </a:rPr>
              <a:t>+ </a:t>
            </a:r>
            <a:r>
              <a:rPr lang="en-US" i="1" dirty="0">
                <a:latin typeface="Times"/>
                <a:cs typeface="Times"/>
              </a:rPr>
              <a:t>c </a:t>
            </a:r>
            <a:r>
              <a:rPr lang="en-US" dirty="0">
                <a:latin typeface="Times"/>
                <a:cs typeface="Times"/>
              </a:rPr>
              <a:t>= 0</a:t>
            </a:r>
            <a:endParaRPr lang="en-US" i="1" dirty="0">
              <a:latin typeface="Times"/>
              <a:cs typeface="Times"/>
            </a:endParaRPr>
          </a:p>
        </p:txBody>
      </p:sp>
      <p:pic>
        <p:nvPicPr>
          <p:cNvPr id="3" name="Picture 2" descr="Screen Shot 2014-11-09 at 10.34.22 A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2436" y="1023057"/>
            <a:ext cx="5245100" cy="864577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7948D5-40CA-3FBF-B312-5600D87B0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CV02A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640252-3472-25AC-0DBE-6B25262DE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10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8477923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FAB68-25BD-869C-C173-037E336D7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60931-A268-9545-3AB0-3A91114B2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CL" sz="4800" dirty="0">
                <a:latin typeface="Gill Sans MT" panose="020B0502020104020203" pitchFamily="34" charset="77"/>
                <a:cs typeface="Consolas" panose="020B0609020204030204" pitchFamily="49" charset="0"/>
              </a:rPr>
              <a:t>Producto Cruz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D2BA56-F73F-08D6-D5DA-0F13D5C5A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CV02A</a:t>
            </a:r>
            <a:endParaRPr lang="en-CL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7B11190-2E53-20AA-4A47-19434A7B5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11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1009831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930" name="Text Box 2"/>
          <p:cNvSpPr txBox="1">
            <a:spLocks noChangeArrowheads="1"/>
          </p:cNvSpPr>
          <p:nvPr/>
        </p:nvSpPr>
        <p:spPr bwMode="auto">
          <a:xfrm>
            <a:off x="1814514" y="268289"/>
            <a:ext cx="8218487" cy="615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sz="2400" dirty="0">
                <a:solidFill>
                  <a:srgbClr val="0000FF"/>
                </a:solidFill>
                <a:latin typeface="Trebuchet MS" pitchFamily="34" charset="0"/>
              </a:rPr>
              <a:t>[ Cross Product ]</a:t>
            </a:r>
          </a:p>
          <a:p>
            <a:pPr eaLnBrk="0" hangingPunct="0"/>
            <a:endParaRPr lang="en-US" sz="1000" dirty="0">
              <a:solidFill>
                <a:srgbClr val="0000FF"/>
              </a:solidFill>
              <a:latin typeface="Trebuchet MS" pitchFamily="34" charset="0"/>
            </a:endParaRPr>
          </a:p>
        </p:txBody>
      </p:sp>
      <p:pic>
        <p:nvPicPr>
          <p:cNvPr id="2" name="Picture 1" descr="Screen Shot 2014-11-09 at 10.42.57 A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7200" y="1752600"/>
            <a:ext cx="8724900" cy="33528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321441" y="1679223"/>
            <a:ext cx="2764226" cy="635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064619" y="2960511"/>
            <a:ext cx="5387481" cy="635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6983729" y="3905956"/>
            <a:ext cx="622164" cy="635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4137270" y="6400412"/>
            <a:ext cx="32712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rebuchet MS"/>
                <a:cs typeface="Trebuchet MS"/>
                <a:hlinkClick r:id="rId4"/>
              </a:rPr>
              <a:t>http://en.wikipedia.org/wiki/Cross_product</a:t>
            </a:r>
            <a:r>
              <a:rPr lang="en-US" sz="1200" dirty="0">
                <a:latin typeface="Trebuchet MS"/>
                <a:cs typeface="Trebuchet MS"/>
              </a:rPr>
              <a:t>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0328A9-31A2-7DD6-2EAF-81B25F31B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CV02A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FFC8FC-3031-0C4F-733F-D885CB1FD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12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7805997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930" name="Text Box 2"/>
          <p:cNvSpPr txBox="1">
            <a:spLocks noChangeArrowheads="1"/>
          </p:cNvSpPr>
          <p:nvPr/>
        </p:nvSpPr>
        <p:spPr bwMode="auto">
          <a:xfrm>
            <a:off x="1814514" y="268289"/>
            <a:ext cx="8218487" cy="615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sz="2400" dirty="0">
                <a:solidFill>
                  <a:srgbClr val="0000FF"/>
                </a:solidFill>
                <a:latin typeface="Trebuchet MS" pitchFamily="34" charset="0"/>
              </a:rPr>
              <a:t>[ Cross Product ]</a:t>
            </a:r>
          </a:p>
          <a:p>
            <a:pPr eaLnBrk="0" hangingPunct="0"/>
            <a:endParaRPr lang="en-US" sz="1000" dirty="0">
              <a:solidFill>
                <a:srgbClr val="0000FF"/>
              </a:solidFill>
              <a:latin typeface="Trebuchet MS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3867" y="883841"/>
            <a:ext cx="2082800" cy="188561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4513" y="1436510"/>
            <a:ext cx="6096000" cy="47625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8567" y="5221111"/>
            <a:ext cx="3124200" cy="254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8AF989-0D0B-75AB-005B-D347742A5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CV02A</a:t>
            </a:r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3C7DFA-F0B8-70AA-63BA-3BBCD76CB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13</a:t>
            </a:fld>
            <a:endParaRPr lang="en-CL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13F99E-3C14-F1E3-4F0A-1DB5135B360C}"/>
              </a:ext>
            </a:extLst>
          </p:cNvPr>
          <p:cNvSpPr txBox="1"/>
          <p:nvPr/>
        </p:nvSpPr>
        <p:spPr>
          <a:xfrm>
            <a:off x="4137270" y="6400412"/>
            <a:ext cx="32712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rebuchet MS"/>
                <a:cs typeface="Trebuchet MS"/>
                <a:hlinkClick r:id="rId6"/>
              </a:rPr>
              <a:t>http://en.wikipedia.org/wiki/Cross_product</a:t>
            </a:r>
            <a:r>
              <a:rPr lang="en-US" sz="1200" dirty="0">
                <a:latin typeface="Trebuchet MS"/>
                <a:cs typeface="Trebuchet M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475778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930" name="Text Box 2"/>
          <p:cNvSpPr txBox="1">
            <a:spLocks noChangeArrowheads="1"/>
          </p:cNvSpPr>
          <p:nvPr/>
        </p:nvSpPr>
        <p:spPr bwMode="auto">
          <a:xfrm>
            <a:off x="1814514" y="268289"/>
            <a:ext cx="8218487" cy="615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sz="2400" dirty="0">
                <a:solidFill>
                  <a:srgbClr val="0000FF"/>
                </a:solidFill>
                <a:latin typeface="Trebuchet MS" pitchFamily="34" charset="0"/>
              </a:rPr>
              <a:t>[ Cross Product ]</a:t>
            </a:r>
          </a:p>
          <a:p>
            <a:pPr eaLnBrk="0" hangingPunct="0"/>
            <a:endParaRPr lang="en-US" sz="1000" dirty="0">
              <a:solidFill>
                <a:srgbClr val="0000FF"/>
              </a:solidFill>
              <a:latin typeface="Trebuchet MS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3867" y="883841"/>
            <a:ext cx="2082800" cy="188561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8567" y="5221111"/>
            <a:ext cx="3124200" cy="254000"/>
          </a:xfrm>
          <a:prstGeom prst="rect">
            <a:avLst/>
          </a:prstGeom>
        </p:spPr>
      </p:pic>
      <p:pic>
        <p:nvPicPr>
          <p:cNvPr id="7" name="Picture 6" descr="Cross_product.gif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3901" y="889000"/>
            <a:ext cx="5080000" cy="5080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2ECFC1-A815-B07D-CDED-F203C1C24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CV02A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381F25-1E44-5CDA-4BD1-1CAF3B4DE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14</a:t>
            </a:fld>
            <a:endParaRPr lang="en-CL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79B56E-1B65-BDE0-0EA6-8F0BA1B6BA9E}"/>
              </a:ext>
            </a:extLst>
          </p:cNvPr>
          <p:cNvSpPr txBox="1"/>
          <p:nvPr/>
        </p:nvSpPr>
        <p:spPr>
          <a:xfrm>
            <a:off x="4137270" y="6400412"/>
            <a:ext cx="32712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rebuchet MS"/>
                <a:cs typeface="Trebuchet MS"/>
                <a:hlinkClick r:id="rId6"/>
              </a:rPr>
              <a:t>http://en.wikipedia.org/wiki/Cross_product</a:t>
            </a:r>
            <a:r>
              <a:rPr lang="en-US" sz="1200" dirty="0">
                <a:latin typeface="Trebuchet MS"/>
                <a:cs typeface="Trebuchet M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843944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DE5A6-2E2C-A618-C53B-531BBA32D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A5D9D-8B50-5001-F14D-A1044C8B4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CL" sz="4800" dirty="0">
                <a:latin typeface="Gill Sans MT" panose="020B0502020104020203" pitchFamily="34" charset="77"/>
                <a:cs typeface="Consolas" panose="020B0609020204030204" pitchFamily="49" charset="0"/>
              </a:rPr>
              <a:t>Intersección de dos líneas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C84877-D758-F432-BFE0-4C13A577B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CV02A</a:t>
            </a:r>
            <a:endParaRPr lang="en-CL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D8029AF-690A-1E62-A2FE-6D8BA55F0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15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2998181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17"/>
          <p:cNvCxnSpPr/>
          <p:nvPr/>
        </p:nvCxnSpPr>
        <p:spPr>
          <a:xfrm>
            <a:off x="3553185" y="2159000"/>
            <a:ext cx="3189114" cy="2142064"/>
          </a:xfrm>
          <a:prstGeom prst="line">
            <a:avLst/>
          </a:prstGeom>
          <a:ln>
            <a:solidFill>
              <a:srgbClr val="FF6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4930" name="Text Box 2"/>
          <p:cNvSpPr txBox="1">
            <a:spLocks noChangeArrowheads="1"/>
          </p:cNvSpPr>
          <p:nvPr/>
        </p:nvSpPr>
        <p:spPr bwMode="auto">
          <a:xfrm>
            <a:off x="1814514" y="268289"/>
            <a:ext cx="8218487" cy="615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sz="2400" dirty="0">
                <a:solidFill>
                  <a:srgbClr val="0000FF"/>
                </a:solidFill>
                <a:latin typeface="Trebuchet MS" pitchFamily="34" charset="0"/>
              </a:rPr>
              <a:t>[ Intersection of two lines ]</a:t>
            </a:r>
          </a:p>
          <a:p>
            <a:pPr eaLnBrk="0" hangingPunct="0"/>
            <a:endParaRPr lang="en-US" sz="1000" dirty="0">
              <a:solidFill>
                <a:srgbClr val="0000FF"/>
              </a:solidFill>
              <a:latin typeface="Trebuchet MS" pitchFamily="34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2878675" y="2300112"/>
            <a:ext cx="3880556" cy="1453445"/>
          </a:xfrm>
          <a:prstGeom prst="line">
            <a:avLst/>
          </a:prstGeom>
          <a:ln>
            <a:solidFill>
              <a:srgbClr val="FF6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4840125" y="3019771"/>
            <a:ext cx="43124" cy="3894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3045188" y="1413555"/>
            <a:ext cx="3479191" cy="3513669"/>
            <a:chOff x="2593623" y="1413554"/>
            <a:chExt cx="3479191" cy="3513669"/>
          </a:xfrm>
        </p:grpSpPr>
        <p:cxnSp>
          <p:nvCxnSpPr>
            <p:cNvPr id="11" name="Straight Arrow Connector 10"/>
            <p:cNvCxnSpPr/>
            <p:nvPr/>
          </p:nvCxnSpPr>
          <p:spPr>
            <a:xfrm flipV="1">
              <a:off x="2921001" y="1467556"/>
              <a:ext cx="789" cy="3400777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/>
            <p:nvPr/>
          </p:nvCxnSpPr>
          <p:spPr>
            <a:xfrm flipV="1">
              <a:off x="2593623" y="4512733"/>
              <a:ext cx="3333043" cy="1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/>
            <p:cNvSpPr txBox="1"/>
            <p:nvPr/>
          </p:nvSpPr>
          <p:spPr>
            <a:xfrm>
              <a:off x="5785556" y="4557891"/>
              <a:ext cx="2872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>
                  <a:latin typeface="Times"/>
                  <a:cs typeface="Times"/>
                </a:rPr>
                <a:t>x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101621" y="1413554"/>
              <a:ext cx="2872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>
                  <a:latin typeface="Times"/>
                  <a:cs typeface="Times"/>
                </a:rPr>
                <a:t>y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453306" y="2675274"/>
              <a:ext cx="8318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Times"/>
                  <a:cs typeface="Times"/>
                </a:rPr>
                <a:t>( </a:t>
              </a:r>
              <a:r>
                <a:rPr lang="en-US" i="1" dirty="0">
                  <a:latin typeface="Times"/>
                  <a:cs typeface="Times"/>
                </a:rPr>
                <a:t>x </a:t>
              </a:r>
              <a:r>
                <a:rPr lang="en-US" dirty="0">
                  <a:latin typeface="Times"/>
                  <a:cs typeface="Times"/>
                </a:rPr>
                <a:t>,</a:t>
              </a:r>
              <a:r>
                <a:rPr lang="en-US" i="1" dirty="0">
                  <a:latin typeface="Times"/>
                  <a:cs typeface="Times"/>
                </a:rPr>
                <a:t> y </a:t>
              </a:r>
              <a:r>
                <a:rPr lang="en-US" dirty="0">
                  <a:latin typeface="Times"/>
                  <a:cs typeface="Times"/>
                </a:rPr>
                <a:t>)</a:t>
              </a:r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6913698" y="3583001"/>
            <a:ext cx="2236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rush Script MT" panose="03060802040406070304" pitchFamily="66" charset="-122"/>
                <a:ea typeface="Brush Script MT" panose="03060802040406070304" pitchFamily="66" charset="-122"/>
                <a:cs typeface="Brush Script MT" panose="03060802040406070304" pitchFamily="66" charset="-122"/>
              </a:rPr>
              <a:t>l</a:t>
            </a:r>
            <a:r>
              <a:rPr lang="en-US" baseline="-25000" dirty="0">
                <a:latin typeface="Times"/>
                <a:cs typeface="Times"/>
              </a:rPr>
              <a:t>1</a:t>
            </a:r>
            <a:r>
              <a:rPr lang="en-US" i="1" dirty="0">
                <a:latin typeface="Times"/>
                <a:cs typeface="Times"/>
              </a:rPr>
              <a:t> </a:t>
            </a:r>
            <a:r>
              <a:rPr lang="en-US" dirty="0">
                <a:latin typeface="Times"/>
                <a:cs typeface="Times"/>
              </a:rPr>
              <a:t>: </a:t>
            </a:r>
            <a:r>
              <a:rPr lang="en-US" i="1" dirty="0">
                <a:latin typeface="Times"/>
                <a:cs typeface="Times"/>
              </a:rPr>
              <a:t>a</a:t>
            </a:r>
            <a:r>
              <a:rPr lang="en-US" baseline="-25000" dirty="0">
                <a:latin typeface="Times"/>
                <a:cs typeface="Times"/>
              </a:rPr>
              <a:t>1</a:t>
            </a:r>
            <a:r>
              <a:rPr lang="en-US" i="1" dirty="0">
                <a:latin typeface="Times"/>
                <a:cs typeface="Times"/>
              </a:rPr>
              <a:t> x</a:t>
            </a:r>
            <a:r>
              <a:rPr lang="en-US" dirty="0">
                <a:latin typeface="Times"/>
                <a:cs typeface="Times"/>
              </a:rPr>
              <a:t> + </a:t>
            </a:r>
            <a:r>
              <a:rPr lang="en-US" i="1" dirty="0">
                <a:latin typeface="Times"/>
                <a:cs typeface="Times"/>
              </a:rPr>
              <a:t>b</a:t>
            </a:r>
            <a:r>
              <a:rPr lang="en-US" baseline="-25000" dirty="0">
                <a:latin typeface="Times"/>
                <a:cs typeface="Times"/>
              </a:rPr>
              <a:t>1</a:t>
            </a:r>
            <a:r>
              <a:rPr lang="en-US" i="1" dirty="0">
                <a:latin typeface="Times"/>
                <a:cs typeface="Times"/>
              </a:rPr>
              <a:t> y </a:t>
            </a:r>
            <a:r>
              <a:rPr lang="en-US" dirty="0">
                <a:latin typeface="Times"/>
                <a:cs typeface="Times"/>
              </a:rPr>
              <a:t>+ </a:t>
            </a:r>
            <a:r>
              <a:rPr lang="en-US" i="1" dirty="0">
                <a:latin typeface="Times"/>
                <a:cs typeface="Times"/>
              </a:rPr>
              <a:t>c</a:t>
            </a:r>
            <a:r>
              <a:rPr lang="en-US" baseline="-25000" dirty="0">
                <a:latin typeface="Times"/>
                <a:cs typeface="Times"/>
              </a:rPr>
              <a:t>1</a:t>
            </a:r>
            <a:r>
              <a:rPr lang="en-US" i="1" dirty="0">
                <a:latin typeface="Times"/>
                <a:cs typeface="Times"/>
              </a:rPr>
              <a:t> </a:t>
            </a:r>
            <a:r>
              <a:rPr lang="en-US" dirty="0">
                <a:latin typeface="Times"/>
                <a:cs typeface="Times"/>
              </a:rPr>
              <a:t>= 0</a:t>
            </a:r>
            <a:endParaRPr lang="en-US" i="1" dirty="0">
              <a:latin typeface="Times"/>
              <a:cs typeface="Time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509912" y="3033498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"/>
                <a:cs typeface="Times"/>
              </a:rPr>
              <a:t>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96767" y="4130510"/>
            <a:ext cx="2247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rush Script MT" panose="03060802040406070304" pitchFamily="66" charset="-122"/>
                <a:ea typeface="Brush Script MT" panose="03060802040406070304" pitchFamily="66" charset="-122"/>
                <a:cs typeface="Brush Script MT" panose="03060802040406070304" pitchFamily="66" charset="-122"/>
              </a:rPr>
              <a:t>l</a:t>
            </a:r>
            <a:r>
              <a:rPr lang="en-US" baseline="-25000" dirty="0">
                <a:latin typeface="Times"/>
                <a:cs typeface="Times"/>
              </a:rPr>
              <a:t>2</a:t>
            </a:r>
            <a:r>
              <a:rPr lang="en-US" i="1" dirty="0">
                <a:latin typeface="Times"/>
                <a:cs typeface="Times"/>
              </a:rPr>
              <a:t> </a:t>
            </a:r>
            <a:r>
              <a:rPr lang="en-US" dirty="0">
                <a:latin typeface="Times"/>
                <a:cs typeface="Times"/>
              </a:rPr>
              <a:t>: </a:t>
            </a:r>
            <a:r>
              <a:rPr lang="en-US" i="1" dirty="0">
                <a:latin typeface="Times"/>
                <a:cs typeface="Times"/>
              </a:rPr>
              <a:t>a</a:t>
            </a:r>
            <a:r>
              <a:rPr lang="en-US" baseline="-25000" dirty="0">
                <a:latin typeface="Times"/>
                <a:cs typeface="Times"/>
              </a:rPr>
              <a:t>2</a:t>
            </a:r>
            <a:r>
              <a:rPr lang="en-US" i="1" dirty="0">
                <a:latin typeface="Times"/>
                <a:cs typeface="Times"/>
              </a:rPr>
              <a:t> x</a:t>
            </a:r>
            <a:r>
              <a:rPr lang="en-US" dirty="0">
                <a:latin typeface="Times"/>
                <a:cs typeface="Times"/>
              </a:rPr>
              <a:t> + </a:t>
            </a:r>
            <a:r>
              <a:rPr lang="en-US" i="1" dirty="0">
                <a:latin typeface="Times"/>
                <a:cs typeface="Times"/>
              </a:rPr>
              <a:t>b</a:t>
            </a:r>
            <a:r>
              <a:rPr lang="en-US" baseline="-25000" dirty="0">
                <a:latin typeface="Times"/>
                <a:cs typeface="Times"/>
              </a:rPr>
              <a:t>2</a:t>
            </a:r>
            <a:r>
              <a:rPr lang="en-US" i="1" dirty="0">
                <a:latin typeface="Times"/>
                <a:cs typeface="Times"/>
              </a:rPr>
              <a:t> y </a:t>
            </a:r>
            <a:r>
              <a:rPr lang="en-US" dirty="0">
                <a:latin typeface="Times"/>
                <a:cs typeface="Times"/>
              </a:rPr>
              <a:t>+ </a:t>
            </a:r>
            <a:r>
              <a:rPr lang="en-US" i="1" dirty="0">
                <a:latin typeface="Times"/>
                <a:cs typeface="Times"/>
              </a:rPr>
              <a:t>c</a:t>
            </a:r>
            <a:r>
              <a:rPr lang="en-US" baseline="-25000" dirty="0">
                <a:latin typeface="Times"/>
                <a:cs typeface="Times"/>
              </a:rPr>
              <a:t>2</a:t>
            </a:r>
            <a:r>
              <a:rPr lang="en-US" i="1" dirty="0">
                <a:latin typeface="Times"/>
                <a:cs typeface="Times"/>
              </a:rPr>
              <a:t> </a:t>
            </a:r>
            <a:r>
              <a:rPr lang="en-US" dirty="0">
                <a:latin typeface="Times"/>
                <a:cs typeface="Times"/>
              </a:rPr>
              <a:t>= 0</a:t>
            </a:r>
            <a:endParaRPr lang="en-US" i="1" dirty="0">
              <a:latin typeface="Times"/>
              <a:cs typeface="Time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669092" y="5471063"/>
            <a:ext cx="18582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rush Script MT" panose="03060802040406070304" pitchFamily="66" charset="-122"/>
                <a:ea typeface="Brush Script MT" panose="03060802040406070304" pitchFamily="66" charset="-122"/>
                <a:cs typeface="Brush Script MT" panose="03060802040406070304" pitchFamily="66" charset="-122"/>
              </a:rPr>
              <a:t>l</a:t>
            </a:r>
            <a:r>
              <a:rPr lang="en-US" baseline="-25000" dirty="0">
                <a:latin typeface="Times"/>
                <a:cs typeface="Times"/>
              </a:rPr>
              <a:t>1</a:t>
            </a:r>
            <a:r>
              <a:rPr lang="en-US" i="1" dirty="0">
                <a:latin typeface="Times"/>
                <a:cs typeface="Times"/>
              </a:rPr>
              <a:t> = </a:t>
            </a:r>
            <a:r>
              <a:rPr lang="en-US" dirty="0">
                <a:latin typeface="Times"/>
                <a:cs typeface="Times"/>
              </a:rPr>
              <a:t>[ </a:t>
            </a:r>
            <a:r>
              <a:rPr lang="en-US" i="1" dirty="0">
                <a:latin typeface="Times"/>
                <a:cs typeface="Times"/>
              </a:rPr>
              <a:t>a</a:t>
            </a:r>
            <a:r>
              <a:rPr lang="en-US" baseline="-25000" dirty="0">
                <a:latin typeface="Times"/>
                <a:cs typeface="Times"/>
              </a:rPr>
              <a:t>1</a:t>
            </a:r>
            <a:r>
              <a:rPr lang="en-US" i="1" dirty="0">
                <a:latin typeface="Times"/>
                <a:cs typeface="Times"/>
              </a:rPr>
              <a:t>   b</a:t>
            </a:r>
            <a:r>
              <a:rPr lang="en-US" baseline="-25000" dirty="0">
                <a:latin typeface="Times"/>
                <a:cs typeface="Times"/>
              </a:rPr>
              <a:t>1</a:t>
            </a:r>
            <a:r>
              <a:rPr lang="en-US" i="1" dirty="0">
                <a:latin typeface="Times"/>
                <a:cs typeface="Times"/>
              </a:rPr>
              <a:t>   c</a:t>
            </a:r>
            <a:r>
              <a:rPr lang="en-US" baseline="-25000" dirty="0">
                <a:latin typeface="Times"/>
                <a:cs typeface="Times"/>
              </a:rPr>
              <a:t>1</a:t>
            </a:r>
            <a:r>
              <a:rPr lang="en-US" i="1" dirty="0">
                <a:latin typeface="Times"/>
                <a:cs typeface="Times"/>
              </a:rPr>
              <a:t> </a:t>
            </a:r>
            <a:r>
              <a:rPr lang="en-US" dirty="0">
                <a:latin typeface="Times"/>
                <a:cs typeface="Times"/>
              </a:rPr>
              <a:t>]</a:t>
            </a:r>
            <a:r>
              <a:rPr lang="en-US" baseline="30000" dirty="0">
                <a:latin typeface="+mj-lt"/>
                <a:cs typeface="Times"/>
              </a:rPr>
              <a:t>T</a:t>
            </a:r>
            <a:endParaRPr lang="en-US" i="1" baseline="30000" dirty="0">
              <a:latin typeface="+mj-lt"/>
              <a:cs typeface="Time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666271" y="5877461"/>
            <a:ext cx="18582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rush Script MT" panose="03060802040406070304" pitchFamily="66" charset="-122"/>
                <a:ea typeface="Brush Script MT" panose="03060802040406070304" pitchFamily="66" charset="-122"/>
                <a:cs typeface="Brush Script MT" panose="03060802040406070304" pitchFamily="66" charset="-122"/>
              </a:rPr>
              <a:t>l</a:t>
            </a:r>
            <a:r>
              <a:rPr lang="en-US" baseline="-25000" dirty="0">
                <a:latin typeface="Times"/>
                <a:cs typeface="Times"/>
              </a:rPr>
              <a:t>2</a:t>
            </a:r>
            <a:r>
              <a:rPr lang="en-US" i="1" dirty="0">
                <a:latin typeface="Times"/>
                <a:cs typeface="Times"/>
              </a:rPr>
              <a:t> = </a:t>
            </a:r>
            <a:r>
              <a:rPr lang="en-US" dirty="0">
                <a:latin typeface="Times"/>
                <a:cs typeface="Times"/>
              </a:rPr>
              <a:t>[ </a:t>
            </a:r>
            <a:r>
              <a:rPr lang="en-US" i="1" dirty="0">
                <a:latin typeface="Times"/>
                <a:cs typeface="Times"/>
              </a:rPr>
              <a:t>a</a:t>
            </a:r>
            <a:r>
              <a:rPr lang="en-US" baseline="-25000" dirty="0">
                <a:latin typeface="Times"/>
                <a:cs typeface="Times"/>
              </a:rPr>
              <a:t>2</a:t>
            </a:r>
            <a:r>
              <a:rPr lang="en-US" i="1" dirty="0">
                <a:latin typeface="Times"/>
                <a:cs typeface="Times"/>
              </a:rPr>
              <a:t>   b</a:t>
            </a:r>
            <a:r>
              <a:rPr lang="en-US" baseline="-25000" dirty="0">
                <a:latin typeface="Times"/>
                <a:cs typeface="Times"/>
              </a:rPr>
              <a:t>2</a:t>
            </a:r>
            <a:r>
              <a:rPr lang="en-US" i="1" dirty="0">
                <a:latin typeface="Times"/>
                <a:cs typeface="Times"/>
              </a:rPr>
              <a:t>   c</a:t>
            </a:r>
            <a:r>
              <a:rPr lang="en-US" baseline="-25000" dirty="0">
                <a:latin typeface="Times"/>
                <a:cs typeface="Times"/>
              </a:rPr>
              <a:t>2</a:t>
            </a:r>
            <a:r>
              <a:rPr lang="en-US" i="1" dirty="0">
                <a:latin typeface="Times"/>
                <a:cs typeface="Times"/>
              </a:rPr>
              <a:t> </a:t>
            </a:r>
            <a:r>
              <a:rPr lang="en-US" dirty="0">
                <a:latin typeface="Times"/>
                <a:cs typeface="Times"/>
              </a:rPr>
              <a:t>]</a:t>
            </a:r>
            <a:r>
              <a:rPr lang="en-US" baseline="30000" dirty="0">
                <a:latin typeface="+mj-lt"/>
                <a:cs typeface="Times"/>
              </a:rPr>
              <a:t>T</a:t>
            </a:r>
            <a:endParaRPr lang="en-US" i="1" baseline="30000" dirty="0">
              <a:latin typeface="+mj-lt"/>
              <a:cs typeface="Times"/>
            </a:endParaRPr>
          </a:p>
        </p:txBody>
      </p:sp>
      <p:grpSp>
        <p:nvGrpSpPr>
          <p:cNvPr id="23" name="Group 22"/>
          <p:cNvGrpSpPr/>
          <p:nvPr/>
        </p:nvGrpSpPr>
        <p:grpSpPr>
          <a:xfrm>
            <a:off x="4614789" y="5574074"/>
            <a:ext cx="1624835" cy="797107"/>
            <a:chOff x="3090788" y="5574073"/>
            <a:chExt cx="1624835" cy="797107"/>
          </a:xfrm>
        </p:grpSpPr>
        <p:sp>
          <p:nvSpPr>
            <p:cNvPr id="22" name="Right Brace 21"/>
            <p:cNvSpPr/>
            <p:nvPr/>
          </p:nvSpPr>
          <p:spPr>
            <a:xfrm>
              <a:off x="3090788" y="5574073"/>
              <a:ext cx="268111" cy="717307"/>
            </a:xfrm>
            <a:prstGeom prst="rightBrace">
              <a:avLst/>
            </a:prstGeom>
            <a:ln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/>
            <p:cNvSpPr/>
            <p:nvPr/>
          </p:nvSpPr>
          <p:spPr>
            <a:xfrm>
              <a:off x="3516256" y="5632516"/>
              <a:ext cx="1199367" cy="73866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400" dirty="0">
                  <a:latin typeface="Brush Script MT" panose="03060802040406070304" pitchFamily="66" charset="-122"/>
                  <a:ea typeface="Brush Script MT" panose="03060802040406070304" pitchFamily="66" charset="-122"/>
                  <a:cs typeface="Brush Script MT" panose="03060802040406070304" pitchFamily="66" charset="-122"/>
                </a:rPr>
                <a:t>l</a:t>
              </a:r>
              <a:r>
                <a:rPr lang="en-US" baseline="-25000" dirty="0">
                  <a:latin typeface="Times"/>
                  <a:cs typeface="Times"/>
                </a:rPr>
                <a:t>1</a:t>
              </a:r>
              <a:r>
                <a:rPr lang="en-US" i="1" dirty="0">
                  <a:latin typeface="Times"/>
                  <a:cs typeface="Times"/>
                </a:rPr>
                <a:t> </a:t>
              </a:r>
              <a:r>
                <a:rPr lang="en-US" dirty="0">
                  <a:latin typeface="Trebuchet MS"/>
                  <a:cs typeface="Trebuchet MS"/>
                </a:rPr>
                <a:t>x</a:t>
              </a:r>
              <a:r>
                <a:rPr lang="en-US" i="1" dirty="0">
                  <a:latin typeface="Times"/>
                  <a:cs typeface="Times"/>
                </a:rPr>
                <a:t>  </a:t>
              </a:r>
              <a:r>
                <a:rPr lang="en-US" sz="2400" dirty="0">
                  <a:latin typeface="Brush Script MT" panose="03060802040406070304" pitchFamily="66" charset="-122"/>
                  <a:ea typeface="Brush Script MT" panose="03060802040406070304" pitchFamily="66" charset="-122"/>
                  <a:cs typeface="Brush Script MT" panose="03060802040406070304" pitchFamily="66" charset="-122"/>
                </a:rPr>
                <a:t>l</a:t>
              </a:r>
              <a:r>
                <a:rPr lang="en-US" baseline="-25000" dirty="0">
                  <a:latin typeface="Times"/>
                  <a:cs typeface="Times"/>
                </a:rPr>
                <a:t>2</a:t>
              </a:r>
              <a:r>
                <a:rPr lang="en-US" i="1" dirty="0">
                  <a:latin typeface="Times"/>
                  <a:cs typeface="Times"/>
                </a:rPr>
                <a:t> = </a:t>
              </a:r>
              <a:r>
                <a:rPr lang="en-US" b="1" dirty="0">
                  <a:latin typeface="Times"/>
                  <a:cs typeface="Times"/>
                </a:rPr>
                <a:t>w</a:t>
              </a:r>
              <a:endParaRPr lang="en-US" b="1" dirty="0"/>
            </a:p>
            <a:p>
              <a:endParaRPr lang="en-US" dirty="0"/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7966381" y="5390184"/>
            <a:ext cx="1048300" cy="868063"/>
            <a:chOff x="6442381" y="5390183"/>
            <a:chExt cx="1048300" cy="868063"/>
          </a:xfrm>
        </p:grpSpPr>
        <p:sp>
          <p:nvSpPr>
            <p:cNvPr id="25" name="Rectangle 24"/>
            <p:cNvSpPr/>
            <p:nvPr/>
          </p:nvSpPr>
          <p:spPr>
            <a:xfrm>
              <a:off x="6445202" y="5390183"/>
              <a:ext cx="1045479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400" dirty="0">
                  <a:latin typeface="Brush Script MT" panose="03060802040406070304" pitchFamily="66" charset="-122"/>
                  <a:ea typeface="Brush Script MT" panose="03060802040406070304" pitchFamily="66" charset="-122"/>
                  <a:cs typeface="Brush Script MT" panose="03060802040406070304" pitchFamily="66" charset="-122"/>
                </a:rPr>
                <a:t>l</a:t>
              </a:r>
              <a:r>
                <a:rPr lang="en-US" baseline="-25000" dirty="0">
                  <a:latin typeface="Times"/>
                  <a:cs typeface="Times"/>
                </a:rPr>
                <a:t>1</a:t>
              </a:r>
              <a:r>
                <a:rPr lang="en-US" i="1" dirty="0">
                  <a:latin typeface="Times"/>
                  <a:cs typeface="Times"/>
                </a:rPr>
                <a:t>   </a:t>
              </a:r>
              <a:r>
                <a:rPr lang="en-US" b="1" dirty="0">
                  <a:latin typeface="Times"/>
                  <a:cs typeface="Times"/>
                </a:rPr>
                <a:t>w </a:t>
              </a:r>
              <a:r>
                <a:rPr lang="en-US" i="1" dirty="0">
                  <a:latin typeface="Times"/>
                  <a:cs typeface="Times"/>
                </a:rPr>
                <a:t>= </a:t>
              </a:r>
              <a:r>
                <a:rPr lang="en-US" dirty="0">
                  <a:latin typeface="Times"/>
                  <a:cs typeface="Times"/>
                </a:rPr>
                <a:t>?</a:t>
              </a:r>
              <a:endParaRPr lang="en-US" b="1" dirty="0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6628197" y="5504558"/>
              <a:ext cx="29027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latin typeface="Wingdings"/>
                  <a:ea typeface="Wingdings"/>
                  <a:cs typeface="Wingdings"/>
                  <a:sym typeface="Wingdings"/>
                </a:rPr>
                <a:t></a:t>
              </a:r>
              <a:endParaRPr lang="en-US" dirty="0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6442381" y="5796581"/>
              <a:ext cx="1045479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400" dirty="0">
                  <a:latin typeface="Brush Script MT" panose="03060802040406070304" pitchFamily="66" charset="-122"/>
                  <a:ea typeface="Brush Script MT" panose="03060802040406070304" pitchFamily="66" charset="-122"/>
                  <a:cs typeface="Brush Script MT" panose="03060802040406070304" pitchFamily="66" charset="-122"/>
                </a:rPr>
                <a:t>l</a:t>
              </a:r>
              <a:r>
                <a:rPr lang="en-US" baseline="-25000" dirty="0">
                  <a:latin typeface="Times"/>
                  <a:cs typeface="Times"/>
                </a:rPr>
                <a:t>2</a:t>
              </a:r>
              <a:r>
                <a:rPr lang="en-US" i="1" dirty="0">
                  <a:latin typeface="Times"/>
                  <a:cs typeface="Times"/>
                </a:rPr>
                <a:t>   </a:t>
              </a:r>
              <a:r>
                <a:rPr lang="en-US" b="1" dirty="0">
                  <a:latin typeface="Times"/>
                  <a:cs typeface="Times"/>
                </a:rPr>
                <a:t>w </a:t>
              </a:r>
              <a:r>
                <a:rPr lang="en-US" i="1" dirty="0">
                  <a:latin typeface="Times"/>
                  <a:cs typeface="Times"/>
                </a:rPr>
                <a:t>= </a:t>
              </a:r>
              <a:r>
                <a:rPr lang="en-US" dirty="0">
                  <a:latin typeface="Times"/>
                  <a:cs typeface="Times"/>
                </a:rPr>
                <a:t>?</a:t>
              </a:r>
              <a:endParaRPr lang="en-US" b="1" dirty="0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6625376" y="5876231"/>
              <a:ext cx="29027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latin typeface="Wingdings"/>
                  <a:ea typeface="Wingdings"/>
                  <a:cs typeface="Wingdings"/>
                  <a:sym typeface="Wingdings"/>
                </a:rPr>
                <a:t></a:t>
              </a:r>
              <a:endParaRPr lang="en-US" dirty="0"/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6936270" y="1099784"/>
            <a:ext cx="383050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rebuchet MS"/>
                <a:cs typeface="Trebuchet MS"/>
              </a:rPr>
              <a:t>We look for </a:t>
            </a:r>
            <a:r>
              <a:rPr lang="en-US" sz="2000" b="1" dirty="0">
                <a:latin typeface="Times"/>
                <a:cs typeface="Times"/>
              </a:rPr>
              <a:t>m</a:t>
            </a:r>
            <a:r>
              <a:rPr lang="en-US" dirty="0">
                <a:latin typeface="Trebuchet MS"/>
                <a:cs typeface="Trebuchet MS"/>
              </a:rPr>
              <a:t> so that</a:t>
            </a:r>
          </a:p>
          <a:p>
            <a:endParaRPr lang="en-US" sz="2400" b="1" dirty="0">
              <a:latin typeface="Xingkai SC Light"/>
              <a:cs typeface="Xingkai SC Light"/>
            </a:endParaRPr>
          </a:p>
          <a:p>
            <a:r>
              <a:rPr lang="en-US" sz="2400" dirty="0">
                <a:latin typeface="Brush Script MT" panose="03060802040406070304" pitchFamily="66" charset="-122"/>
                <a:ea typeface="Brush Script MT" panose="03060802040406070304" pitchFamily="66" charset="-122"/>
                <a:cs typeface="Brush Script MT" panose="03060802040406070304" pitchFamily="66" charset="-122"/>
              </a:rPr>
              <a:t>l</a:t>
            </a:r>
            <a:r>
              <a:rPr lang="en-US" sz="2400" baseline="-25000" dirty="0">
                <a:latin typeface="Times"/>
                <a:cs typeface="Times"/>
              </a:rPr>
              <a:t>1</a:t>
            </a:r>
            <a:r>
              <a:rPr lang="en-US" sz="2400" b="1" dirty="0">
                <a:latin typeface="Xingkai SC Light"/>
                <a:cs typeface="Xingkai SC Light"/>
              </a:rPr>
              <a:t>  </a:t>
            </a:r>
            <a:r>
              <a:rPr lang="en-US" b="1" dirty="0">
                <a:latin typeface="Times"/>
                <a:cs typeface="Times"/>
              </a:rPr>
              <a:t>m</a:t>
            </a:r>
            <a:r>
              <a:rPr lang="en-US" dirty="0">
                <a:latin typeface="Times"/>
                <a:cs typeface="Times"/>
              </a:rPr>
              <a:t> = 0     and     </a:t>
            </a:r>
            <a:r>
              <a:rPr lang="en-US" sz="2400" dirty="0">
                <a:latin typeface="Brush Script MT" panose="03060802040406070304" pitchFamily="66" charset="-122"/>
                <a:ea typeface="Brush Script MT" panose="03060802040406070304" pitchFamily="66" charset="-122"/>
                <a:cs typeface="Brush Script MT" panose="03060802040406070304" pitchFamily="66" charset="-122"/>
              </a:rPr>
              <a:t>l</a:t>
            </a:r>
            <a:r>
              <a:rPr lang="en-US" sz="2400" baseline="-25000" dirty="0">
                <a:latin typeface="Times"/>
                <a:cs typeface="Times"/>
              </a:rPr>
              <a:t>2</a:t>
            </a:r>
            <a:r>
              <a:rPr lang="en-US" sz="2400" b="1" dirty="0">
                <a:latin typeface="Xingkai SC Light"/>
                <a:cs typeface="Xingkai SC Light"/>
              </a:rPr>
              <a:t>  </a:t>
            </a:r>
            <a:r>
              <a:rPr lang="en-US" b="1" dirty="0">
                <a:latin typeface="Times"/>
                <a:cs typeface="Times"/>
              </a:rPr>
              <a:t>m</a:t>
            </a:r>
            <a:r>
              <a:rPr lang="en-US" dirty="0">
                <a:latin typeface="Times"/>
                <a:cs typeface="Times"/>
              </a:rPr>
              <a:t> = 0</a:t>
            </a:r>
            <a:endParaRPr lang="en-US" i="1" baseline="30000" dirty="0">
              <a:latin typeface="Times"/>
              <a:cs typeface="Times"/>
            </a:endParaRPr>
          </a:p>
          <a:p>
            <a:endParaRPr lang="en-US" i="1" baseline="30000" dirty="0">
              <a:latin typeface="Times"/>
              <a:cs typeface="Times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7120593" y="1850923"/>
            <a:ext cx="2902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Wingdings"/>
                <a:ea typeface="Wingdings"/>
                <a:cs typeface="Wingdings"/>
                <a:sym typeface="Wingdings"/>
              </a:rPr>
              <a:t></a:t>
            </a:r>
            <a:endParaRPr lang="en-US" dirty="0"/>
          </a:p>
        </p:txBody>
      </p:sp>
      <p:sp>
        <p:nvSpPr>
          <p:cNvPr id="32" name="Rectangle 31"/>
          <p:cNvSpPr/>
          <p:nvPr/>
        </p:nvSpPr>
        <p:spPr>
          <a:xfrm>
            <a:off x="8877680" y="1859677"/>
            <a:ext cx="2902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Wingdings"/>
                <a:ea typeface="Wingdings"/>
                <a:cs typeface="Wingdings"/>
                <a:sym typeface="Wingdings"/>
              </a:rPr>
              <a:t>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14AE87-8EF3-A8C4-8336-53F171DF4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CV02A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B368B76-8E3A-F276-2A61-0DEBA765C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16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392949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30" grpId="0"/>
      <p:bldP spid="31" grpId="0"/>
      <p:bldP spid="3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17"/>
          <p:cNvCxnSpPr/>
          <p:nvPr/>
        </p:nvCxnSpPr>
        <p:spPr>
          <a:xfrm>
            <a:off x="3553185" y="2159000"/>
            <a:ext cx="3189114" cy="2142064"/>
          </a:xfrm>
          <a:prstGeom prst="line">
            <a:avLst/>
          </a:prstGeom>
          <a:ln>
            <a:solidFill>
              <a:srgbClr val="FF6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4930" name="Text Box 2"/>
          <p:cNvSpPr txBox="1">
            <a:spLocks noChangeArrowheads="1"/>
          </p:cNvSpPr>
          <p:nvPr/>
        </p:nvSpPr>
        <p:spPr bwMode="auto">
          <a:xfrm>
            <a:off x="1814514" y="268289"/>
            <a:ext cx="8218487" cy="615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sz="2400" dirty="0">
                <a:solidFill>
                  <a:srgbClr val="0000FF"/>
                </a:solidFill>
                <a:latin typeface="Trebuchet MS" pitchFamily="34" charset="0"/>
              </a:rPr>
              <a:t>[ Intersection of two lines ]</a:t>
            </a:r>
          </a:p>
          <a:p>
            <a:pPr eaLnBrk="0" hangingPunct="0"/>
            <a:endParaRPr lang="en-US" sz="1000" dirty="0">
              <a:solidFill>
                <a:srgbClr val="0000FF"/>
              </a:solidFill>
              <a:latin typeface="Trebuchet MS" pitchFamily="34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2878675" y="2300112"/>
            <a:ext cx="3880556" cy="1453445"/>
          </a:xfrm>
          <a:prstGeom prst="line">
            <a:avLst/>
          </a:prstGeom>
          <a:ln>
            <a:solidFill>
              <a:srgbClr val="FF6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4840125" y="3019771"/>
            <a:ext cx="43124" cy="3894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3045188" y="1413555"/>
            <a:ext cx="3479191" cy="3513669"/>
            <a:chOff x="2593623" y="1413554"/>
            <a:chExt cx="3479191" cy="3513669"/>
          </a:xfrm>
        </p:grpSpPr>
        <p:cxnSp>
          <p:nvCxnSpPr>
            <p:cNvPr id="11" name="Straight Arrow Connector 10"/>
            <p:cNvCxnSpPr/>
            <p:nvPr/>
          </p:nvCxnSpPr>
          <p:spPr>
            <a:xfrm flipV="1">
              <a:off x="2921001" y="1467556"/>
              <a:ext cx="789" cy="3400777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/>
            <p:nvPr/>
          </p:nvCxnSpPr>
          <p:spPr>
            <a:xfrm flipV="1">
              <a:off x="2593623" y="4512733"/>
              <a:ext cx="3333043" cy="1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/>
            <p:cNvSpPr txBox="1"/>
            <p:nvPr/>
          </p:nvSpPr>
          <p:spPr>
            <a:xfrm>
              <a:off x="5785556" y="4557891"/>
              <a:ext cx="2872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>
                  <a:latin typeface="Times"/>
                  <a:cs typeface="Times"/>
                </a:rPr>
                <a:t>x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101621" y="1413554"/>
              <a:ext cx="2872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>
                  <a:latin typeface="Times"/>
                  <a:cs typeface="Times"/>
                </a:rPr>
                <a:t>y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453306" y="2675274"/>
              <a:ext cx="8318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Times"/>
                  <a:cs typeface="Times"/>
                </a:rPr>
                <a:t>( </a:t>
              </a:r>
              <a:r>
                <a:rPr lang="en-US" i="1" dirty="0">
                  <a:latin typeface="Times"/>
                  <a:cs typeface="Times"/>
                </a:rPr>
                <a:t>x </a:t>
              </a:r>
              <a:r>
                <a:rPr lang="en-US" dirty="0">
                  <a:latin typeface="Times"/>
                  <a:cs typeface="Times"/>
                </a:rPr>
                <a:t>,</a:t>
              </a:r>
              <a:r>
                <a:rPr lang="en-US" i="1" dirty="0">
                  <a:latin typeface="Times"/>
                  <a:cs typeface="Times"/>
                </a:rPr>
                <a:t> y </a:t>
              </a:r>
              <a:r>
                <a:rPr lang="en-US" dirty="0">
                  <a:latin typeface="Times"/>
                  <a:cs typeface="Times"/>
                </a:rPr>
                <a:t>)</a:t>
              </a:r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6913698" y="3583001"/>
            <a:ext cx="2236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rush Script MT" panose="03060802040406070304" pitchFamily="66" charset="-122"/>
                <a:ea typeface="Brush Script MT" panose="03060802040406070304" pitchFamily="66" charset="-122"/>
                <a:cs typeface="Brush Script MT" panose="03060802040406070304" pitchFamily="66" charset="-122"/>
              </a:rPr>
              <a:t>l</a:t>
            </a:r>
            <a:r>
              <a:rPr lang="en-US" baseline="-25000" dirty="0">
                <a:latin typeface="Times"/>
                <a:cs typeface="Times"/>
              </a:rPr>
              <a:t>1</a:t>
            </a:r>
            <a:r>
              <a:rPr lang="en-US" i="1" dirty="0">
                <a:latin typeface="Times"/>
                <a:cs typeface="Times"/>
              </a:rPr>
              <a:t> </a:t>
            </a:r>
            <a:r>
              <a:rPr lang="en-US" dirty="0">
                <a:latin typeface="Times"/>
                <a:cs typeface="Times"/>
              </a:rPr>
              <a:t>: </a:t>
            </a:r>
            <a:r>
              <a:rPr lang="en-US" i="1" dirty="0">
                <a:latin typeface="Times"/>
                <a:cs typeface="Times"/>
              </a:rPr>
              <a:t>a</a:t>
            </a:r>
            <a:r>
              <a:rPr lang="en-US" baseline="-25000" dirty="0">
                <a:latin typeface="Times"/>
                <a:cs typeface="Times"/>
              </a:rPr>
              <a:t>1</a:t>
            </a:r>
            <a:r>
              <a:rPr lang="en-US" i="1" dirty="0">
                <a:latin typeface="Times"/>
                <a:cs typeface="Times"/>
              </a:rPr>
              <a:t> x</a:t>
            </a:r>
            <a:r>
              <a:rPr lang="en-US" dirty="0">
                <a:latin typeface="Times"/>
                <a:cs typeface="Times"/>
              </a:rPr>
              <a:t> + </a:t>
            </a:r>
            <a:r>
              <a:rPr lang="en-US" i="1" dirty="0">
                <a:latin typeface="Times"/>
                <a:cs typeface="Times"/>
              </a:rPr>
              <a:t>b</a:t>
            </a:r>
            <a:r>
              <a:rPr lang="en-US" baseline="-25000" dirty="0">
                <a:latin typeface="Times"/>
                <a:cs typeface="Times"/>
              </a:rPr>
              <a:t>1</a:t>
            </a:r>
            <a:r>
              <a:rPr lang="en-US" i="1" dirty="0">
                <a:latin typeface="Times"/>
                <a:cs typeface="Times"/>
              </a:rPr>
              <a:t> y </a:t>
            </a:r>
            <a:r>
              <a:rPr lang="en-US" dirty="0">
                <a:latin typeface="Times"/>
                <a:cs typeface="Times"/>
              </a:rPr>
              <a:t>+ </a:t>
            </a:r>
            <a:r>
              <a:rPr lang="en-US" i="1" dirty="0">
                <a:latin typeface="Times"/>
                <a:cs typeface="Times"/>
              </a:rPr>
              <a:t>c</a:t>
            </a:r>
            <a:r>
              <a:rPr lang="en-US" baseline="-25000" dirty="0">
                <a:latin typeface="Times"/>
                <a:cs typeface="Times"/>
              </a:rPr>
              <a:t>1</a:t>
            </a:r>
            <a:r>
              <a:rPr lang="en-US" i="1" dirty="0">
                <a:latin typeface="Times"/>
                <a:cs typeface="Times"/>
              </a:rPr>
              <a:t> </a:t>
            </a:r>
            <a:r>
              <a:rPr lang="en-US" dirty="0">
                <a:latin typeface="Times"/>
                <a:cs typeface="Times"/>
              </a:rPr>
              <a:t>= 0</a:t>
            </a:r>
            <a:endParaRPr lang="en-US" i="1" dirty="0">
              <a:latin typeface="Times"/>
              <a:cs typeface="Time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509912" y="3033498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"/>
                <a:cs typeface="Times"/>
              </a:rPr>
              <a:t>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96767" y="4130510"/>
            <a:ext cx="2247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rush Script MT" panose="03060802040406070304" pitchFamily="66" charset="-122"/>
                <a:ea typeface="Brush Script MT" panose="03060802040406070304" pitchFamily="66" charset="-122"/>
                <a:cs typeface="Brush Script MT" panose="03060802040406070304" pitchFamily="66" charset="-122"/>
              </a:rPr>
              <a:t>l</a:t>
            </a:r>
            <a:r>
              <a:rPr lang="en-US" baseline="-25000" dirty="0">
                <a:latin typeface="Times"/>
                <a:cs typeface="Times"/>
              </a:rPr>
              <a:t>2</a:t>
            </a:r>
            <a:r>
              <a:rPr lang="en-US" i="1" dirty="0">
                <a:latin typeface="Times"/>
                <a:cs typeface="Times"/>
              </a:rPr>
              <a:t> </a:t>
            </a:r>
            <a:r>
              <a:rPr lang="en-US" dirty="0">
                <a:latin typeface="Times"/>
                <a:cs typeface="Times"/>
              </a:rPr>
              <a:t>: </a:t>
            </a:r>
            <a:r>
              <a:rPr lang="en-US" i="1" dirty="0">
                <a:latin typeface="Times"/>
                <a:cs typeface="Times"/>
              </a:rPr>
              <a:t>a</a:t>
            </a:r>
            <a:r>
              <a:rPr lang="en-US" baseline="-25000" dirty="0">
                <a:latin typeface="Times"/>
                <a:cs typeface="Times"/>
              </a:rPr>
              <a:t>2</a:t>
            </a:r>
            <a:r>
              <a:rPr lang="en-US" i="1" dirty="0">
                <a:latin typeface="Times"/>
                <a:cs typeface="Times"/>
              </a:rPr>
              <a:t> x</a:t>
            </a:r>
            <a:r>
              <a:rPr lang="en-US" dirty="0">
                <a:latin typeface="Times"/>
                <a:cs typeface="Times"/>
              </a:rPr>
              <a:t> + </a:t>
            </a:r>
            <a:r>
              <a:rPr lang="en-US" i="1" dirty="0">
                <a:latin typeface="Times"/>
                <a:cs typeface="Times"/>
              </a:rPr>
              <a:t>b</a:t>
            </a:r>
            <a:r>
              <a:rPr lang="en-US" baseline="-25000" dirty="0">
                <a:latin typeface="Times"/>
                <a:cs typeface="Times"/>
              </a:rPr>
              <a:t>2</a:t>
            </a:r>
            <a:r>
              <a:rPr lang="en-US" i="1" dirty="0">
                <a:latin typeface="Times"/>
                <a:cs typeface="Times"/>
              </a:rPr>
              <a:t> y </a:t>
            </a:r>
            <a:r>
              <a:rPr lang="en-US" dirty="0">
                <a:latin typeface="Times"/>
                <a:cs typeface="Times"/>
              </a:rPr>
              <a:t>+ </a:t>
            </a:r>
            <a:r>
              <a:rPr lang="en-US" i="1" dirty="0">
                <a:latin typeface="Times"/>
                <a:cs typeface="Times"/>
              </a:rPr>
              <a:t>c</a:t>
            </a:r>
            <a:r>
              <a:rPr lang="en-US" baseline="-25000" dirty="0">
                <a:latin typeface="Times"/>
                <a:cs typeface="Times"/>
              </a:rPr>
              <a:t>2</a:t>
            </a:r>
            <a:r>
              <a:rPr lang="en-US" i="1" dirty="0">
                <a:latin typeface="Times"/>
                <a:cs typeface="Times"/>
              </a:rPr>
              <a:t> </a:t>
            </a:r>
            <a:r>
              <a:rPr lang="en-US" dirty="0">
                <a:latin typeface="Times"/>
                <a:cs typeface="Times"/>
              </a:rPr>
              <a:t>= 0</a:t>
            </a:r>
            <a:endParaRPr lang="en-US" i="1" dirty="0">
              <a:latin typeface="Times"/>
              <a:cs typeface="Time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669092" y="5471063"/>
            <a:ext cx="18582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rush Script MT" panose="03060802040406070304" pitchFamily="66" charset="-122"/>
                <a:ea typeface="Brush Script MT" panose="03060802040406070304" pitchFamily="66" charset="-122"/>
                <a:cs typeface="Brush Script MT" panose="03060802040406070304" pitchFamily="66" charset="-122"/>
              </a:rPr>
              <a:t>l</a:t>
            </a:r>
            <a:r>
              <a:rPr lang="en-US" baseline="-25000" dirty="0">
                <a:latin typeface="Times"/>
                <a:cs typeface="Times"/>
              </a:rPr>
              <a:t>1</a:t>
            </a:r>
            <a:r>
              <a:rPr lang="en-US" i="1" dirty="0">
                <a:latin typeface="Times"/>
                <a:cs typeface="Times"/>
              </a:rPr>
              <a:t> = </a:t>
            </a:r>
            <a:r>
              <a:rPr lang="en-US" dirty="0">
                <a:latin typeface="Times"/>
                <a:cs typeface="Times"/>
              </a:rPr>
              <a:t>[ </a:t>
            </a:r>
            <a:r>
              <a:rPr lang="en-US" i="1" dirty="0">
                <a:latin typeface="Times"/>
                <a:cs typeface="Times"/>
              </a:rPr>
              <a:t>a</a:t>
            </a:r>
            <a:r>
              <a:rPr lang="en-US" baseline="-25000" dirty="0">
                <a:latin typeface="Times"/>
                <a:cs typeface="Times"/>
              </a:rPr>
              <a:t>1</a:t>
            </a:r>
            <a:r>
              <a:rPr lang="en-US" i="1" dirty="0">
                <a:latin typeface="Times"/>
                <a:cs typeface="Times"/>
              </a:rPr>
              <a:t>   b</a:t>
            </a:r>
            <a:r>
              <a:rPr lang="en-US" baseline="-25000" dirty="0">
                <a:latin typeface="Times"/>
                <a:cs typeface="Times"/>
              </a:rPr>
              <a:t>1</a:t>
            </a:r>
            <a:r>
              <a:rPr lang="en-US" i="1" dirty="0">
                <a:latin typeface="Times"/>
                <a:cs typeface="Times"/>
              </a:rPr>
              <a:t>   c</a:t>
            </a:r>
            <a:r>
              <a:rPr lang="en-US" baseline="-25000" dirty="0">
                <a:latin typeface="Times"/>
                <a:cs typeface="Times"/>
              </a:rPr>
              <a:t>1</a:t>
            </a:r>
            <a:r>
              <a:rPr lang="en-US" i="1" dirty="0">
                <a:latin typeface="Times"/>
                <a:cs typeface="Times"/>
              </a:rPr>
              <a:t> </a:t>
            </a:r>
            <a:r>
              <a:rPr lang="en-US" dirty="0">
                <a:latin typeface="Times"/>
                <a:cs typeface="Times"/>
              </a:rPr>
              <a:t>]</a:t>
            </a:r>
            <a:r>
              <a:rPr lang="en-US" baseline="30000" dirty="0">
                <a:latin typeface="+mj-lt"/>
                <a:cs typeface="Times"/>
              </a:rPr>
              <a:t>T</a:t>
            </a:r>
            <a:endParaRPr lang="en-US" i="1" baseline="30000" dirty="0">
              <a:latin typeface="+mj-lt"/>
              <a:cs typeface="Time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666271" y="5877461"/>
            <a:ext cx="18582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rush Script MT" panose="03060802040406070304" pitchFamily="66" charset="-122"/>
                <a:ea typeface="Brush Script MT" panose="03060802040406070304" pitchFamily="66" charset="-122"/>
                <a:cs typeface="Brush Script MT" panose="03060802040406070304" pitchFamily="66" charset="-122"/>
              </a:rPr>
              <a:t>l</a:t>
            </a:r>
            <a:r>
              <a:rPr lang="en-US" baseline="-25000" dirty="0">
                <a:latin typeface="Times"/>
                <a:cs typeface="Times"/>
              </a:rPr>
              <a:t>2</a:t>
            </a:r>
            <a:r>
              <a:rPr lang="en-US" i="1" dirty="0">
                <a:latin typeface="Times"/>
                <a:cs typeface="Times"/>
              </a:rPr>
              <a:t> = </a:t>
            </a:r>
            <a:r>
              <a:rPr lang="en-US" dirty="0">
                <a:latin typeface="Times"/>
                <a:cs typeface="Times"/>
              </a:rPr>
              <a:t>[ </a:t>
            </a:r>
            <a:r>
              <a:rPr lang="en-US" i="1" dirty="0">
                <a:latin typeface="Times"/>
                <a:cs typeface="Times"/>
              </a:rPr>
              <a:t>a</a:t>
            </a:r>
            <a:r>
              <a:rPr lang="en-US" baseline="-25000" dirty="0">
                <a:latin typeface="Times"/>
                <a:cs typeface="Times"/>
              </a:rPr>
              <a:t>2</a:t>
            </a:r>
            <a:r>
              <a:rPr lang="en-US" i="1" dirty="0">
                <a:latin typeface="Times"/>
                <a:cs typeface="Times"/>
              </a:rPr>
              <a:t>   b</a:t>
            </a:r>
            <a:r>
              <a:rPr lang="en-US" baseline="-25000" dirty="0">
                <a:latin typeface="Times"/>
                <a:cs typeface="Times"/>
              </a:rPr>
              <a:t>2</a:t>
            </a:r>
            <a:r>
              <a:rPr lang="en-US" i="1" dirty="0">
                <a:latin typeface="Times"/>
                <a:cs typeface="Times"/>
              </a:rPr>
              <a:t>   c</a:t>
            </a:r>
            <a:r>
              <a:rPr lang="en-US" baseline="-25000" dirty="0">
                <a:latin typeface="Times"/>
                <a:cs typeface="Times"/>
              </a:rPr>
              <a:t>2</a:t>
            </a:r>
            <a:r>
              <a:rPr lang="en-US" i="1" dirty="0">
                <a:latin typeface="Times"/>
                <a:cs typeface="Times"/>
              </a:rPr>
              <a:t> </a:t>
            </a:r>
            <a:r>
              <a:rPr lang="en-US" dirty="0">
                <a:latin typeface="Times"/>
                <a:cs typeface="Times"/>
              </a:rPr>
              <a:t>]</a:t>
            </a:r>
            <a:r>
              <a:rPr lang="en-US" baseline="30000" dirty="0">
                <a:latin typeface="+mj-lt"/>
                <a:cs typeface="Times"/>
              </a:rPr>
              <a:t>T</a:t>
            </a:r>
            <a:endParaRPr lang="en-US" i="1" baseline="30000" dirty="0">
              <a:latin typeface="+mj-lt"/>
              <a:cs typeface="Times"/>
            </a:endParaRPr>
          </a:p>
        </p:txBody>
      </p:sp>
      <p:grpSp>
        <p:nvGrpSpPr>
          <p:cNvPr id="23" name="Group 22"/>
          <p:cNvGrpSpPr/>
          <p:nvPr/>
        </p:nvGrpSpPr>
        <p:grpSpPr>
          <a:xfrm>
            <a:off x="4614789" y="5574074"/>
            <a:ext cx="1624835" cy="797107"/>
            <a:chOff x="3090788" y="5574073"/>
            <a:chExt cx="1624835" cy="797107"/>
          </a:xfrm>
        </p:grpSpPr>
        <p:sp>
          <p:nvSpPr>
            <p:cNvPr id="22" name="Right Brace 21"/>
            <p:cNvSpPr/>
            <p:nvPr/>
          </p:nvSpPr>
          <p:spPr>
            <a:xfrm>
              <a:off x="3090788" y="5574073"/>
              <a:ext cx="268111" cy="717307"/>
            </a:xfrm>
            <a:prstGeom prst="rightBrace">
              <a:avLst/>
            </a:prstGeom>
            <a:ln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/>
            <p:cNvSpPr/>
            <p:nvPr/>
          </p:nvSpPr>
          <p:spPr>
            <a:xfrm>
              <a:off x="3516256" y="5632516"/>
              <a:ext cx="1199367" cy="73866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400" dirty="0">
                  <a:latin typeface="Brush Script MT" panose="03060802040406070304" pitchFamily="66" charset="-122"/>
                  <a:ea typeface="Brush Script MT" panose="03060802040406070304" pitchFamily="66" charset="-122"/>
                  <a:cs typeface="Brush Script MT" panose="03060802040406070304" pitchFamily="66" charset="-122"/>
                </a:rPr>
                <a:t>l</a:t>
              </a:r>
              <a:r>
                <a:rPr lang="en-US" baseline="-25000" dirty="0">
                  <a:latin typeface="Times"/>
                  <a:cs typeface="Times"/>
                </a:rPr>
                <a:t>1</a:t>
              </a:r>
              <a:r>
                <a:rPr lang="en-US" i="1" dirty="0">
                  <a:latin typeface="Times"/>
                  <a:cs typeface="Times"/>
                </a:rPr>
                <a:t> </a:t>
              </a:r>
              <a:r>
                <a:rPr lang="en-US" dirty="0">
                  <a:latin typeface="Trebuchet MS"/>
                  <a:cs typeface="Trebuchet MS"/>
                </a:rPr>
                <a:t>x</a:t>
              </a:r>
              <a:r>
                <a:rPr lang="en-US" i="1" dirty="0">
                  <a:latin typeface="Times"/>
                  <a:cs typeface="Times"/>
                </a:rPr>
                <a:t>  </a:t>
              </a:r>
              <a:r>
                <a:rPr lang="en-US" sz="2400" dirty="0">
                  <a:latin typeface="Brush Script MT" panose="03060802040406070304" pitchFamily="66" charset="-122"/>
                  <a:ea typeface="Brush Script MT" panose="03060802040406070304" pitchFamily="66" charset="-122"/>
                  <a:cs typeface="Brush Script MT" panose="03060802040406070304" pitchFamily="66" charset="-122"/>
                </a:rPr>
                <a:t>l</a:t>
              </a:r>
              <a:r>
                <a:rPr lang="en-US" baseline="-25000" dirty="0">
                  <a:latin typeface="Times"/>
                  <a:cs typeface="Times"/>
                </a:rPr>
                <a:t>2</a:t>
              </a:r>
              <a:r>
                <a:rPr lang="en-US" i="1" dirty="0">
                  <a:latin typeface="Times"/>
                  <a:cs typeface="Times"/>
                </a:rPr>
                <a:t> = </a:t>
              </a:r>
              <a:r>
                <a:rPr lang="en-US" b="1" dirty="0">
                  <a:latin typeface="Times"/>
                  <a:cs typeface="Times"/>
                </a:rPr>
                <a:t>w</a:t>
              </a:r>
              <a:endParaRPr lang="en-US" b="1" dirty="0"/>
            </a:p>
            <a:p>
              <a:endParaRPr lang="en-US" dirty="0"/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7966381" y="5390184"/>
            <a:ext cx="1061124" cy="868063"/>
            <a:chOff x="6442381" y="5390183"/>
            <a:chExt cx="1061124" cy="868063"/>
          </a:xfrm>
        </p:grpSpPr>
        <p:sp>
          <p:nvSpPr>
            <p:cNvPr id="25" name="Rectangle 24"/>
            <p:cNvSpPr/>
            <p:nvPr/>
          </p:nvSpPr>
          <p:spPr>
            <a:xfrm>
              <a:off x="6445202" y="5390183"/>
              <a:ext cx="1058303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400" dirty="0">
                  <a:latin typeface="Brush Script MT" panose="03060802040406070304" pitchFamily="66" charset="-122"/>
                  <a:ea typeface="Brush Script MT" panose="03060802040406070304" pitchFamily="66" charset="-122"/>
                  <a:cs typeface="Brush Script MT" panose="03060802040406070304" pitchFamily="66" charset="-122"/>
                </a:rPr>
                <a:t>l</a:t>
              </a:r>
              <a:r>
                <a:rPr lang="en-US" baseline="-25000" dirty="0">
                  <a:latin typeface="Times"/>
                  <a:cs typeface="Times"/>
                </a:rPr>
                <a:t>1</a:t>
              </a:r>
              <a:r>
                <a:rPr lang="en-US" i="1" dirty="0">
                  <a:latin typeface="Times"/>
                  <a:cs typeface="Times"/>
                </a:rPr>
                <a:t>   </a:t>
              </a:r>
              <a:r>
                <a:rPr lang="en-US" b="1" dirty="0">
                  <a:latin typeface="Times"/>
                  <a:cs typeface="Times"/>
                </a:rPr>
                <a:t>w </a:t>
              </a:r>
              <a:r>
                <a:rPr lang="en-US" i="1" dirty="0">
                  <a:latin typeface="Times"/>
                  <a:cs typeface="Times"/>
                </a:rPr>
                <a:t>= </a:t>
              </a:r>
              <a:r>
                <a:rPr lang="en-US" dirty="0">
                  <a:latin typeface="Times"/>
                  <a:cs typeface="Times"/>
                </a:rPr>
                <a:t>0</a:t>
              </a:r>
              <a:endParaRPr lang="en-US" b="1" dirty="0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6628197" y="5504558"/>
              <a:ext cx="29027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latin typeface="Wingdings"/>
                  <a:ea typeface="Wingdings"/>
                  <a:cs typeface="Wingdings"/>
                  <a:sym typeface="Wingdings"/>
                </a:rPr>
                <a:t></a:t>
              </a:r>
              <a:endParaRPr lang="en-US" dirty="0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6442381" y="5796581"/>
              <a:ext cx="1058303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400" dirty="0">
                  <a:latin typeface="Brush Script MT" panose="03060802040406070304" pitchFamily="66" charset="-122"/>
                  <a:ea typeface="Brush Script MT" panose="03060802040406070304" pitchFamily="66" charset="-122"/>
                  <a:cs typeface="Brush Script MT" panose="03060802040406070304" pitchFamily="66" charset="-122"/>
                </a:rPr>
                <a:t>l</a:t>
              </a:r>
              <a:r>
                <a:rPr lang="en-US" baseline="-25000" dirty="0">
                  <a:latin typeface="Times"/>
                  <a:cs typeface="Times"/>
                </a:rPr>
                <a:t>2</a:t>
              </a:r>
              <a:r>
                <a:rPr lang="en-US" i="1" dirty="0">
                  <a:latin typeface="Times"/>
                  <a:cs typeface="Times"/>
                </a:rPr>
                <a:t>   </a:t>
              </a:r>
              <a:r>
                <a:rPr lang="en-US" b="1" dirty="0">
                  <a:latin typeface="Times"/>
                  <a:cs typeface="Times"/>
                </a:rPr>
                <a:t>w </a:t>
              </a:r>
              <a:r>
                <a:rPr lang="en-US" i="1" dirty="0">
                  <a:latin typeface="Times"/>
                  <a:cs typeface="Times"/>
                </a:rPr>
                <a:t>= </a:t>
              </a:r>
              <a:r>
                <a:rPr lang="en-US" dirty="0">
                  <a:latin typeface="Times"/>
                  <a:cs typeface="Times"/>
                </a:rPr>
                <a:t>0</a:t>
              </a:r>
              <a:endParaRPr lang="en-US" b="1" dirty="0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6625376" y="5876231"/>
              <a:ext cx="29027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latin typeface="Wingdings"/>
                  <a:ea typeface="Wingdings"/>
                  <a:cs typeface="Wingdings"/>
                  <a:sym typeface="Wingdings"/>
                </a:rPr>
                <a:t></a:t>
              </a:r>
              <a:endParaRPr lang="en-US" dirty="0"/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6936270" y="1099784"/>
            <a:ext cx="383050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rebuchet MS"/>
                <a:cs typeface="Trebuchet MS"/>
              </a:rPr>
              <a:t>We look for </a:t>
            </a:r>
            <a:r>
              <a:rPr lang="en-US" sz="2000" b="1" dirty="0">
                <a:latin typeface="Times"/>
                <a:cs typeface="Times"/>
              </a:rPr>
              <a:t>m</a:t>
            </a:r>
            <a:r>
              <a:rPr lang="en-US" dirty="0">
                <a:latin typeface="Trebuchet MS"/>
                <a:cs typeface="Trebuchet MS"/>
              </a:rPr>
              <a:t> so that</a:t>
            </a:r>
          </a:p>
          <a:p>
            <a:endParaRPr lang="en-US" sz="2400" b="1" dirty="0">
              <a:latin typeface="Xingkai SC Light"/>
              <a:cs typeface="Xingkai SC Light"/>
            </a:endParaRPr>
          </a:p>
          <a:p>
            <a:r>
              <a:rPr lang="en-US" sz="2400" dirty="0">
                <a:latin typeface="Brush Script MT" panose="03060802040406070304" pitchFamily="66" charset="-122"/>
                <a:ea typeface="Brush Script MT" panose="03060802040406070304" pitchFamily="66" charset="-122"/>
                <a:cs typeface="Brush Script MT" panose="03060802040406070304" pitchFamily="66" charset="-122"/>
              </a:rPr>
              <a:t>l</a:t>
            </a:r>
            <a:r>
              <a:rPr lang="en-US" sz="2400" baseline="-25000" dirty="0">
                <a:latin typeface="Times"/>
                <a:cs typeface="Times"/>
              </a:rPr>
              <a:t>1</a:t>
            </a:r>
            <a:r>
              <a:rPr lang="en-US" sz="2400" b="1" dirty="0">
                <a:latin typeface="Xingkai SC Light"/>
                <a:cs typeface="Xingkai SC Light"/>
              </a:rPr>
              <a:t>  </a:t>
            </a:r>
            <a:r>
              <a:rPr lang="en-US" b="1" dirty="0">
                <a:latin typeface="Times"/>
                <a:cs typeface="Times"/>
              </a:rPr>
              <a:t>m</a:t>
            </a:r>
            <a:r>
              <a:rPr lang="en-US" dirty="0">
                <a:latin typeface="Times"/>
                <a:cs typeface="Times"/>
              </a:rPr>
              <a:t> = 0     and     </a:t>
            </a:r>
            <a:r>
              <a:rPr lang="en-US" sz="2400" dirty="0">
                <a:latin typeface="Brush Script MT" panose="03060802040406070304" pitchFamily="66" charset="-122"/>
                <a:ea typeface="Brush Script MT" panose="03060802040406070304" pitchFamily="66" charset="-122"/>
                <a:cs typeface="Brush Script MT" panose="03060802040406070304" pitchFamily="66" charset="-122"/>
              </a:rPr>
              <a:t>l</a:t>
            </a:r>
            <a:r>
              <a:rPr lang="en-US" sz="2400" baseline="-25000" dirty="0">
                <a:latin typeface="Times"/>
                <a:cs typeface="Times"/>
              </a:rPr>
              <a:t>2</a:t>
            </a:r>
            <a:r>
              <a:rPr lang="en-US" sz="2400" b="1" dirty="0">
                <a:latin typeface="Xingkai SC Light"/>
                <a:cs typeface="Xingkai SC Light"/>
              </a:rPr>
              <a:t>  </a:t>
            </a:r>
            <a:r>
              <a:rPr lang="en-US" b="1" dirty="0">
                <a:latin typeface="Times"/>
                <a:cs typeface="Times"/>
              </a:rPr>
              <a:t>m</a:t>
            </a:r>
            <a:r>
              <a:rPr lang="en-US" dirty="0">
                <a:latin typeface="Times"/>
                <a:cs typeface="Times"/>
              </a:rPr>
              <a:t> = 0</a:t>
            </a:r>
            <a:endParaRPr lang="en-US" i="1" baseline="30000" dirty="0">
              <a:latin typeface="Times"/>
              <a:cs typeface="Times"/>
            </a:endParaRPr>
          </a:p>
          <a:p>
            <a:endParaRPr lang="en-US" i="1" baseline="30000" dirty="0">
              <a:latin typeface="Times"/>
              <a:cs typeface="Times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7120593" y="1850923"/>
            <a:ext cx="2902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Wingdings"/>
                <a:ea typeface="Wingdings"/>
                <a:cs typeface="Wingdings"/>
                <a:sym typeface="Wingdings"/>
              </a:rPr>
              <a:t></a:t>
            </a:r>
            <a:endParaRPr lang="en-US" dirty="0"/>
          </a:p>
        </p:txBody>
      </p:sp>
      <p:sp>
        <p:nvSpPr>
          <p:cNvPr id="32" name="Rectangle 31"/>
          <p:cNvSpPr/>
          <p:nvPr/>
        </p:nvSpPr>
        <p:spPr>
          <a:xfrm>
            <a:off x="8877680" y="1859677"/>
            <a:ext cx="2902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Wingdings"/>
                <a:ea typeface="Wingdings"/>
                <a:cs typeface="Wingdings"/>
                <a:sym typeface="Wingdings"/>
              </a:rPr>
              <a:t></a:t>
            </a:r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41C1F88-7151-9E4F-8552-AD3EE73CA15B}"/>
              </a:ext>
            </a:extLst>
          </p:cNvPr>
          <p:cNvSpPr/>
          <p:nvPr/>
        </p:nvSpPr>
        <p:spPr>
          <a:xfrm>
            <a:off x="7831668" y="2610292"/>
            <a:ext cx="1250663" cy="461665"/>
          </a:xfrm>
          <a:prstGeom prst="rect">
            <a:avLst/>
          </a:prstGeom>
          <a:solidFill>
            <a:srgbClr val="FDEADA"/>
          </a:solidFill>
        </p:spPr>
        <p:txBody>
          <a:bodyPr wrap="none">
            <a:spAutoFit/>
          </a:bodyPr>
          <a:lstStyle/>
          <a:p>
            <a:r>
              <a:rPr lang="en-US" b="1" dirty="0">
                <a:latin typeface="Times"/>
                <a:cs typeface="Times"/>
              </a:rPr>
              <a:t>m </a:t>
            </a:r>
            <a:r>
              <a:rPr lang="en-US" i="1" dirty="0">
                <a:latin typeface="Times"/>
                <a:cs typeface="Times"/>
              </a:rPr>
              <a:t>=</a:t>
            </a:r>
            <a:r>
              <a:rPr lang="en-US" sz="2400" i="1" dirty="0">
                <a:latin typeface="Times"/>
                <a:cs typeface="Times"/>
              </a:rPr>
              <a:t> </a:t>
            </a:r>
            <a:r>
              <a:rPr lang="en-US" sz="2400" dirty="0">
                <a:latin typeface="Brush Script MT" panose="03060802040406070304" pitchFamily="66" charset="-122"/>
                <a:ea typeface="Brush Script MT" panose="03060802040406070304" pitchFamily="66" charset="-122"/>
                <a:cs typeface="Brush Script MT" panose="03060802040406070304" pitchFamily="66" charset="-122"/>
              </a:rPr>
              <a:t>l</a:t>
            </a:r>
            <a:r>
              <a:rPr lang="en-US" baseline="-25000" dirty="0">
                <a:latin typeface="Times"/>
                <a:cs typeface="Times"/>
              </a:rPr>
              <a:t>1</a:t>
            </a:r>
            <a:r>
              <a:rPr lang="en-US" i="1" dirty="0">
                <a:latin typeface="Times"/>
                <a:cs typeface="Times"/>
              </a:rPr>
              <a:t> </a:t>
            </a:r>
            <a:r>
              <a:rPr lang="en-US" dirty="0">
                <a:latin typeface="Trebuchet MS"/>
                <a:cs typeface="Trebuchet MS"/>
              </a:rPr>
              <a:t>x</a:t>
            </a:r>
            <a:r>
              <a:rPr lang="en-US" i="1" dirty="0">
                <a:latin typeface="Times"/>
                <a:cs typeface="Times"/>
              </a:rPr>
              <a:t>  </a:t>
            </a:r>
            <a:r>
              <a:rPr lang="en-US" sz="2400" dirty="0">
                <a:latin typeface="Brush Script MT" panose="03060802040406070304" pitchFamily="66" charset="-122"/>
                <a:ea typeface="Brush Script MT" panose="03060802040406070304" pitchFamily="66" charset="-122"/>
                <a:cs typeface="Brush Script MT" panose="03060802040406070304" pitchFamily="66" charset="-122"/>
              </a:rPr>
              <a:t>l</a:t>
            </a:r>
            <a:r>
              <a:rPr lang="en-US" baseline="-25000" dirty="0">
                <a:latin typeface="Times"/>
                <a:cs typeface="Times"/>
              </a:rPr>
              <a:t>2</a:t>
            </a:r>
            <a:endParaRPr lang="en-US" b="1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195350A-45AF-5440-819C-94B4C2032FE0}"/>
              </a:ext>
            </a:extLst>
          </p:cNvPr>
          <p:cNvSpPr/>
          <p:nvPr/>
        </p:nvSpPr>
        <p:spPr>
          <a:xfrm>
            <a:off x="8043337" y="2428071"/>
            <a:ext cx="75924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 dirty="0">
                <a:latin typeface="Trebuchet MS"/>
                <a:cs typeface="Trebuchet MS"/>
              </a:rPr>
              <a:t>SOLUTION</a:t>
            </a:r>
            <a:endParaRPr lang="en-US" sz="10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3A7335-11C5-DABF-8CFA-2D211DE54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CV02A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6B7EADA-2FE1-A86A-1EB1-B920614F4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17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566745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FCEF7-9323-E5A9-CF34-F2E700018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921D2-4594-AB4E-A7EE-3C956111D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CL" sz="4800" dirty="0">
                <a:latin typeface="Gill Sans MT" panose="020B0502020104020203" pitchFamily="34" charset="77"/>
                <a:cs typeface="Consolas" panose="020B0609020204030204" pitchFamily="49" charset="0"/>
              </a:rPr>
              <a:t>Línea que contiene dos puntos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F32532-E17E-703A-71F5-742646D38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CV02A</a:t>
            </a:r>
            <a:endParaRPr lang="en-CL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68AA2D8-3EB1-F467-8A77-FA6D809A9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18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8272346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930" name="Text Box 2"/>
          <p:cNvSpPr txBox="1">
            <a:spLocks noChangeArrowheads="1"/>
          </p:cNvSpPr>
          <p:nvPr/>
        </p:nvSpPr>
        <p:spPr bwMode="auto">
          <a:xfrm>
            <a:off x="1814514" y="268289"/>
            <a:ext cx="8218487" cy="615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sz="2400" dirty="0">
                <a:solidFill>
                  <a:srgbClr val="0000FF"/>
                </a:solidFill>
                <a:latin typeface="Trebuchet MS" pitchFamily="34" charset="0"/>
              </a:rPr>
              <a:t>[ Line from two points ]</a:t>
            </a:r>
          </a:p>
          <a:p>
            <a:pPr eaLnBrk="0" hangingPunct="0"/>
            <a:endParaRPr lang="en-US" sz="1000" dirty="0">
              <a:solidFill>
                <a:srgbClr val="0000FF"/>
              </a:solidFill>
              <a:latin typeface="Trebuchet MS" pitchFamily="34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2878675" y="2300112"/>
            <a:ext cx="3880556" cy="1453445"/>
          </a:xfrm>
          <a:prstGeom prst="line">
            <a:avLst/>
          </a:prstGeom>
          <a:ln>
            <a:solidFill>
              <a:srgbClr val="FF6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4162797" y="2765773"/>
            <a:ext cx="43124" cy="3894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3372566" y="1467557"/>
            <a:ext cx="789" cy="340077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V="1">
            <a:off x="3045188" y="4512734"/>
            <a:ext cx="3333043" cy="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237120" y="4557891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"/>
                <a:cs typeface="Times"/>
              </a:rPr>
              <a:t>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53185" y="1413554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"/>
                <a:cs typeface="Times"/>
              </a:rPr>
              <a:t>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54541" y="2477720"/>
            <a:ext cx="985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"/>
                <a:cs typeface="Times"/>
              </a:rPr>
              <a:t>( </a:t>
            </a:r>
            <a:r>
              <a:rPr lang="en-US" i="1" dirty="0">
                <a:latin typeface="Times"/>
                <a:cs typeface="Times"/>
              </a:rPr>
              <a:t>x</a:t>
            </a:r>
            <a:r>
              <a:rPr lang="en-US" baseline="-25000" dirty="0">
                <a:latin typeface="Times"/>
                <a:cs typeface="Times"/>
              </a:rPr>
              <a:t>1</a:t>
            </a:r>
            <a:r>
              <a:rPr lang="en-US" i="1" dirty="0">
                <a:latin typeface="Times"/>
                <a:cs typeface="Times"/>
              </a:rPr>
              <a:t> </a:t>
            </a:r>
            <a:r>
              <a:rPr lang="en-US" dirty="0">
                <a:latin typeface="Times"/>
                <a:cs typeface="Times"/>
              </a:rPr>
              <a:t>,</a:t>
            </a:r>
            <a:r>
              <a:rPr lang="en-US" i="1" dirty="0">
                <a:latin typeface="Times"/>
                <a:cs typeface="Times"/>
              </a:rPr>
              <a:t> y</a:t>
            </a:r>
            <a:r>
              <a:rPr lang="en-US" baseline="-25000" dirty="0">
                <a:latin typeface="Times"/>
                <a:cs typeface="Times"/>
              </a:rPr>
              <a:t>1</a:t>
            </a:r>
            <a:r>
              <a:rPr lang="en-US" i="1" dirty="0">
                <a:latin typeface="Times"/>
                <a:cs typeface="Times"/>
              </a:rPr>
              <a:t> </a:t>
            </a:r>
            <a:r>
              <a:rPr lang="en-US" dirty="0">
                <a:latin typeface="Times"/>
                <a:cs typeface="Times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13699" y="3583002"/>
            <a:ext cx="193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rush Script MT" panose="03060802040406070304" pitchFamily="66" charset="-122"/>
                <a:ea typeface="Brush Script MT" panose="03060802040406070304" pitchFamily="66" charset="-122"/>
                <a:cs typeface="Brush Script MT" panose="03060802040406070304" pitchFamily="66" charset="-122"/>
              </a:rPr>
              <a:t>l</a:t>
            </a:r>
            <a:r>
              <a:rPr lang="en-US" i="1" dirty="0">
                <a:latin typeface="Times"/>
                <a:cs typeface="Times"/>
              </a:rPr>
              <a:t> </a:t>
            </a:r>
            <a:r>
              <a:rPr lang="en-US" dirty="0">
                <a:latin typeface="Times"/>
                <a:cs typeface="Times"/>
              </a:rPr>
              <a:t>: </a:t>
            </a:r>
            <a:r>
              <a:rPr lang="en-US" i="1" dirty="0">
                <a:latin typeface="Times"/>
                <a:cs typeface="Times"/>
              </a:rPr>
              <a:t>a x</a:t>
            </a:r>
            <a:r>
              <a:rPr lang="en-US" dirty="0">
                <a:latin typeface="Times"/>
                <a:cs typeface="Times"/>
              </a:rPr>
              <a:t> + </a:t>
            </a:r>
            <a:r>
              <a:rPr lang="en-US" i="1" dirty="0">
                <a:latin typeface="Times"/>
                <a:cs typeface="Times"/>
              </a:rPr>
              <a:t>b y </a:t>
            </a:r>
            <a:r>
              <a:rPr lang="en-US" dirty="0">
                <a:latin typeface="Times"/>
                <a:cs typeface="Times"/>
              </a:rPr>
              <a:t>+ </a:t>
            </a:r>
            <a:r>
              <a:rPr lang="en-US" i="1" dirty="0">
                <a:latin typeface="Times"/>
                <a:cs typeface="Times"/>
              </a:rPr>
              <a:t>c </a:t>
            </a:r>
            <a:r>
              <a:rPr lang="en-US" dirty="0">
                <a:latin typeface="Times"/>
                <a:cs typeface="Times"/>
              </a:rPr>
              <a:t>= 0</a:t>
            </a:r>
            <a:endParaRPr lang="en-US" i="1" dirty="0">
              <a:latin typeface="Times"/>
              <a:cs typeface="Time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931361" y="2835944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"/>
                <a:cs typeface="Times"/>
              </a:rPr>
              <a:t>m</a:t>
            </a:r>
            <a:r>
              <a:rPr lang="en-US" baseline="-25000" dirty="0">
                <a:latin typeface="Times"/>
                <a:cs typeface="Times"/>
              </a:rPr>
              <a:t>1</a:t>
            </a:r>
            <a:endParaRPr lang="en-US" i="1" dirty="0">
              <a:latin typeface="Times"/>
              <a:cs typeface="Time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669092" y="5471062"/>
            <a:ext cx="19107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"/>
                <a:cs typeface="Times"/>
              </a:rPr>
              <a:t>m</a:t>
            </a:r>
            <a:r>
              <a:rPr lang="en-US" baseline="-25000" dirty="0">
                <a:latin typeface="Times"/>
                <a:cs typeface="Times"/>
              </a:rPr>
              <a:t>1</a:t>
            </a:r>
            <a:r>
              <a:rPr lang="en-US" i="1" dirty="0">
                <a:latin typeface="Times"/>
                <a:cs typeface="Times"/>
              </a:rPr>
              <a:t> = </a:t>
            </a:r>
            <a:r>
              <a:rPr lang="en-US" dirty="0">
                <a:latin typeface="Times"/>
                <a:cs typeface="Times"/>
              </a:rPr>
              <a:t>[ </a:t>
            </a:r>
            <a:r>
              <a:rPr lang="en-US" i="1" dirty="0">
                <a:latin typeface="Times"/>
                <a:cs typeface="Times"/>
              </a:rPr>
              <a:t>x</a:t>
            </a:r>
            <a:r>
              <a:rPr lang="en-US" baseline="-25000" dirty="0">
                <a:latin typeface="Times"/>
                <a:cs typeface="Times"/>
              </a:rPr>
              <a:t>1</a:t>
            </a:r>
            <a:r>
              <a:rPr lang="en-US" i="1" dirty="0">
                <a:latin typeface="Times"/>
                <a:cs typeface="Times"/>
              </a:rPr>
              <a:t>   y</a:t>
            </a:r>
            <a:r>
              <a:rPr lang="en-US" baseline="-25000" dirty="0">
                <a:latin typeface="Times"/>
                <a:cs typeface="Times"/>
              </a:rPr>
              <a:t>1</a:t>
            </a:r>
            <a:r>
              <a:rPr lang="en-US" i="1" dirty="0">
                <a:latin typeface="Times"/>
                <a:cs typeface="Times"/>
              </a:rPr>
              <a:t>   </a:t>
            </a:r>
            <a:r>
              <a:rPr lang="en-US" dirty="0">
                <a:latin typeface="Times"/>
                <a:cs typeface="Times"/>
              </a:rPr>
              <a:t>1</a:t>
            </a:r>
            <a:r>
              <a:rPr lang="en-US" i="1" dirty="0">
                <a:latin typeface="Times"/>
                <a:cs typeface="Times"/>
              </a:rPr>
              <a:t> </a:t>
            </a:r>
            <a:r>
              <a:rPr lang="en-US" dirty="0">
                <a:latin typeface="Times"/>
                <a:cs typeface="Times"/>
              </a:rPr>
              <a:t>]</a:t>
            </a:r>
            <a:r>
              <a:rPr lang="en-US" baseline="30000" dirty="0">
                <a:latin typeface="+mj-lt"/>
                <a:cs typeface="Times"/>
              </a:rPr>
              <a:t>T</a:t>
            </a:r>
            <a:endParaRPr lang="en-US" i="1" baseline="30000" dirty="0">
              <a:latin typeface="+mj-lt"/>
              <a:cs typeface="Time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666271" y="5877460"/>
            <a:ext cx="19107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"/>
                <a:cs typeface="Times"/>
              </a:rPr>
              <a:t>m</a:t>
            </a:r>
            <a:r>
              <a:rPr lang="en-US" baseline="-25000" dirty="0">
                <a:latin typeface="Times"/>
                <a:cs typeface="Times"/>
              </a:rPr>
              <a:t>2</a:t>
            </a:r>
            <a:r>
              <a:rPr lang="en-US" i="1" dirty="0">
                <a:latin typeface="Times"/>
                <a:cs typeface="Times"/>
              </a:rPr>
              <a:t> = </a:t>
            </a:r>
            <a:r>
              <a:rPr lang="en-US" dirty="0">
                <a:latin typeface="Times"/>
                <a:cs typeface="Times"/>
              </a:rPr>
              <a:t>[ </a:t>
            </a:r>
            <a:r>
              <a:rPr lang="en-US" i="1" dirty="0">
                <a:latin typeface="Times"/>
                <a:cs typeface="Times"/>
              </a:rPr>
              <a:t>x</a:t>
            </a:r>
            <a:r>
              <a:rPr lang="en-US" baseline="-25000" dirty="0">
                <a:latin typeface="Times"/>
                <a:cs typeface="Times"/>
              </a:rPr>
              <a:t>2</a:t>
            </a:r>
            <a:r>
              <a:rPr lang="en-US" i="1" dirty="0">
                <a:latin typeface="Times"/>
                <a:cs typeface="Times"/>
              </a:rPr>
              <a:t>   x</a:t>
            </a:r>
            <a:r>
              <a:rPr lang="en-US" baseline="-25000" dirty="0">
                <a:latin typeface="Times"/>
                <a:cs typeface="Times"/>
              </a:rPr>
              <a:t>2</a:t>
            </a:r>
            <a:r>
              <a:rPr lang="en-US" i="1" dirty="0">
                <a:latin typeface="Times"/>
                <a:cs typeface="Times"/>
              </a:rPr>
              <a:t>   </a:t>
            </a:r>
            <a:r>
              <a:rPr lang="en-US" dirty="0">
                <a:latin typeface="Times"/>
                <a:cs typeface="Times"/>
              </a:rPr>
              <a:t>1</a:t>
            </a:r>
            <a:r>
              <a:rPr lang="en-US" i="1" dirty="0">
                <a:latin typeface="Times"/>
                <a:cs typeface="Times"/>
              </a:rPr>
              <a:t> </a:t>
            </a:r>
            <a:r>
              <a:rPr lang="en-US" dirty="0">
                <a:latin typeface="Times"/>
                <a:cs typeface="Times"/>
              </a:rPr>
              <a:t>]</a:t>
            </a:r>
            <a:r>
              <a:rPr lang="en-US" baseline="30000" dirty="0">
                <a:latin typeface="+mj-lt"/>
                <a:cs typeface="Times"/>
              </a:rPr>
              <a:t>T</a:t>
            </a:r>
            <a:endParaRPr lang="en-US" i="1" baseline="30000" dirty="0">
              <a:latin typeface="+mj-lt"/>
              <a:cs typeface="Times"/>
            </a:endParaRPr>
          </a:p>
        </p:txBody>
      </p:sp>
      <p:grpSp>
        <p:nvGrpSpPr>
          <p:cNvPr id="23" name="Group 22"/>
          <p:cNvGrpSpPr/>
          <p:nvPr/>
        </p:nvGrpSpPr>
        <p:grpSpPr>
          <a:xfrm>
            <a:off x="4614788" y="5574074"/>
            <a:ext cx="1879712" cy="808949"/>
            <a:chOff x="3090788" y="5574073"/>
            <a:chExt cx="1879712" cy="808949"/>
          </a:xfrm>
        </p:grpSpPr>
        <p:sp>
          <p:nvSpPr>
            <p:cNvPr id="22" name="Right Brace 21"/>
            <p:cNvSpPr/>
            <p:nvPr/>
          </p:nvSpPr>
          <p:spPr>
            <a:xfrm>
              <a:off x="3090788" y="5574073"/>
              <a:ext cx="268111" cy="717307"/>
            </a:xfrm>
            <a:prstGeom prst="rightBrace">
              <a:avLst/>
            </a:prstGeom>
            <a:ln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/>
            <p:cNvSpPr/>
            <p:nvPr/>
          </p:nvSpPr>
          <p:spPr>
            <a:xfrm>
              <a:off x="3516256" y="5736691"/>
              <a:ext cx="1454244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latin typeface="Times"/>
                  <a:cs typeface="Times"/>
                </a:rPr>
                <a:t>m</a:t>
              </a:r>
              <a:r>
                <a:rPr lang="en-US" baseline="-25000" dirty="0">
                  <a:latin typeface="Times"/>
                  <a:cs typeface="Times"/>
                </a:rPr>
                <a:t>1</a:t>
              </a:r>
              <a:r>
                <a:rPr lang="en-US" i="1" dirty="0">
                  <a:latin typeface="Times"/>
                  <a:cs typeface="Times"/>
                </a:rPr>
                <a:t> </a:t>
              </a:r>
              <a:r>
                <a:rPr lang="en-US" dirty="0">
                  <a:latin typeface="Trebuchet MS"/>
                  <a:cs typeface="Trebuchet MS"/>
                </a:rPr>
                <a:t>x</a:t>
              </a:r>
              <a:r>
                <a:rPr lang="en-US" i="1" dirty="0">
                  <a:latin typeface="Times"/>
                  <a:cs typeface="Times"/>
                </a:rPr>
                <a:t>  </a:t>
              </a:r>
              <a:r>
                <a:rPr lang="en-US" b="1" dirty="0">
                  <a:latin typeface="Times"/>
                  <a:cs typeface="Times"/>
                </a:rPr>
                <a:t>m</a:t>
              </a:r>
              <a:r>
                <a:rPr lang="en-US" baseline="-25000" dirty="0">
                  <a:latin typeface="Times"/>
                  <a:cs typeface="Times"/>
                </a:rPr>
                <a:t>2</a:t>
              </a:r>
              <a:r>
                <a:rPr lang="en-US" i="1" dirty="0">
                  <a:latin typeface="Times"/>
                  <a:cs typeface="Times"/>
                </a:rPr>
                <a:t> = </a:t>
              </a:r>
              <a:r>
                <a:rPr lang="en-US" b="1" dirty="0">
                  <a:latin typeface="Times"/>
                  <a:cs typeface="Times"/>
                </a:rPr>
                <a:t>w</a:t>
              </a:r>
              <a:endParaRPr lang="en-US" b="1" dirty="0"/>
            </a:p>
            <a:p>
              <a:endParaRPr lang="en-US" dirty="0"/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7966381" y="5390184"/>
            <a:ext cx="1170178" cy="805439"/>
            <a:chOff x="6442381" y="5390183"/>
            <a:chExt cx="1170178" cy="805439"/>
          </a:xfrm>
        </p:grpSpPr>
        <p:sp>
          <p:nvSpPr>
            <p:cNvPr id="25" name="Rectangle 24"/>
            <p:cNvSpPr/>
            <p:nvPr/>
          </p:nvSpPr>
          <p:spPr>
            <a:xfrm>
              <a:off x="6445202" y="5390183"/>
              <a:ext cx="116735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latin typeface="Times"/>
                  <a:cs typeface="Times"/>
                </a:rPr>
                <a:t>m</a:t>
              </a:r>
              <a:r>
                <a:rPr lang="en-US" baseline="-25000" dirty="0">
                  <a:latin typeface="Times"/>
                  <a:cs typeface="Times"/>
                </a:rPr>
                <a:t>1</a:t>
              </a:r>
              <a:r>
                <a:rPr lang="en-US" i="1" dirty="0">
                  <a:latin typeface="Times"/>
                  <a:cs typeface="Times"/>
                </a:rPr>
                <a:t>   </a:t>
              </a:r>
              <a:r>
                <a:rPr lang="en-US" b="1" dirty="0">
                  <a:latin typeface="Times"/>
                  <a:cs typeface="Times"/>
                </a:rPr>
                <a:t>w </a:t>
              </a:r>
              <a:r>
                <a:rPr lang="en-US" i="1" dirty="0">
                  <a:latin typeface="Times"/>
                  <a:cs typeface="Times"/>
                </a:rPr>
                <a:t>= </a:t>
              </a:r>
              <a:r>
                <a:rPr lang="en-US" dirty="0">
                  <a:latin typeface="Times"/>
                  <a:cs typeface="Times"/>
                </a:rPr>
                <a:t>?</a:t>
              </a:r>
              <a:endParaRPr lang="en-US" b="1" dirty="0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6726974" y="5419892"/>
              <a:ext cx="29027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latin typeface="Wingdings"/>
                  <a:ea typeface="Wingdings"/>
                  <a:cs typeface="Wingdings"/>
                  <a:sym typeface="Wingdings"/>
                </a:rPr>
                <a:t></a:t>
              </a:r>
              <a:endParaRPr lang="en-US" dirty="0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6442381" y="5796581"/>
              <a:ext cx="116735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latin typeface="Times"/>
                  <a:cs typeface="Times"/>
                </a:rPr>
                <a:t>m</a:t>
              </a:r>
              <a:r>
                <a:rPr lang="en-US" baseline="-25000" dirty="0">
                  <a:latin typeface="Times"/>
                  <a:cs typeface="Times"/>
                </a:rPr>
                <a:t>2</a:t>
              </a:r>
              <a:r>
                <a:rPr lang="en-US" i="1" dirty="0">
                  <a:latin typeface="Times"/>
                  <a:cs typeface="Times"/>
                </a:rPr>
                <a:t>   </a:t>
              </a:r>
              <a:r>
                <a:rPr lang="en-US" b="1" dirty="0">
                  <a:latin typeface="Times"/>
                  <a:cs typeface="Times"/>
                </a:rPr>
                <a:t>w </a:t>
              </a:r>
              <a:r>
                <a:rPr lang="en-US" i="1" dirty="0">
                  <a:latin typeface="Times"/>
                  <a:cs typeface="Times"/>
                </a:rPr>
                <a:t>= </a:t>
              </a:r>
              <a:r>
                <a:rPr lang="en-US" dirty="0">
                  <a:latin typeface="Times"/>
                  <a:cs typeface="Times"/>
                </a:rPr>
                <a:t>?</a:t>
              </a:r>
              <a:endParaRPr lang="en-US" b="1" dirty="0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6738264" y="5826290"/>
              <a:ext cx="29027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latin typeface="Wingdings"/>
                  <a:ea typeface="Wingdings"/>
                  <a:cs typeface="Wingdings"/>
                  <a:sym typeface="Wingdings"/>
                </a:rPr>
                <a:t></a:t>
              </a:r>
              <a:endParaRPr lang="en-US" dirty="0"/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6936270" y="1099784"/>
            <a:ext cx="383050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rebuchet MS"/>
                <a:cs typeface="Trebuchet MS"/>
              </a:rPr>
              <a:t>We look for </a:t>
            </a:r>
            <a:r>
              <a:rPr lang="en-US" sz="2400" dirty="0">
                <a:latin typeface="Brush Script MT" panose="03060802040406070304" pitchFamily="66" charset="-122"/>
                <a:ea typeface="Brush Script MT" panose="03060802040406070304" pitchFamily="66" charset="-122"/>
                <a:cs typeface="Brush Script MT" panose="03060802040406070304" pitchFamily="66" charset="-122"/>
              </a:rPr>
              <a:t>l</a:t>
            </a:r>
            <a:r>
              <a:rPr lang="en-US" dirty="0">
                <a:latin typeface="Trebuchet MS"/>
                <a:cs typeface="Trebuchet MS"/>
              </a:rPr>
              <a:t>  so that</a:t>
            </a:r>
          </a:p>
          <a:p>
            <a:endParaRPr lang="en-US" sz="2400" b="1" dirty="0">
              <a:latin typeface="Xingkai SC Light"/>
              <a:cs typeface="Xingkai SC Light"/>
            </a:endParaRPr>
          </a:p>
          <a:p>
            <a:r>
              <a:rPr lang="en-US" sz="2400" dirty="0">
                <a:latin typeface="Brush Script MT" panose="03060802040406070304" pitchFamily="66" charset="-122"/>
                <a:ea typeface="Brush Script MT" panose="03060802040406070304" pitchFamily="66" charset="-122"/>
                <a:cs typeface="Brush Script MT" panose="03060802040406070304" pitchFamily="66" charset="-122"/>
              </a:rPr>
              <a:t>l</a:t>
            </a:r>
            <a:r>
              <a:rPr lang="en-US" sz="2400" b="1" dirty="0">
                <a:latin typeface="Xingkai SC Light"/>
                <a:cs typeface="Xingkai SC Light"/>
              </a:rPr>
              <a:t>  </a:t>
            </a:r>
            <a:r>
              <a:rPr lang="en-US" b="1" dirty="0">
                <a:latin typeface="Times"/>
                <a:cs typeface="Times"/>
              </a:rPr>
              <a:t>m</a:t>
            </a:r>
            <a:r>
              <a:rPr lang="en-US" baseline="-25000" dirty="0">
                <a:latin typeface="Times"/>
                <a:cs typeface="Times"/>
              </a:rPr>
              <a:t>1</a:t>
            </a:r>
            <a:r>
              <a:rPr lang="en-US" dirty="0">
                <a:latin typeface="Times"/>
                <a:cs typeface="Times"/>
              </a:rPr>
              <a:t> = 0     and     </a:t>
            </a:r>
            <a:r>
              <a:rPr lang="en-US" sz="2400" dirty="0">
                <a:latin typeface="Brush Script MT" panose="03060802040406070304" pitchFamily="66" charset="-122"/>
                <a:ea typeface="Brush Script MT" panose="03060802040406070304" pitchFamily="66" charset="-122"/>
                <a:cs typeface="Brush Script MT" panose="03060802040406070304" pitchFamily="66" charset="-122"/>
              </a:rPr>
              <a:t>l</a:t>
            </a:r>
            <a:r>
              <a:rPr lang="en-US" sz="2400" b="1" dirty="0">
                <a:latin typeface="Xingkai SC Light"/>
                <a:cs typeface="Xingkai SC Light"/>
              </a:rPr>
              <a:t>  </a:t>
            </a:r>
            <a:r>
              <a:rPr lang="en-US" b="1" dirty="0">
                <a:latin typeface="Times"/>
                <a:cs typeface="Times"/>
              </a:rPr>
              <a:t>m</a:t>
            </a:r>
            <a:r>
              <a:rPr lang="en-US" baseline="-25000" dirty="0">
                <a:latin typeface="Times"/>
                <a:cs typeface="Times"/>
              </a:rPr>
              <a:t>2</a:t>
            </a:r>
            <a:r>
              <a:rPr lang="en-US" dirty="0">
                <a:latin typeface="Times"/>
                <a:cs typeface="Times"/>
              </a:rPr>
              <a:t> = 0</a:t>
            </a:r>
            <a:endParaRPr lang="en-US" i="1" baseline="30000" dirty="0">
              <a:latin typeface="Times"/>
              <a:cs typeface="Times"/>
            </a:endParaRPr>
          </a:p>
          <a:p>
            <a:endParaRPr lang="en-US" i="1" baseline="30000" dirty="0">
              <a:latin typeface="Times"/>
              <a:cs typeface="Times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7029819" y="1902295"/>
            <a:ext cx="2902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Wingdings"/>
                <a:ea typeface="Wingdings"/>
                <a:cs typeface="Wingdings"/>
                <a:sym typeface="Wingdings"/>
              </a:rPr>
              <a:t></a:t>
            </a:r>
            <a:endParaRPr lang="en-US" dirty="0"/>
          </a:p>
        </p:txBody>
      </p:sp>
      <p:sp>
        <p:nvSpPr>
          <p:cNvPr id="32" name="Rectangle 31"/>
          <p:cNvSpPr/>
          <p:nvPr/>
        </p:nvSpPr>
        <p:spPr>
          <a:xfrm>
            <a:off x="8757968" y="1899474"/>
            <a:ext cx="2902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Wingdings"/>
                <a:ea typeface="Wingdings"/>
                <a:cs typeface="Wingdings"/>
                <a:sym typeface="Wingdings"/>
              </a:rPr>
              <a:t></a:t>
            </a:r>
            <a:endParaRPr lang="en-US" dirty="0"/>
          </a:p>
        </p:txBody>
      </p:sp>
      <p:sp>
        <p:nvSpPr>
          <p:cNvPr id="29" name="Oval 28"/>
          <p:cNvSpPr/>
          <p:nvPr/>
        </p:nvSpPr>
        <p:spPr>
          <a:xfrm>
            <a:off x="5571076" y="3299170"/>
            <a:ext cx="43124" cy="3894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5762820" y="3011117"/>
            <a:ext cx="985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"/>
                <a:cs typeface="Times"/>
              </a:rPr>
              <a:t>( </a:t>
            </a:r>
            <a:r>
              <a:rPr lang="en-US" i="1" dirty="0">
                <a:latin typeface="Times"/>
                <a:cs typeface="Times"/>
              </a:rPr>
              <a:t>x</a:t>
            </a:r>
            <a:r>
              <a:rPr lang="en-US" baseline="-25000" dirty="0">
                <a:latin typeface="Times"/>
                <a:cs typeface="Times"/>
              </a:rPr>
              <a:t>2</a:t>
            </a:r>
            <a:r>
              <a:rPr lang="en-US" i="1" dirty="0">
                <a:latin typeface="Times"/>
                <a:cs typeface="Times"/>
              </a:rPr>
              <a:t> </a:t>
            </a:r>
            <a:r>
              <a:rPr lang="en-US" dirty="0">
                <a:latin typeface="Times"/>
                <a:cs typeface="Times"/>
              </a:rPr>
              <a:t>,</a:t>
            </a:r>
            <a:r>
              <a:rPr lang="en-US" i="1" dirty="0">
                <a:latin typeface="Times"/>
                <a:cs typeface="Times"/>
              </a:rPr>
              <a:t> y</a:t>
            </a:r>
            <a:r>
              <a:rPr lang="en-US" baseline="-25000" dirty="0">
                <a:latin typeface="Times"/>
                <a:cs typeface="Times"/>
              </a:rPr>
              <a:t>2</a:t>
            </a:r>
            <a:r>
              <a:rPr lang="en-US" i="1" dirty="0">
                <a:latin typeface="Times"/>
                <a:cs typeface="Times"/>
              </a:rPr>
              <a:t> </a:t>
            </a:r>
            <a:r>
              <a:rPr lang="en-US" dirty="0">
                <a:latin typeface="Times"/>
                <a:cs typeface="Times"/>
              </a:rPr>
              <a:t>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39640" y="3369341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"/>
                <a:cs typeface="Times"/>
              </a:rPr>
              <a:t>m</a:t>
            </a:r>
            <a:r>
              <a:rPr lang="en-US" baseline="-25000" dirty="0">
                <a:latin typeface="Times"/>
                <a:cs typeface="Times"/>
              </a:rPr>
              <a:t>2</a:t>
            </a:r>
            <a:endParaRPr lang="en-US" i="1" dirty="0">
              <a:latin typeface="Times"/>
              <a:cs typeface="Times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DFBC79-EB06-A809-7FC0-2DBC3E2E8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CV02A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F1B217-30C9-42DF-87CA-598FC6745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19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875824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30" grpId="0"/>
      <p:bldP spid="31" grpId="0"/>
      <p:bldP spid="3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930" name="Text Box 2"/>
          <p:cNvSpPr txBox="1">
            <a:spLocks noChangeArrowheads="1"/>
          </p:cNvSpPr>
          <p:nvPr/>
        </p:nvSpPr>
        <p:spPr bwMode="auto">
          <a:xfrm>
            <a:off x="1814514" y="268289"/>
            <a:ext cx="8218487" cy="615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sz="2400" dirty="0">
                <a:solidFill>
                  <a:srgbClr val="0000FF"/>
                </a:solidFill>
                <a:latin typeface="Trebuchet MS" pitchFamily="34" charset="0"/>
              </a:rPr>
              <a:t>[ Line from two points ]</a:t>
            </a:r>
          </a:p>
          <a:p>
            <a:pPr eaLnBrk="0" hangingPunct="0"/>
            <a:endParaRPr lang="en-US" sz="1000" dirty="0">
              <a:solidFill>
                <a:srgbClr val="0000FF"/>
              </a:solidFill>
              <a:latin typeface="Trebuchet MS" pitchFamily="34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2878675" y="2300112"/>
            <a:ext cx="3880556" cy="1453445"/>
          </a:xfrm>
          <a:prstGeom prst="line">
            <a:avLst/>
          </a:prstGeom>
          <a:ln>
            <a:solidFill>
              <a:srgbClr val="FF6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4162797" y="2765773"/>
            <a:ext cx="43124" cy="3894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3372566" y="1467557"/>
            <a:ext cx="789" cy="340077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V="1">
            <a:off x="3045188" y="4512734"/>
            <a:ext cx="3333043" cy="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237120" y="4557891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"/>
                <a:cs typeface="Times"/>
              </a:rPr>
              <a:t>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53185" y="1413554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"/>
                <a:cs typeface="Times"/>
              </a:rPr>
              <a:t>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54541" y="2477720"/>
            <a:ext cx="985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"/>
                <a:cs typeface="Times"/>
              </a:rPr>
              <a:t>( </a:t>
            </a:r>
            <a:r>
              <a:rPr lang="en-US" i="1" dirty="0">
                <a:latin typeface="Times"/>
                <a:cs typeface="Times"/>
              </a:rPr>
              <a:t>x</a:t>
            </a:r>
            <a:r>
              <a:rPr lang="en-US" baseline="-25000" dirty="0">
                <a:latin typeface="Times"/>
                <a:cs typeface="Times"/>
              </a:rPr>
              <a:t>1</a:t>
            </a:r>
            <a:r>
              <a:rPr lang="en-US" i="1" dirty="0">
                <a:latin typeface="Times"/>
                <a:cs typeface="Times"/>
              </a:rPr>
              <a:t> </a:t>
            </a:r>
            <a:r>
              <a:rPr lang="en-US" dirty="0">
                <a:latin typeface="Times"/>
                <a:cs typeface="Times"/>
              </a:rPr>
              <a:t>,</a:t>
            </a:r>
            <a:r>
              <a:rPr lang="en-US" i="1" dirty="0">
                <a:latin typeface="Times"/>
                <a:cs typeface="Times"/>
              </a:rPr>
              <a:t> y</a:t>
            </a:r>
            <a:r>
              <a:rPr lang="en-US" baseline="-25000" dirty="0">
                <a:latin typeface="Times"/>
                <a:cs typeface="Times"/>
              </a:rPr>
              <a:t>1</a:t>
            </a:r>
            <a:r>
              <a:rPr lang="en-US" i="1" dirty="0">
                <a:latin typeface="Times"/>
                <a:cs typeface="Times"/>
              </a:rPr>
              <a:t> </a:t>
            </a:r>
            <a:r>
              <a:rPr lang="en-US" dirty="0">
                <a:latin typeface="Times"/>
                <a:cs typeface="Times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13699" y="3583002"/>
            <a:ext cx="193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rush Script MT" panose="03060802040406070304" pitchFamily="66" charset="-122"/>
                <a:ea typeface="Brush Script MT" panose="03060802040406070304" pitchFamily="66" charset="-122"/>
                <a:cs typeface="Brush Script MT" panose="03060802040406070304" pitchFamily="66" charset="-122"/>
              </a:rPr>
              <a:t>l</a:t>
            </a:r>
            <a:r>
              <a:rPr lang="en-US" i="1" dirty="0">
                <a:latin typeface="Times"/>
                <a:cs typeface="Times"/>
              </a:rPr>
              <a:t> </a:t>
            </a:r>
            <a:r>
              <a:rPr lang="en-US" dirty="0">
                <a:latin typeface="Times"/>
                <a:cs typeface="Times"/>
              </a:rPr>
              <a:t>: </a:t>
            </a:r>
            <a:r>
              <a:rPr lang="en-US" i="1" dirty="0">
                <a:latin typeface="Times"/>
                <a:cs typeface="Times"/>
              </a:rPr>
              <a:t>a x</a:t>
            </a:r>
            <a:r>
              <a:rPr lang="en-US" dirty="0">
                <a:latin typeface="Times"/>
                <a:cs typeface="Times"/>
              </a:rPr>
              <a:t> + </a:t>
            </a:r>
            <a:r>
              <a:rPr lang="en-US" i="1" dirty="0">
                <a:latin typeface="Times"/>
                <a:cs typeface="Times"/>
              </a:rPr>
              <a:t>b y </a:t>
            </a:r>
            <a:r>
              <a:rPr lang="en-US" dirty="0">
                <a:latin typeface="Times"/>
                <a:cs typeface="Times"/>
              </a:rPr>
              <a:t>+ </a:t>
            </a:r>
            <a:r>
              <a:rPr lang="en-US" i="1" dirty="0">
                <a:latin typeface="Times"/>
                <a:cs typeface="Times"/>
              </a:rPr>
              <a:t>c </a:t>
            </a:r>
            <a:r>
              <a:rPr lang="en-US" dirty="0">
                <a:latin typeface="Times"/>
                <a:cs typeface="Times"/>
              </a:rPr>
              <a:t>= 0</a:t>
            </a:r>
            <a:endParaRPr lang="en-US" i="1" dirty="0">
              <a:latin typeface="Times"/>
              <a:cs typeface="Time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931361" y="2835944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"/>
                <a:cs typeface="Times"/>
              </a:rPr>
              <a:t>m</a:t>
            </a:r>
            <a:r>
              <a:rPr lang="en-US" baseline="-25000" dirty="0">
                <a:latin typeface="Times"/>
                <a:cs typeface="Times"/>
              </a:rPr>
              <a:t>1</a:t>
            </a:r>
            <a:endParaRPr lang="en-US" i="1" dirty="0">
              <a:latin typeface="Times"/>
              <a:cs typeface="Time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669092" y="5471062"/>
            <a:ext cx="19107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"/>
                <a:cs typeface="Times"/>
              </a:rPr>
              <a:t>m</a:t>
            </a:r>
            <a:r>
              <a:rPr lang="en-US" baseline="-25000" dirty="0">
                <a:latin typeface="Times"/>
                <a:cs typeface="Times"/>
              </a:rPr>
              <a:t>1</a:t>
            </a:r>
            <a:r>
              <a:rPr lang="en-US" i="1" dirty="0">
                <a:latin typeface="Times"/>
                <a:cs typeface="Times"/>
              </a:rPr>
              <a:t> = </a:t>
            </a:r>
            <a:r>
              <a:rPr lang="en-US" dirty="0">
                <a:latin typeface="Times"/>
                <a:cs typeface="Times"/>
              </a:rPr>
              <a:t>[ </a:t>
            </a:r>
            <a:r>
              <a:rPr lang="en-US" i="1" dirty="0">
                <a:latin typeface="Times"/>
                <a:cs typeface="Times"/>
              </a:rPr>
              <a:t>x</a:t>
            </a:r>
            <a:r>
              <a:rPr lang="en-US" baseline="-25000" dirty="0">
                <a:latin typeface="Times"/>
                <a:cs typeface="Times"/>
              </a:rPr>
              <a:t>1</a:t>
            </a:r>
            <a:r>
              <a:rPr lang="en-US" i="1" dirty="0">
                <a:latin typeface="Times"/>
                <a:cs typeface="Times"/>
              </a:rPr>
              <a:t>   y</a:t>
            </a:r>
            <a:r>
              <a:rPr lang="en-US" baseline="-25000" dirty="0">
                <a:latin typeface="Times"/>
                <a:cs typeface="Times"/>
              </a:rPr>
              <a:t>1</a:t>
            </a:r>
            <a:r>
              <a:rPr lang="en-US" i="1" dirty="0">
                <a:latin typeface="Times"/>
                <a:cs typeface="Times"/>
              </a:rPr>
              <a:t>   </a:t>
            </a:r>
            <a:r>
              <a:rPr lang="en-US" dirty="0">
                <a:latin typeface="Times"/>
                <a:cs typeface="Times"/>
              </a:rPr>
              <a:t>1</a:t>
            </a:r>
            <a:r>
              <a:rPr lang="en-US" i="1" dirty="0">
                <a:latin typeface="Times"/>
                <a:cs typeface="Times"/>
              </a:rPr>
              <a:t> </a:t>
            </a:r>
            <a:r>
              <a:rPr lang="en-US" dirty="0">
                <a:latin typeface="Times"/>
                <a:cs typeface="Times"/>
              </a:rPr>
              <a:t>]</a:t>
            </a:r>
            <a:r>
              <a:rPr lang="en-US" baseline="30000" dirty="0">
                <a:latin typeface="+mj-lt"/>
                <a:cs typeface="Times"/>
              </a:rPr>
              <a:t>T</a:t>
            </a:r>
            <a:endParaRPr lang="en-US" i="1" baseline="30000" dirty="0">
              <a:latin typeface="+mj-lt"/>
              <a:cs typeface="Time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666271" y="5877460"/>
            <a:ext cx="18902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"/>
                <a:cs typeface="Times"/>
              </a:rPr>
              <a:t>m</a:t>
            </a:r>
            <a:r>
              <a:rPr lang="en-US" baseline="-25000" dirty="0">
                <a:latin typeface="Times"/>
                <a:cs typeface="Times"/>
              </a:rPr>
              <a:t>2</a:t>
            </a:r>
            <a:r>
              <a:rPr lang="en-US" i="1" dirty="0">
                <a:latin typeface="Times"/>
                <a:cs typeface="Times"/>
              </a:rPr>
              <a:t> = </a:t>
            </a:r>
            <a:r>
              <a:rPr lang="en-US" dirty="0">
                <a:latin typeface="Times"/>
                <a:cs typeface="Times"/>
              </a:rPr>
              <a:t>[ </a:t>
            </a:r>
            <a:r>
              <a:rPr lang="en-US" i="1" dirty="0">
                <a:latin typeface="Times"/>
                <a:cs typeface="Times"/>
              </a:rPr>
              <a:t>x</a:t>
            </a:r>
            <a:r>
              <a:rPr lang="en-US" baseline="-25000" dirty="0">
                <a:latin typeface="Times"/>
                <a:cs typeface="Times"/>
              </a:rPr>
              <a:t>2</a:t>
            </a:r>
            <a:r>
              <a:rPr lang="en-US" i="1" dirty="0">
                <a:latin typeface="Times"/>
                <a:cs typeface="Times"/>
              </a:rPr>
              <a:t>   y</a:t>
            </a:r>
            <a:r>
              <a:rPr lang="en-US" baseline="-25000" dirty="0">
                <a:latin typeface="Times"/>
                <a:cs typeface="Times"/>
              </a:rPr>
              <a:t>2</a:t>
            </a:r>
            <a:r>
              <a:rPr lang="en-US" i="1" dirty="0">
                <a:latin typeface="Times"/>
                <a:cs typeface="Times"/>
              </a:rPr>
              <a:t>   </a:t>
            </a:r>
            <a:r>
              <a:rPr lang="en-US" dirty="0">
                <a:latin typeface="Times"/>
                <a:cs typeface="Times"/>
              </a:rPr>
              <a:t>1</a:t>
            </a:r>
            <a:r>
              <a:rPr lang="en-US" i="1" dirty="0">
                <a:latin typeface="Times"/>
                <a:cs typeface="Times"/>
              </a:rPr>
              <a:t> </a:t>
            </a:r>
            <a:r>
              <a:rPr lang="en-US" dirty="0">
                <a:latin typeface="Times"/>
                <a:cs typeface="Times"/>
              </a:rPr>
              <a:t>]</a:t>
            </a:r>
            <a:r>
              <a:rPr lang="en-US" baseline="30000" dirty="0">
                <a:latin typeface="+mj-lt"/>
                <a:cs typeface="Times"/>
              </a:rPr>
              <a:t>T</a:t>
            </a:r>
            <a:endParaRPr lang="en-US" i="1" baseline="30000" dirty="0">
              <a:latin typeface="+mj-lt"/>
              <a:cs typeface="Times"/>
            </a:endParaRPr>
          </a:p>
        </p:txBody>
      </p:sp>
      <p:grpSp>
        <p:nvGrpSpPr>
          <p:cNvPr id="23" name="Group 22"/>
          <p:cNvGrpSpPr/>
          <p:nvPr/>
        </p:nvGrpSpPr>
        <p:grpSpPr>
          <a:xfrm>
            <a:off x="4614788" y="5574074"/>
            <a:ext cx="1879712" cy="808949"/>
            <a:chOff x="3090788" y="5574073"/>
            <a:chExt cx="1879712" cy="808949"/>
          </a:xfrm>
        </p:grpSpPr>
        <p:sp>
          <p:nvSpPr>
            <p:cNvPr id="22" name="Right Brace 21"/>
            <p:cNvSpPr/>
            <p:nvPr/>
          </p:nvSpPr>
          <p:spPr>
            <a:xfrm>
              <a:off x="3090788" y="5574073"/>
              <a:ext cx="268111" cy="717307"/>
            </a:xfrm>
            <a:prstGeom prst="rightBrace">
              <a:avLst/>
            </a:prstGeom>
            <a:ln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/>
            <p:cNvSpPr/>
            <p:nvPr/>
          </p:nvSpPr>
          <p:spPr>
            <a:xfrm>
              <a:off x="3516256" y="5736691"/>
              <a:ext cx="1454244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latin typeface="Times"/>
                  <a:cs typeface="Times"/>
                </a:rPr>
                <a:t>m</a:t>
              </a:r>
              <a:r>
                <a:rPr lang="en-US" baseline="-25000" dirty="0">
                  <a:latin typeface="Times"/>
                  <a:cs typeface="Times"/>
                </a:rPr>
                <a:t>1</a:t>
              </a:r>
              <a:r>
                <a:rPr lang="en-US" i="1" dirty="0">
                  <a:latin typeface="Times"/>
                  <a:cs typeface="Times"/>
                </a:rPr>
                <a:t> </a:t>
              </a:r>
              <a:r>
                <a:rPr lang="en-US" dirty="0">
                  <a:latin typeface="Trebuchet MS"/>
                  <a:cs typeface="Trebuchet MS"/>
                </a:rPr>
                <a:t>x</a:t>
              </a:r>
              <a:r>
                <a:rPr lang="en-US" i="1" dirty="0">
                  <a:latin typeface="Times"/>
                  <a:cs typeface="Times"/>
                </a:rPr>
                <a:t>  </a:t>
              </a:r>
              <a:r>
                <a:rPr lang="en-US" b="1" dirty="0">
                  <a:latin typeface="Times"/>
                  <a:cs typeface="Times"/>
                </a:rPr>
                <a:t>m</a:t>
              </a:r>
              <a:r>
                <a:rPr lang="en-US" baseline="-25000" dirty="0">
                  <a:latin typeface="Times"/>
                  <a:cs typeface="Times"/>
                </a:rPr>
                <a:t>2</a:t>
              </a:r>
              <a:r>
                <a:rPr lang="en-US" i="1" dirty="0">
                  <a:latin typeface="Times"/>
                  <a:cs typeface="Times"/>
                </a:rPr>
                <a:t> = </a:t>
              </a:r>
              <a:r>
                <a:rPr lang="en-US" b="1" dirty="0">
                  <a:latin typeface="Times"/>
                  <a:cs typeface="Times"/>
                </a:rPr>
                <a:t>w</a:t>
              </a:r>
              <a:endParaRPr lang="en-US" b="1" dirty="0"/>
            </a:p>
            <a:p>
              <a:endParaRPr lang="en-US" dirty="0"/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7966381" y="5390184"/>
            <a:ext cx="1182952" cy="805439"/>
            <a:chOff x="6442381" y="5390183"/>
            <a:chExt cx="1182952" cy="805439"/>
          </a:xfrm>
        </p:grpSpPr>
        <p:sp>
          <p:nvSpPr>
            <p:cNvPr id="25" name="Rectangle 24"/>
            <p:cNvSpPr/>
            <p:nvPr/>
          </p:nvSpPr>
          <p:spPr>
            <a:xfrm>
              <a:off x="6445202" y="5390183"/>
              <a:ext cx="118013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latin typeface="Times"/>
                  <a:cs typeface="Times"/>
                </a:rPr>
                <a:t>m</a:t>
              </a:r>
              <a:r>
                <a:rPr lang="en-US" baseline="-25000" dirty="0">
                  <a:latin typeface="Times"/>
                  <a:cs typeface="Times"/>
                </a:rPr>
                <a:t>1</a:t>
              </a:r>
              <a:r>
                <a:rPr lang="en-US" i="1" dirty="0">
                  <a:latin typeface="Times"/>
                  <a:cs typeface="Times"/>
                </a:rPr>
                <a:t>   </a:t>
              </a:r>
              <a:r>
                <a:rPr lang="en-US" b="1" dirty="0">
                  <a:latin typeface="Times"/>
                  <a:cs typeface="Times"/>
                </a:rPr>
                <a:t>w </a:t>
              </a:r>
              <a:r>
                <a:rPr lang="en-US" i="1" dirty="0">
                  <a:latin typeface="Times"/>
                  <a:cs typeface="Times"/>
                </a:rPr>
                <a:t>= </a:t>
              </a:r>
              <a:r>
                <a:rPr lang="en-US" dirty="0">
                  <a:latin typeface="Times"/>
                  <a:cs typeface="Times"/>
                </a:rPr>
                <a:t>0</a:t>
              </a:r>
              <a:endParaRPr lang="en-US" b="1" dirty="0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6726974" y="5419892"/>
              <a:ext cx="29027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latin typeface="Wingdings"/>
                  <a:ea typeface="Wingdings"/>
                  <a:cs typeface="Wingdings"/>
                  <a:sym typeface="Wingdings"/>
                </a:rPr>
                <a:t></a:t>
              </a:r>
              <a:endParaRPr lang="en-US" dirty="0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6442381" y="5796581"/>
              <a:ext cx="118013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latin typeface="Times"/>
                  <a:cs typeface="Times"/>
                </a:rPr>
                <a:t>m</a:t>
              </a:r>
              <a:r>
                <a:rPr lang="en-US" baseline="-25000" dirty="0">
                  <a:latin typeface="Times"/>
                  <a:cs typeface="Times"/>
                </a:rPr>
                <a:t>2</a:t>
              </a:r>
              <a:r>
                <a:rPr lang="en-US" i="1" dirty="0">
                  <a:latin typeface="Times"/>
                  <a:cs typeface="Times"/>
                </a:rPr>
                <a:t>   </a:t>
              </a:r>
              <a:r>
                <a:rPr lang="en-US" b="1" dirty="0">
                  <a:latin typeface="Times"/>
                  <a:cs typeface="Times"/>
                </a:rPr>
                <a:t>w </a:t>
              </a:r>
              <a:r>
                <a:rPr lang="en-US" i="1" dirty="0">
                  <a:latin typeface="Times"/>
                  <a:cs typeface="Times"/>
                </a:rPr>
                <a:t>= </a:t>
              </a:r>
              <a:r>
                <a:rPr lang="en-US" dirty="0">
                  <a:latin typeface="Times"/>
                  <a:cs typeface="Times"/>
                </a:rPr>
                <a:t>0</a:t>
              </a:r>
              <a:endParaRPr lang="en-US" b="1" dirty="0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6738264" y="5826290"/>
              <a:ext cx="29027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latin typeface="Wingdings"/>
                  <a:ea typeface="Wingdings"/>
                  <a:cs typeface="Wingdings"/>
                  <a:sym typeface="Wingdings"/>
                </a:rPr>
                <a:t></a:t>
              </a:r>
              <a:endParaRPr lang="en-US" dirty="0"/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6936270" y="1099784"/>
            <a:ext cx="383050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rebuchet MS"/>
                <a:cs typeface="Trebuchet MS"/>
              </a:rPr>
              <a:t>We look for </a:t>
            </a:r>
            <a:r>
              <a:rPr lang="en-US" sz="2400" dirty="0">
                <a:latin typeface="Brush Script MT" panose="03060802040406070304" pitchFamily="66" charset="-122"/>
                <a:ea typeface="Brush Script MT" panose="03060802040406070304" pitchFamily="66" charset="-122"/>
                <a:cs typeface="Brush Script MT" panose="03060802040406070304" pitchFamily="66" charset="-122"/>
              </a:rPr>
              <a:t>l</a:t>
            </a:r>
            <a:r>
              <a:rPr lang="en-US" dirty="0">
                <a:latin typeface="Trebuchet MS"/>
                <a:cs typeface="Trebuchet MS"/>
              </a:rPr>
              <a:t>  so that</a:t>
            </a:r>
          </a:p>
          <a:p>
            <a:endParaRPr lang="en-US" sz="2400" b="1" dirty="0">
              <a:latin typeface="Xingkai SC Light"/>
              <a:cs typeface="Xingkai SC Light"/>
            </a:endParaRPr>
          </a:p>
          <a:p>
            <a:r>
              <a:rPr lang="en-US" sz="2400" b="1" dirty="0">
                <a:latin typeface="Xingkai SC Light"/>
                <a:cs typeface="Xingkai SC Light"/>
              </a:rPr>
              <a:t>  </a:t>
            </a:r>
            <a:r>
              <a:rPr lang="en-US" sz="2400" dirty="0">
                <a:latin typeface="Brush Script MT" panose="03060802040406070304" pitchFamily="66" charset="-122"/>
                <a:ea typeface="Brush Script MT" panose="03060802040406070304" pitchFamily="66" charset="-122"/>
                <a:cs typeface="Brush Script MT" panose="03060802040406070304" pitchFamily="66" charset="-122"/>
              </a:rPr>
              <a:t>l</a:t>
            </a:r>
            <a:r>
              <a:rPr lang="en-US" sz="2400" b="1" dirty="0">
                <a:latin typeface="Xingkai SC Light"/>
                <a:cs typeface="Xingkai SC Light"/>
              </a:rPr>
              <a:t>  </a:t>
            </a:r>
            <a:r>
              <a:rPr lang="en-US" b="1" dirty="0">
                <a:latin typeface="Times"/>
                <a:cs typeface="Times"/>
              </a:rPr>
              <a:t>m</a:t>
            </a:r>
            <a:r>
              <a:rPr lang="en-US" baseline="-25000" dirty="0">
                <a:latin typeface="Times"/>
                <a:cs typeface="Times"/>
              </a:rPr>
              <a:t>1</a:t>
            </a:r>
            <a:r>
              <a:rPr lang="en-US" dirty="0">
                <a:latin typeface="Times"/>
                <a:cs typeface="Times"/>
              </a:rPr>
              <a:t> = 0     and     </a:t>
            </a:r>
            <a:r>
              <a:rPr lang="en-US" sz="2400" dirty="0">
                <a:latin typeface="Brush Script MT" panose="03060802040406070304" pitchFamily="66" charset="-122"/>
                <a:ea typeface="Brush Script MT" panose="03060802040406070304" pitchFamily="66" charset="-122"/>
                <a:cs typeface="Brush Script MT" panose="03060802040406070304" pitchFamily="66" charset="-122"/>
              </a:rPr>
              <a:t>l</a:t>
            </a:r>
            <a:r>
              <a:rPr lang="en-US" sz="2400" b="1" dirty="0">
                <a:latin typeface="Xingkai SC Light"/>
                <a:cs typeface="Xingkai SC Light"/>
              </a:rPr>
              <a:t>  </a:t>
            </a:r>
            <a:r>
              <a:rPr lang="en-US" b="1" dirty="0">
                <a:latin typeface="Times"/>
                <a:cs typeface="Times"/>
              </a:rPr>
              <a:t>m</a:t>
            </a:r>
            <a:r>
              <a:rPr lang="en-US" baseline="-25000" dirty="0">
                <a:latin typeface="Times"/>
                <a:cs typeface="Times"/>
              </a:rPr>
              <a:t>2</a:t>
            </a:r>
            <a:r>
              <a:rPr lang="en-US" dirty="0">
                <a:latin typeface="Times"/>
                <a:cs typeface="Times"/>
              </a:rPr>
              <a:t> = 0</a:t>
            </a:r>
            <a:endParaRPr lang="en-US" i="1" baseline="30000" dirty="0">
              <a:latin typeface="Times"/>
              <a:cs typeface="Times"/>
            </a:endParaRPr>
          </a:p>
          <a:p>
            <a:endParaRPr lang="en-US" i="1" baseline="30000" dirty="0">
              <a:latin typeface="Times"/>
              <a:cs typeface="Times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7174501" y="1902295"/>
            <a:ext cx="2902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Wingdings"/>
                <a:ea typeface="Wingdings"/>
                <a:cs typeface="Wingdings"/>
                <a:sym typeface="Wingdings"/>
              </a:rPr>
              <a:t></a:t>
            </a:r>
            <a:endParaRPr lang="en-US" dirty="0"/>
          </a:p>
        </p:txBody>
      </p:sp>
      <p:sp>
        <p:nvSpPr>
          <p:cNvPr id="32" name="Rectangle 31"/>
          <p:cNvSpPr/>
          <p:nvPr/>
        </p:nvSpPr>
        <p:spPr>
          <a:xfrm>
            <a:off x="8908438" y="1899474"/>
            <a:ext cx="2902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Wingdings"/>
                <a:ea typeface="Wingdings"/>
                <a:cs typeface="Wingdings"/>
                <a:sym typeface="Wingdings"/>
              </a:rPr>
              <a:t></a:t>
            </a:r>
            <a:endParaRPr lang="en-US" dirty="0"/>
          </a:p>
        </p:txBody>
      </p:sp>
      <p:sp>
        <p:nvSpPr>
          <p:cNvPr id="29" name="Oval 28"/>
          <p:cNvSpPr/>
          <p:nvPr/>
        </p:nvSpPr>
        <p:spPr>
          <a:xfrm>
            <a:off x="5571076" y="3299170"/>
            <a:ext cx="43124" cy="3894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5762820" y="3011117"/>
            <a:ext cx="985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"/>
                <a:cs typeface="Times"/>
              </a:rPr>
              <a:t>( </a:t>
            </a:r>
            <a:r>
              <a:rPr lang="en-US" i="1" dirty="0">
                <a:latin typeface="Times"/>
                <a:cs typeface="Times"/>
              </a:rPr>
              <a:t>x</a:t>
            </a:r>
            <a:r>
              <a:rPr lang="en-US" baseline="-25000" dirty="0">
                <a:latin typeface="Times"/>
                <a:cs typeface="Times"/>
              </a:rPr>
              <a:t>2</a:t>
            </a:r>
            <a:r>
              <a:rPr lang="en-US" i="1" dirty="0">
                <a:latin typeface="Times"/>
                <a:cs typeface="Times"/>
              </a:rPr>
              <a:t> </a:t>
            </a:r>
            <a:r>
              <a:rPr lang="en-US" dirty="0">
                <a:latin typeface="Times"/>
                <a:cs typeface="Times"/>
              </a:rPr>
              <a:t>,</a:t>
            </a:r>
            <a:r>
              <a:rPr lang="en-US" i="1" dirty="0">
                <a:latin typeface="Times"/>
                <a:cs typeface="Times"/>
              </a:rPr>
              <a:t> y</a:t>
            </a:r>
            <a:r>
              <a:rPr lang="en-US" baseline="-25000" dirty="0">
                <a:latin typeface="Times"/>
                <a:cs typeface="Times"/>
              </a:rPr>
              <a:t>2</a:t>
            </a:r>
            <a:r>
              <a:rPr lang="en-US" i="1" dirty="0">
                <a:latin typeface="Times"/>
                <a:cs typeface="Times"/>
              </a:rPr>
              <a:t> </a:t>
            </a:r>
            <a:r>
              <a:rPr lang="en-US" dirty="0">
                <a:latin typeface="Times"/>
                <a:cs typeface="Times"/>
              </a:rPr>
              <a:t>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39640" y="3369341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"/>
                <a:cs typeface="Times"/>
              </a:rPr>
              <a:t>m</a:t>
            </a:r>
            <a:r>
              <a:rPr lang="en-US" baseline="-25000" dirty="0">
                <a:latin typeface="Times"/>
                <a:cs typeface="Times"/>
              </a:rPr>
              <a:t>2</a:t>
            </a:r>
            <a:endParaRPr lang="en-US" i="1" dirty="0">
              <a:latin typeface="Times"/>
              <a:cs typeface="Times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545679D-7A8C-814D-A0F2-69083DE07222}"/>
              </a:ext>
            </a:extLst>
          </p:cNvPr>
          <p:cNvSpPr/>
          <p:nvPr/>
        </p:nvSpPr>
        <p:spPr>
          <a:xfrm>
            <a:off x="7831667" y="2610292"/>
            <a:ext cx="1415772" cy="461665"/>
          </a:xfrm>
          <a:prstGeom prst="rect">
            <a:avLst/>
          </a:prstGeom>
          <a:solidFill>
            <a:srgbClr val="FDEADA"/>
          </a:solidFill>
        </p:spPr>
        <p:txBody>
          <a:bodyPr wrap="none">
            <a:spAutoFit/>
          </a:bodyPr>
          <a:lstStyle/>
          <a:p>
            <a:r>
              <a:rPr lang="en-US" sz="2400" dirty="0">
                <a:latin typeface="Brush Script MT" panose="03060802040406070304" pitchFamily="66" charset="-122"/>
                <a:ea typeface="Brush Script MT" panose="03060802040406070304" pitchFamily="66" charset="-122"/>
                <a:cs typeface="Brush Script MT" panose="03060802040406070304" pitchFamily="66" charset="-122"/>
              </a:rPr>
              <a:t>l</a:t>
            </a:r>
            <a:r>
              <a:rPr lang="en-US" sz="2400" b="1" dirty="0">
                <a:latin typeface="Xingkai SC Light"/>
                <a:cs typeface="Xingkai SC Light"/>
              </a:rPr>
              <a:t> </a:t>
            </a:r>
            <a:r>
              <a:rPr lang="en-US" i="1" dirty="0">
                <a:latin typeface="Times"/>
                <a:cs typeface="Times"/>
              </a:rPr>
              <a:t>=</a:t>
            </a:r>
            <a:r>
              <a:rPr lang="en-US" sz="2400" i="1" dirty="0">
                <a:latin typeface="Times"/>
                <a:cs typeface="Times"/>
              </a:rPr>
              <a:t> </a:t>
            </a:r>
            <a:r>
              <a:rPr lang="en-US" b="1" dirty="0">
                <a:latin typeface="Times"/>
                <a:cs typeface="Times"/>
              </a:rPr>
              <a:t>m</a:t>
            </a:r>
            <a:r>
              <a:rPr lang="en-US" baseline="-25000" dirty="0">
                <a:latin typeface="Times"/>
                <a:cs typeface="Times"/>
              </a:rPr>
              <a:t>1</a:t>
            </a:r>
            <a:r>
              <a:rPr lang="en-US" i="1" dirty="0">
                <a:latin typeface="Times"/>
                <a:cs typeface="Times"/>
              </a:rPr>
              <a:t> </a:t>
            </a:r>
            <a:r>
              <a:rPr lang="en-US" dirty="0">
                <a:latin typeface="Trebuchet MS"/>
                <a:cs typeface="Trebuchet MS"/>
              </a:rPr>
              <a:t>x</a:t>
            </a:r>
            <a:r>
              <a:rPr lang="en-US" i="1" dirty="0">
                <a:latin typeface="Times"/>
                <a:cs typeface="Times"/>
              </a:rPr>
              <a:t>  </a:t>
            </a:r>
            <a:r>
              <a:rPr lang="en-US" b="1" dirty="0">
                <a:latin typeface="Times"/>
                <a:cs typeface="Times"/>
              </a:rPr>
              <a:t>m</a:t>
            </a:r>
            <a:r>
              <a:rPr lang="en-US" baseline="-25000" dirty="0">
                <a:latin typeface="Times"/>
                <a:cs typeface="Times"/>
              </a:rPr>
              <a:t>2</a:t>
            </a:r>
            <a:endParaRPr lang="en-US" b="1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6A12AEC-6F5F-0242-9304-65CF330370B1}"/>
              </a:ext>
            </a:extLst>
          </p:cNvPr>
          <p:cNvSpPr/>
          <p:nvPr/>
        </p:nvSpPr>
        <p:spPr>
          <a:xfrm>
            <a:off x="8043337" y="2428071"/>
            <a:ext cx="75924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 dirty="0">
                <a:latin typeface="Trebuchet MS"/>
                <a:cs typeface="Trebuchet MS"/>
              </a:rPr>
              <a:t>SOLUTION</a:t>
            </a:r>
            <a:endParaRPr lang="en-US" sz="10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315E72-63A6-73D5-9E5D-795A2799D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CV02A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73D85E3-C6A7-65E6-4076-C6F3B53F9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20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911408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2E9BE-A536-53EA-2413-DE6BE2D16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D4A1B-35E3-5FC2-E21A-353F0F4FF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CL" sz="4800" dirty="0">
                <a:latin typeface="Gill Sans MT" panose="020B0502020104020203" pitchFamily="34" charset="77"/>
                <a:cs typeface="Consolas" panose="020B0609020204030204" pitchFamily="49" charset="0"/>
              </a:rPr>
              <a:t>Coordenas Homogéneas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4C7EDF-6FAF-C48C-762B-D46476CB8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CV02A</a:t>
            </a:r>
            <a:endParaRPr lang="en-CL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9AC9962-982C-AC6E-2B36-04982CCAB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21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2936547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930" name="Text Box 2"/>
          <p:cNvSpPr txBox="1">
            <a:spLocks noChangeArrowheads="1"/>
          </p:cNvSpPr>
          <p:nvPr/>
        </p:nvSpPr>
        <p:spPr bwMode="auto">
          <a:xfrm>
            <a:off x="1814514" y="268289"/>
            <a:ext cx="8218487" cy="615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sz="2400" dirty="0">
                <a:solidFill>
                  <a:srgbClr val="0000FF"/>
                </a:solidFill>
                <a:latin typeface="Trebuchet MS" pitchFamily="34" charset="0"/>
              </a:rPr>
              <a:t>[ Homogeneous Coordinates ]</a:t>
            </a:r>
          </a:p>
          <a:p>
            <a:pPr eaLnBrk="0" hangingPunct="0"/>
            <a:endParaRPr lang="en-US" sz="1000" dirty="0">
              <a:solidFill>
                <a:srgbClr val="0000FF"/>
              </a:solidFill>
              <a:latin typeface="Trebuchet MS" pitchFamily="34" charset="0"/>
            </a:endParaRPr>
          </a:p>
        </p:txBody>
      </p:sp>
      <p:pic>
        <p:nvPicPr>
          <p:cNvPr id="2" name="Picture 1" descr="Screen Shot 2014-11-09 at 11.25.01 A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397000"/>
            <a:ext cx="9144000" cy="4051300"/>
          </a:xfrm>
          <a:prstGeom prst="rect">
            <a:avLst/>
          </a:prstGeom>
        </p:spPr>
      </p:pic>
      <p:pic>
        <p:nvPicPr>
          <p:cNvPr id="3" name="Picture 2" descr="Screen Shot 2014-11-09 at 11.26.39 AM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7778" y="5703711"/>
            <a:ext cx="3035300" cy="546100"/>
          </a:xfrm>
          <a:prstGeom prst="rect">
            <a:avLst/>
          </a:prstGeom>
        </p:spPr>
      </p:pic>
      <p:pic>
        <p:nvPicPr>
          <p:cNvPr id="5" name="Picture 4" descr="Screen Shot 2014-11-09 at 11.26.51 AM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2479" y="5746044"/>
            <a:ext cx="2006600" cy="508000"/>
          </a:xfrm>
          <a:prstGeom prst="rect">
            <a:avLst/>
          </a:prstGeom>
        </p:spPr>
      </p:pic>
      <p:pic>
        <p:nvPicPr>
          <p:cNvPr id="6" name="Picture 5" descr="Screen Shot 2014-11-09 at 11.26.58 AM.p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3033" y="5705122"/>
            <a:ext cx="1993900" cy="533400"/>
          </a:xfrm>
          <a:prstGeom prst="rect">
            <a:avLst/>
          </a:prstGeom>
        </p:spPr>
      </p:pic>
      <p:sp>
        <p:nvSpPr>
          <p:cNvPr id="37" name="Rectangle 36"/>
          <p:cNvSpPr/>
          <p:nvPr/>
        </p:nvSpPr>
        <p:spPr>
          <a:xfrm>
            <a:off x="7719550" y="1975556"/>
            <a:ext cx="5417117" cy="450144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5437145" y="4557890"/>
            <a:ext cx="5417117" cy="169615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C3C24-B7C8-382C-D5F2-22852D20B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CV02A</a:t>
            </a:r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80D63F-CC40-5263-CE0F-2E8149357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22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978116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3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9B5D5-CF7E-0AB2-F185-EE3C967EB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A4150-C61B-274F-B8CC-13ADB400A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CL" sz="4800" dirty="0">
                <a:latin typeface="Gill Sans MT" panose="020B0502020104020203" pitchFamily="34" charset="77"/>
                <a:cs typeface="Consolas" panose="020B0609020204030204" pitchFamily="49" charset="0"/>
              </a:rPr>
              <a:t>Ejercicios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3B16EC-DE87-B0B5-9C9E-0A9AC87FD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CV02A</a:t>
            </a:r>
            <a:endParaRPr lang="en-CL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1945401-F7D7-2327-2AE4-58D7D1D60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23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4592214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930" name="Text Box 2"/>
          <p:cNvSpPr txBox="1">
            <a:spLocks noChangeArrowheads="1"/>
          </p:cNvSpPr>
          <p:nvPr/>
        </p:nvSpPr>
        <p:spPr bwMode="auto">
          <a:xfrm>
            <a:off x="1814514" y="268289"/>
            <a:ext cx="8218487" cy="615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sz="2400" dirty="0">
                <a:solidFill>
                  <a:srgbClr val="0000FF"/>
                </a:solidFill>
                <a:latin typeface="Trebuchet MS" pitchFamily="34" charset="0"/>
              </a:rPr>
              <a:t>[ </a:t>
            </a:r>
            <a:r>
              <a:rPr lang="en-US" sz="2400" dirty="0" err="1">
                <a:solidFill>
                  <a:srgbClr val="0000FF"/>
                </a:solidFill>
                <a:latin typeface="Trebuchet MS" pitchFamily="34" charset="0"/>
              </a:rPr>
              <a:t>Ejercicio</a:t>
            </a:r>
            <a:r>
              <a:rPr lang="en-US" sz="2400" dirty="0">
                <a:solidFill>
                  <a:srgbClr val="0000FF"/>
                </a:solidFill>
                <a:latin typeface="Trebuchet MS" pitchFamily="34" charset="0"/>
              </a:rPr>
              <a:t> 1 ]</a:t>
            </a:r>
          </a:p>
          <a:p>
            <a:pPr eaLnBrk="0" hangingPunct="0"/>
            <a:endParaRPr lang="en-US" sz="1000" dirty="0">
              <a:solidFill>
                <a:srgbClr val="0000FF"/>
              </a:solidFill>
              <a:latin typeface="Trebuchet MS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3BEB5A4-23EB-6243-8DE5-541A4A26EF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1076176"/>
            <a:ext cx="9144000" cy="218236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B8688CB-C391-5D46-8E27-F15F6755A6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3824" y="3361818"/>
            <a:ext cx="4648200" cy="4699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8BF7A74-C1B2-744C-8813-B9CDB21052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69976" y="3429000"/>
            <a:ext cx="2755900" cy="4699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1CD2AD4-A44E-ED40-8B4F-9FAF6F2FC1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69976" y="4262393"/>
            <a:ext cx="2755900" cy="4699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E275BCD-E8BE-B744-A4E0-3182F708E4D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33000" y="4130934"/>
            <a:ext cx="2616200" cy="9398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B28C096-EEF0-D144-B726-CE9F5F213F3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20050" y="5237252"/>
            <a:ext cx="2349500" cy="9398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91C5AA-7C31-2CAF-28E1-696E623DC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CV02A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3220B24-91C4-507C-39A4-2E59BA8D0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24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458279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930" name="Text Box 2"/>
          <p:cNvSpPr txBox="1">
            <a:spLocks noChangeArrowheads="1"/>
          </p:cNvSpPr>
          <p:nvPr/>
        </p:nvSpPr>
        <p:spPr bwMode="auto">
          <a:xfrm>
            <a:off x="1814514" y="268289"/>
            <a:ext cx="8218487" cy="615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sz="2400" dirty="0">
                <a:solidFill>
                  <a:srgbClr val="0000FF"/>
                </a:solidFill>
                <a:latin typeface="Trebuchet MS" pitchFamily="34" charset="0"/>
              </a:rPr>
              <a:t>[ </a:t>
            </a:r>
            <a:r>
              <a:rPr lang="en-US" sz="2400" dirty="0" err="1">
                <a:solidFill>
                  <a:srgbClr val="0000FF"/>
                </a:solidFill>
                <a:latin typeface="Trebuchet MS" pitchFamily="34" charset="0"/>
              </a:rPr>
              <a:t>Ejercicio</a:t>
            </a:r>
            <a:r>
              <a:rPr lang="en-US" sz="2400" dirty="0">
                <a:solidFill>
                  <a:srgbClr val="0000FF"/>
                </a:solidFill>
                <a:latin typeface="Trebuchet MS" pitchFamily="34" charset="0"/>
              </a:rPr>
              <a:t> 2 ]</a:t>
            </a:r>
          </a:p>
          <a:p>
            <a:pPr eaLnBrk="0" hangingPunct="0"/>
            <a:endParaRPr lang="en-US" sz="1000" dirty="0">
              <a:solidFill>
                <a:srgbClr val="0000FF"/>
              </a:solidFill>
              <a:latin typeface="Trebuchet MS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7F2363-9F0F-F345-899F-17FF1B33DEF1}"/>
              </a:ext>
            </a:extLst>
          </p:cNvPr>
          <p:cNvSpPr txBox="1"/>
          <p:nvPr/>
        </p:nvSpPr>
        <p:spPr>
          <a:xfrm>
            <a:off x="2033287" y="1394748"/>
            <a:ext cx="64171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>
                <a:latin typeface="Trebuchet MS" panose="020B0703020202090204" pitchFamily="34" charset="0"/>
              </a:rPr>
              <a:t>Encuentre la recta que pasa por los puntos (10,20) y (20,30)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51ECDBE-6F3D-AD40-8F8A-1A700DB9CA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7543" y="2060857"/>
            <a:ext cx="3086100" cy="4699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C2A3B75-DFB9-944D-B2D9-84F0220301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7543" y="2982665"/>
            <a:ext cx="3086100" cy="4699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3831D9C-FB2D-6F46-A428-CEAB066396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6436" y="3855391"/>
            <a:ext cx="5461000" cy="4699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F61DEB8-3412-1E43-A198-3E780F09D2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48646" y="4777199"/>
            <a:ext cx="4356100" cy="4064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582569D-601A-F74F-A5C2-419E8BDA2C7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87543" y="5543876"/>
            <a:ext cx="2095500" cy="406400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A88F6F-BCDC-A68E-7930-246B2915E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CV02A</a:t>
            </a:r>
            <a:endParaRPr lang="en-C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F26464-A847-1291-39DA-49E381B83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25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429230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930" name="Text Box 2"/>
          <p:cNvSpPr txBox="1">
            <a:spLocks noChangeArrowheads="1"/>
          </p:cNvSpPr>
          <p:nvPr/>
        </p:nvSpPr>
        <p:spPr bwMode="auto">
          <a:xfrm>
            <a:off x="1814514" y="268289"/>
            <a:ext cx="8218487" cy="615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sz="2400" dirty="0">
                <a:solidFill>
                  <a:srgbClr val="0000FF"/>
                </a:solidFill>
                <a:latin typeface="Trebuchet MS" pitchFamily="34" charset="0"/>
              </a:rPr>
              <a:t>[ </a:t>
            </a:r>
            <a:r>
              <a:rPr lang="en-US" sz="2400" dirty="0" err="1">
                <a:solidFill>
                  <a:srgbClr val="0000FF"/>
                </a:solidFill>
                <a:latin typeface="Trebuchet MS" pitchFamily="34" charset="0"/>
              </a:rPr>
              <a:t>Ejercicio</a:t>
            </a:r>
            <a:r>
              <a:rPr lang="en-US" sz="2400" dirty="0">
                <a:solidFill>
                  <a:srgbClr val="0000FF"/>
                </a:solidFill>
                <a:latin typeface="Trebuchet MS" pitchFamily="34" charset="0"/>
              </a:rPr>
              <a:t> 3 ]</a:t>
            </a:r>
          </a:p>
          <a:p>
            <a:pPr eaLnBrk="0" hangingPunct="0"/>
            <a:endParaRPr lang="en-US" sz="1000" dirty="0">
              <a:solidFill>
                <a:srgbClr val="0000FF"/>
              </a:solidFill>
              <a:latin typeface="Trebuchet MS" pitchFamily="34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2B06223-8437-3649-B12F-3AA6ED6BC3C8}"/>
              </a:ext>
            </a:extLst>
          </p:cNvPr>
          <p:cNvCxnSpPr/>
          <p:nvPr/>
        </p:nvCxnSpPr>
        <p:spPr>
          <a:xfrm>
            <a:off x="2484699" y="2145349"/>
            <a:ext cx="0" cy="4039564"/>
          </a:xfrm>
          <a:prstGeom prst="line">
            <a:avLst/>
          </a:prstGeom>
          <a:ln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4F8D535-253C-7341-BA03-58CA6B56A46F}"/>
              </a:ext>
            </a:extLst>
          </p:cNvPr>
          <p:cNvCxnSpPr>
            <a:cxnSpLocks/>
          </p:cNvCxnSpPr>
          <p:nvPr/>
        </p:nvCxnSpPr>
        <p:spPr>
          <a:xfrm flipH="1">
            <a:off x="2301434" y="5932199"/>
            <a:ext cx="4396450" cy="0"/>
          </a:xfrm>
          <a:prstGeom prst="line">
            <a:avLst/>
          </a:prstGeom>
          <a:ln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6DB0BC3-43C9-0640-8040-C200943ABEA8}"/>
              </a:ext>
            </a:extLst>
          </p:cNvPr>
          <p:cNvCxnSpPr/>
          <p:nvPr/>
        </p:nvCxnSpPr>
        <p:spPr>
          <a:xfrm flipV="1">
            <a:off x="2933423" y="2804564"/>
            <a:ext cx="2083443" cy="1932972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4EE4C8F-D1C6-2245-8148-0A228B038E15}"/>
              </a:ext>
            </a:extLst>
          </p:cNvPr>
          <p:cNvCxnSpPr>
            <a:cxnSpLocks/>
          </p:cNvCxnSpPr>
          <p:nvPr/>
        </p:nvCxnSpPr>
        <p:spPr>
          <a:xfrm flipV="1">
            <a:off x="4241361" y="3897409"/>
            <a:ext cx="3090440" cy="144201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D7A50E3-0D63-AD44-8E24-E935E3244695}"/>
              </a:ext>
            </a:extLst>
          </p:cNvPr>
          <p:cNvCxnSpPr>
            <a:cxnSpLocks/>
          </p:cNvCxnSpPr>
          <p:nvPr/>
        </p:nvCxnSpPr>
        <p:spPr>
          <a:xfrm>
            <a:off x="3188065" y="3644696"/>
            <a:ext cx="3738622" cy="1374972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7" name="Picture 26">
            <a:extLst>
              <a:ext uri="{FF2B5EF4-FFF2-40B4-BE49-F238E27FC236}">
                <a16:creationId xmlns:a16="http://schemas.microsoft.com/office/drawing/2014/main" id="{235E6D2F-FCE8-A148-8AF3-0AE1863AA3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4525" y="2398164"/>
            <a:ext cx="342900" cy="4064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52B5C18A-8025-FD46-A3B6-591418D372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5726" y="3541573"/>
            <a:ext cx="355600" cy="4064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B7E32867-DC95-AD4E-A284-DBE5AFFEA1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22506" y="3251319"/>
            <a:ext cx="355600" cy="406400"/>
          </a:xfrm>
          <a:prstGeom prst="rect">
            <a:avLst/>
          </a:prstGeom>
        </p:spPr>
      </p:pic>
      <p:sp>
        <p:nvSpPr>
          <p:cNvPr id="30" name="Oval 29">
            <a:extLst>
              <a:ext uri="{FF2B5EF4-FFF2-40B4-BE49-F238E27FC236}">
                <a16:creationId xmlns:a16="http://schemas.microsoft.com/office/drawing/2014/main" id="{9E9D4E5A-D770-DB4E-8CE8-6FB0F0A4B08A}"/>
              </a:ext>
            </a:extLst>
          </p:cNvPr>
          <p:cNvSpPr/>
          <p:nvPr/>
        </p:nvSpPr>
        <p:spPr>
          <a:xfrm>
            <a:off x="3785931" y="3833010"/>
            <a:ext cx="108000" cy="108000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C436931C-D3D2-EA43-B8CA-32F5E83A2D89}"/>
              </a:ext>
            </a:extLst>
          </p:cNvPr>
          <p:cNvSpPr/>
          <p:nvPr/>
        </p:nvSpPr>
        <p:spPr>
          <a:xfrm>
            <a:off x="5754197" y="4550495"/>
            <a:ext cx="108000" cy="10800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977A1EE-9C5B-1048-A4D5-9CA0423FD4C9}"/>
              </a:ext>
            </a:extLst>
          </p:cNvPr>
          <p:cNvSpPr txBox="1"/>
          <p:nvPr/>
        </p:nvSpPr>
        <p:spPr>
          <a:xfrm>
            <a:off x="1848805" y="1048152"/>
            <a:ext cx="6981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>
                <a:latin typeface="Trebuchet MS" panose="020B0703020202090204" pitchFamily="34" charset="0"/>
              </a:rPr>
              <a:t>Encuentre la distancia entre los puntos que intersectan las rectas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57E997D6-CC1E-8849-A061-6CB38B1A4242}"/>
              </a:ext>
            </a:extLst>
          </p:cNvPr>
          <p:cNvGrpSpPr/>
          <p:nvPr/>
        </p:nvGrpSpPr>
        <p:grpSpPr>
          <a:xfrm>
            <a:off x="3505563" y="2114317"/>
            <a:ext cx="7163606" cy="2039118"/>
            <a:chOff x="1981563" y="2114317"/>
            <a:chExt cx="7163606" cy="2039118"/>
          </a:xfrm>
        </p:grpSpPr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F46862D4-DC23-DE4B-8D0E-18A4515D57F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934729" y="2114317"/>
              <a:ext cx="2540000" cy="406400"/>
            </a:xfrm>
            <a:prstGeom prst="rect">
              <a:avLst/>
            </a:prstGeom>
          </p:spPr>
        </p:pic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EB916FC4-BBE5-5642-B5E2-08E78222DDF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981563" y="3324945"/>
              <a:ext cx="571500" cy="292100"/>
            </a:xfrm>
            <a:prstGeom prst="rect">
              <a:avLst/>
            </a:prstGeom>
          </p:spPr>
        </p:pic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3BB03D5A-6718-E741-B5F1-2D35C263594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944769" y="2804564"/>
              <a:ext cx="3200400" cy="469900"/>
            </a:xfrm>
            <a:prstGeom prst="rect">
              <a:avLst/>
            </a:prstGeom>
          </p:spPr>
        </p:pic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DB80070C-068C-A745-8376-379486F7A70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053403" y="3336111"/>
              <a:ext cx="2666518" cy="817324"/>
            </a:xfrm>
            <a:prstGeom prst="rect">
              <a:avLst/>
            </a:prstGeom>
          </p:spPr>
        </p:pic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0FB685AC-8BFD-4847-B869-788A1C8F0E0C}"/>
              </a:ext>
            </a:extLst>
          </p:cNvPr>
          <p:cNvGrpSpPr/>
          <p:nvPr/>
        </p:nvGrpSpPr>
        <p:grpSpPr>
          <a:xfrm>
            <a:off x="5631657" y="4365966"/>
            <a:ext cx="5037513" cy="2275674"/>
            <a:chOff x="4107656" y="4365966"/>
            <a:chExt cx="5037513" cy="2275674"/>
          </a:xfrm>
        </p:grpSpPr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E4481034-7415-BE40-BB76-3717B533889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996752" y="4365966"/>
              <a:ext cx="2540000" cy="406400"/>
            </a:xfrm>
            <a:prstGeom prst="rect">
              <a:avLst/>
            </a:prstGeom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522CB46D-FFF3-2A45-99AB-81B5EB2E8BF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107656" y="4896718"/>
              <a:ext cx="584200" cy="292100"/>
            </a:xfrm>
            <a:prstGeom prst="rect">
              <a:avLst/>
            </a:prstGeom>
          </p:spPr>
        </p:pic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CAD66547-5BB1-4F49-8678-98A7C465FD4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053403" y="5863100"/>
              <a:ext cx="2539988" cy="778540"/>
            </a:xfrm>
            <a:prstGeom prst="rect">
              <a:avLst/>
            </a:prstGeom>
          </p:spPr>
        </p:pic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81E76568-39F6-4047-940D-A405C29E217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5944769" y="5186099"/>
              <a:ext cx="3200400" cy="469900"/>
            </a:xfrm>
            <a:prstGeom prst="rect">
              <a:avLst/>
            </a:prstGeom>
          </p:spPr>
        </p:pic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3A10F687-5CAB-7343-9B26-DA63AA4EE959}"/>
              </a:ext>
            </a:extLst>
          </p:cNvPr>
          <p:cNvGrpSpPr/>
          <p:nvPr/>
        </p:nvGrpSpPr>
        <p:grpSpPr>
          <a:xfrm>
            <a:off x="2628162" y="3782874"/>
            <a:ext cx="3967564" cy="2806839"/>
            <a:chOff x="1104162" y="3782873"/>
            <a:chExt cx="3967564" cy="2806839"/>
          </a:xfrm>
        </p:grpSpPr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0CA065F0-4E0F-114D-BC9A-365FB6F718E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104162" y="6203261"/>
              <a:ext cx="3967564" cy="386451"/>
            </a:xfrm>
            <a:prstGeom prst="rect">
              <a:avLst/>
            </a:prstGeom>
          </p:spPr>
        </p:pic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2FF59A73-DDBD-2746-B2F4-D508B0C972BC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3437980" y="3782873"/>
              <a:ext cx="228600" cy="330200"/>
            </a:xfrm>
            <a:prstGeom prst="rect">
              <a:avLst/>
            </a:prstGeom>
          </p:spPr>
        </p:pic>
      </p:grpSp>
      <p:pic>
        <p:nvPicPr>
          <p:cNvPr id="46" name="Picture 45">
            <a:extLst>
              <a:ext uri="{FF2B5EF4-FFF2-40B4-BE49-F238E27FC236}">
                <a16:creationId xmlns:a16="http://schemas.microsoft.com/office/drawing/2014/main" id="{895961C3-F927-8E48-B84B-D943B23D80A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06037" y="5809848"/>
            <a:ext cx="241300" cy="2159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A24F7973-D41A-1648-81A3-926C1F83D0F6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412262" y="1691802"/>
            <a:ext cx="215900" cy="3048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DE7D6F-85D2-7509-20A0-996BE433F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CV02A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7F94A01-F068-7834-884F-6A4F5AF38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26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89207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994</TotalTime>
  <Words>880</Words>
  <Application>Microsoft Macintosh PowerPoint</Application>
  <PresentationFormat>Widescreen</PresentationFormat>
  <Paragraphs>222</Paragraphs>
  <Slides>26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6" baseType="lpstr">
      <vt:lpstr>Brush Script MT</vt:lpstr>
      <vt:lpstr>Aptos</vt:lpstr>
      <vt:lpstr>Aptos Display</vt:lpstr>
      <vt:lpstr>Arial</vt:lpstr>
      <vt:lpstr>Gill Sans MT</vt:lpstr>
      <vt:lpstr>Times</vt:lpstr>
      <vt:lpstr>Trebuchet MS</vt:lpstr>
      <vt:lpstr>Wingdings</vt:lpstr>
      <vt:lpstr>Xingkai SC Light</vt:lpstr>
      <vt:lpstr>Office Theme</vt:lpstr>
      <vt:lpstr>PowerPoint Presentation</vt:lpstr>
      <vt:lpstr>Puntos</vt:lpstr>
      <vt:lpstr>PowerPoint Presentation</vt:lpstr>
      <vt:lpstr>Líneas</vt:lpstr>
      <vt:lpstr>PowerPoint Presentation</vt:lpstr>
      <vt:lpstr>PowerPoint Presentation</vt:lpstr>
      <vt:lpstr>PowerPoint Presentation</vt:lpstr>
      <vt:lpstr>Producto Punto</vt:lpstr>
      <vt:lpstr>PowerPoint Presentation</vt:lpstr>
      <vt:lpstr>PowerPoint Presentation</vt:lpstr>
      <vt:lpstr>Producto Cruz</vt:lpstr>
      <vt:lpstr>PowerPoint Presentation</vt:lpstr>
      <vt:lpstr>PowerPoint Presentation</vt:lpstr>
      <vt:lpstr>PowerPoint Presentation</vt:lpstr>
      <vt:lpstr>Intersección de dos líneas</vt:lpstr>
      <vt:lpstr>PowerPoint Presentation</vt:lpstr>
      <vt:lpstr>PowerPoint Presentation</vt:lpstr>
      <vt:lpstr>Línea que contiene dos puntos</vt:lpstr>
      <vt:lpstr>PowerPoint Presentation</vt:lpstr>
      <vt:lpstr>PowerPoint Presentation</vt:lpstr>
      <vt:lpstr>Coordenas Homogéneas</vt:lpstr>
      <vt:lpstr>PowerPoint Presentation</vt:lpstr>
      <vt:lpstr>Ejercicios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Domingo Mery</dc:creator>
  <cp:lastModifiedBy>Domingo Mery</cp:lastModifiedBy>
  <cp:revision>20</cp:revision>
  <dcterms:created xsi:type="dcterms:W3CDTF">2026-03-08T16:41:49Z</dcterms:created>
  <dcterms:modified xsi:type="dcterms:W3CDTF">2026-08-08T13:49:28Z</dcterms:modified>
</cp:coreProperties>
</file>