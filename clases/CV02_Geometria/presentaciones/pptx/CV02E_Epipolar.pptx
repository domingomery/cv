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7" r:id="rId2"/>
    <p:sldId id="301" r:id="rId3"/>
    <p:sldId id="258" r:id="rId4"/>
    <p:sldId id="259" r:id="rId5"/>
    <p:sldId id="261" r:id="rId6"/>
    <p:sldId id="273" r:id="rId7"/>
    <p:sldId id="264" r:id="rId8"/>
    <p:sldId id="276" r:id="rId9"/>
    <p:sldId id="268" r:id="rId10"/>
    <p:sldId id="269" r:id="rId11"/>
    <p:sldId id="270" r:id="rId12"/>
    <p:sldId id="271" r:id="rId13"/>
    <p:sldId id="272" r:id="rId14"/>
    <p:sldId id="274" r:id="rId15"/>
    <p:sldId id="266" r:id="rId16"/>
    <p:sldId id="267" r:id="rId17"/>
  </p:sldIdLst>
  <p:sldSz cx="12192000" cy="6858000"/>
  <p:notesSz cx="6858000" cy="9144000"/>
  <p:defaultTextStyle>
    <a:defPPr>
      <a:defRPr lang="en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DFF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188"/>
    <p:restoredTop sz="94658"/>
  </p:normalViewPr>
  <p:slideViewPr>
    <p:cSldViewPr snapToGrid="0">
      <p:cViewPr varScale="1">
        <p:scale>
          <a:sx n="120" d="100"/>
          <a:sy n="120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1249748F-0FE7-C64C-B0B9-9306A54D4824}" type="datetimeFigureOut">
              <a:rPr lang="en-CL" smtClean="0"/>
              <a:pPr/>
              <a:t>16-08-26</a:t>
            </a:fld>
            <a:endParaRPr lang="en-C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ill Sans MT" panose="020B0502020104020203" pitchFamily="34" charset="77"/>
              </a:defRPr>
            </a:lvl1pPr>
          </a:lstStyle>
          <a:p>
            <a:fld id="{8C36E6B2-EC45-1147-8496-DFA2586CC8C4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303457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Gill Sans MT" panose="020B0502020104020203" pitchFamily="34" charset="77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B8DC0-3787-B971-5D00-8727CB18CC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4A3FB4-AFDF-6CFB-84FB-E0438C517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1BE-7742-8427-323B-6746C9276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7082A-B0F6-05B3-4148-6F125B3BE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5BB3A-30A8-1717-EEEF-CCDD19DE1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0187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E5084-85EB-0ADC-D7F0-0DA592CE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50CEA-EC43-5349-1EBB-8F562F4E7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EC922-A7D2-9731-7041-D7AC6FB83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AEC05-6729-F167-4DA1-FB23E0490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505FA-C70E-C130-A20D-DB301157A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78850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F4697-BA84-150B-4C2D-F84713796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49B2F4-202A-2BB1-535C-1A428E58F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EE603-A515-38A5-01CB-993F9D3E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D1643-6231-F3E2-610F-D775A2BB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7DCF5-082A-FB09-50BE-837F0ACE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326779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9F8F-3D31-5054-B98B-32951A347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103B9-D8C0-4B32-EE45-9BD12EF747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2F047-75A3-523A-D879-40B2EDA8D1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9FB8B8-5B4E-1775-617E-5E75D094A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B9D2B7-35C0-0726-D40B-546E245F6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10F33-EF19-5FAC-1C0C-CC049E95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65026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880C-73E3-54CD-F870-565E8A1B1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35B4E4-4FDE-76FD-67FE-AC9066C11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05A7-4548-3D67-22C7-AE2D1FA32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3D907-7359-B8EC-9C20-35EBC1A8C6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E90DD8-E513-9D1B-B62B-8CD564AF8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7A1F58-D509-1FFB-BFE0-0B0A48435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A7296-B85D-0D25-EB6E-7FAF5D12D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31504A-0C9E-5FD4-88B8-34EEA6574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400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30F-82FE-3339-6D9E-1DCC65EE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1259F5-F978-F338-03E4-3952DD8E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FFF779-7E7D-359E-E5CD-14EA90664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397C7-7E22-651A-C048-37C544FF4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275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637C7D-F2B3-C204-E8FB-4C5FB6A76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EFEE0D-AE5F-8253-4CF5-C157DB29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87494-01E2-375D-3A6E-278594CEB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1766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2A152-0160-E38E-9640-CE00E472C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EA249-D00C-C8BF-F952-C8F00CAC9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8AD5D-DACB-DF63-8FE5-FD4EB5F1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FD239-CEB5-6239-AE07-3B04DD52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E91D8-CA73-7BEA-3043-ED8929AA7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F3F48-2CE1-5E7C-C6F3-86C5FE51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704266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82A3-0F8B-CC16-20BE-CAA209EB5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53BF4D-06F1-F555-7BCE-8DDE12ECAC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8D79A-13B1-0A13-045B-552423534D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F8041-19BA-61C7-2614-452EAEA62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DC1A-06C5-55BB-AD73-4558907A0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A2152-78EF-2AC4-BAFC-1632F3A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4033367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E0AD8-C101-EB20-BB37-5C26D22B6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D8A52-99B4-C6B9-B1AB-C4AEFAF4B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50266-8A1C-5C52-C130-674316BD0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8F916-6B33-A387-4535-E912E9B6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0DE79-9DC5-1075-5BCE-A06034D3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117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487A33-D0CF-C093-B49B-3DC54A000A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567E-C21C-371B-9E0F-758B9066F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ED834-5694-C52C-4AFB-CC7182B18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84DEE-BCC0-3112-ED29-8778C02F0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55837-C56A-6554-DF4C-C991A899F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‹#›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05057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788CC3-6112-0648-6A8C-40A7C6624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C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AA52D-33E4-8E14-0BD4-6371720A8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AD87-BD69-6E51-34E6-999EF8327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r>
              <a:rPr lang="en-US"/>
              <a:t>(c) D.Mery - CV02E</a:t>
            </a:r>
            <a:endParaRPr lang="en-C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F1805-E127-5436-F4BD-B493F4465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endParaRPr lang="en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709C2-DDB7-3E94-C59E-462FCDB337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Gill Sans MT" panose="020B0502020104020203" pitchFamily="34" charset="77"/>
              </a:defRPr>
            </a:lvl1pPr>
          </a:lstStyle>
          <a:p>
            <a:fld id="{006AE8E3-C79C-E14F-9140-34B0C7F543F1}" type="slidenum">
              <a:rPr lang="en-CL" smtClean="0"/>
              <a:pPr/>
              <a:t>‹#›</a:t>
            </a:fld>
            <a:endParaRPr lang="en-CL" dirty="0"/>
          </a:p>
        </p:txBody>
      </p:sp>
    </p:spTree>
    <p:extLst>
      <p:ext uri="{BB962C8B-B14F-4D97-AF65-F5344CB8AC3E}">
        <p14:creationId xmlns:p14="http://schemas.microsoft.com/office/powerpoint/2010/main" val="4248052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Gill Sans MT" panose="020B050202010402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domingomery.ing.uc.cl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emf"/><Relationship Id="rId5" Type="http://schemas.openxmlformats.org/officeDocument/2006/relationships/image" Target="../media/image12.emf"/><Relationship Id="rId4" Type="http://schemas.openxmlformats.org/officeDocument/2006/relationships/image" Target="../media/image11.emf"/><Relationship Id="rId9" Type="http://schemas.openxmlformats.org/officeDocument/2006/relationships/image" Target="../media/image16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3" Type="http://schemas.openxmlformats.org/officeDocument/2006/relationships/image" Target="../media/image16.emf"/><Relationship Id="rId7" Type="http://schemas.openxmlformats.org/officeDocument/2006/relationships/image" Target="../media/image24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emf"/><Relationship Id="rId5" Type="http://schemas.openxmlformats.org/officeDocument/2006/relationships/image" Target="../media/image22.emf"/><Relationship Id="rId4" Type="http://schemas.openxmlformats.org/officeDocument/2006/relationships/image" Target="../media/image21.emf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3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emf"/><Relationship Id="rId5" Type="http://schemas.openxmlformats.org/officeDocument/2006/relationships/image" Target="../media/image16.emf"/><Relationship Id="rId4" Type="http://schemas.openxmlformats.org/officeDocument/2006/relationships/image" Target="../media/image2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emf"/><Relationship Id="rId3" Type="http://schemas.openxmlformats.org/officeDocument/2006/relationships/image" Target="../media/image35.emf"/><Relationship Id="rId7" Type="http://schemas.openxmlformats.org/officeDocument/2006/relationships/image" Target="../media/image39.emf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emf"/><Relationship Id="rId5" Type="http://schemas.openxmlformats.org/officeDocument/2006/relationships/image" Target="../media/image37.png"/><Relationship Id="rId4" Type="http://schemas.openxmlformats.org/officeDocument/2006/relationships/image" Target="../media/image36.emf"/><Relationship Id="rId9" Type="http://schemas.openxmlformats.org/officeDocument/2006/relationships/image" Target="../media/image4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A2C7284-77CC-FC88-ACE0-20E53773C64D}"/>
              </a:ext>
            </a:extLst>
          </p:cNvPr>
          <p:cNvSpPr/>
          <p:nvPr/>
        </p:nvSpPr>
        <p:spPr>
          <a:xfrm>
            <a:off x="925897" y="683627"/>
            <a:ext cx="10340205" cy="84741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 dirty="0">
              <a:latin typeface="Gill Sans MT" panose="020B0502020104020203" pitchFamily="34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76E2BE-1E76-0F44-8020-A654157CDF76}"/>
              </a:ext>
            </a:extLst>
          </p:cNvPr>
          <p:cNvSpPr txBox="1"/>
          <p:nvPr/>
        </p:nvSpPr>
        <p:spPr>
          <a:xfrm>
            <a:off x="925898" y="3991689"/>
            <a:ext cx="378392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600" noProof="1">
                <a:solidFill>
                  <a:srgbClr val="0041A1"/>
                </a:solidFill>
                <a:latin typeface="Gill Sans MT" panose="020B0502020104020203" pitchFamily="34" charset="77"/>
              </a:rPr>
              <a:t>Domingo Mery</a:t>
            </a:r>
          </a:p>
          <a:p>
            <a:endParaRPr lang="es-ES_tradnl" sz="2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Ciencia de la Computación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Universidad Católica – Chile</a:t>
            </a:r>
          </a:p>
          <a:p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  <a:hlinkClick r:id="rId2"/>
              </a:rPr>
              <a:t>http://domingomery.ing.uc.cl</a:t>
            </a:r>
            <a:r>
              <a:rPr lang="es-ES_tradnl" sz="2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0B8274-BF81-6D48-B1EC-87E4CF24BC51}"/>
              </a:ext>
            </a:extLst>
          </p:cNvPr>
          <p:cNvSpPr txBox="1"/>
          <p:nvPr/>
        </p:nvSpPr>
        <p:spPr>
          <a:xfrm>
            <a:off x="925898" y="546159"/>
            <a:ext cx="5670142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solidFill>
                  <a:schemeClr val="accent2"/>
                </a:solidFill>
                <a:latin typeface="Gill Sans MT" panose="020B0502020104020203" pitchFamily="34" charset="77"/>
              </a:rPr>
              <a:t>Visión por Computador</a:t>
            </a:r>
          </a:p>
          <a:p>
            <a:r>
              <a:rPr lang="es-ES_tradnl" sz="1400" noProof="1">
                <a:solidFill>
                  <a:schemeClr val="accent1">
                    <a:lumMod val="60000"/>
                    <a:lumOff val="40000"/>
                  </a:schemeClr>
                </a:solidFill>
                <a:latin typeface="Gill Sans MT" panose="020B0502020104020203" pitchFamily="34" charset="77"/>
              </a:rPr>
              <a:t>Versión 2026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F84582F-25ED-D64F-A141-4702851F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2889" y="4153426"/>
            <a:ext cx="671000" cy="396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09BC001-F490-B55D-4087-04CD68E211CA}"/>
              </a:ext>
            </a:extLst>
          </p:cNvPr>
          <p:cNvSpPr txBox="1"/>
          <p:nvPr/>
        </p:nvSpPr>
        <p:spPr>
          <a:xfrm>
            <a:off x="925898" y="2363235"/>
            <a:ext cx="4689104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noProof="1">
                <a:latin typeface="Gill Sans MT" panose="020B0502020104020203" pitchFamily="34" charset="77"/>
              </a:rPr>
              <a:t>Geometría Epipolar</a:t>
            </a:r>
            <a:endParaRPr lang="es-ES_tradnl" sz="1400" noProof="1">
              <a:latin typeface="Gill Sans MT" panose="020B0502020104020203" pitchFamily="34" charset="77"/>
            </a:endParaRPr>
          </a:p>
          <a:p>
            <a:r>
              <a:rPr lang="es-ES_tradnl" sz="1400" noProof="1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77"/>
              </a:rPr>
              <a:t>(CAPÍTULO 2 – CV02E)</a:t>
            </a:r>
            <a:endParaRPr lang="es-ES_tradnl" sz="4400" noProof="1">
              <a:solidFill>
                <a:schemeClr val="bg1">
                  <a:lumMod val="50000"/>
                </a:schemeClr>
              </a:solidFill>
              <a:latin typeface="Gill Sans MT" panose="020B0502020104020203" pitchFamily="34" charset="77"/>
            </a:endParaRPr>
          </a:p>
        </p:txBody>
      </p:sp>
      <p:pic>
        <p:nvPicPr>
          <p:cNvPr id="4" name="Picture 3" descr="Screen Shot 2014-07-28 at 3.30.32 PM.png">
            <a:extLst>
              <a:ext uri="{FF2B5EF4-FFF2-40B4-BE49-F238E27FC236}">
                <a16:creationId xmlns:a16="http://schemas.microsoft.com/office/drawing/2014/main" id="{F713277D-8D19-F8E9-D0C7-160CDCD11B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7883" y="683626"/>
            <a:ext cx="2688219" cy="84741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7C2C46-FB77-25C3-BA3D-A0231C48A0BC}"/>
              </a:ext>
            </a:extLst>
          </p:cNvPr>
          <p:cNvSpPr/>
          <p:nvPr/>
        </p:nvSpPr>
        <p:spPr>
          <a:xfrm>
            <a:off x="8532327" y="889536"/>
            <a:ext cx="94889" cy="94882"/>
          </a:xfrm>
          <a:prstGeom prst="rect">
            <a:avLst/>
          </a:prstGeom>
          <a:solidFill>
            <a:srgbClr val="FF00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821CF4-4421-1287-4A0F-68915CE9BDF0}"/>
              </a:ext>
            </a:extLst>
          </p:cNvPr>
          <p:cNvSpPr/>
          <p:nvPr/>
        </p:nvSpPr>
        <p:spPr>
          <a:xfrm>
            <a:off x="9457147" y="1041936"/>
            <a:ext cx="94889" cy="94882"/>
          </a:xfrm>
          <a:prstGeom prst="rect">
            <a:avLst/>
          </a:prstGeom>
          <a:solidFill>
            <a:srgbClr val="FFD3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697AF8-DB10-A907-E9A0-11DBFF2F41AD}"/>
              </a:ext>
            </a:extLst>
          </p:cNvPr>
          <p:cNvSpPr/>
          <p:nvPr/>
        </p:nvSpPr>
        <p:spPr>
          <a:xfrm>
            <a:off x="8450280" y="1194336"/>
            <a:ext cx="94889" cy="94882"/>
          </a:xfrm>
          <a:prstGeom prst="rect">
            <a:avLst/>
          </a:prstGeom>
          <a:solidFill>
            <a:srgbClr val="3366FF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33E66E-94EA-0AAE-A7DB-7F462B910E03}"/>
              </a:ext>
            </a:extLst>
          </p:cNvPr>
          <p:cNvSpPr/>
          <p:nvPr/>
        </p:nvSpPr>
        <p:spPr>
          <a:xfrm>
            <a:off x="9200620" y="814788"/>
            <a:ext cx="94889" cy="94882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468F98-E38C-0CEE-B1A7-0C8769B40381}"/>
              </a:ext>
            </a:extLst>
          </p:cNvPr>
          <p:cNvSpPr/>
          <p:nvPr/>
        </p:nvSpPr>
        <p:spPr>
          <a:xfrm>
            <a:off x="9043304" y="1325718"/>
            <a:ext cx="94889" cy="94882"/>
          </a:xfrm>
          <a:prstGeom prst="rect">
            <a:avLst/>
          </a:prstGeom>
          <a:solidFill>
            <a:srgbClr val="00FF00">
              <a:alpha val="7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562CE25-1E0E-B848-34C1-C8C61BBCC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DEE84B31-5B77-D43C-96E3-64EF8FD5C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</a:t>
            </a:fld>
            <a:endParaRPr lang="en-C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1AA072-6BFE-FA83-A473-16C7D468C5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7402" y="2444749"/>
            <a:ext cx="4838700" cy="39116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51F459-3752-A6A3-672E-FB9E629B4645}"/>
              </a:ext>
            </a:extLst>
          </p:cNvPr>
          <p:cNvSpPr/>
          <p:nvPr/>
        </p:nvSpPr>
        <p:spPr>
          <a:xfrm>
            <a:off x="10541591" y="5703736"/>
            <a:ext cx="593024" cy="545068"/>
          </a:xfrm>
          <a:prstGeom prst="rect">
            <a:avLst/>
          </a:prstGeom>
          <a:solidFill>
            <a:srgbClr val="CDE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424940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Text Box 10"/>
          <p:cNvSpPr txBox="1">
            <a:spLocks noChangeArrowheads="1"/>
          </p:cNvSpPr>
          <p:nvPr/>
        </p:nvSpPr>
        <p:spPr bwMode="auto">
          <a:xfrm>
            <a:off x="1700213" y="303212"/>
            <a:ext cx="838835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Correspondence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in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two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images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:</a:t>
            </a:r>
          </a:p>
          <a:p>
            <a:endParaRPr lang="es-ES" sz="2400" dirty="0">
              <a:solidFill>
                <a:schemeClr val="tx2">
                  <a:lumMod val="50000"/>
                </a:schemeClr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Two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points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are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corresponding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points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if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they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are 2D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projections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of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the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same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 3D </a:t>
            </a:r>
            <a:r>
              <a:rPr lang="es-ES" sz="2400" dirty="0" err="1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point</a:t>
            </a:r>
            <a:r>
              <a:rPr lang="es-ES" sz="2400" dirty="0">
                <a:solidFill>
                  <a:schemeClr val="tx2">
                    <a:lumMod val="50000"/>
                  </a:schemeClr>
                </a:solidFill>
                <a:latin typeface="Gill Sans MT" panose="020B0502020104020203" pitchFamily="34" charset="77"/>
                <a:cs typeface="Trebuchet MS"/>
              </a:rPr>
              <a:t>.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3455988" y="2990850"/>
            <a:ext cx="5676900" cy="2452688"/>
            <a:chOff x="1217" y="1884"/>
            <a:chExt cx="3576" cy="1545"/>
          </a:xfrm>
        </p:grpSpPr>
        <p:pic>
          <p:nvPicPr>
            <p:cNvPr id="2065" name="Picture 12" descr="herveleft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17" y="1893"/>
              <a:ext cx="1536" cy="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066" name="Picture 13" descr="herveright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57" y="1884"/>
              <a:ext cx="1536" cy="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5203825" y="4572000"/>
            <a:ext cx="3136900" cy="744538"/>
            <a:chOff x="2318" y="2880"/>
            <a:chExt cx="1976" cy="469"/>
          </a:xfrm>
        </p:grpSpPr>
        <p:sp>
          <p:nvSpPr>
            <p:cNvPr id="2062" name="Oval 18"/>
            <p:cNvSpPr>
              <a:spLocks noChangeArrowheads="1"/>
            </p:cNvSpPr>
            <p:nvPr/>
          </p:nvSpPr>
          <p:spPr bwMode="auto">
            <a:xfrm>
              <a:off x="2318" y="2880"/>
              <a:ext cx="32" cy="34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3" name="Oval 19"/>
            <p:cNvSpPr>
              <a:spLocks noChangeArrowheads="1"/>
            </p:cNvSpPr>
            <p:nvPr/>
          </p:nvSpPr>
          <p:spPr bwMode="auto">
            <a:xfrm>
              <a:off x="4262" y="3024"/>
              <a:ext cx="32" cy="34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4" name="Freeform 22"/>
            <p:cNvSpPr>
              <a:spLocks/>
            </p:cNvSpPr>
            <p:nvPr/>
          </p:nvSpPr>
          <p:spPr bwMode="auto">
            <a:xfrm>
              <a:off x="2382" y="2964"/>
              <a:ext cx="1824" cy="385"/>
            </a:xfrm>
            <a:custGeom>
              <a:avLst/>
              <a:gdLst>
                <a:gd name="T0" fmla="*/ 0 w 1872"/>
                <a:gd name="T1" fmla="*/ 0 h 385"/>
                <a:gd name="T2" fmla="*/ 666 w 1872"/>
                <a:gd name="T3" fmla="*/ 366 h 385"/>
                <a:gd name="T4" fmla="*/ 1872 w 1872"/>
                <a:gd name="T5" fmla="*/ 114 h 385"/>
                <a:gd name="T6" fmla="*/ 0 60000 65536"/>
                <a:gd name="T7" fmla="*/ 0 60000 65536"/>
                <a:gd name="T8" fmla="*/ 0 60000 65536"/>
                <a:gd name="T9" fmla="*/ 0 w 1872"/>
                <a:gd name="T10" fmla="*/ 0 h 385"/>
                <a:gd name="T11" fmla="*/ 1872 w 1872"/>
                <a:gd name="T12" fmla="*/ 385 h 3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5">
                  <a:moveTo>
                    <a:pt x="0" y="0"/>
                  </a:moveTo>
                  <a:cubicBezTo>
                    <a:pt x="177" y="173"/>
                    <a:pt x="354" y="347"/>
                    <a:pt x="666" y="366"/>
                  </a:cubicBezTo>
                  <a:cubicBezTo>
                    <a:pt x="978" y="385"/>
                    <a:pt x="1425" y="249"/>
                    <a:pt x="1872" y="114"/>
                  </a:cubicBez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203825" y="3495676"/>
            <a:ext cx="3194050" cy="701675"/>
            <a:chOff x="2318" y="2202"/>
            <a:chExt cx="2012" cy="442"/>
          </a:xfrm>
        </p:grpSpPr>
        <p:sp>
          <p:nvSpPr>
            <p:cNvPr id="2059" name="Oval 20"/>
            <p:cNvSpPr>
              <a:spLocks noChangeArrowheads="1"/>
            </p:cNvSpPr>
            <p:nvPr/>
          </p:nvSpPr>
          <p:spPr bwMode="auto">
            <a:xfrm>
              <a:off x="2318" y="2484"/>
              <a:ext cx="32" cy="34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0" name="Oval 21"/>
            <p:cNvSpPr>
              <a:spLocks noChangeArrowheads="1"/>
            </p:cNvSpPr>
            <p:nvPr/>
          </p:nvSpPr>
          <p:spPr bwMode="auto">
            <a:xfrm>
              <a:off x="4298" y="2610"/>
              <a:ext cx="32" cy="34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2061" name="Freeform 23"/>
            <p:cNvSpPr>
              <a:spLocks/>
            </p:cNvSpPr>
            <p:nvPr/>
          </p:nvSpPr>
          <p:spPr bwMode="auto">
            <a:xfrm rot="10800000">
              <a:off x="2370" y="2202"/>
              <a:ext cx="1902" cy="385"/>
            </a:xfrm>
            <a:custGeom>
              <a:avLst/>
              <a:gdLst>
                <a:gd name="T0" fmla="*/ 0 w 1872"/>
                <a:gd name="T1" fmla="*/ 0 h 385"/>
                <a:gd name="T2" fmla="*/ 666 w 1872"/>
                <a:gd name="T3" fmla="*/ 366 h 385"/>
                <a:gd name="T4" fmla="*/ 1872 w 1872"/>
                <a:gd name="T5" fmla="*/ 114 h 385"/>
                <a:gd name="T6" fmla="*/ 0 60000 65536"/>
                <a:gd name="T7" fmla="*/ 0 60000 65536"/>
                <a:gd name="T8" fmla="*/ 0 60000 65536"/>
                <a:gd name="T9" fmla="*/ 0 w 1872"/>
                <a:gd name="T10" fmla="*/ 0 h 385"/>
                <a:gd name="T11" fmla="*/ 1872 w 1872"/>
                <a:gd name="T12" fmla="*/ 385 h 3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72" h="385">
                  <a:moveTo>
                    <a:pt x="0" y="0"/>
                  </a:moveTo>
                  <a:cubicBezTo>
                    <a:pt x="177" y="173"/>
                    <a:pt x="354" y="347"/>
                    <a:pt x="666" y="366"/>
                  </a:cubicBezTo>
                  <a:cubicBezTo>
                    <a:pt x="978" y="385"/>
                    <a:pt x="1425" y="249"/>
                    <a:pt x="1872" y="114"/>
                  </a:cubicBezTo>
                </a:path>
              </a:pathLst>
            </a:custGeom>
            <a:noFill/>
            <a:ln w="9525">
              <a:solidFill>
                <a:schemeClr val="folHlink"/>
              </a:solidFill>
              <a:round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9FDDF-BB41-7B56-F032-EDBEB37F1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7969D-4CA3-6AE2-FDF1-6D33882F1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2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330524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1831975" y="877888"/>
            <a:ext cx="21178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Geometry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:</a:t>
            </a:r>
          </a:p>
        </p:txBody>
      </p:sp>
      <p:sp>
        <p:nvSpPr>
          <p:cNvPr id="3080" name="Freeform 10"/>
          <p:cNvSpPr>
            <a:spLocks/>
          </p:cNvSpPr>
          <p:nvPr/>
        </p:nvSpPr>
        <p:spPr bwMode="auto">
          <a:xfrm>
            <a:off x="4495801" y="1828800"/>
            <a:ext cx="1317625" cy="1824038"/>
          </a:xfrm>
          <a:custGeom>
            <a:avLst/>
            <a:gdLst>
              <a:gd name="T0" fmla="*/ 0 w 830"/>
              <a:gd name="T1" fmla="*/ 273 h 1149"/>
              <a:gd name="T2" fmla="*/ 830 w 830"/>
              <a:gd name="T3" fmla="*/ 0 h 1149"/>
              <a:gd name="T4" fmla="*/ 830 w 830"/>
              <a:gd name="T5" fmla="*/ 869 h 1149"/>
              <a:gd name="T6" fmla="*/ 0 w 830"/>
              <a:gd name="T7" fmla="*/ 1149 h 1149"/>
              <a:gd name="T8" fmla="*/ 0 w 830"/>
              <a:gd name="T9" fmla="*/ 273 h 1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30"/>
              <a:gd name="T16" fmla="*/ 0 h 1149"/>
              <a:gd name="T17" fmla="*/ 830 w 830"/>
              <a:gd name="T18" fmla="*/ 1149 h 11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30" h="1149">
                <a:moveTo>
                  <a:pt x="0" y="273"/>
                </a:moveTo>
                <a:lnTo>
                  <a:pt x="830" y="0"/>
                </a:lnTo>
                <a:lnTo>
                  <a:pt x="830" y="869"/>
                </a:lnTo>
                <a:lnTo>
                  <a:pt x="0" y="1149"/>
                </a:lnTo>
                <a:lnTo>
                  <a:pt x="0" y="273"/>
                </a:lnTo>
                <a:close/>
              </a:path>
            </a:pathLst>
          </a:custGeom>
          <a:solidFill>
            <a:schemeClr val="hlink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1" name="Freeform 11"/>
          <p:cNvSpPr>
            <a:spLocks/>
          </p:cNvSpPr>
          <p:nvPr/>
        </p:nvSpPr>
        <p:spPr bwMode="auto">
          <a:xfrm>
            <a:off x="6461125" y="2098676"/>
            <a:ext cx="1284288" cy="1801813"/>
          </a:xfrm>
          <a:custGeom>
            <a:avLst/>
            <a:gdLst>
              <a:gd name="T0" fmla="*/ 0 w 809"/>
              <a:gd name="T1" fmla="*/ 0 h 1135"/>
              <a:gd name="T2" fmla="*/ 809 w 809"/>
              <a:gd name="T3" fmla="*/ 276 h 1135"/>
              <a:gd name="T4" fmla="*/ 809 w 809"/>
              <a:gd name="T5" fmla="*/ 1135 h 1135"/>
              <a:gd name="T6" fmla="*/ 0 w 809"/>
              <a:gd name="T7" fmla="*/ 843 h 1135"/>
              <a:gd name="T8" fmla="*/ 0 w 809"/>
              <a:gd name="T9" fmla="*/ 0 h 1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9"/>
              <a:gd name="T16" fmla="*/ 0 h 1135"/>
              <a:gd name="T17" fmla="*/ 809 w 809"/>
              <a:gd name="T18" fmla="*/ 1135 h 1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9" h="1135">
                <a:moveTo>
                  <a:pt x="0" y="0"/>
                </a:moveTo>
                <a:lnTo>
                  <a:pt x="809" y="276"/>
                </a:lnTo>
                <a:lnTo>
                  <a:pt x="809" y="1135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460876" y="2408238"/>
            <a:ext cx="3222625" cy="2178050"/>
            <a:chOff x="1850" y="1517"/>
            <a:chExt cx="2030" cy="1372"/>
          </a:xfrm>
        </p:grpSpPr>
        <p:sp>
          <p:nvSpPr>
            <p:cNvPr id="3116" name="Line 13"/>
            <p:cNvSpPr>
              <a:spLocks noChangeShapeType="1"/>
            </p:cNvSpPr>
            <p:nvPr/>
          </p:nvSpPr>
          <p:spPr bwMode="auto">
            <a:xfrm flipV="1">
              <a:off x="1858" y="1517"/>
              <a:ext cx="1284" cy="1363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7" name="Line 14"/>
            <p:cNvSpPr>
              <a:spLocks noChangeShapeType="1"/>
            </p:cNvSpPr>
            <p:nvPr/>
          </p:nvSpPr>
          <p:spPr bwMode="auto">
            <a:xfrm flipV="1">
              <a:off x="1856" y="1608"/>
              <a:ext cx="1399" cy="1279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8" name="Line 15"/>
            <p:cNvSpPr>
              <a:spLocks noChangeShapeType="1"/>
            </p:cNvSpPr>
            <p:nvPr/>
          </p:nvSpPr>
          <p:spPr bwMode="auto">
            <a:xfrm flipV="1">
              <a:off x="1856" y="1695"/>
              <a:ext cx="1531" cy="1190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9" name="Line 16"/>
            <p:cNvSpPr>
              <a:spLocks noChangeShapeType="1"/>
            </p:cNvSpPr>
            <p:nvPr/>
          </p:nvSpPr>
          <p:spPr bwMode="auto">
            <a:xfrm flipV="1">
              <a:off x="1850" y="1781"/>
              <a:ext cx="1666" cy="1108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20" name="Line 17"/>
            <p:cNvSpPr>
              <a:spLocks noChangeShapeType="1"/>
            </p:cNvSpPr>
            <p:nvPr/>
          </p:nvSpPr>
          <p:spPr bwMode="auto">
            <a:xfrm flipV="1">
              <a:off x="1856" y="1875"/>
              <a:ext cx="1800" cy="1010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21" name="Line 18"/>
            <p:cNvSpPr>
              <a:spLocks noChangeShapeType="1"/>
            </p:cNvSpPr>
            <p:nvPr/>
          </p:nvSpPr>
          <p:spPr bwMode="auto">
            <a:xfrm flipV="1">
              <a:off x="1858" y="1957"/>
              <a:ext cx="1903" cy="928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22" name="Line 19"/>
            <p:cNvSpPr>
              <a:spLocks noChangeShapeType="1"/>
            </p:cNvSpPr>
            <p:nvPr/>
          </p:nvSpPr>
          <p:spPr bwMode="auto">
            <a:xfrm flipV="1">
              <a:off x="1853" y="2043"/>
              <a:ext cx="2027" cy="839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52276" name="Line 20"/>
          <p:cNvSpPr>
            <a:spLocks noChangeShapeType="1"/>
          </p:cNvSpPr>
          <p:nvPr/>
        </p:nvSpPr>
        <p:spPr bwMode="auto">
          <a:xfrm>
            <a:off x="5184776" y="2770188"/>
            <a:ext cx="1909763" cy="18288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52277" name="Line 21"/>
          <p:cNvSpPr>
            <a:spLocks noChangeShapeType="1"/>
          </p:cNvSpPr>
          <p:nvPr/>
        </p:nvSpPr>
        <p:spPr bwMode="auto">
          <a:xfrm>
            <a:off x="6511926" y="2411413"/>
            <a:ext cx="1192213" cy="838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5" name="Oval 22"/>
          <p:cNvSpPr>
            <a:spLocks noChangeArrowheads="1"/>
          </p:cNvSpPr>
          <p:nvPr/>
        </p:nvSpPr>
        <p:spPr bwMode="auto">
          <a:xfrm>
            <a:off x="7054851" y="4556126"/>
            <a:ext cx="74613" cy="746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6" name="Oval 23"/>
          <p:cNvSpPr>
            <a:spLocks noChangeArrowheads="1"/>
          </p:cNvSpPr>
          <p:nvPr/>
        </p:nvSpPr>
        <p:spPr bwMode="auto">
          <a:xfrm>
            <a:off x="4433888" y="4541838"/>
            <a:ext cx="74612" cy="74612"/>
          </a:xfrm>
          <a:prstGeom prst="ellipse">
            <a:avLst/>
          </a:prstGeom>
          <a:solidFill>
            <a:srgbClr val="FF99FF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7" name="Oval 24"/>
          <p:cNvSpPr>
            <a:spLocks noChangeArrowheads="1"/>
          </p:cNvSpPr>
          <p:nvPr/>
        </p:nvSpPr>
        <p:spPr bwMode="auto">
          <a:xfrm>
            <a:off x="6877051" y="2646363"/>
            <a:ext cx="74613" cy="7461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8" name="Oval 25"/>
          <p:cNvSpPr>
            <a:spLocks noChangeArrowheads="1"/>
          </p:cNvSpPr>
          <p:nvPr/>
        </p:nvSpPr>
        <p:spPr bwMode="auto">
          <a:xfrm>
            <a:off x="5132388" y="2724151"/>
            <a:ext cx="74612" cy="746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9" name="Text Box 26"/>
          <p:cNvSpPr txBox="1">
            <a:spLocks noChangeArrowheads="1"/>
          </p:cNvSpPr>
          <p:nvPr/>
        </p:nvSpPr>
        <p:spPr bwMode="auto">
          <a:xfrm rot="-1092301">
            <a:off x="3021197" y="3856753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1</a:t>
            </a:r>
            <a:endParaRPr lang="de-DE" sz="14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0" name="Text Box 27"/>
          <p:cNvSpPr txBox="1">
            <a:spLocks noChangeArrowheads="1"/>
          </p:cNvSpPr>
          <p:nvPr/>
        </p:nvSpPr>
        <p:spPr bwMode="auto">
          <a:xfrm rot="1387896">
            <a:off x="8005947" y="3913903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2</a:t>
            </a:r>
          </a:p>
        </p:txBody>
      </p:sp>
      <p:sp>
        <p:nvSpPr>
          <p:cNvPr id="3091" name="Text Box 28"/>
          <p:cNvSpPr txBox="1">
            <a:spLocks noChangeArrowheads="1"/>
          </p:cNvSpPr>
          <p:nvPr/>
        </p:nvSpPr>
        <p:spPr bwMode="auto">
          <a:xfrm>
            <a:off x="4978400" y="2432051"/>
            <a:ext cx="508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2" name="Text Box 29"/>
          <p:cNvSpPr txBox="1">
            <a:spLocks noChangeArrowheads="1"/>
          </p:cNvSpPr>
          <p:nvPr/>
        </p:nvSpPr>
        <p:spPr bwMode="auto">
          <a:xfrm>
            <a:off x="6807200" y="2357439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endParaRPr sz="1200" noProof="1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5792789" y="3184525"/>
            <a:ext cx="344487" cy="319088"/>
            <a:chOff x="2689" y="2006"/>
            <a:chExt cx="217" cy="201"/>
          </a:xfrm>
        </p:grpSpPr>
        <p:sp>
          <p:nvSpPr>
            <p:cNvPr id="3114" name="Oval 31"/>
            <p:cNvSpPr>
              <a:spLocks noChangeArrowheads="1"/>
            </p:cNvSpPr>
            <p:nvPr/>
          </p:nvSpPr>
          <p:spPr bwMode="auto">
            <a:xfrm>
              <a:off x="2734" y="2160"/>
              <a:ext cx="47" cy="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5" name="Text Box 32"/>
            <p:cNvSpPr txBox="1">
              <a:spLocks noChangeArrowheads="1"/>
            </p:cNvSpPr>
            <p:nvPr/>
          </p:nvSpPr>
          <p:spPr bwMode="auto">
            <a:xfrm>
              <a:off x="2689" y="2006"/>
              <a:ext cx="21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sz="1200" noProof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M</a:t>
              </a:r>
              <a:endParaRPr lang="de-DE" sz="12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094" name="Text Box 33"/>
          <p:cNvSpPr txBox="1">
            <a:spLocks noChangeArrowheads="1"/>
          </p:cNvSpPr>
          <p:nvPr/>
        </p:nvSpPr>
        <p:spPr bwMode="auto">
          <a:xfrm>
            <a:off x="4270375" y="4246564"/>
            <a:ext cx="3444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5" name="Text Box 34"/>
          <p:cNvSpPr txBox="1">
            <a:spLocks noChangeArrowheads="1"/>
          </p:cNvSpPr>
          <p:nvPr/>
        </p:nvSpPr>
        <p:spPr bwMode="auto">
          <a:xfrm>
            <a:off x="6953250" y="4276725"/>
            <a:ext cx="3444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5657850" y="3228975"/>
            <a:ext cx="666750" cy="642938"/>
            <a:chOff x="2606" y="2034"/>
            <a:chExt cx="420" cy="405"/>
          </a:xfrm>
        </p:grpSpPr>
        <p:grpSp>
          <p:nvGrpSpPr>
            <p:cNvPr id="6" name="Group 36"/>
            <p:cNvGrpSpPr>
              <a:grpSpLocks/>
            </p:cNvGrpSpPr>
            <p:nvPr/>
          </p:nvGrpSpPr>
          <p:grpSpPr bwMode="auto">
            <a:xfrm>
              <a:off x="2739" y="2159"/>
              <a:ext cx="47" cy="47"/>
              <a:chOff x="2352" y="3360"/>
              <a:chExt cx="96" cy="96"/>
            </a:xfrm>
          </p:grpSpPr>
          <p:sp>
            <p:nvSpPr>
              <p:cNvPr id="3110" name="Line 37"/>
              <p:cNvSpPr>
                <a:spLocks noChangeShapeType="1"/>
              </p:cNvSpPr>
              <p:nvPr/>
            </p:nvSpPr>
            <p:spPr bwMode="auto">
              <a:xfrm>
                <a:off x="2352" y="3408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  <p:sp>
            <p:nvSpPr>
              <p:cNvPr id="3111" name="Line 38"/>
              <p:cNvSpPr>
                <a:spLocks noChangeShapeType="1"/>
              </p:cNvSpPr>
              <p:nvPr/>
            </p:nvSpPr>
            <p:spPr bwMode="auto">
              <a:xfrm>
                <a:off x="2400" y="3360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  <p:sp>
            <p:nvSpPr>
              <p:cNvPr id="3112" name="Line 39"/>
              <p:cNvSpPr>
                <a:spLocks noChangeShapeType="1"/>
              </p:cNvSpPr>
              <p:nvPr/>
            </p:nvSpPr>
            <p:spPr bwMode="auto">
              <a:xfrm flipH="1">
                <a:off x="2352" y="3360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  <p:sp>
            <p:nvSpPr>
              <p:cNvPr id="3113" name="Line 40"/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</p:grpSp>
        <p:sp>
          <p:nvSpPr>
            <p:cNvPr id="3104" name="AutoShape 41"/>
            <p:cNvSpPr>
              <a:spLocks noChangeArrowheads="1"/>
            </p:cNvSpPr>
            <p:nvPr/>
          </p:nvSpPr>
          <p:spPr bwMode="auto">
            <a:xfrm>
              <a:off x="2979" y="2392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5" name="AutoShape 42"/>
            <p:cNvSpPr>
              <a:spLocks noChangeArrowheads="1"/>
            </p:cNvSpPr>
            <p:nvPr/>
          </p:nvSpPr>
          <p:spPr bwMode="auto">
            <a:xfrm>
              <a:off x="2921" y="2334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6" name="AutoShape 43"/>
            <p:cNvSpPr>
              <a:spLocks noChangeArrowheads="1"/>
            </p:cNvSpPr>
            <p:nvPr/>
          </p:nvSpPr>
          <p:spPr bwMode="auto">
            <a:xfrm>
              <a:off x="2866" y="2282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7" name="AutoShape 44"/>
            <p:cNvSpPr>
              <a:spLocks noChangeArrowheads="1"/>
            </p:cNvSpPr>
            <p:nvPr/>
          </p:nvSpPr>
          <p:spPr bwMode="auto">
            <a:xfrm>
              <a:off x="2803" y="2217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8" name="AutoShape 45"/>
            <p:cNvSpPr>
              <a:spLocks noChangeArrowheads="1"/>
            </p:cNvSpPr>
            <p:nvPr/>
          </p:nvSpPr>
          <p:spPr bwMode="auto">
            <a:xfrm>
              <a:off x="2673" y="2094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9" name="AutoShape 46"/>
            <p:cNvSpPr>
              <a:spLocks noChangeArrowheads="1"/>
            </p:cNvSpPr>
            <p:nvPr/>
          </p:nvSpPr>
          <p:spPr bwMode="auto">
            <a:xfrm>
              <a:off x="2606" y="2034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7429505" y="2901955"/>
            <a:ext cx="1327151" cy="276226"/>
            <a:chOff x="3720" y="1828"/>
            <a:chExt cx="836" cy="174"/>
          </a:xfrm>
        </p:grpSpPr>
        <p:sp>
          <p:nvSpPr>
            <p:cNvPr id="3101" name="Text Box 48"/>
            <p:cNvSpPr txBox="1">
              <a:spLocks noChangeArrowheads="1"/>
            </p:cNvSpPr>
            <p:nvPr/>
          </p:nvSpPr>
          <p:spPr bwMode="auto">
            <a:xfrm>
              <a:off x="3954" y="1828"/>
              <a:ext cx="60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de-DE" sz="1200" dirty="0" err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Epipolar</a:t>
              </a:r>
              <a:r>
                <a:rPr lang="de-DE" sz="1200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de-DE" sz="1200" dirty="0" err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line</a:t>
              </a:r>
              <a:endParaRPr lang="de-DE" sz="12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2" name="Line 49"/>
            <p:cNvSpPr>
              <a:spLocks noChangeShapeType="1"/>
            </p:cNvSpPr>
            <p:nvPr/>
          </p:nvSpPr>
          <p:spPr bwMode="auto">
            <a:xfrm>
              <a:off x="3720" y="1925"/>
              <a:ext cx="254" cy="0"/>
            </a:xfrm>
            <a:prstGeom prst="line">
              <a:avLst/>
            </a:prstGeom>
            <a:noFill/>
            <a:ln w="9525">
              <a:solidFill>
                <a:srgbClr val="4F81BD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098" name="Line 50"/>
          <p:cNvSpPr>
            <a:spLocks noChangeShapeType="1"/>
          </p:cNvSpPr>
          <p:nvPr/>
        </p:nvSpPr>
        <p:spPr bwMode="auto">
          <a:xfrm flipH="1" flipV="1">
            <a:off x="7780338" y="3841751"/>
            <a:ext cx="196850" cy="87313"/>
          </a:xfrm>
          <a:prstGeom prst="line">
            <a:avLst/>
          </a:prstGeom>
          <a:noFill/>
          <a:ln w="3175">
            <a:solidFill>
              <a:srgbClr val="4F81BD"/>
            </a:solidFill>
            <a:round/>
            <a:headEnd/>
            <a:tailEnd type="triangl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9" name="Line 51"/>
          <p:cNvSpPr>
            <a:spLocks noChangeShapeType="1"/>
          </p:cNvSpPr>
          <p:nvPr/>
        </p:nvSpPr>
        <p:spPr bwMode="auto">
          <a:xfrm flipV="1">
            <a:off x="4225926" y="3619501"/>
            <a:ext cx="238125" cy="80963"/>
          </a:xfrm>
          <a:prstGeom prst="line">
            <a:avLst/>
          </a:prstGeom>
          <a:noFill/>
          <a:ln w="3175">
            <a:solidFill>
              <a:srgbClr val="4F81BD"/>
            </a:solidFill>
            <a:round/>
            <a:headEnd/>
            <a:tailEnd type="triangl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52308" name="Text Box 52"/>
          <p:cNvSpPr txBox="1">
            <a:spLocks noChangeArrowheads="1"/>
          </p:cNvSpPr>
          <p:nvPr/>
        </p:nvSpPr>
        <p:spPr bwMode="auto">
          <a:xfrm>
            <a:off x="2159000" y="5135564"/>
            <a:ext cx="487825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Constraint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:</a:t>
            </a: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	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If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and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are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corresponding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points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	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then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lies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on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the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line of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DD70B3-687A-C5E0-64C1-DE99237F3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514756-9458-92CF-C387-34E54636C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3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20291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2276" grpId="0" animBg="1"/>
      <p:bldP spid="352277" grpId="0" animBg="1"/>
      <p:bldP spid="35230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Text Box 9"/>
          <p:cNvSpPr txBox="1">
            <a:spLocks noChangeArrowheads="1"/>
          </p:cNvSpPr>
          <p:nvPr/>
        </p:nvSpPr>
        <p:spPr bwMode="auto">
          <a:xfrm>
            <a:off x="1927225" y="1079500"/>
            <a:ext cx="838835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Correspondence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in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two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images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: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pPr lvl="1"/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		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Constraint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.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455988" y="2990850"/>
            <a:ext cx="5676900" cy="2452688"/>
            <a:chOff x="1217" y="1884"/>
            <a:chExt cx="3576" cy="1545"/>
          </a:xfrm>
        </p:grpSpPr>
        <p:pic>
          <p:nvPicPr>
            <p:cNvPr id="4115" name="Picture 11" descr="herveleft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217" y="1893"/>
              <a:ext cx="1536" cy="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16" name="Picture 12" descr="herveright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57" y="1884"/>
              <a:ext cx="1536" cy="1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4105" name="Oval 14"/>
          <p:cNvSpPr>
            <a:spLocks noChangeArrowheads="1"/>
          </p:cNvSpPr>
          <p:nvPr/>
        </p:nvSpPr>
        <p:spPr bwMode="auto">
          <a:xfrm>
            <a:off x="5203825" y="4572001"/>
            <a:ext cx="50800" cy="53975"/>
          </a:xfrm>
          <a:prstGeom prst="ellipse">
            <a:avLst/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sp>
        <p:nvSpPr>
          <p:cNvPr id="4106" name="Oval 18"/>
          <p:cNvSpPr>
            <a:spLocks noChangeArrowheads="1"/>
          </p:cNvSpPr>
          <p:nvPr/>
        </p:nvSpPr>
        <p:spPr bwMode="auto">
          <a:xfrm>
            <a:off x="5203825" y="3943351"/>
            <a:ext cx="50800" cy="53975"/>
          </a:xfrm>
          <a:prstGeom prst="ellipse">
            <a:avLst/>
          </a:prstGeom>
          <a:solidFill>
            <a:schemeClr val="folHlink"/>
          </a:solidFill>
          <a:ln w="9525">
            <a:noFill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latin typeface="Gill Sans MT" panose="020B0502020104020203" pitchFamily="34" charset="77"/>
            </a:endParaRPr>
          </a:p>
        </p:txBody>
      </p:sp>
      <p:grpSp>
        <p:nvGrpSpPr>
          <p:cNvPr id="4" name="Group 26"/>
          <p:cNvGrpSpPr>
            <a:grpSpLocks/>
          </p:cNvGrpSpPr>
          <p:nvPr/>
        </p:nvGrpSpPr>
        <p:grpSpPr bwMode="auto">
          <a:xfrm>
            <a:off x="8289925" y="4143376"/>
            <a:ext cx="107950" cy="701675"/>
            <a:chOff x="4262" y="2610"/>
            <a:chExt cx="68" cy="442"/>
          </a:xfrm>
        </p:grpSpPr>
        <p:sp>
          <p:nvSpPr>
            <p:cNvPr id="4113" name="Oval 15"/>
            <p:cNvSpPr>
              <a:spLocks noChangeArrowheads="1"/>
            </p:cNvSpPr>
            <p:nvPr/>
          </p:nvSpPr>
          <p:spPr bwMode="auto">
            <a:xfrm>
              <a:off x="4262" y="3018"/>
              <a:ext cx="32" cy="34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4114" name="Oval 19"/>
            <p:cNvSpPr>
              <a:spLocks noChangeArrowheads="1"/>
            </p:cNvSpPr>
            <p:nvPr/>
          </p:nvSpPr>
          <p:spPr bwMode="auto">
            <a:xfrm>
              <a:off x="4298" y="2610"/>
              <a:ext cx="32" cy="34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455701" name="Line 21"/>
          <p:cNvSpPr>
            <a:spLocks noChangeShapeType="1"/>
          </p:cNvSpPr>
          <p:nvPr/>
        </p:nvSpPr>
        <p:spPr bwMode="auto">
          <a:xfrm>
            <a:off x="6696075" y="3676650"/>
            <a:ext cx="3200400" cy="933450"/>
          </a:xfrm>
          <a:prstGeom prst="line">
            <a:avLst/>
          </a:prstGeom>
          <a:noFill/>
          <a:ln w="9525">
            <a:solidFill>
              <a:schemeClr val="folHlink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sp>
        <p:nvSpPr>
          <p:cNvPr id="455702" name="Line 22"/>
          <p:cNvSpPr>
            <a:spLocks noChangeShapeType="1"/>
          </p:cNvSpPr>
          <p:nvPr/>
        </p:nvSpPr>
        <p:spPr bwMode="auto">
          <a:xfrm flipV="1">
            <a:off x="6686550" y="4505325"/>
            <a:ext cx="3314700" cy="6096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s-ES_tradnl" dirty="0">
              <a:latin typeface="Gill Sans MT" panose="020B0502020104020203" pitchFamily="34" charset="77"/>
            </a:endParaRPr>
          </a:p>
        </p:txBody>
      </p: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9232904" y="4533904"/>
            <a:ext cx="919163" cy="560388"/>
            <a:chOff x="4856" y="2856"/>
            <a:chExt cx="579" cy="353"/>
          </a:xfrm>
        </p:grpSpPr>
        <p:sp>
          <p:nvSpPr>
            <p:cNvPr id="4111" name="Oval 23"/>
            <p:cNvSpPr>
              <a:spLocks noChangeArrowheads="1"/>
            </p:cNvSpPr>
            <p:nvPr/>
          </p:nvSpPr>
          <p:spPr bwMode="auto">
            <a:xfrm>
              <a:off x="5150" y="2856"/>
              <a:ext cx="32" cy="34"/>
            </a:xfrm>
            <a:prstGeom prst="ellipse">
              <a:avLst/>
            </a:prstGeom>
            <a:solidFill>
              <a:schemeClr val="folHlink"/>
            </a:solidFill>
            <a:ln w="9525">
              <a:noFill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4112" name="Text Box 24"/>
            <p:cNvSpPr txBox="1">
              <a:spLocks noChangeArrowheads="1"/>
            </p:cNvSpPr>
            <p:nvPr/>
          </p:nvSpPr>
          <p:spPr bwMode="auto">
            <a:xfrm>
              <a:off x="4856" y="2996"/>
              <a:ext cx="579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" sz="1600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EPIPOLE</a:t>
              </a: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0D268E-8D70-31A7-DDE8-5D02EFFE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7FF6F-29CD-7BBE-CE76-2D2597253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4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5140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5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55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5701" grpId="0" animBg="1"/>
      <p:bldP spid="45570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1" name="Picture 9" descr="img01a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67100" y="879475"/>
            <a:ext cx="4876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52" name="Picture 10" descr="img01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48050" y="3756025"/>
            <a:ext cx="4876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3486150" y="1860550"/>
            <a:ext cx="5791200" cy="4400550"/>
            <a:chOff x="1236" y="924"/>
            <a:chExt cx="3648" cy="2772"/>
          </a:xfrm>
        </p:grpSpPr>
        <p:sp>
          <p:nvSpPr>
            <p:cNvPr id="6169" name="Oval 12"/>
            <p:cNvSpPr>
              <a:spLocks noChangeArrowheads="1"/>
            </p:cNvSpPr>
            <p:nvPr/>
          </p:nvSpPr>
          <p:spPr bwMode="auto">
            <a:xfrm>
              <a:off x="3372" y="924"/>
              <a:ext cx="47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6170" name="Line 13"/>
            <p:cNvSpPr>
              <a:spLocks noChangeShapeType="1"/>
            </p:cNvSpPr>
            <p:nvPr/>
          </p:nvSpPr>
          <p:spPr bwMode="auto">
            <a:xfrm flipV="1">
              <a:off x="1236" y="2268"/>
              <a:ext cx="3648" cy="1428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152650" y="1231900"/>
            <a:ext cx="7239000" cy="2990850"/>
            <a:chOff x="396" y="528"/>
            <a:chExt cx="4560" cy="1884"/>
          </a:xfrm>
        </p:grpSpPr>
        <p:sp>
          <p:nvSpPr>
            <p:cNvPr id="6167" name="Oval 15"/>
            <p:cNvSpPr>
              <a:spLocks noChangeArrowheads="1"/>
            </p:cNvSpPr>
            <p:nvPr/>
          </p:nvSpPr>
          <p:spPr bwMode="auto">
            <a:xfrm>
              <a:off x="1476" y="528"/>
              <a:ext cx="47" cy="48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6168" name="Line 16"/>
            <p:cNvSpPr>
              <a:spLocks noChangeShapeType="1"/>
            </p:cNvSpPr>
            <p:nvPr/>
          </p:nvSpPr>
          <p:spPr bwMode="auto">
            <a:xfrm flipV="1">
              <a:off x="396" y="2388"/>
              <a:ext cx="4560" cy="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2400300" y="1879600"/>
            <a:ext cx="7334250" cy="3352800"/>
            <a:chOff x="552" y="936"/>
            <a:chExt cx="4620" cy="2112"/>
          </a:xfrm>
        </p:grpSpPr>
        <p:sp>
          <p:nvSpPr>
            <p:cNvPr id="6165" name="Oval 18"/>
            <p:cNvSpPr>
              <a:spLocks noChangeArrowheads="1"/>
            </p:cNvSpPr>
            <p:nvPr/>
          </p:nvSpPr>
          <p:spPr bwMode="auto">
            <a:xfrm>
              <a:off x="1788" y="936"/>
              <a:ext cx="47" cy="47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latin typeface="Gill Sans MT" panose="020B0502020104020203" pitchFamily="34" charset="77"/>
              </a:endParaRPr>
            </a:p>
          </p:txBody>
        </p:sp>
        <p:sp>
          <p:nvSpPr>
            <p:cNvPr id="6166" name="Line 19"/>
            <p:cNvSpPr>
              <a:spLocks noChangeShapeType="1"/>
            </p:cNvSpPr>
            <p:nvPr/>
          </p:nvSpPr>
          <p:spPr bwMode="auto">
            <a:xfrm flipV="1">
              <a:off x="552" y="2280"/>
              <a:ext cx="4620" cy="768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>
            <a:off x="8423280" y="4165599"/>
            <a:ext cx="871538" cy="676275"/>
            <a:chOff x="4346" y="2376"/>
            <a:chExt cx="549" cy="426"/>
          </a:xfrm>
        </p:grpSpPr>
        <p:sp>
          <p:nvSpPr>
            <p:cNvPr id="6163" name="Oval 21"/>
            <p:cNvSpPr>
              <a:spLocks noChangeArrowheads="1"/>
            </p:cNvSpPr>
            <p:nvPr/>
          </p:nvSpPr>
          <p:spPr bwMode="auto">
            <a:xfrm>
              <a:off x="4536" y="2376"/>
              <a:ext cx="47" cy="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6164" name="Text Box 22"/>
            <p:cNvSpPr txBox="1">
              <a:spLocks noChangeArrowheads="1"/>
            </p:cNvSpPr>
            <p:nvPr/>
          </p:nvSpPr>
          <p:spPr bwMode="auto">
            <a:xfrm>
              <a:off x="4346" y="2569"/>
              <a:ext cx="54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es-ES_tradnl" dirty="0" err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Epipole</a:t>
              </a:r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6157" name="Text Box 23"/>
          <p:cNvSpPr txBox="1">
            <a:spLocks noChangeArrowheads="1"/>
          </p:cNvSpPr>
          <p:nvPr/>
        </p:nvSpPr>
        <p:spPr bwMode="auto">
          <a:xfrm>
            <a:off x="8347076" y="2947988"/>
            <a:ext cx="9172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_tradnl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</a:t>
            </a:r>
            <a:r>
              <a: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1</a:t>
            </a:r>
          </a:p>
        </p:txBody>
      </p:sp>
      <p:sp>
        <p:nvSpPr>
          <p:cNvPr id="6158" name="Text Box 24"/>
          <p:cNvSpPr txBox="1">
            <a:spLocks noChangeArrowheads="1"/>
          </p:cNvSpPr>
          <p:nvPr/>
        </p:nvSpPr>
        <p:spPr bwMode="auto">
          <a:xfrm>
            <a:off x="8347076" y="5786438"/>
            <a:ext cx="91723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_tradnl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</a:t>
            </a:r>
            <a:r>
              <a: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2</a:t>
            </a:r>
          </a:p>
        </p:txBody>
      </p: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3873500" y="1346200"/>
            <a:ext cx="3251200" cy="3441700"/>
            <a:chOff x="1480" y="848"/>
            <a:chExt cx="2048" cy="2168"/>
          </a:xfrm>
        </p:grpSpPr>
        <p:sp>
          <p:nvSpPr>
            <p:cNvPr id="6160" name="Line 26"/>
            <p:cNvSpPr>
              <a:spLocks noChangeShapeType="1"/>
            </p:cNvSpPr>
            <p:nvPr/>
          </p:nvSpPr>
          <p:spPr bwMode="auto">
            <a:xfrm>
              <a:off x="3400" y="1224"/>
              <a:ext cx="128" cy="1768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6161" name="Line 27"/>
            <p:cNvSpPr>
              <a:spLocks noChangeShapeType="1"/>
            </p:cNvSpPr>
            <p:nvPr/>
          </p:nvSpPr>
          <p:spPr bwMode="auto">
            <a:xfrm>
              <a:off x="1816" y="1256"/>
              <a:ext cx="152" cy="1760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  <p:sp>
          <p:nvSpPr>
            <p:cNvPr id="6162" name="Line 28"/>
            <p:cNvSpPr>
              <a:spLocks noChangeShapeType="1"/>
            </p:cNvSpPr>
            <p:nvPr/>
          </p:nvSpPr>
          <p:spPr bwMode="auto">
            <a:xfrm>
              <a:off x="1480" y="848"/>
              <a:ext cx="152" cy="1776"/>
            </a:xfrm>
            <a:prstGeom prst="line">
              <a:avLst/>
            </a:prstGeom>
            <a:noFill/>
            <a:ln w="38100">
              <a:solidFill>
                <a:srgbClr val="00FFCC"/>
              </a:solidFill>
              <a:round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s-ES_tradnl" dirty="0">
                <a:latin typeface="Gill Sans MT" panose="020B0502020104020203" pitchFamily="34" charset="77"/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F75A86-9030-7353-F175-2FBAF0BD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7EE651D-613E-A263-0DA6-0701015A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1991150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1831976" y="877888"/>
            <a:ext cx="345639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Estimation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of Fundamental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Matrix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:</a:t>
            </a:r>
          </a:p>
        </p:txBody>
      </p:sp>
      <p:sp>
        <p:nvSpPr>
          <p:cNvPr id="3080" name="Freeform 10"/>
          <p:cNvSpPr>
            <a:spLocks/>
          </p:cNvSpPr>
          <p:nvPr/>
        </p:nvSpPr>
        <p:spPr bwMode="auto">
          <a:xfrm>
            <a:off x="2703704" y="2040465"/>
            <a:ext cx="1317625" cy="1824038"/>
          </a:xfrm>
          <a:custGeom>
            <a:avLst/>
            <a:gdLst>
              <a:gd name="T0" fmla="*/ 0 w 830"/>
              <a:gd name="T1" fmla="*/ 273 h 1149"/>
              <a:gd name="T2" fmla="*/ 830 w 830"/>
              <a:gd name="T3" fmla="*/ 0 h 1149"/>
              <a:gd name="T4" fmla="*/ 830 w 830"/>
              <a:gd name="T5" fmla="*/ 869 h 1149"/>
              <a:gd name="T6" fmla="*/ 0 w 830"/>
              <a:gd name="T7" fmla="*/ 1149 h 1149"/>
              <a:gd name="T8" fmla="*/ 0 w 830"/>
              <a:gd name="T9" fmla="*/ 273 h 1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30"/>
              <a:gd name="T16" fmla="*/ 0 h 1149"/>
              <a:gd name="T17" fmla="*/ 830 w 830"/>
              <a:gd name="T18" fmla="*/ 1149 h 11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30" h="1149">
                <a:moveTo>
                  <a:pt x="0" y="273"/>
                </a:moveTo>
                <a:lnTo>
                  <a:pt x="830" y="0"/>
                </a:lnTo>
                <a:lnTo>
                  <a:pt x="830" y="869"/>
                </a:lnTo>
                <a:lnTo>
                  <a:pt x="0" y="1149"/>
                </a:lnTo>
                <a:lnTo>
                  <a:pt x="0" y="273"/>
                </a:lnTo>
                <a:close/>
              </a:path>
            </a:pathLst>
          </a:custGeom>
          <a:solidFill>
            <a:schemeClr val="hlink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1" name="Freeform 11"/>
          <p:cNvSpPr>
            <a:spLocks/>
          </p:cNvSpPr>
          <p:nvPr/>
        </p:nvSpPr>
        <p:spPr bwMode="auto">
          <a:xfrm>
            <a:off x="4669028" y="2310341"/>
            <a:ext cx="1284288" cy="1801813"/>
          </a:xfrm>
          <a:custGeom>
            <a:avLst/>
            <a:gdLst>
              <a:gd name="T0" fmla="*/ 0 w 809"/>
              <a:gd name="T1" fmla="*/ 0 h 1135"/>
              <a:gd name="T2" fmla="*/ 809 w 809"/>
              <a:gd name="T3" fmla="*/ 276 h 1135"/>
              <a:gd name="T4" fmla="*/ 809 w 809"/>
              <a:gd name="T5" fmla="*/ 1135 h 1135"/>
              <a:gd name="T6" fmla="*/ 0 w 809"/>
              <a:gd name="T7" fmla="*/ 843 h 1135"/>
              <a:gd name="T8" fmla="*/ 0 w 809"/>
              <a:gd name="T9" fmla="*/ 0 h 1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9"/>
              <a:gd name="T16" fmla="*/ 0 h 1135"/>
              <a:gd name="T17" fmla="*/ 809 w 809"/>
              <a:gd name="T18" fmla="*/ 1135 h 1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9" h="1135">
                <a:moveTo>
                  <a:pt x="0" y="0"/>
                </a:moveTo>
                <a:lnTo>
                  <a:pt x="809" y="276"/>
                </a:lnTo>
                <a:lnTo>
                  <a:pt x="809" y="1135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 rot="504809">
            <a:off x="3803323" y="2857497"/>
            <a:ext cx="1869818" cy="1555882"/>
            <a:chOff x="1853" y="1285"/>
            <a:chExt cx="2027" cy="1597"/>
          </a:xfrm>
        </p:grpSpPr>
        <p:sp>
          <p:nvSpPr>
            <p:cNvPr id="3116" name="Line 13"/>
            <p:cNvSpPr>
              <a:spLocks noChangeShapeType="1"/>
            </p:cNvSpPr>
            <p:nvPr/>
          </p:nvSpPr>
          <p:spPr bwMode="auto">
            <a:xfrm flipV="1">
              <a:off x="1858" y="1285"/>
              <a:ext cx="864" cy="1595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22" name="Line 19"/>
            <p:cNvSpPr>
              <a:spLocks noChangeShapeType="1"/>
            </p:cNvSpPr>
            <p:nvPr/>
          </p:nvSpPr>
          <p:spPr bwMode="auto">
            <a:xfrm flipV="1">
              <a:off x="1853" y="2043"/>
              <a:ext cx="2027" cy="839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52276" name="Line 20"/>
          <p:cNvSpPr>
            <a:spLocks noChangeShapeType="1"/>
          </p:cNvSpPr>
          <p:nvPr/>
        </p:nvSpPr>
        <p:spPr bwMode="auto">
          <a:xfrm>
            <a:off x="3392679" y="2981853"/>
            <a:ext cx="1111379" cy="1071562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ash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52277" name="Line 21"/>
          <p:cNvSpPr>
            <a:spLocks noChangeShapeType="1"/>
          </p:cNvSpPr>
          <p:nvPr/>
        </p:nvSpPr>
        <p:spPr bwMode="auto">
          <a:xfrm>
            <a:off x="4719829" y="2759626"/>
            <a:ext cx="1069950" cy="1104876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5" name="Oval 22"/>
          <p:cNvSpPr>
            <a:spLocks noChangeArrowheads="1"/>
          </p:cNvSpPr>
          <p:nvPr/>
        </p:nvSpPr>
        <p:spPr bwMode="auto">
          <a:xfrm>
            <a:off x="4466751" y="4016109"/>
            <a:ext cx="74613" cy="746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6" name="Oval 23"/>
          <p:cNvSpPr>
            <a:spLocks noChangeArrowheads="1"/>
          </p:cNvSpPr>
          <p:nvPr/>
        </p:nvSpPr>
        <p:spPr bwMode="auto">
          <a:xfrm>
            <a:off x="3669796" y="4219259"/>
            <a:ext cx="74612" cy="74612"/>
          </a:xfrm>
          <a:prstGeom prst="ellipse">
            <a:avLst/>
          </a:prstGeom>
          <a:solidFill>
            <a:srgbClr val="FF99FF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7" name="Oval 24"/>
          <p:cNvSpPr>
            <a:spLocks noChangeArrowheads="1"/>
          </p:cNvSpPr>
          <p:nvPr/>
        </p:nvSpPr>
        <p:spPr bwMode="auto">
          <a:xfrm>
            <a:off x="5021850" y="3063116"/>
            <a:ext cx="74613" cy="7461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8" name="Oval 25"/>
          <p:cNvSpPr>
            <a:spLocks noChangeArrowheads="1"/>
          </p:cNvSpPr>
          <p:nvPr/>
        </p:nvSpPr>
        <p:spPr bwMode="auto">
          <a:xfrm>
            <a:off x="3340291" y="2935816"/>
            <a:ext cx="74612" cy="746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9" name="Text Box 26"/>
          <p:cNvSpPr txBox="1">
            <a:spLocks noChangeArrowheads="1"/>
          </p:cNvSpPr>
          <p:nvPr/>
        </p:nvSpPr>
        <p:spPr bwMode="auto">
          <a:xfrm rot="-1092301">
            <a:off x="1931334" y="3874988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1</a:t>
            </a:r>
            <a:endParaRPr lang="de-DE" sz="14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0" name="Text Box 27"/>
          <p:cNvSpPr txBox="1">
            <a:spLocks noChangeArrowheads="1"/>
          </p:cNvSpPr>
          <p:nvPr/>
        </p:nvSpPr>
        <p:spPr bwMode="auto">
          <a:xfrm rot="1387896">
            <a:off x="6213850" y="4125568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2</a:t>
            </a:r>
          </a:p>
        </p:txBody>
      </p:sp>
      <p:sp>
        <p:nvSpPr>
          <p:cNvPr id="3091" name="Text Box 28"/>
          <p:cNvSpPr txBox="1">
            <a:spLocks noChangeArrowheads="1"/>
          </p:cNvSpPr>
          <p:nvPr/>
        </p:nvSpPr>
        <p:spPr bwMode="auto">
          <a:xfrm>
            <a:off x="3186303" y="2643716"/>
            <a:ext cx="508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FFFFF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sz="1200" baseline="-25000" noProof="1">
                <a:solidFill>
                  <a:srgbClr val="FFFFF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de-DE" sz="1200" dirty="0">
              <a:solidFill>
                <a:srgbClr val="FFFFF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2" name="Text Box 29"/>
          <p:cNvSpPr txBox="1">
            <a:spLocks noChangeArrowheads="1"/>
          </p:cNvSpPr>
          <p:nvPr/>
        </p:nvSpPr>
        <p:spPr bwMode="auto">
          <a:xfrm>
            <a:off x="4951999" y="2774192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endParaRPr sz="1200" noProof="1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4" name="Text Box 33"/>
          <p:cNvSpPr txBox="1">
            <a:spLocks noChangeArrowheads="1"/>
          </p:cNvSpPr>
          <p:nvPr/>
        </p:nvSpPr>
        <p:spPr bwMode="auto">
          <a:xfrm>
            <a:off x="3506283" y="3923985"/>
            <a:ext cx="3444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5" name="Text Box 34"/>
          <p:cNvSpPr txBox="1">
            <a:spLocks noChangeArrowheads="1"/>
          </p:cNvSpPr>
          <p:nvPr/>
        </p:nvSpPr>
        <p:spPr bwMode="auto">
          <a:xfrm>
            <a:off x="4504057" y="4016109"/>
            <a:ext cx="7730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= M</a:t>
            </a:r>
            <a:r>
              <a:rPr lang="en-US"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 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5277066" y="3144120"/>
            <a:ext cx="1327151" cy="276226"/>
            <a:chOff x="3720" y="1828"/>
            <a:chExt cx="836" cy="174"/>
          </a:xfrm>
        </p:grpSpPr>
        <p:sp>
          <p:nvSpPr>
            <p:cNvPr id="3101" name="Text Box 48"/>
            <p:cNvSpPr txBox="1">
              <a:spLocks noChangeArrowheads="1"/>
            </p:cNvSpPr>
            <p:nvPr/>
          </p:nvSpPr>
          <p:spPr bwMode="auto">
            <a:xfrm>
              <a:off x="3954" y="1828"/>
              <a:ext cx="60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de-DE" sz="1200" dirty="0" err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Epipolar</a:t>
              </a:r>
              <a:r>
                <a:rPr lang="de-DE" sz="1200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de-DE" sz="1200" dirty="0" err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line</a:t>
              </a:r>
              <a:endParaRPr lang="de-DE" sz="12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2" name="Line 49"/>
            <p:cNvSpPr>
              <a:spLocks noChangeShapeType="1"/>
            </p:cNvSpPr>
            <p:nvPr/>
          </p:nvSpPr>
          <p:spPr bwMode="auto">
            <a:xfrm>
              <a:off x="3720" y="1925"/>
              <a:ext cx="254" cy="0"/>
            </a:xfrm>
            <a:prstGeom prst="line">
              <a:avLst/>
            </a:prstGeom>
            <a:noFill/>
            <a:ln w="9525">
              <a:solidFill>
                <a:srgbClr val="4F81BD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098" name="Line 50"/>
          <p:cNvSpPr>
            <a:spLocks noChangeShapeType="1"/>
          </p:cNvSpPr>
          <p:nvPr/>
        </p:nvSpPr>
        <p:spPr bwMode="auto">
          <a:xfrm flipH="1" flipV="1">
            <a:off x="5988241" y="4053416"/>
            <a:ext cx="196850" cy="87313"/>
          </a:xfrm>
          <a:prstGeom prst="line">
            <a:avLst/>
          </a:prstGeom>
          <a:noFill/>
          <a:ln w="3175">
            <a:solidFill>
              <a:srgbClr val="4F81BD"/>
            </a:solidFill>
            <a:round/>
            <a:headEnd/>
            <a:tailEnd type="triangl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9" name="Line 51"/>
          <p:cNvSpPr>
            <a:spLocks noChangeShapeType="1"/>
          </p:cNvSpPr>
          <p:nvPr/>
        </p:nvSpPr>
        <p:spPr bwMode="auto">
          <a:xfrm flipV="1">
            <a:off x="2433829" y="3831166"/>
            <a:ext cx="238125" cy="80963"/>
          </a:xfrm>
          <a:prstGeom prst="line">
            <a:avLst/>
          </a:prstGeom>
          <a:noFill/>
          <a:ln w="3175">
            <a:solidFill>
              <a:srgbClr val="4F81BD"/>
            </a:solidFill>
            <a:round/>
            <a:headEnd/>
            <a:tailEnd type="triangl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6" name="Oval 23"/>
          <p:cNvSpPr>
            <a:spLocks noChangeArrowheads="1"/>
          </p:cNvSpPr>
          <p:nvPr/>
        </p:nvSpPr>
        <p:spPr bwMode="auto">
          <a:xfrm>
            <a:off x="4074612" y="3630187"/>
            <a:ext cx="74612" cy="74612"/>
          </a:xfrm>
          <a:prstGeom prst="ellipse">
            <a:avLst/>
          </a:prstGeom>
          <a:solidFill>
            <a:srgbClr val="FF99FF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7" name="Text Box 29"/>
          <p:cNvSpPr txBox="1">
            <a:spLocks noChangeArrowheads="1"/>
          </p:cNvSpPr>
          <p:nvPr/>
        </p:nvSpPr>
        <p:spPr bwMode="auto">
          <a:xfrm>
            <a:off x="5478629" y="3353189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n-US"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</a:t>
            </a:r>
            <a:endParaRPr sz="1200" noProof="1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8" name="Oval 24"/>
          <p:cNvSpPr>
            <a:spLocks noChangeArrowheads="1"/>
          </p:cNvSpPr>
          <p:nvPr/>
        </p:nvSpPr>
        <p:spPr bwMode="auto">
          <a:xfrm>
            <a:off x="5623866" y="3680908"/>
            <a:ext cx="74613" cy="74612"/>
          </a:xfrm>
          <a:prstGeom prst="ellipse">
            <a:avLst/>
          </a:prstGeom>
          <a:solidFill>
            <a:srgbClr val="0000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49" name="Text Box 29"/>
          <p:cNvSpPr txBox="1">
            <a:spLocks noChangeArrowheads="1"/>
          </p:cNvSpPr>
          <p:nvPr/>
        </p:nvSpPr>
        <p:spPr bwMode="auto">
          <a:xfrm>
            <a:off x="4583710" y="2421201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n-US"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</a:t>
            </a:r>
            <a:endParaRPr sz="1200" noProof="1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0" name="Oval 24"/>
          <p:cNvSpPr>
            <a:spLocks noChangeArrowheads="1"/>
          </p:cNvSpPr>
          <p:nvPr/>
        </p:nvSpPr>
        <p:spPr bwMode="auto">
          <a:xfrm>
            <a:off x="4728947" y="2748920"/>
            <a:ext cx="74613" cy="7461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51" name="Text Box 34"/>
          <p:cNvSpPr txBox="1">
            <a:spLocks noChangeArrowheads="1"/>
          </p:cNvSpPr>
          <p:nvPr/>
        </p:nvSpPr>
        <p:spPr bwMode="auto">
          <a:xfrm>
            <a:off x="3932393" y="3313749"/>
            <a:ext cx="7730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n-US"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 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2" name="Picture 1" descr="Screen Shot 2014-11-24 at 9.31.5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9669" y="3034894"/>
            <a:ext cx="279400" cy="520700"/>
          </a:xfrm>
          <a:prstGeom prst="rect">
            <a:avLst/>
          </a:prstGeom>
        </p:spPr>
      </p:pic>
      <p:sp>
        <p:nvSpPr>
          <p:cNvPr id="53" name="Text Box 9"/>
          <p:cNvSpPr txBox="1">
            <a:spLocks noChangeArrowheads="1"/>
          </p:cNvSpPr>
          <p:nvPr/>
        </p:nvSpPr>
        <p:spPr bwMode="auto">
          <a:xfrm>
            <a:off x="7652540" y="335679"/>
            <a:ext cx="2910156" cy="2031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[ STEP 1 ]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points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on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&lt;C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,m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&gt;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1)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= C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=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null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(A)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2)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= A</a:t>
            </a:r>
            <a:r>
              <a:rPr lang="es-ES" baseline="30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T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[AA</a:t>
            </a:r>
            <a:r>
              <a:rPr lang="es-ES" baseline="30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T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]</a:t>
            </a:r>
            <a:r>
              <a:rPr lang="es-ES" baseline="30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-1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 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= A</a:t>
            </a:r>
            <a:r>
              <a:rPr lang="es-ES" baseline="30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+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</a:p>
        </p:txBody>
      </p:sp>
      <p:sp>
        <p:nvSpPr>
          <p:cNvPr id="54" name="Text Box 9"/>
          <p:cNvSpPr txBox="1">
            <a:spLocks noChangeArrowheads="1"/>
          </p:cNvSpPr>
          <p:nvPr/>
        </p:nvSpPr>
        <p:spPr bwMode="auto">
          <a:xfrm>
            <a:off x="7649720" y="2689394"/>
            <a:ext cx="278569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[ STEP 2 ]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Projection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onto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2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λ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=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BM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,  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λ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=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BM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  </a:t>
            </a:r>
          </a:p>
        </p:txBody>
      </p:sp>
      <p:sp>
        <p:nvSpPr>
          <p:cNvPr id="55" name="Text Box 9"/>
          <p:cNvSpPr txBox="1">
            <a:spLocks noChangeArrowheads="1"/>
          </p:cNvSpPr>
          <p:nvPr/>
        </p:nvSpPr>
        <p:spPr bwMode="auto">
          <a:xfrm>
            <a:off x="7652711" y="4317040"/>
            <a:ext cx="258639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[ STEP 3 ]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Line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   =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 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x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</a:t>
            </a:r>
            <a:endParaRPr lang="es-ES" baseline="-250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endParaRPr lang="es-ES" baseline="-250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= [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BM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] x [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BM</a:t>
            </a:r>
            <a:r>
              <a:rPr lang="es-ES" baseline="-25000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q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]</a:t>
            </a:r>
          </a:p>
          <a:p>
            <a:endParaRPr lang="es-ES" baseline="-250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    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= [BC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]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x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BA</a:t>
            </a:r>
            <a:r>
              <a:rPr lang="es-ES" baseline="30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+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= Fm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pic>
        <p:nvPicPr>
          <p:cNvPr id="56" name="Picture 55" descr="Screen Shot 2014-11-24 at 9.31.50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101" y="5329690"/>
            <a:ext cx="279400" cy="5207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DA17A-7695-F8FE-4B9F-F726F084F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5FFE0-1ED1-D776-BFEC-7A72439B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52322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800206" y="275231"/>
            <a:ext cx="2211294" cy="1210236"/>
            <a:chOff x="6858001" y="5184588"/>
            <a:chExt cx="2211294" cy="1210236"/>
          </a:xfrm>
        </p:grpSpPr>
        <p:sp>
          <p:nvSpPr>
            <p:cNvPr id="4" name="Rectangle 3"/>
            <p:cNvSpPr/>
            <p:nvPr/>
          </p:nvSpPr>
          <p:spPr>
            <a:xfrm>
              <a:off x="6858001" y="5184588"/>
              <a:ext cx="2211294" cy="12102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0951" y="5527489"/>
              <a:ext cx="1536154" cy="643217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2088397" y="4343335"/>
            <a:ext cx="3057145" cy="369332"/>
            <a:chOff x="564396" y="4343335"/>
            <a:chExt cx="3057145" cy="369332"/>
          </a:xfrm>
        </p:grpSpPr>
        <p:sp>
          <p:nvSpPr>
            <p:cNvPr id="14" name="TextBox 13"/>
            <p:cNvSpPr txBox="1"/>
            <p:nvPr/>
          </p:nvSpPr>
          <p:spPr>
            <a:xfrm>
              <a:off x="564396" y="4343335"/>
              <a:ext cx="8260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where:</a:t>
              </a:r>
            </a:p>
          </p:txBody>
        </p:sp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22026" y="4359015"/>
              <a:ext cx="1799515" cy="323214"/>
            </a:xfrm>
            <a:prstGeom prst="rect">
              <a:avLst/>
            </a:prstGeom>
          </p:spPr>
        </p:pic>
      </p:grpSp>
      <p:grpSp>
        <p:nvGrpSpPr>
          <p:cNvPr id="13" name="Group 12"/>
          <p:cNvGrpSpPr/>
          <p:nvPr/>
        </p:nvGrpSpPr>
        <p:grpSpPr>
          <a:xfrm>
            <a:off x="6230460" y="4029240"/>
            <a:ext cx="2890784" cy="2107735"/>
            <a:chOff x="4706460" y="4029239"/>
            <a:chExt cx="2890784" cy="2107735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06460" y="4029239"/>
              <a:ext cx="2890784" cy="909932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85810" y="5447109"/>
              <a:ext cx="1829727" cy="302232"/>
            </a:xfrm>
            <a:prstGeom prst="rect">
              <a:avLst/>
            </a:prstGeom>
          </p:spPr>
        </p:pic>
        <p:sp>
          <p:nvSpPr>
            <p:cNvPr id="18" name="TextBox 17"/>
            <p:cNvSpPr txBox="1"/>
            <p:nvPr/>
          </p:nvSpPr>
          <p:spPr>
            <a:xfrm>
              <a:off x="5870109" y="5767642"/>
              <a:ext cx="14763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cross product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1596916" y="1822824"/>
            <a:ext cx="8991988" cy="1210236"/>
            <a:chOff x="72916" y="1822824"/>
            <a:chExt cx="8991988" cy="1210236"/>
          </a:xfrm>
        </p:grpSpPr>
        <p:sp>
          <p:nvSpPr>
            <p:cNvPr id="12" name="Rectangle 11"/>
            <p:cNvSpPr/>
            <p:nvPr/>
          </p:nvSpPr>
          <p:spPr>
            <a:xfrm>
              <a:off x="1837898" y="1822824"/>
              <a:ext cx="1900215" cy="1210236"/>
            </a:xfrm>
            <a:prstGeom prst="rect">
              <a:avLst/>
            </a:prstGeom>
            <a:solidFill>
              <a:srgbClr val="CDED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848531" y="2115654"/>
              <a:ext cx="18736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FUNDAMENTAL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</a:rPr>
                <a:t>MATRIX</a:t>
              </a:r>
            </a:p>
          </p:txBody>
        </p:sp>
        <p:cxnSp>
          <p:nvCxnSpPr>
            <p:cNvPr id="8" name="Straight Arrow Connector 7"/>
            <p:cNvCxnSpPr>
              <a:endCxn id="6" idx="1"/>
            </p:cNvCxnSpPr>
            <p:nvPr/>
          </p:nvCxnSpPr>
          <p:spPr>
            <a:xfrm>
              <a:off x="1316369" y="2438820"/>
              <a:ext cx="532162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>
              <a:stCxn id="6" idx="3"/>
            </p:cNvCxnSpPr>
            <p:nvPr/>
          </p:nvCxnSpPr>
          <p:spPr>
            <a:xfrm>
              <a:off x="3722185" y="2438820"/>
              <a:ext cx="495316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916" y="2264390"/>
              <a:ext cx="939800" cy="41910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78604" y="2233380"/>
              <a:ext cx="4686300" cy="469900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2604" y="2742950"/>
            <a:ext cx="3479800" cy="52070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34779" y="275232"/>
            <a:ext cx="321485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Gill Sans MT" panose="020B0502020104020203" pitchFamily="34" charset="77"/>
                <a:cs typeface="Trebuchet MS"/>
              </a:rPr>
              <a:t>Calibrated Views</a:t>
            </a:r>
          </a:p>
          <a:p>
            <a:r>
              <a:rPr lang="en-US" sz="2800" dirty="0">
                <a:latin typeface="Gill Sans MT" panose="020B0502020104020203" pitchFamily="34" charset="77"/>
                <a:cs typeface="Trebuchet MS"/>
              </a:rPr>
              <a:t>(A and B are known)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987499" y="5080290"/>
            <a:ext cx="3213922" cy="1505272"/>
            <a:chOff x="463499" y="5080290"/>
            <a:chExt cx="3213922" cy="1505272"/>
          </a:xfrm>
        </p:grpSpPr>
        <p:sp>
          <p:nvSpPr>
            <p:cNvPr id="25" name="Rectangle 24"/>
            <p:cNvSpPr/>
            <p:nvPr/>
          </p:nvSpPr>
          <p:spPr>
            <a:xfrm>
              <a:off x="463499" y="5080290"/>
              <a:ext cx="3213922" cy="1505272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90290" y="5247054"/>
              <a:ext cx="30351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Gill Sans MT" panose="020B0502020104020203" pitchFamily="34" charset="77"/>
                </a:rPr>
                <a:t>EPIPOLAR CONSTRAINT:</a:t>
              </a:r>
              <a:endParaRPr lang="en-US" sz="2000" dirty="0">
                <a:latin typeface="Courier"/>
                <a:cs typeface="Courier"/>
              </a:endParaRPr>
            </a:p>
          </p:txBody>
        </p:sp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0348" y="5803629"/>
              <a:ext cx="2476500" cy="533400"/>
            </a:xfrm>
            <a:prstGeom prst="rect">
              <a:avLst/>
            </a:prstGeom>
          </p:spPr>
        </p:pic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513916-7F4F-56D7-B803-D5ECF0E1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7BFD9CD-7D2C-8CF2-11AC-FEF35759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7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05277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0F897-2BDF-8347-82ED-9A7A5E406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1" y="1967040"/>
            <a:ext cx="8178799" cy="2923921"/>
          </a:xfrm>
          <a:prstGeom prst="rect">
            <a:avLst/>
          </a:prstGeom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4FB02E-4B64-CB2F-7C81-3B9935B9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659F6-2054-7307-AEEB-C954FF247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8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435867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6800206" y="275231"/>
            <a:ext cx="2211294" cy="1210236"/>
            <a:chOff x="6858001" y="5184588"/>
            <a:chExt cx="2211294" cy="1210236"/>
          </a:xfrm>
        </p:grpSpPr>
        <p:sp>
          <p:nvSpPr>
            <p:cNvPr id="4" name="Rectangle 3"/>
            <p:cNvSpPr/>
            <p:nvPr/>
          </p:nvSpPr>
          <p:spPr>
            <a:xfrm>
              <a:off x="6858001" y="5184588"/>
              <a:ext cx="2211294" cy="121023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50951" y="5527489"/>
              <a:ext cx="1536154" cy="643217"/>
            </a:xfrm>
            <a:prstGeom prst="rect">
              <a:avLst/>
            </a:prstGeom>
          </p:spPr>
        </p:pic>
      </p:grpSp>
      <p:sp>
        <p:nvSpPr>
          <p:cNvPr id="2" name="TextBox 1"/>
          <p:cNvSpPr txBox="1"/>
          <p:nvPr/>
        </p:nvSpPr>
        <p:spPr>
          <a:xfrm>
            <a:off x="1934780" y="275232"/>
            <a:ext cx="3573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Uncalibrated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Views</a:t>
            </a:r>
          </a:p>
          <a:p>
            <a:r>
              <a:rPr lang="en-US" sz="2800" dirty="0">
                <a:latin typeface="Gill Sans MT" panose="020B0502020104020203" pitchFamily="34" charset="77"/>
                <a:cs typeface="Trebuchet MS"/>
              </a:rPr>
              <a:t>(A and B are unknown)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7109811" y="0"/>
            <a:ext cx="1829727" cy="1975224"/>
            <a:chOff x="5585810" y="0"/>
            <a:chExt cx="1829727" cy="1975224"/>
          </a:xfrm>
        </p:grpSpPr>
        <p:cxnSp>
          <p:nvCxnSpPr>
            <p:cNvPr id="19" name="Straight Connector 18"/>
            <p:cNvCxnSpPr/>
            <p:nvPr/>
          </p:nvCxnSpPr>
          <p:spPr>
            <a:xfrm flipV="1">
              <a:off x="5585810" y="152400"/>
              <a:ext cx="1489379" cy="1822824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 flipV="1">
              <a:off x="5669156" y="0"/>
              <a:ext cx="1746381" cy="1975224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AF53110-ECAF-FF75-7EE2-F9C8C6B5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F71FBD-CC07-6925-17A3-42A910B5A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9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837399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/>
          <p:cNvGrpSpPr/>
          <p:nvPr/>
        </p:nvGrpSpPr>
        <p:grpSpPr>
          <a:xfrm>
            <a:off x="2327708" y="3748755"/>
            <a:ext cx="7610317" cy="2603560"/>
            <a:chOff x="803707" y="3748755"/>
            <a:chExt cx="7610317" cy="2603560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3707" y="3748755"/>
              <a:ext cx="3471413" cy="2603560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2611" y="3748755"/>
              <a:ext cx="3471413" cy="2603560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3736058" y="5655675"/>
              <a:ext cx="45811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"/>
                  <a:cs typeface="Times"/>
                </a:rPr>
                <a:t>I</a:t>
              </a:r>
              <a:r>
                <a:rPr lang="en-US" sz="3200" baseline="-25000" dirty="0">
                  <a:solidFill>
                    <a:srgbClr val="FFFFFF"/>
                  </a:solidFill>
                  <a:latin typeface="Times"/>
                  <a:cs typeface="Times"/>
                </a:rPr>
                <a:t>1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01605" y="5640543"/>
              <a:ext cx="458111" cy="584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rgbClr val="FFFFFF"/>
                  </a:solidFill>
                  <a:latin typeface="Times"/>
                  <a:cs typeface="Times"/>
                </a:rPr>
                <a:t>I</a:t>
              </a:r>
              <a:r>
                <a:rPr lang="en-US" sz="3200" baseline="-25000" dirty="0">
                  <a:solidFill>
                    <a:srgbClr val="FFFFFF"/>
                  </a:solidFill>
                  <a:latin typeface="Times"/>
                  <a:cs typeface="Times"/>
                </a:rPr>
                <a:t>2</a:t>
              </a:r>
            </a:p>
          </p:txBody>
        </p:sp>
      </p:grpSp>
      <p:cxnSp>
        <p:nvCxnSpPr>
          <p:cNvPr id="8" name="Straight Arrow Connector 7"/>
          <p:cNvCxnSpPr>
            <a:endCxn id="6" idx="1"/>
          </p:cNvCxnSpPr>
          <p:nvPr/>
        </p:nvCxnSpPr>
        <p:spPr>
          <a:xfrm>
            <a:off x="4570089" y="2721058"/>
            <a:ext cx="53216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3"/>
          </p:cNvCxnSpPr>
          <p:nvPr/>
        </p:nvCxnSpPr>
        <p:spPr>
          <a:xfrm>
            <a:off x="6975905" y="2721058"/>
            <a:ext cx="495317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934780" y="275232"/>
            <a:ext cx="357392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latin typeface="Gill Sans MT" panose="020B0502020104020203" pitchFamily="34" charset="77"/>
                <a:cs typeface="Trebuchet MS"/>
              </a:rPr>
              <a:t>Uncalibrated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 Views</a:t>
            </a:r>
          </a:p>
          <a:p>
            <a:r>
              <a:rPr lang="en-US" sz="2800" dirty="0">
                <a:latin typeface="Gill Sans MT" panose="020B0502020104020203" pitchFamily="34" charset="77"/>
                <a:cs typeface="Trebuchet MS"/>
              </a:rPr>
              <a:t>(A and B are unknown)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2047512" y="2105062"/>
            <a:ext cx="7875919" cy="1210236"/>
            <a:chOff x="413766" y="2293222"/>
            <a:chExt cx="7875919" cy="1210236"/>
          </a:xfrm>
        </p:grpSpPr>
        <p:sp>
          <p:nvSpPr>
            <p:cNvPr id="12" name="Rectangle 11"/>
            <p:cNvSpPr/>
            <p:nvPr/>
          </p:nvSpPr>
          <p:spPr>
            <a:xfrm>
              <a:off x="3466077" y="2293222"/>
              <a:ext cx="1876082" cy="1210236"/>
            </a:xfrm>
            <a:prstGeom prst="rect">
              <a:avLst/>
            </a:prstGeom>
            <a:solidFill>
              <a:srgbClr val="CDED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3468505" y="2586052"/>
              <a:ext cx="187365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FUNDAMENTAL </a:t>
              </a:r>
            </a:p>
            <a:p>
              <a:pPr algn="ctr"/>
              <a:r>
                <a:rPr lang="en-US" dirty="0">
                  <a:latin typeface="Gill Sans MT" panose="020B0502020104020203" pitchFamily="34" charset="77"/>
                  <a:cs typeface="Trebuchet MS"/>
                </a:rPr>
                <a:t>MATRIX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13766" y="2442312"/>
              <a:ext cx="2474267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800" dirty="0">
                  <a:latin typeface="Gill Sans MT" panose="020B0502020104020203" pitchFamily="34" charset="77"/>
                  <a:cs typeface="Trebuchet MS"/>
                </a:rPr>
                <a:t>Corresponding </a:t>
              </a:r>
            </a:p>
            <a:p>
              <a:pPr algn="ctr"/>
              <a:r>
                <a:rPr lang="en-US" sz="2800" dirty="0">
                  <a:latin typeface="Gill Sans MT" panose="020B0502020104020203" pitchFamily="34" charset="77"/>
                  <a:cs typeface="Trebuchet MS"/>
                </a:rPr>
                <a:t>points 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924935" y="2646695"/>
              <a:ext cx="236475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Gill Sans MT" panose="020B0502020104020203" pitchFamily="34" charset="77"/>
                  <a:cs typeface="Trebuchet MS"/>
                </a:rPr>
                <a:t>Estimation of F</a:t>
              </a: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3781311" y="4019022"/>
            <a:ext cx="3903013" cy="533392"/>
            <a:chOff x="2257310" y="4019022"/>
            <a:chExt cx="3903013" cy="533392"/>
          </a:xfrm>
        </p:grpSpPr>
        <p:grpSp>
          <p:nvGrpSpPr>
            <p:cNvPr id="32" name="Group 31"/>
            <p:cNvGrpSpPr/>
            <p:nvPr/>
          </p:nvGrpSpPr>
          <p:grpSpPr>
            <a:xfrm>
              <a:off x="2257310" y="4163813"/>
              <a:ext cx="308098" cy="388601"/>
              <a:chOff x="2370557" y="3070069"/>
              <a:chExt cx="308098" cy="388601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2495534" y="3396506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2370557" y="307006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1</a:t>
                </a:r>
              </a:p>
            </p:txBody>
          </p:sp>
        </p:grpSp>
        <p:grpSp>
          <p:nvGrpSpPr>
            <p:cNvPr id="35" name="Group 34"/>
            <p:cNvGrpSpPr/>
            <p:nvPr/>
          </p:nvGrpSpPr>
          <p:grpSpPr>
            <a:xfrm>
              <a:off x="5852225" y="4019022"/>
              <a:ext cx="308098" cy="511753"/>
              <a:chOff x="2370557" y="2931523"/>
              <a:chExt cx="308098" cy="511753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2503231" y="338111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2370557" y="293152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1</a:t>
                </a:r>
              </a:p>
            </p:txBody>
          </p:sp>
        </p:grpSp>
      </p:grpSp>
      <p:grpSp>
        <p:nvGrpSpPr>
          <p:cNvPr id="49" name="Group 48"/>
          <p:cNvGrpSpPr/>
          <p:nvPr/>
        </p:nvGrpSpPr>
        <p:grpSpPr>
          <a:xfrm>
            <a:off x="2594437" y="3750786"/>
            <a:ext cx="4449500" cy="579574"/>
            <a:chOff x="1710823" y="4019022"/>
            <a:chExt cx="4449500" cy="579574"/>
          </a:xfrm>
        </p:grpSpPr>
        <p:grpSp>
          <p:nvGrpSpPr>
            <p:cNvPr id="50" name="Group 49"/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54" name="Oval 53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2</a:t>
                </a:r>
              </a:p>
            </p:txBody>
          </p:sp>
        </p:grpSp>
        <p:grpSp>
          <p:nvGrpSpPr>
            <p:cNvPr id="51" name="Group 50"/>
            <p:cNvGrpSpPr/>
            <p:nvPr/>
          </p:nvGrpSpPr>
          <p:grpSpPr>
            <a:xfrm>
              <a:off x="5852225" y="4019022"/>
              <a:ext cx="308098" cy="511753"/>
              <a:chOff x="2370557" y="2931523"/>
              <a:chExt cx="308098" cy="511753"/>
            </a:xfrm>
          </p:grpSpPr>
          <p:sp>
            <p:nvSpPr>
              <p:cNvPr id="52" name="Oval 51"/>
              <p:cNvSpPr/>
              <p:nvPr/>
            </p:nvSpPr>
            <p:spPr>
              <a:xfrm>
                <a:off x="2503231" y="338111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370557" y="293152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2</a:t>
                </a:r>
              </a:p>
            </p:txBody>
          </p:sp>
        </p:grpSp>
      </p:grpSp>
      <p:grpSp>
        <p:nvGrpSpPr>
          <p:cNvPr id="58" name="Group 57"/>
          <p:cNvGrpSpPr/>
          <p:nvPr/>
        </p:nvGrpSpPr>
        <p:grpSpPr>
          <a:xfrm>
            <a:off x="4982543" y="3699189"/>
            <a:ext cx="4434106" cy="659448"/>
            <a:chOff x="1710823" y="4048358"/>
            <a:chExt cx="4434106" cy="659448"/>
          </a:xfrm>
        </p:grpSpPr>
        <p:grpSp>
          <p:nvGrpSpPr>
            <p:cNvPr id="59" name="Group 58"/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63" name="Oval 62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3</a:t>
                </a:r>
              </a:p>
            </p:txBody>
          </p:sp>
        </p:grpSp>
        <p:grpSp>
          <p:nvGrpSpPr>
            <p:cNvPr id="60" name="Group 59"/>
            <p:cNvGrpSpPr/>
            <p:nvPr/>
          </p:nvGrpSpPr>
          <p:grpSpPr>
            <a:xfrm>
              <a:off x="5836831" y="4196053"/>
              <a:ext cx="308098" cy="511753"/>
              <a:chOff x="2355163" y="3108554"/>
              <a:chExt cx="308098" cy="511753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2487837" y="3558143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2355163" y="310855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3</a:t>
                </a:r>
              </a:p>
            </p:txBody>
          </p:sp>
        </p:grpSp>
      </p:grpSp>
      <p:grpSp>
        <p:nvGrpSpPr>
          <p:cNvPr id="65" name="Group 64"/>
          <p:cNvGrpSpPr/>
          <p:nvPr/>
        </p:nvGrpSpPr>
        <p:grpSpPr>
          <a:xfrm>
            <a:off x="2805039" y="4194997"/>
            <a:ext cx="4324039" cy="547824"/>
            <a:chOff x="1710823" y="4050772"/>
            <a:chExt cx="4324039" cy="547824"/>
          </a:xfrm>
        </p:grpSpPr>
        <p:grpSp>
          <p:nvGrpSpPr>
            <p:cNvPr id="66" name="Group 65"/>
            <p:cNvGrpSpPr/>
            <p:nvPr/>
          </p:nvGrpSpPr>
          <p:grpSpPr>
            <a:xfrm>
              <a:off x="1710823" y="4109934"/>
              <a:ext cx="308098" cy="488662"/>
              <a:chOff x="1824070" y="3016190"/>
              <a:chExt cx="308098" cy="488662"/>
            </a:xfrm>
          </p:grpSpPr>
          <p:sp>
            <p:nvSpPr>
              <p:cNvPr id="70" name="Oval 69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1824070" y="301619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4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5726764" y="4050772"/>
              <a:ext cx="308098" cy="448253"/>
              <a:chOff x="2245096" y="2963273"/>
              <a:chExt cx="308098" cy="448253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2377770" y="334936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2245096" y="296327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4</a:t>
                </a:r>
              </a:p>
            </p:txBody>
          </p:sp>
        </p:grpSp>
      </p:grpSp>
      <p:grpSp>
        <p:nvGrpSpPr>
          <p:cNvPr id="72" name="Group 71"/>
          <p:cNvGrpSpPr/>
          <p:nvPr/>
        </p:nvGrpSpPr>
        <p:grpSpPr>
          <a:xfrm>
            <a:off x="3041872" y="4723677"/>
            <a:ext cx="4243911" cy="616118"/>
            <a:chOff x="1724535" y="3982478"/>
            <a:chExt cx="4243911" cy="616118"/>
          </a:xfrm>
        </p:grpSpPr>
        <p:grpSp>
          <p:nvGrpSpPr>
            <p:cNvPr id="73" name="Group 72"/>
            <p:cNvGrpSpPr/>
            <p:nvPr/>
          </p:nvGrpSpPr>
          <p:grpSpPr>
            <a:xfrm>
              <a:off x="1724535" y="4048358"/>
              <a:ext cx="308098" cy="550238"/>
              <a:chOff x="1837782" y="2954614"/>
              <a:chExt cx="308098" cy="550238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8" name="TextBox 77"/>
              <p:cNvSpPr txBox="1"/>
              <p:nvPr/>
            </p:nvSpPr>
            <p:spPr>
              <a:xfrm>
                <a:off x="1837782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5</a:t>
                </a:r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5660348" y="3982478"/>
              <a:ext cx="308098" cy="511753"/>
              <a:chOff x="2178680" y="2894979"/>
              <a:chExt cx="308098" cy="511753"/>
            </a:xfrm>
          </p:grpSpPr>
          <p:sp>
            <p:nvSpPr>
              <p:cNvPr id="75" name="Oval 74"/>
              <p:cNvSpPr/>
              <p:nvPr/>
            </p:nvSpPr>
            <p:spPr>
              <a:xfrm>
                <a:off x="2311354" y="334456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2178680" y="2894979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5</a:t>
                </a:r>
              </a:p>
            </p:txBody>
          </p:sp>
        </p:grpSp>
      </p:grpSp>
      <p:grpSp>
        <p:nvGrpSpPr>
          <p:cNvPr id="79" name="Group 78"/>
          <p:cNvGrpSpPr/>
          <p:nvPr/>
        </p:nvGrpSpPr>
        <p:grpSpPr>
          <a:xfrm>
            <a:off x="2594437" y="5456372"/>
            <a:ext cx="4449500" cy="579574"/>
            <a:chOff x="1710823" y="4019022"/>
            <a:chExt cx="4449500" cy="579574"/>
          </a:xfrm>
        </p:grpSpPr>
        <p:grpSp>
          <p:nvGrpSpPr>
            <p:cNvPr id="80" name="Group 79"/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6</a:t>
                </a:r>
              </a:p>
            </p:txBody>
          </p:sp>
        </p:grpSp>
        <p:grpSp>
          <p:nvGrpSpPr>
            <p:cNvPr id="81" name="Group 80"/>
            <p:cNvGrpSpPr/>
            <p:nvPr/>
          </p:nvGrpSpPr>
          <p:grpSpPr>
            <a:xfrm>
              <a:off x="5852225" y="4019022"/>
              <a:ext cx="308098" cy="511753"/>
              <a:chOff x="2370557" y="2931523"/>
              <a:chExt cx="308098" cy="511753"/>
            </a:xfrm>
          </p:grpSpPr>
          <p:sp>
            <p:nvSpPr>
              <p:cNvPr id="82" name="Oval 81"/>
              <p:cNvSpPr/>
              <p:nvPr/>
            </p:nvSpPr>
            <p:spPr>
              <a:xfrm>
                <a:off x="2503231" y="3381112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2370557" y="2931523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6</a:t>
                </a:r>
              </a:p>
            </p:txBody>
          </p:sp>
        </p:grpSp>
      </p:grpSp>
      <p:grpSp>
        <p:nvGrpSpPr>
          <p:cNvPr id="86" name="Group 85"/>
          <p:cNvGrpSpPr/>
          <p:nvPr/>
        </p:nvGrpSpPr>
        <p:grpSpPr>
          <a:xfrm>
            <a:off x="3781311" y="5685011"/>
            <a:ext cx="3873869" cy="550238"/>
            <a:chOff x="1710823" y="4048358"/>
            <a:chExt cx="3873869" cy="550238"/>
          </a:xfrm>
        </p:grpSpPr>
        <p:grpSp>
          <p:nvGrpSpPr>
            <p:cNvPr id="87" name="Group 86"/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91" name="Oval 90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92" name="TextBox 91"/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5276594" y="4055566"/>
              <a:ext cx="308098" cy="511753"/>
              <a:chOff x="1794926" y="2968067"/>
              <a:chExt cx="308098" cy="511753"/>
            </a:xfrm>
          </p:grpSpPr>
          <p:sp>
            <p:nvSpPr>
              <p:cNvPr id="89" name="Oval 88"/>
              <p:cNvSpPr/>
              <p:nvPr/>
            </p:nvSpPr>
            <p:spPr>
              <a:xfrm>
                <a:off x="1927600" y="3417656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90" name="TextBox 89"/>
              <p:cNvSpPr txBox="1"/>
              <p:nvPr/>
            </p:nvSpPr>
            <p:spPr>
              <a:xfrm>
                <a:off x="1794926" y="2968067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7</a:t>
                </a:r>
              </a:p>
            </p:txBody>
          </p:sp>
        </p:grpSp>
      </p:grpSp>
      <p:grpSp>
        <p:nvGrpSpPr>
          <p:cNvPr id="93" name="Group 92"/>
          <p:cNvGrpSpPr/>
          <p:nvPr/>
        </p:nvGrpSpPr>
        <p:grpSpPr>
          <a:xfrm>
            <a:off x="4950205" y="5395225"/>
            <a:ext cx="4440363" cy="637729"/>
            <a:chOff x="1710823" y="4048358"/>
            <a:chExt cx="4440363" cy="637729"/>
          </a:xfrm>
        </p:grpSpPr>
        <p:grpSp>
          <p:nvGrpSpPr>
            <p:cNvPr id="94" name="Group 93"/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98" name="Oval 97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8</a:t>
                </a:r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5843088" y="4174334"/>
              <a:ext cx="308098" cy="511753"/>
              <a:chOff x="2361420" y="3086835"/>
              <a:chExt cx="308098" cy="511753"/>
            </a:xfrm>
          </p:grpSpPr>
          <p:sp>
            <p:nvSpPr>
              <p:cNvPr id="96" name="Oval 95"/>
              <p:cNvSpPr/>
              <p:nvPr/>
            </p:nvSpPr>
            <p:spPr>
              <a:xfrm>
                <a:off x="2494094" y="3536424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2361420" y="308683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8</a:t>
                </a:r>
              </a:p>
            </p:txBody>
          </p:sp>
        </p:grpSp>
      </p:grpSp>
      <p:grpSp>
        <p:nvGrpSpPr>
          <p:cNvPr id="100" name="Group 99"/>
          <p:cNvGrpSpPr/>
          <p:nvPr/>
        </p:nvGrpSpPr>
        <p:grpSpPr>
          <a:xfrm>
            <a:off x="4382387" y="4818893"/>
            <a:ext cx="4120568" cy="550238"/>
            <a:chOff x="1710823" y="4048358"/>
            <a:chExt cx="4120568" cy="550238"/>
          </a:xfrm>
        </p:grpSpPr>
        <p:grpSp>
          <p:nvGrpSpPr>
            <p:cNvPr id="101" name="Group 100"/>
            <p:cNvGrpSpPr/>
            <p:nvPr/>
          </p:nvGrpSpPr>
          <p:grpSpPr>
            <a:xfrm>
              <a:off x="1710823" y="4048358"/>
              <a:ext cx="308098" cy="550238"/>
              <a:chOff x="1824070" y="2954614"/>
              <a:chExt cx="308098" cy="550238"/>
            </a:xfrm>
          </p:grpSpPr>
          <p:sp>
            <p:nvSpPr>
              <p:cNvPr id="105" name="Oval 104"/>
              <p:cNvSpPr/>
              <p:nvPr/>
            </p:nvSpPr>
            <p:spPr>
              <a:xfrm>
                <a:off x="1941350" y="3442688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06" name="TextBox 105"/>
              <p:cNvSpPr txBox="1"/>
              <p:nvPr/>
            </p:nvSpPr>
            <p:spPr>
              <a:xfrm>
                <a:off x="1824070" y="2954614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9</a:t>
                </a:r>
              </a:p>
            </p:txBody>
          </p:sp>
        </p:grpSp>
        <p:grpSp>
          <p:nvGrpSpPr>
            <p:cNvPr id="102" name="Group 101"/>
            <p:cNvGrpSpPr/>
            <p:nvPr/>
          </p:nvGrpSpPr>
          <p:grpSpPr>
            <a:xfrm>
              <a:off x="5523293" y="4082974"/>
              <a:ext cx="308098" cy="511753"/>
              <a:chOff x="2041625" y="2995475"/>
              <a:chExt cx="308098" cy="511753"/>
            </a:xfrm>
          </p:grpSpPr>
          <p:sp>
            <p:nvSpPr>
              <p:cNvPr id="103" name="Oval 102"/>
              <p:cNvSpPr/>
              <p:nvPr/>
            </p:nvSpPr>
            <p:spPr>
              <a:xfrm>
                <a:off x="2174299" y="3445064"/>
                <a:ext cx="61377" cy="62164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latin typeface="Gill Sans MT" panose="020B0502020104020203" pitchFamily="34" charset="77"/>
                </a:endParaRPr>
              </a:p>
            </p:txBody>
          </p:sp>
          <p:sp>
            <p:nvSpPr>
              <p:cNvPr id="104" name="TextBox 103"/>
              <p:cNvSpPr txBox="1"/>
              <p:nvPr/>
            </p:nvSpPr>
            <p:spPr>
              <a:xfrm>
                <a:off x="2041625" y="2995475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Gill Sans MT" panose="020B0502020104020203" pitchFamily="34" charset="77"/>
                  </a:rPr>
                  <a:t>9</a:t>
                </a:r>
              </a:p>
            </p:txBody>
          </p:sp>
        </p:grp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49A7F9-1410-FD75-3A55-0A3E22862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131FC-8B7C-E13B-ECA9-7EFAE797A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10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29341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328" y="1427424"/>
            <a:ext cx="6107418" cy="1272379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2684419" y="347216"/>
            <a:ext cx="6609245" cy="769441"/>
            <a:chOff x="1160418" y="347215"/>
            <a:chExt cx="6609245" cy="769441"/>
          </a:xfrm>
        </p:grpSpPr>
        <p:sp>
          <p:nvSpPr>
            <p:cNvPr id="4" name="TextBox 3"/>
            <p:cNvSpPr txBox="1"/>
            <p:nvPr/>
          </p:nvSpPr>
          <p:spPr>
            <a:xfrm>
              <a:off x="1160418" y="347215"/>
              <a:ext cx="660924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For each pair of points                                 and                          </a:t>
              </a:r>
            </a:p>
            <a:p>
              <a:endParaRPr lang="en-US" sz="800" dirty="0">
                <a:latin typeface="Gill Sans MT" panose="020B0502020104020203" pitchFamily="34" charset="77"/>
              </a:endParaRPr>
            </a:p>
            <a:p>
              <a:r>
                <a:rPr lang="en-US" dirty="0">
                  <a:latin typeface="Gill Sans MT" panose="020B0502020104020203" pitchFamily="34" charset="77"/>
                </a:rPr>
                <a:t>we have the </a:t>
              </a:r>
              <a:r>
                <a:rPr lang="en-US" dirty="0" err="1">
                  <a:latin typeface="Gill Sans MT" panose="020B0502020104020203" pitchFamily="34" charset="77"/>
                </a:rPr>
                <a:t>epipolar</a:t>
              </a:r>
              <a:r>
                <a:rPr lang="en-US" dirty="0">
                  <a:latin typeface="Gill Sans MT" panose="020B0502020104020203" pitchFamily="34" charset="77"/>
                </a:rPr>
                <a:t> constraint:</a:t>
              </a: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3037" y="793694"/>
              <a:ext cx="1288023" cy="277420"/>
            </a:xfrm>
            <a:prstGeom prst="rect">
              <a:avLst/>
            </a:prstGeom>
          </p:spPr>
        </p:pic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328" y="2947011"/>
            <a:ext cx="6107419" cy="12805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343" y="393051"/>
            <a:ext cx="1891389" cy="30629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9869" y="393051"/>
            <a:ext cx="1891389" cy="30629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4697082"/>
            <a:ext cx="9144000" cy="286719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1674383" y="5404330"/>
            <a:ext cx="8876627" cy="482600"/>
            <a:chOff x="1" y="5404330"/>
            <a:chExt cx="8876627" cy="4826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" y="5578782"/>
              <a:ext cx="8229600" cy="230144"/>
            </a:xfrm>
            <a:prstGeom prst="rect">
              <a:avLst/>
            </a:prstGeom>
          </p:spPr>
        </p:pic>
        <p:pic>
          <p:nvPicPr>
            <p:cNvPr id="15" name="Picture 14" descr="Screen Shot 2014-11-24 at 9.03.03 AM.pn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9728" y="5404330"/>
              <a:ext cx="596900" cy="482600"/>
            </a:xfrm>
            <a:prstGeom prst="rect">
              <a:avLst/>
            </a:prstGeom>
          </p:spPr>
        </p:pic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B50BAC-B8B8-C72E-1774-DFF49147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9148A-4821-1010-638A-B54870F3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11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9118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674383" y="5404330"/>
            <a:ext cx="8876627" cy="482600"/>
            <a:chOff x="1" y="5404330"/>
            <a:chExt cx="8876627" cy="482600"/>
          </a:xfrm>
        </p:grpSpPr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5578782"/>
              <a:ext cx="8229600" cy="230144"/>
            </a:xfrm>
            <a:prstGeom prst="rect">
              <a:avLst/>
            </a:prstGeom>
          </p:spPr>
        </p:pic>
        <p:pic>
          <p:nvPicPr>
            <p:cNvPr id="15" name="Picture 14" descr="Screen Shot 2014-11-24 at 9.03.03 AM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79728" y="5404330"/>
              <a:ext cx="596900" cy="482600"/>
            </a:xfrm>
            <a:prstGeom prst="rect">
              <a:avLst/>
            </a:prstGeom>
          </p:spPr>
        </p:pic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471" y="2529253"/>
            <a:ext cx="8442222" cy="355269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0FDD4-8D26-8EA1-8997-3D8110BD4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4F74AF-88D6-DA98-2796-A6961A7C3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12</a:t>
            </a:fld>
            <a:endParaRPr lang="en-CL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55FE0D8-BCCA-392C-F748-7F9F1A6483C0}"/>
              </a:ext>
            </a:extLst>
          </p:cNvPr>
          <p:cNvGrpSpPr/>
          <p:nvPr/>
        </p:nvGrpSpPr>
        <p:grpSpPr>
          <a:xfrm>
            <a:off x="2684419" y="347216"/>
            <a:ext cx="6609245" cy="769441"/>
            <a:chOff x="1160418" y="347215"/>
            <a:chExt cx="6609245" cy="769441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F788A85-DD6A-30F5-C083-14513B8AF594}"/>
                </a:ext>
              </a:extLst>
            </p:cNvPr>
            <p:cNvSpPr txBox="1"/>
            <p:nvPr/>
          </p:nvSpPr>
          <p:spPr>
            <a:xfrm>
              <a:off x="1160418" y="347215"/>
              <a:ext cx="660924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For each pair of points                                 and                          </a:t>
              </a:r>
            </a:p>
            <a:p>
              <a:endParaRPr lang="en-US" sz="800" dirty="0">
                <a:latin typeface="Gill Sans MT" panose="020B0502020104020203" pitchFamily="34" charset="77"/>
              </a:endParaRPr>
            </a:p>
            <a:p>
              <a:r>
                <a:rPr lang="en-US" dirty="0">
                  <a:latin typeface="Gill Sans MT" panose="020B0502020104020203" pitchFamily="34" charset="77"/>
                </a:rPr>
                <a:t>we have the </a:t>
              </a:r>
              <a:r>
                <a:rPr lang="en-US" dirty="0" err="1">
                  <a:latin typeface="Gill Sans MT" panose="020B0502020104020203" pitchFamily="34" charset="77"/>
                </a:rPr>
                <a:t>epipolar</a:t>
              </a:r>
              <a:r>
                <a:rPr lang="en-US" dirty="0">
                  <a:latin typeface="Gill Sans MT" panose="020B0502020104020203" pitchFamily="34" charset="77"/>
                </a:rPr>
                <a:t> constraint: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FF7A41E-D9EE-B513-00D7-19D42DC24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93037" y="793694"/>
              <a:ext cx="1288023" cy="277420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9B514E71-B0BA-F7B9-1485-80CF00A012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1343" y="393051"/>
            <a:ext cx="1891389" cy="30629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E9B728F-17D6-CF34-0AE0-881128493C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9869" y="393051"/>
            <a:ext cx="1891389" cy="3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439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73215E-8 2.22428E-6 L -0.0073 -0.57067 " pathEditMode="relative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642650" y="36260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</a:t>
            </a:r>
            <a:r>
              <a:rPr lang="en-US" i="1" dirty="0" err="1">
                <a:latin typeface="Times"/>
                <a:cs typeface="Times"/>
              </a:rPr>
              <a:t>i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= 1 </a:t>
            </a:r>
            <a:r>
              <a:rPr lang="en-US" i="1" dirty="0">
                <a:latin typeface="Times"/>
                <a:cs typeface="Times"/>
              </a:rPr>
              <a:t>… n</a:t>
            </a:r>
            <a:r>
              <a:rPr lang="en-US" dirty="0">
                <a:latin typeface="Times"/>
                <a:cs typeface="Times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01" y="1848719"/>
            <a:ext cx="8745167" cy="338220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948372" y="5520737"/>
            <a:ext cx="2548711" cy="1077218"/>
          </a:xfrm>
          <a:prstGeom prst="rect">
            <a:avLst/>
          </a:prstGeom>
          <a:solidFill>
            <a:srgbClr val="E6E0EC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We can set </a:t>
            </a:r>
            <a:r>
              <a:rPr lang="en-US" sz="2400" dirty="0">
                <a:latin typeface="Times"/>
                <a:cs typeface="Times"/>
              </a:rPr>
              <a:t>F</a:t>
            </a:r>
            <a:r>
              <a:rPr lang="en-US" sz="2400" baseline="-25000" dirty="0">
                <a:latin typeface="Times"/>
                <a:cs typeface="Times"/>
              </a:rPr>
              <a:t>33</a:t>
            </a:r>
            <a:r>
              <a:rPr lang="en-US" sz="2400" dirty="0">
                <a:latin typeface="Gill Sans MT" panose="020B0502020104020203" pitchFamily="34" charset="77"/>
              </a:rPr>
              <a:t> = 1</a:t>
            </a:r>
          </a:p>
          <a:p>
            <a:endParaRPr lang="en-US" sz="2400" dirty="0">
              <a:latin typeface="Gill Sans MT" panose="020B0502020104020203" pitchFamily="34" charset="77"/>
            </a:endParaRPr>
          </a:p>
          <a:p>
            <a:r>
              <a:rPr lang="en-US" sz="1600" dirty="0">
                <a:latin typeface="Gill Sans MT" panose="020B0502020104020203" pitchFamily="34" charset="77"/>
              </a:rPr>
              <a:t>(because F is homogeneous)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CE75A-C41F-4C07-F740-6A146D0F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906ABA-AA9B-0352-C8FC-FF0DC26A2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13</a:t>
            </a:fld>
            <a:endParaRPr lang="en-CL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93FDA2B-44AC-A229-9D48-8F1A01AEF31C}"/>
              </a:ext>
            </a:extLst>
          </p:cNvPr>
          <p:cNvGrpSpPr/>
          <p:nvPr/>
        </p:nvGrpSpPr>
        <p:grpSpPr>
          <a:xfrm>
            <a:off x="2684419" y="347216"/>
            <a:ext cx="6609245" cy="769441"/>
            <a:chOff x="1160418" y="347215"/>
            <a:chExt cx="6609245" cy="769441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FB474D5-C6E7-85A3-2F67-740D8AFC3F9A}"/>
                </a:ext>
              </a:extLst>
            </p:cNvPr>
            <p:cNvSpPr txBox="1"/>
            <p:nvPr/>
          </p:nvSpPr>
          <p:spPr>
            <a:xfrm>
              <a:off x="1160418" y="347215"/>
              <a:ext cx="660924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For each pair of points                                 and                          </a:t>
              </a:r>
            </a:p>
            <a:p>
              <a:endParaRPr lang="en-US" sz="800" dirty="0">
                <a:latin typeface="Gill Sans MT" panose="020B0502020104020203" pitchFamily="34" charset="77"/>
              </a:endParaRPr>
            </a:p>
            <a:p>
              <a:r>
                <a:rPr lang="en-US" dirty="0">
                  <a:latin typeface="Gill Sans MT" panose="020B0502020104020203" pitchFamily="34" charset="77"/>
                </a:rPr>
                <a:t>we have the </a:t>
              </a:r>
              <a:r>
                <a:rPr lang="en-US" dirty="0" err="1">
                  <a:latin typeface="Gill Sans MT" panose="020B0502020104020203" pitchFamily="34" charset="77"/>
                </a:rPr>
                <a:t>epipolar</a:t>
              </a:r>
              <a:r>
                <a:rPr lang="en-US" dirty="0">
                  <a:latin typeface="Gill Sans MT" panose="020B0502020104020203" pitchFamily="34" charset="77"/>
                </a:rPr>
                <a:t> constraint: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E9C78D3D-1101-39D7-69B0-827D09668D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3037" y="793694"/>
              <a:ext cx="1288023" cy="27742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E30FBA23-DCD2-5082-177A-6053FF1FE8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343" y="393051"/>
            <a:ext cx="1891389" cy="3062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8A5C3B-C8A3-9916-FE26-2FD6503785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869" y="393051"/>
            <a:ext cx="1891389" cy="3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872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2101" y="2038653"/>
            <a:ext cx="8745167" cy="300233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060427" y="1375126"/>
            <a:ext cx="1694695" cy="461665"/>
          </a:xfrm>
          <a:prstGeom prst="rect">
            <a:avLst/>
          </a:prstGeom>
          <a:solidFill>
            <a:srgbClr val="E6E0EC"/>
          </a:solidFill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with </a:t>
            </a:r>
            <a:r>
              <a:rPr lang="en-US" sz="2400" dirty="0">
                <a:latin typeface="Times"/>
                <a:cs typeface="Times"/>
              </a:rPr>
              <a:t>F</a:t>
            </a:r>
            <a:r>
              <a:rPr lang="en-US" sz="2400" baseline="-25000" dirty="0">
                <a:latin typeface="Times"/>
                <a:cs typeface="Times"/>
              </a:rPr>
              <a:t>33</a:t>
            </a:r>
            <a:r>
              <a:rPr lang="en-US" sz="2400" dirty="0">
                <a:latin typeface="Gill Sans MT" panose="020B0502020104020203" pitchFamily="34" charset="77"/>
              </a:rPr>
              <a:t> =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2100" y="5109795"/>
            <a:ext cx="148209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"/>
                <a:cs typeface="Times"/>
              </a:rPr>
              <a:t>QF’ </a:t>
            </a:r>
            <a:r>
              <a:rPr lang="en-US" sz="3200" dirty="0">
                <a:latin typeface="Times"/>
                <a:cs typeface="Times"/>
              </a:rPr>
              <a:t>=</a:t>
            </a:r>
            <a:r>
              <a:rPr lang="en-US" sz="3200" b="1" dirty="0">
                <a:latin typeface="Times"/>
                <a:cs typeface="Times"/>
              </a:rPr>
              <a:t> 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2042" y="5109795"/>
            <a:ext cx="3109011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"/>
                <a:cs typeface="Times"/>
              </a:rPr>
              <a:t>F’ </a:t>
            </a:r>
            <a:r>
              <a:rPr lang="en-US" sz="3200" dirty="0">
                <a:latin typeface="Times"/>
                <a:cs typeface="Times"/>
              </a:rPr>
              <a:t>=</a:t>
            </a:r>
            <a:r>
              <a:rPr lang="en-US" sz="3200" b="1" dirty="0">
                <a:latin typeface="Times"/>
                <a:cs typeface="Times"/>
              </a:rPr>
              <a:t> Q</a:t>
            </a:r>
            <a:r>
              <a:rPr lang="en-US" sz="3200" baseline="30000" dirty="0">
                <a:latin typeface="Gill Sans MT" panose="020B0502020104020203" pitchFamily="34" charset="77"/>
                <a:cs typeface="Trebuchet MS"/>
              </a:rPr>
              <a:t>-1</a:t>
            </a:r>
            <a:r>
              <a:rPr lang="en-US" sz="3200" b="1" dirty="0">
                <a:latin typeface="Times"/>
                <a:cs typeface="Times"/>
              </a:rPr>
              <a:t>r    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for n=8</a:t>
            </a:r>
            <a:endParaRPr lang="en-US" sz="2400" b="1" dirty="0">
              <a:latin typeface="Times"/>
              <a:cs typeface="Time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33783" y="5791924"/>
            <a:ext cx="414722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latin typeface="Times"/>
                <a:cs typeface="Times"/>
              </a:rPr>
              <a:t>F’ </a:t>
            </a:r>
            <a:r>
              <a:rPr lang="en-US" sz="3200" dirty="0">
                <a:latin typeface="Times"/>
                <a:cs typeface="Times"/>
              </a:rPr>
              <a:t>=</a:t>
            </a:r>
            <a:r>
              <a:rPr lang="en-US" sz="3200" b="1" dirty="0">
                <a:latin typeface="Times"/>
                <a:cs typeface="Times"/>
              </a:rPr>
              <a:t> [Q</a:t>
            </a:r>
            <a:r>
              <a:rPr lang="en-US" sz="3200" baseline="30000" dirty="0">
                <a:latin typeface="Gill Sans MT" panose="020B0502020104020203" pitchFamily="34" charset="77"/>
                <a:cs typeface="Trebuchet MS"/>
              </a:rPr>
              <a:t>T</a:t>
            </a:r>
            <a:r>
              <a:rPr lang="en-US" sz="3200" b="1" dirty="0">
                <a:latin typeface="Times"/>
                <a:cs typeface="Times"/>
              </a:rPr>
              <a:t>Q</a:t>
            </a:r>
            <a:r>
              <a:rPr lang="en-US" sz="3200" dirty="0">
                <a:latin typeface="Gill Sans MT" panose="020B0502020104020203" pitchFamily="34" charset="77"/>
                <a:cs typeface="Trebuchet MS"/>
              </a:rPr>
              <a:t>]</a:t>
            </a:r>
            <a:r>
              <a:rPr lang="en-US" sz="3200" baseline="30000" dirty="0">
                <a:latin typeface="Gill Sans MT" panose="020B0502020104020203" pitchFamily="34" charset="77"/>
                <a:cs typeface="Trebuchet MS"/>
              </a:rPr>
              <a:t>-1</a:t>
            </a:r>
            <a:r>
              <a:rPr lang="en-US" sz="3200" b="1" dirty="0">
                <a:latin typeface="Times"/>
                <a:cs typeface="Times"/>
              </a:rPr>
              <a:t>Q</a:t>
            </a:r>
            <a:r>
              <a:rPr lang="en-US" sz="3200" baseline="30000" dirty="0">
                <a:latin typeface="Gill Sans MT" panose="020B0502020104020203" pitchFamily="34" charset="77"/>
                <a:cs typeface="Trebuchet MS"/>
              </a:rPr>
              <a:t>T</a:t>
            </a:r>
            <a:r>
              <a:rPr lang="en-US" sz="3200" b="1" dirty="0">
                <a:latin typeface="Times"/>
                <a:cs typeface="Times"/>
              </a:rPr>
              <a:t>r  </a:t>
            </a:r>
            <a:r>
              <a:rPr lang="en-US" sz="2400" dirty="0">
                <a:latin typeface="Gill Sans MT" panose="020B0502020104020203" pitchFamily="34" charset="77"/>
                <a:cs typeface="Trebuchet MS"/>
              </a:rPr>
              <a:t>for n&gt;8</a:t>
            </a:r>
            <a:endParaRPr lang="en-US" sz="2400" b="1" dirty="0">
              <a:latin typeface="Times"/>
              <a:cs typeface="Times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55AA27-74E3-A393-DBB7-22922A004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BE38793-17FA-5C4B-3406-028679DF2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14</a:t>
            </a:fld>
            <a:endParaRPr lang="en-C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C843B-770A-233A-682D-D39BAA3B114D}"/>
              </a:ext>
            </a:extLst>
          </p:cNvPr>
          <p:cNvSpPr txBox="1"/>
          <p:nvPr/>
        </p:nvSpPr>
        <p:spPr>
          <a:xfrm>
            <a:off x="9642650" y="362604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ill Sans MT" panose="020B0502020104020203" pitchFamily="34" charset="77"/>
              </a:rPr>
              <a:t>(</a:t>
            </a:r>
            <a:r>
              <a:rPr lang="en-US" i="1" dirty="0" err="1">
                <a:latin typeface="Times"/>
                <a:cs typeface="Times"/>
              </a:rPr>
              <a:t>i</a:t>
            </a:r>
            <a:r>
              <a:rPr lang="en-US" i="1" dirty="0">
                <a:latin typeface="Times"/>
                <a:cs typeface="Times"/>
              </a:rPr>
              <a:t> </a:t>
            </a:r>
            <a:r>
              <a:rPr lang="en-US" dirty="0">
                <a:latin typeface="Times"/>
                <a:cs typeface="Times"/>
              </a:rPr>
              <a:t>= 1 </a:t>
            </a:r>
            <a:r>
              <a:rPr lang="en-US" i="1" dirty="0">
                <a:latin typeface="Times"/>
                <a:cs typeface="Times"/>
              </a:rPr>
              <a:t>… n</a:t>
            </a:r>
            <a:r>
              <a:rPr lang="en-US" dirty="0">
                <a:latin typeface="Times"/>
                <a:cs typeface="Times"/>
              </a:rPr>
              <a:t>)</a:t>
            </a:r>
            <a:endParaRPr lang="en-US" dirty="0">
              <a:latin typeface="Gill Sans MT" panose="020B0502020104020203" pitchFamily="34" charset="77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7AA1CB6-C60F-A6B7-0841-ABABD4643487}"/>
              </a:ext>
            </a:extLst>
          </p:cNvPr>
          <p:cNvGrpSpPr/>
          <p:nvPr/>
        </p:nvGrpSpPr>
        <p:grpSpPr>
          <a:xfrm>
            <a:off x="2684419" y="347216"/>
            <a:ext cx="6609245" cy="769441"/>
            <a:chOff x="1160418" y="347215"/>
            <a:chExt cx="6609245" cy="76944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F139502-28E1-8861-EA38-5289E92D60A0}"/>
                </a:ext>
              </a:extLst>
            </p:cNvPr>
            <p:cNvSpPr txBox="1"/>
            <p:nvPr/>
          </p:nvSpPr>
          <p:spPr>
            <a:xfrm>
              <a:off x="1160418" y="347215"/>
              <a:ext cx="6609245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Gill Sans MT" panose="020B0502020104020203" pitchFamily="34" charset="77"/>
                </a:rPr>
                <a:t>For each pair of points                                 and                          </a:t>
              </a:r>
            </a:p>
            <a:p>
              <a:endParaRPr lang="en-US" sz="800" dirty="0">
                <a:latin typeface="Gill Sans MT" panose="020B0502020104020203" pitchFamily="34" charset="77"/>
              </a:endParaRPr>
            </a:p>
            <a:p>
              <a:r>
                <a:rPr lang="en-US" dirty="0">
                  <a:latin typeface="Gill Sans MT" panose="020B0502020104020203" pitchFamily="34" charset="77"/>
                </a:rPr>
                <a:t>we have the </a:t>
              </a:r>
              <a:r>
                <a:rPr lang="en-US" dirty="0" err="1">
                  <a:latin typeface="Gill Sans MT" panose="020B0502020104020203" pitchFamily="34" charset="77"/>
                </a:rPr>
                <a:t>epipolar</a:t>
              </a:r>
              <a:r>
                <a:rPr lang="en-US" dirty="0">
                  <a:latin typeface="Gill Sans MT" panose="020B0502020104020203" pitchFamily="34" charset="77"/>
                </a:rPr>
                <a:t> constraint: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E030BCF-CB14-DF92-9AEF-61EAE3627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3037" y="793694"/>
              <a:ext cx="1288023" cy="277420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E826EE7-0C35-44AF-B95B-2B7E2E5E1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1343" y="393051"/>
            <a:ext cx="1891389" cy="30629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2897DB7-3473-EE5F-4E16-7EFCB708A3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869" y="393051"/>
            <a:ext cx="1891389" cy="306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90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8"/>
          <p:cNvSpPr/>
          <p:nvPr/>
        </p:nvSpPr>
        <p:spPr>
          <a:xfrm>
            <a:off x="5148669" y="6052912"/>
            <a:ext cx="2165350" cy="69112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1831975" y="877888"/>
            <a:ext cx="211788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Geometry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:</a:t>
            </a:r>
          </a:p>
        </p:txBody>
      </p:sp>
      <p:sp>
        <p:nvSpPr>
          <p:cNvPr id="3080" name="Freeform 10"/>
          <p:cNvSpPr>
            <a:spLocks/>
          </p:cNvSpPr>
          <p:nvPr/>
        </p:nvSpPr>
        <p:spPr bwMode="auto">
          <a:xfrm>
            <a:off x="4495801" y="1828800"/>
            <a:ext cx="1317625" cy="1824038"/>
          </a:xfrm>
          <a:custGeom>
            <a:avLst/>
            <a:gdLst>
              <a:gd name="T0" fmla="*/ 0 w 830"/>
              <a:gd name="T1" fmla="*/ 273 h 1149"/>
              <a:gd name="T2" fmla="*/ 830 w 830"/>
              <a:gd name="T3" fmla="*/ 0 h 1149"/>
              <a:gd name="T4" fmla="*/ 830 w 830"/>
              <a:gd name="T5" fmla="*/ 869 h 1149"/>
              <a:gd name="T6" fmla="*/ 0 w 830"/>
              <a:gd name="T7" fmla="*/ 1149 h 1149"/>
              <a:gd name="T8" fmla="*/ 0 w 830"/>
              <a:gd name="T9" fmla="*/ 273 h 11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30"/>
              <a:gd name="T16" fmla="*/ 0 h 1149"/>
              <a:gd name="T17" fmla="*/ 830 w 830"/>
              <a:gd name="T18" fmla="*/ 1149 h 11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30" h="1149">
                <a:moveTo>
                  <a:pt x="0" y="273"/>
                </a:moveTo>
                <a:lnTo>
                  <a:pt x="830" y="0"/>
                </a:lnTo>
                <a:lnTo>
                  <a:pt x="830" y="869"/>
                </a:lnTo>
                <a:lnTo>
                  <a:pt x="0" y="1149"/>
                </a:lnTo>
                <a:lnTo>
                  <a:pt x="0" y="273"/>
                </a:lnTo>
                <a:close/>
              </a:path>
            </a:pathLst>
          </a:custGeom>
          <a:solidFill>
            <a:schemeClr val="hlink"/>
          </a:solidFill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1" name="Freeform 11"/>
          <p:cNvSpPr>
            <a:spLocks/>
          </p:cNvSpPr>
          <p:nvPr/>
        </p:nvSpPr>
        <p:spPr bwMode="auto">
          <a:xfrm>
            <a:off x="6461125" y="2098676"/>
            <a:ext cx="1284288" cy="1801813"/>
          </a:xfrm>
          <a:custGeom>
            <a:avLst/>
            <a:gdLst>
              <a:gd name="T0" fmla="*/ 0 w 809"/>
              <a:gd name="T1" fmla="*/ 0 h 1135"/>
              <a:gd name="T2" fmla="*/ 809 w 809"/>
              <a:gd name="T3" fmla="*/ 276 h 1135"/>
              <a:gd name="T4" fmla="*/ 809 w 809"/>
              <a:gd name="T5" fmla="*/ 1135 h 1135"/>
              <a:gd name="T6" fmla="*/ 0 w 809"/>
              <a:gd name="T7" fmla="*/ 843 h 1135"/>
              <a:gd name="T8" fmla="*/ 0 w 809"/>
              <a:gd name="T9" fmla="*/ 0 h 1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09"/>
              <a:gd name="T16" fmla="*/ 0 h 1135"/>
              <a:gd name="T17" fmla="*/ 809 w 809"/>
              <a:gd name="T18" fmla="*/ 1135 h 1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09" h="1135">
                <a:moveTo>
                  <a:pt x="0" y="0"/>
                </a:moveTo>
                <a:lnTo>
                  <a:pt x="809" y="276"/>
                </a:lnTo>
                <a:lnTo>
                  <a:pt x="809" y="1135"/>
                </a:lnTo>
                <a:lnTo>
                  <a:pt x="0" y="843"/>
                </a:lnTo>
                <a:lnTo>
                  <a:pt x="0" y="0"/>
                </a:lnTo>
                <a:close/>
              </a:path>
            </a:pathLst>
          </a:custGeom>
          <a:solidFill>
            <a:srgbClr val="FF9933"/>
          </a:solidFill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460876" y="2408238"/>
            <a:ext cx="3222625" cy="2178050"/>
            <a:chOff x="1850" y="1517"/>
            <a:chExt cx="2030" cy="1372"/>
          </a:xfrm>
        </p:grpSpPr>
        <p:sp>
          <p:nvSpPr>
            <p:cNvPr id="3116" name="Line 13"/>
            <p:cNvSpPr>
              <a:spLocks noChangeShapeType="1"/>
            </p:cNvSpPr>
            <p:nvPr/>
          </p:nvSpPr>
          <p:spPr bwMode="auto">
            <a:xfrm flipV="1">
              <a:off x="1858" y="1517"/>
              <a:ext cx="1284" cy="1363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7" name="Line 14"/>
            <p:cNvSpPr>
              <a:spLocks noChangeShapeType="1"/>
            </p:cNvSpPr>
            <p:nvPr/>
          </p:nvSpPr>
          <p:spPr bwMode="auto">
            <a:xfrm flipV="1">
              <a:off x="1856" y="1608"/>
              <a:ext cx="1399" cy="1279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8" name="Line 15"/>
            <p:cNvSpPr>
              <a:spLocks noChangeShapeType="1"/>
            </p:cNvSpPr>
            <p:nvPr/>
          </p:nvSpPr>
          <p:spPr bwMode="auto">
            <a:xfrm flipV="1">
              <a:off x="1856" y="1695"/>
              <a:ext cx="1531" cy="1190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9" name="Line 16"/>
            <p:cNvSpPr>
              <a:spLocks noChangeShapeType="1"/>
            </p:cNvSpPr>
            <p:nvPr/>
          </p:nvSpPr>
          <p:spPr bwMode="auto">
            <a:xfrm flipV="1">
              <a:off x="1850" y="1781"/>
              <a:ext cx="1666" cy="1108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20" name="Line 17"/>
            <p:cNvSpPr>
              <a:spLocks noChangeShapeType="1"/>
            </p:cNvSpPr>
            <p:nvPr/>
          </p:nvSpPr>
          <p:spPr bwMode="auto">
            <a:xfrm flipV="1">
              <a:off x="1856" y="1875"/>
              <a:ext cx="1800" cy="1010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21" name="Line 18"/>
            <p:cNvSpPr>
              <a:spLocks noChangeShapeType="1"/>
            </p:cNvSpPr>
            <p:nvPr/>
          </p:nvSpPr>
          <p:spPr bwMode="auto">
            <a:xfrm flipV="1">
              <a:off x="1858" y="1957"/>
              <a:ext cx="1903" cy="928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22" name="Line 19"/>
            <p:cNvSpPr>
              <a:spLocks noChangeShapeType="1"/>
            </p:cNvSpPr>
            <p:nvPr/>
          </p:nvSpPr>
          <p:spPr bwMode="auto">
            <a:xfrm flipV="1">
              <a:off x="1853" y="2043"/>
              <a:ext cx="2027" cy="839"/>
            </a:xfrm>
            <a:prstGeom prst="line">
              <a:avLst/>
            </a:prstGeom>
            <a:noFill/>
            <a:ln w="9525">
              <a:solidFill>
                <a:srgbClr val="00FFCC"/>
              </a:solidFill>
              <a:prstDash val="dash"/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52276" name="Line 20"/>
          <p:cNvSpPr>
            <a:spLocks noChangeShapeType="1"/>
          </p:cNvSpPr>
          <p:nvPr/>
        </p:nvSpPr>
        <p:spPr bwMode="auto">
          <a:xfrm>
            <a:off x="5184776" y="2770188"/>
            <a:ext cx="1909763" cy="1828800"/>
          </a:xfrm>
          <a:prstGeom prst="line">
            <a:avLst/>
          </a:prstGeom>
          <a:noFill/>
          <a:ln w="19050">
            <a:solidFill>
              <a:srgbClr val="00FF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52277" name="Line 21"/>
          <p:cNvSpPr>
            <a:spLocks noChangeShapeType="1"/>
          </p:cNvSpPr>
          <p:nvPr/>
        </p:nvSpPr>
        <p:spPr bwMode="auto">
          <a:xfrm>
            <a:off x="6511926" y="2411413"/>
            <a:ext cx="1192213" cy="8382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5" name="Oval 22"/>
          <p:cNvSpPr>
            <a:spLocks noChangeArrowheads="1"/>
          </p:cNvSpPr>
          <p:nvPr/>
        </p:nvSpPr>
        <p:spPr bwMode="auto">
          <a:xfrm>
            <a:off x="7054851" y="4556126"/>
            <a:ext cx="74613" cy="74613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6" name="Oval 23"/>
          <p:cNvSpPr>
            <a:spLocks noChangeArrowheads="1"/>
          </p:cNvSpPr>
          <p:nvPr/>
        </p:nvSpPr>
        <p:spPr bwMode="auto">
          <a:xfrm>
            <a:off x="4433888" y="4541838"/>
            <a:ext cx="74612" cy="74612"/>
          </a:xfrm>
          <a:prstGeom prst="ellipse">
            <a:avLst/>
          </a:prstGeom>
          <a:solidFill>
            <a:srgbClr val="FF99FF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7" name="Oval 24"/>
          <p:cNvSpPr>
            <a:spLocks noChangeArrowheads="1"/>
          </p:cNvSpPr>
          <p:nvPr/>
        </p:nvSpPr>
        <p:spPr bwMode="auto">
          <a:xfrm>
            <a:off x="6877051" y="2646363"/>
            <a:ext cx="74613" cy="7461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8" name="Oval 25"/>
          <p:cNvSpPr>
            <a:spLocks noChangeArrowheads="1"/>
          </p:cNvSpPr>
          <p:nvPr/>
        </p:nvSpPr>
        <p:spPr bwMode="auto">
          <a:xfrm>
            <a:off x="5132388" y="2724151"/>
            <a:ext cx="74612" cy="746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C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9" name="Text Box 26"/>
          <p:cNvSpPr txBox="1">
            <a:spLocks noChangeArrowheads="1"/>
          </p:cNvSpPr>
          <p:nvPr/>
        </p:nvSpPr>
        <p:spPr bwMode="auto">
          <a:xfrm rot="-1092301">
            <a:off x="3021197" y="3856753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1</a:t>
            </a:r>
            <a:endParaRPr lang="de-DE" sz="14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0" name="Text Box 27"/>
          <p:cNvSpPr txBox="1">
            <a:spLocks noChangeArrowheads="1"/>
          </p:cNvSpPr>
          <p:nvPr/>
        </p:nvSpPr>
        <p:spPr bwMode="auto">
          <a:xfrm rot="1387896">
            <a:off x="8005947" y="3913903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de-DE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2</a:t>
            </a:r>
          </a:p>
        </p:txBody>
      </p:sp>
      <p:sp>
        <p:nvSpPr>
          <p:cNvPr id="3091" name="Text Box 28"/>
          <p:cNvSpPr txBox="1">
            <a:spLocks noChangeArrowheads="1"/>
          </p:cNvSpPr>
          <p:nvPr/>
        </p:nvSpPr>
        <p:spPr bwMode="auto">
          <a:xfrm>
            <a:off x="4978400" y="2432051"/>
            <a:ext cx="508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2" name="Text Box 29"/>
          <p:cNvSpPr txBox="1">
            <a:spLocks noChangeArrowheads="1"/>
          </p:cNvSpPr>
          <p:nvPr/>
        </p:nvSpPr>
        <p:spPr bwMode="auto">
          <a:xfrm>
            <a:off x="6807200" y="2357439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endParaRPr sz="1200" noProof="1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4" name="Group 30"/>
          <p:cNvGrpSpPr>
            <a:grpSpLocks/>
          </p:cNvGrpSpPr>
          <p:nvPr/>
        </p:nvGrpSpPr>
        <p:grpSpPr bwMode="auto">
          <a:xfrm>
            <a:off x="5792789" y="3184525"/>
            <a:ext cx="344487" cy="319088"/>
            <a:chOff x="2689" y="2006"/>
            <a:chExt cx="217" cy="201"/>
          </a:xfrm>
        </p:grpSpPr>
        <p:sp>
          <p:nvSpPr>
            <p:cNvPr id="3114" name="Oval 31"/>
            <p:cNvSpPr>
              <a:spLocks noChangeArrowheads="1"/>
            </p:cNvSpPr>
            <p:nvPr/>
          </p:nvSpPr>
          <p:spPr bwMode="auto">
            <a:xfrm>
              <a:off x="2734" y="2160"/>
              <a:ext cx="47" cy="4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15" name="Text Box 32"/>
            <p:cNvSpPr txBox="1">
              <a:spLocks noChangeArrowheads="1"/>
            </p:cNvSpPr>
            <p:nvPr/>
          </p:nvSpPr>
          <p:spPr bwMode="auto">
            <a:xfrm>
              <a:off x="2689" y="2006"/>
              <a:ext cx="21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  <a:spAutoFit/>
            </a:bodyPr>
            <a:lstStyle/>
            <a:p>
              <a:r>
                <a:rPr sz="1200" noProof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M</a:t>
              </a:r>
              <a:endParaRPr lang="de-DE" sz="12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094" name="Text Box 33"/>
          <p:cNvSpPr txBox="1">
            <a:spLocks noChangeArrowheads="1"/>
          </p:cNvSpPr>
          <p:nvPr/>
        </p:nvSpPr>
        <p:spPr bwMode="auto">
          <a:xfrm>
            <a:off x="4270375" y="4246564"/>
            <a:ext cx="3444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5" name="Text Box 34"/>
          <p:cNvSpPr txBox="1">
            <a:spLocks noChangeArrowheads="1"/>
          </p:cNvSpPr>
          <p:nvPr/>
        </p:nvSpPr>
        <p:spPr bwMode="auto">
          <a:xfrm>
            <a:off x="6953250" y="4276725"/>
            <a:ext cx="34448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</a:t>
            </a:r>
            <a:r>
              <a:rPr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de-DE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5" name="Group 35"/>
          <p:cNvGrpSpPr>
            <a:grpSpLocks/>
          </p:cNvGrpSpPr>
          <p:nvPr/>
        </p:nvGrpSpPr>
        <p:grpSpPr bwMode="auto">
          <a:xfrm>
            <a:off x="5657850" y="3228975"/>
            <a:ext cx="666750" cy="642938"/>
            <a:chOff x="2606" y="2034"/>
            <a:chExt cx="420" cy="405"/>
          </a:xfrm>
        </p:grpSpPr>
        <p:grpSp>
          <p:nvGrpSpPr>
            <p:cNvPr id="6" name="Group 36"/>
            <p:cNvGrpSpPr>
              <a:grpSpLocks/>
            </p:cNvGrpSpPr>
            <p:nvPr/>
          </p:nvGrpSpPr>
          <p:grpSpPr bwMode="auto">
            <a:xfrm>
              <a:off x="2739" y="2159"/>
              <a:ext cx="47" cy="47"/>
              <a:chOff x="2352" y="3360"/>
              <a:chExt cx="96" cy="96"/>
            </a:xfrm>
          </p:grpSpPr>
          <p:sp>
            <p:nvSpPr>
              <p:cNvPr id="3110" name="Line 37"/>
              <p:cNvSpPr>
                <a:spLocks noChangeShapeType="1"/>
              </p:cNvSpPr>
              <p:nvPr/>
            </p:nvSpPr>
            <p:spPr bwMode="auto">
              <a:xfrm>
                <a:off x="2352" y="3408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  <p:sp>
            <p:nvSpPr>
              <p:cNvPr id="3111" name="Line 38"/>
              <p:cNvSpPr>
                <a:spLocks noChangeShapeType="1"/>
              </p:cNvSpPr>
              <p:nvPr/>
            </p:nvSpPr>
            <p:spPr bwMode="auto">
              <a:xfrm>
                <a:off x="2400" y="3360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  <p:sp>
            <p:nvSpPr>
              <p:cNvPr id="3112" name="Line 39"/>
              <p:cNvSpPr>
                <a:spLocks noChangeShapeType="1"/>
              </p:cNvSpPr>
              <p:nvPr/>
            </p:nvSpPr>
            <p:spPr bwMode="auto">
              <a:xfrm flipH="1">
                <a:off x="2352" y="3360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  <p:sp>
            <p:nvSpPr>
              <p:cNvPr id="3113" name="Line 40"/>
              <p:cNvSpPr>
                <a:spLocks noChangeShapeType="1"/>
              </p:cNvSpPr>
              <p:nvPr/>
            </p:nvSpPr>
            <p:spPr bwMode="auto">
              <a:xfrm>
                <a:off x="2352" y="3360"/>
                <a:ext cx="96" cy="96"/>
              </a:xfrm>
              <a:prstGeom prst="line">
                <a:avLst/>
              </a:prstGeom>
              <a:noFill/>
              <a:ln w="952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s-ES_tradnl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endParaRPr>
              </a:p>
            </p:txBody>
          </p:sp>
        </p:grpSp>
        <p:sp>
          <p:nvSpPr>
            <p:cNvPr id="3104" name="AutoShape 41"/>
            <p:cNvSpPr>
              <a:spLocks noChangeArrowheads="1"/>
            </p:cNvSpPr>
            <p:nvPr/>
          </p:nvSpPr>
          <p:spPr bwMode="auto">
            <a:xfrm>
              <a:off x="2979" y="2392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5" name="AutoShape 42"/>
            <p:cNvSpPr>
              <a:spLocks noChangeArrowheads="1"/>
            </p:cNvSpPr>
            <p:nvPr/>
          </p:nvSpPr>
          <p:spPr bwMode="auto">
            <a:xfrm>
              <a:off x="2921" y="2334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6" name="AutoShape 43"/>
            <p:cNvSpPr>
              <a:spLocks noChangeArrowheads="1"/>
            </p:cNvSpPr>
            <p:nvPr/>
          </p:nvSpPr>
          <p:spPr bwMode="auto">
            <a:xfrm>
              <a:off x="2866" y="2282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7" name="AutoShape 44"/>
            <p:cNvSpPr>
              <a:spLocks noChangeArrowheads="1"/>
            </p:cNvSpPr>
            <p:nvPr/>
          </p:nvSpPr>
          <p:spPr bwMode="auto">
            <a:xfrm>
              <a:off x="2803" y="2217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8" name="AutoShape 45"/>
            <p:cNvSpPr>
              <a:spLocks noChangeArrowheads="1"/>
            </p:cNvSpPr>
            <p:nvPr/>
          </p:nvSpPr>
          <p:spPr bwMode="auto">
            <a:xfrm>
              <a:off x="2673" y="2094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9" name="AutoShape 46"/>
            <p:cNvSpPr>
              <a:spLocks noChangeArrowheads="1"/>
            </p:cNvSpPr>
            <p:nvPr/>
          </p:nvSpPr>
          <p:spPr bwMode="auto">
            <a:xfrm>
              <a:off x="2606" y="2034"/>
              <a:ext cx="47" cy="47"/>
            </a:xfrm>
            <a:prstGeom prst="star4">
              <a:avLst>
                <a:gd name="adj" fmla="val 0"/>
              </a:avLst>
            </a:prstGeom>
            <a:solidFill>
              <a:srgbClr val="EAEAEA"/>
            </a:solidFill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C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grpSp>
        <p:nvGrpSpPr>
          <p:cNvPr id="7" name="Group 47"/>
          <p:cNvGrpSpPr>
            <a:grpSpLocks/>
          </p:cNvGrpSpPr>
          <p:nvPr/>
        </p:nvGrpSpPr>
        <p:grpSpPr bwMode="auto">
          <a:xfrm>
            <a:off x="7429505" y="2901955"/>
            <a:ext cx="1327151" cy="276226"/>
            <a:chOff x="3720" y="1828"/>
            <a:chExt cx="836" cy="174"/>
          </a:xfrm>
        </p:grpSpPr>
        <p:sp>
          <p:nvSpPr>
            <p:cNvPr id="3101" name="Text Box 48"/>
            <p:cNvSpPr txBox="1">
              <a:spLocks noChangeArrowheads="1"/>
            </p:cNvSpPr>
            <p:nvPr/>
          </p:nvSpPr>
          <p:spPr bwMode="auto">
            <a:xfrm>
              <a:off x="3954" y="1828"/>
              <a:ext cx="602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r>
                <a:rPr lang="de-DE" sz="1200" dirty="0" err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Epipolar</a:t>
              </a:r>
              <a:r>
                <a:rPr lang="de-DE" sz="1200" dirty="0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 </a:t>
              </a:r>
              <a:r>
                <a:rPr lang="de-DE" sz="1200" dirty="0" err="1">
                  <a:solidFill>
                    <a:srgbClr val="10253F"/>
                  </a:solidFill>
                  <a:latin typeface="Gill Sans MT" panose="020B0502020104020203" pitchFamily="34" charset="77"/>
                  <a:cs typeface="Trebuchet MS"/>
                </a:rPr>
                <a:t>line</a:t>
              </a:r>
              <a:endParaRPr lang="de-DE" sz="12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  <p:sp>
          <p:nvSpPr>
            <p:cNvPr id="3102" name="Line 49"/>
            <p:cNvSpPr>
              <a:spLocks noChangeShapeType="1"/>
            </p:cNvSpPr>
            <p:nvPr/>
          </p:nvSpPr>
          <p:spPr bwMode="auto">
            <a:xfrm>
              <a:off x="3720" y="1925"/>
              <a:ext cx="254" cy="0"/>
            </a:xfrm>
            <a:prstGeom prst="line">
              <a:avLst/>
            </a:prstGeom>
            <a:noFill/>
            <a:ln w="9525">
              <a:solidFill>
                <a:srgbClr val="4F81BD"/>
              </a:solidFill>
              <a:round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s-ES_tradnl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endParaRPr>
            </a:p>
          </p:txBody>
        </p:sp>
      </p:grpSp>
      <p:sp>
        <p:nvSpPr>
          <p:cNvPr id="3098" name="Line 50"/>
          <p:cNvSpPr>
            <a:spLocks noChangeShapeType="1"/>
          </p:cNvSpPr>
          <p:nvPr/>
        </p:nvSpPr>
        <p:spPr bwMode="auto">
          <a:xfrm flipH="1" flipV="1">
            <a:off x="7780338" y="3841751"/>
            <a:ext cx="196850" cy="87313"/>
          </a:xfrm>
          <a:prstGeom prst="line">
            <a:avLst/>
          </a:prstGeom>
          <a:noFill/>
          <a:ln w="3175">
            <a:solidFill>
              <a:srgbClr val="4F81BD"/>
            </a:solidFill>
            <a:round/>
            <a:headEnd/>
            <a:tailEnd type="triangl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9" name="Line 51"/>
          <p:cNvSpPr>
            <a:spLocks noChangeShapeType="1"/>
          </p:cNvSpPr>
          <p:nvPr/>
        </p:nvSpPr>
        <p:spPr bwMode="auto">
          <a:xfrm flipV="1">
            <a:off x="4225926" y="3619501"/>
            <a:ext cx="238125" cy="80963"/>
          </a:xfrm>
          <a:prstGeom prst="line">
            <a:avLst/>
          </a:prstGeom>
          <a:noFill/>
          <a:ln w="3175">
            <a:solidFill>
              <a:srgbClr val="4F81BD"/>
            </a:solidFill>
            <a:round/>
            <a:headEnd/>
            <a:tailEnd type="triangle" w="sm" len="sm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s-ES_tradnl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52308" name="Text Box 52"/>
          <p:cNvSpPr txBox="1">
            <a:spLocks noChangeArrowheads="1"/>
          </p:cNvSpPr>
          <p:nvPr/>
        </p:nvSpPr>
        <p:spPr bwMode="auto">
          <a:xfrm>
            <a:off x="2159000" y="5135564"/>
            <a:ext cx="468589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Constraint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:</a:t>
            </a: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	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If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y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are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corresponding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points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</a:p>
          <a:p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	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then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lies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on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the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</a:t>
            </a:r>
            <a:r>
              <a:rPr lang="es-E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s-E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line of m</a:t>
            </a:r>
            <a:r>
              <a:rPr lang="es-E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endParaRPr lang="es-E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5447800" y="767979"/>
            <a:ext cx="1286224" cy="1055395"/>
            <a:chOff x="3923800" y="767978"/>
            <a:chExt cx="1286224" cy="1055395"/>
          </a:xfrm>
        </p:grpSpPr>
        <p:sp>
          <p:nvSpPr>
            <p:cNvPr id="13" name="Freeform 12"/>
            <p:cNvSpPr/>
            <p:nvPr/>
          </p:nvSpPr>
          <p:spPr>
            <a:xfrm>
              <a:off x="3923800" y="1251265"/>
              <a:ext cx="1286224" cy="572108"/>
            </a:xfrm>
            <a:custGeom>
              <a:avLst/>
              <a:gdLst>
                <a:gd name="connsiteX0" fmla="*/ 0 w 1286224"/>
                <a:gd name="connsiteY0" fmla="*/ 409307 h 572108"/>
                <a:gd name="connsiteX1" fmla="*/ 651253 w 1286224"/>
                <a:gd name="connsiteY1" fmla="*/ 2304 h 572108"/>
                <a:gd name="connsiteX2" fmla="*/ 1286224 w 1286224"/>
                <a:gd name="connsiteY2" fmla="*/ 572108 h 57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6224" h="572108">
                  <a:moveTo>
                    <a:pt x="0" y="409307"/>
                  </a:moveTo>
                  <a:cubicBezTo>
                    <a:pt x="218441" y="192239"/>
                    <a:pt x="436882" y="-24829"/>
                    <a:pt x="651253" y="2304"/>
                  </a:cubicBezTo>
                  <a:cubicBezTo>
                    <a:pt x="865624" y="29437"/>
                    <a:pt x="1286224" y="572108"/>
                    <a:pt x="1286224" y="572108"/>
                  </a:cubicBezTo>
                </a:path>
              </a:pathLst>
            </a:custGeom>
            <a:ln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0830" y="767978"/>
              <a:ext cx="304800" cy="317500"/>
            </a:xfrm>
            <a:prstGeom prst="rect">
              <a:avLst/>
            </a:prstGeom>
          </p:spPr>
        </p:pic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39" y="2886517"/>
            <a:ext cx="1376069" cy="32617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5469" y="6166872"/>
            <a:ext cx="4405798" cy="41029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6466" y="3244479"/>
            <a:ext cx="1376069" cy="28409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7E247-B88F-F676-8C38-804B2C1FD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A52D8C-F068-7C99-599D-68B2B88D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15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69415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5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52276" grpId="0" animBg="1"/>
      <p:bldP spid="352277" grpId="0" animBg="1"/>
      <p:bldP spid="35230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6409018" y="2443071"/>
            <a:ext cx="1299882" cy="15389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3524624" y="2460807"/>
            <a:ext cx="1299882" cy="1538941"/>
          </a:xfrm>
          <a:prstGeom prst="rect">
            <a:avLst/>
          </a:prstGeom>
          <a:solidFill>
            <a:srgbClr val="DCE6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960471" y="2448547"/>
            <a:ext cx="1299882" cy="1538941"/>
          </a:xfrm>
          <a:prstGeom prst="rect">
            <a:avLst/>
          </a:prstGeom>
          <a:solidFill>
            <a:srgbClr val="CCFFC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ill Sans MT" panose="020B0502020104020203" pitchFamily="34" charset="77"/>
            </a:endParaRPr>
          </a:p>
        </p:txBody>
      </p:sp>
      <p:sp>
        <p:nvSpPr>
          <p:cNvPr id="3079" name="Text Box 9"/>
          <p:cNvSpPr txBox="1">
            <a:spLocks noChangeArrowheads="1"/>
          </p:cNvSpPr>
          <p:nvPr/>
        </p:nvSpPr>
        <p:spPr bwMode="auto">
          <a:xfrm>
            <a:off x="1831975" y="877888"/>
            <a:ext cx="313374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 err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Epipolar</a:t>
            </a:r>
            <a:r>
              <a: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 Geometry for 3 views:</a:t>
            </a:r>
          </a:p>
        </p:txBody>
      </p:sp>
      <p:sp>
        <p:nvSpPr>
          <p:cNvPr id="3087" name="Oval 24"/>
          <p:cNvSpPr>
            <a:spLocks noChangeArrowheads="1"/>
          </p:cNvSpPr>
          <p:nvPr/>
        </p:nvSpPr>
        <p:spPr bwMode="auto">
          <a:xfrm>
            <a:off x="6877051" y="3242203"/>
            <a:ext cx="74613" cy="74612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8" name="Oval 25"/>
          <p:cNvSpPr>
            <a:spLocks noChangeArrowheads="1"/>
          </p:cNvSpPr>
          <p:nvPr/>
        </p:nvSpPr>
        <p:spPr bwMode="auto">
          <a:xfrm>
            <a:off x="5288096" y="3084791"/>
            <a:ext cx="74612" cy="74613"/>
          </a:xfrm>
          <a:prstGeom prst="ellipse">
            <a:avLst/>
          </a:prstGeom>
          <a:solidFill>
            <a:srgbClr val="33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89" name="Text Box 26"/>
          <p:cNvSpPr txBox="1">
            <a:spLocks noChangeArrowheads="1"/>
          </p:cNvSpPr>
          <p:nvPr/>
        </p:nvSpPr>
        <p:spPr bwMode="auto">
          <a:xfrm>
            <a:off x="3486677" y="3754957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1</a:t>
            </a:r>
            <a:endParaRPr lang="en-US" sz="14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0" name="Text Box 27"/>
          <p:cNvSpPr txBox="1">
            <a:spLocks noChangeArrowheads="1"/>
          </p:cNvSpPr>
          <p:nvPr/>
        </p:nvSpPr>
        <p:spPr bwMode="auto">
          <a:xfrm>
            <a:off x="6445199" y="3729273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3</a:t>
            </a:r>
          </a:p>
        </p:txBody>
      </p:sp>
      <p:sp>
        <p:nvSpPr>
          <p:cNvPr id="3091" name="Text Box 28"/>
          <p:cNvSpPr txBox="1">
            <a:spLocks noChangeArrowheads="1"/>
          </p:cNvSpPr>
          <p:nvPr/>
        </p:nvSpPr>
        <p:spPr bwMode="auto">
          <a:xfrm>
            <a:off x="5133689" y="2752556"/>
            <a:ext cx="508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n-US"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</a:t>
            </a:r>
            <a:endParaRPr lang="en-US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92" name="Text Box 29"/>
          <p:cNvSpPr txBox="1">
            <a:spLocks noChangeArrowheads="1"/>
          </p:cNvSpPr>
          <p:nvPr/>
        </p:nvSpPr>
        <p:spPr bwMode="auto">
          <a:xfrm>
            <a:off x="6807200" y="2953279"/>
            <a:ext cx="6223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n-US"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3</a:t>
            </a:r>
            <a:endParaRPr lang="en-US" sz="1200" noProof="1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52308" name="Text Box 52"/>
          <p:cNvSpPr txBox="1">
            <a:spLocks noChangeArrowheads="1"/>
          </p:cNvSpPr>
          <p:nvPr/>
        </p:nvSpPr>
        <p:spPr bwMode="auto">
          <a:xfrm>
            <a:off x="2159000" y="5135564"/>
            <a:ext cx="583095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Problem:</a:t>
            </a:r>
          </a:p>
          <a:p>
            <a:r>
              <a: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	Given  m</a:t>
            </a:r>
            <a:r>
              <a:rPr lang="en-U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r>
              <a: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, m</a:t>
            </a:r>
            <a:r>
              <a:rPr lang="en-U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2 </a:t>
            </a:r>
            <a:r>
              <a: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(and projection matrices A, B and C)</a:t>
            </a:r>
          </a:p>
          <a:p>
            <a:r>
              <a:rPr lang="en-US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	find m</a:t>
            </a:r>
            <a:r>
              <a:rPr lang="en-US" baseline="-25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3</a:t>
            </a:r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8" name="Oval 25"/>
          <p:cNvSpPr>
            <a:spLocks noChangeArrowheads="1"/>
          </p:cNvSpPr>
          <p:nvPr/>
        </p:nvSpPr>
        <p:spPr bwMode="auto">
          <a:xfrm>
            <a:off x="3820553" y="3352861"/>
            <a:ext cx="74612" cy="74613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3666565" y="3060761"/>
            <a:ext cx="50800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2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m</a:t>
            </a:r>
            <a:r>
              <a:rPr lang="en-US" sz="1200" baseline="-25000" noProof="1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1</a:t>
            </a:r>
            <a:endParaRPr lang="en-US" sz="1200" dirty="0">
              <a:solidFill>
                <a:srgbClr val="10253F"/>
              </a:solidFill>
              <a:latin typeface="Gill Sans MT" panose="020B0502020104020203" pitchFamily="34" charset="77"/>
              <a:cs typeface="Trebuchet MS"/>
            </a:endParaRP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5133689" y="3735791"/>
            <a:ext cx="58541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0" dirty="0">
                <a:solidFill>
                  <a:srgbClr val="10253F"/>
                </a:solidFill>
                <a:latin typeface="Gill Sans MT" panose="020B0502020104020203" pitchFamily="34" charset="77"/>
                <a:cs typeface="Trebuchet MS"/>
              </a:rPr>
              <a:t>Image 2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8337177" y="4788648"/>
            <a:ext cx="2211294" cy="1374589"/>
            <a:chOff x="6813177" y="3242233"/>
            <a:chExt cx="2211294" cy="1374589"/>
          </a:xfrm>
        </p:grpSpPr>
        <p:sp>
          <p:nvSpPr>
            <p:cNvPr id="37" name="Rectangle 36"/>
            <p:cNvSpPr/>
            <p:nvPr/>
          </p:nvSpPr>
          <p:spPr>
            <a:xfrm>
              <a:off x="6813177" y="3242233"/>
              <a:ext cx="2211294" cy="1374589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38" name="Picture 3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26941" y="3376704"/>
              <a:ext cx="1609165" cy="1109769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3946" y="6163236"/>
            <a:ext cx="2908300" cy="406400"/>
          </a:xfrm>
          <a:prstGeom prst="rect">
            <a:avLst/>
          </a:prstGeom>
        </p:spPr>
      </p:pic>
      <p:grpSp>
        <p:nvGrpSpPr>
          <p:cNvPr id="18" name="Group 17"/>
          <p:cNvGrpSpPr/>
          <p:nvPr/>
        </p:nvGrpSpPr>
        <p:grpSpPr>
          <a:xfrm>
            <a:off x="2143405" y="1540313"/>
            <a:ext cx="8257615" cy="2959341"/>
            <a:chOff x="619404" y="1540312"/>
            <a:chExt cx="8257615" cy="2959341"/>
          </a:xfrm>
        </p:grpSpPr>
        <p:sp>
          <p:nvSpPr>
            <p:cNvPr id="46" name="Freeform 45"/>
            <p:cNvSpPr/>
            <p:nvPr/>
          </p:nvSpPr>
          <p:spPr>
            <a:xfrm>
              <a:off x="2620935" y="1975667"/>
              <a:ext cx="3284565" cy="392105"/>
            </a:xfrm>
            <a:custGeom>
              <a:avLst/>
              <a:gdLst>
                <a:gd name="connsiteX0" fmla="*/ 0 w 1286224"/>
                <a:gd name="connsiteY0" fmla="*/ 409307 h 572108"/>
                <a:gd name="connsiteX1" fmla="*/ 651253 w 1286224"/>
                <a:gd name="connsiteY1" fmla="*/ 2304 h 572108"/>
                <a:gd name="connsiteX2" fmla="*/ 1286224 w 1286224"/>
                <a:gd name="connsiteY2" fmla="*/ 572108 h 57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6224" h="572108">
                  <a:moveTo>
                    <a:pt x="0" y="409307"/>
                  </a:moveTo>
                  <a:cubicBezTo>
                    <a:pt x="218441" y="192239"/>
                    <a:pt x="436882" y="-24829"/>
                    <a:pt x="651253" y="2304"/>
                  </a:cubicBezTo>
                  <a:cubicBezTo>
                    <a:pt x="865624" y="29437"/>
                    <a:pt x="1286224" y="572108"/>
                    <a:pt x="1286224" y="572108"/>
                  </a:cubicBezTo>
                </a:path>
              </a:pathLst>
            </a:custGeom>
            <a:ln>
              <a:solidFill>
                <a:srgbClr val="FF0000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06955" y="1540312"/>
              <a:ext cx="673100" cy="39370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7819" y="2811160"/>
              <a:ext cx="2489200" cy="406400"/>
            </a:xfrm>
            <a:prstGeom prst="rect">
              <a:avLst/>
            </a:prstGeom>
          </p:spPr>
        </p:pic>
        <p:cxnSp>
          <p:nvCxnSpPr>
            <p:cNvPr id="12" name="Straight Connector 11"/>
            <p:cNvCxnSpPr/>
            <p:nvPr/>
          </p:nvCxnSpPr>
          <p:spPr>
            <a:xfrm flipV="1">
              <a:off x="4885018" y="3060760"/>
              <a:ext cx="1299882" cy="366713"/>
            </a:xfrm>
            <a:prstGeom prst="line">
              <a:avLst/>
            </a:prstGeom>
            <a:ln w="6350" cmpd="sng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6" name="Picture 15"/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19404" y="4170826"/>
              <a:ext cx="3481739" cy="328827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2160457" y="1256473"/>
            <a:ext cx="8215557" cy="3629860"/>
            <a:chOff x="636456" y="1256473"/>
            <a:chExt cx="8215557" cy="3629860"/>
          </a:xfrm>
        </p:grpSpPr>
        <p:sp>
          <p:nvSpPr>
            <p:cNvPr id="42" name="Freeform 41"/>
            <p:cNvSpPr/>
            <p:nvPr/>
          </p:nvSpPr>
          <p:spPr>
            <a:xfrm>
              <a:off x="3923800" y="1847105"/>
              <a:ext cx="1286224" cy="572108"/>
            </a:xfrm>
            <a:custGeom>
              <a:avLst/>
              <a:gdLst>
                <a:gd name="connsiteX0" fmla="*/ 0 w 1286224"/>
                <a:gd name="connsiteY0" fmla="*/ 409307 h 572108"/>
                <a:gd name="connsiteX1" fmla="*/ 651253 w 1286224"/>
                <a:gd name="connsiteY1" fmla="*/ 2304 h 572108"/>
                <a:gd name="connsiteX2" fmla="*/ 1286224 w 1286224"/>
                <a:gd name="connsiteY2" fmla="*/ 572108 h 572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86224" h="572108">
                  <a:moveTo>
                    <a:pt x="0" y="409307"/>
                  </a:moveTo>
                  <a:cubicBezTo>
                    <a:pt x="218441" y="192239"/>
                    <a:pt x="436882" y="-24829"/>
                    <a:pt x="651253" y="2304"/>
                  </a:cubicBezTo>
                  <a:cubicBezTo>
                    <a:pt x="865624" y="29437"/>
                    <a:pt x="1286224" y="572108"/>
                    <a:pt x="1286224" y="572108"/>
                  </a:cubicBezTo>
                </a:path>
              </a:pathLst>
            </a:custGeom>
            <a:ln>
              <a:solidFill>
                <a:srgbClr val="0000FF"/>
              </a:solidFill>
              <a:headEnd type="none"/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Gill Sans MT" panose="020B0502020104020203" pitchFamily="34" charset="77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229100" y="1256473"/>
              <a:ext cx="673100" cy="3937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350113" y="3593526"/>
              <a:ext cx="2501900" cy="406400"/>
            </a:xfrm>
            <a:prstGeom prst="rect">
              <a:avLst/>
            </a:prstGeom>
          </p:spPr>
        </p:pic>
        <p:cxnSp>
          <p:nvCxnSpPr>
            <p:cNvPr id="48" name="Straight Connector 47"/>
            <p:cNvCxnSpPr/>
            <p:nvPr/>
          </p:nvCxnSpPr>
          <p:spPr>
            <a:xfrm>
              <a:off x="4885018" y="3013874"/>
              <a:ext cx="1299882" cy="699718"/>
            </a:xfrm>
            <a:prstGeom prst="line">
              <a:avLst/>
            </a:prstGeom>
            <a:ln w="6350" cmpd="sng">
              <a:solidFill>
                <a:srgbClr val="3366FF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6456" y="4562701"/>
              <a:ext cx="3481233" cy="323632"/>
            </a:xfrm>
            <a:prstGeom prst="rect">
              <a:avLst/>
            </a:prstGeom>
          </p:spPr>
        </p:pic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BDC1BD-1567-9BD8-5E22-E35A5A530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(c) D.Mery - CV02E</a:t>
            </a:r>
            <a:endParaRPr lang="en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C0538-4116-FCB4-91FE-2FF2CE4AF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6AE8E3-C79C-E14F-9140-34B0C7F543F1}" type="slidenum">
              <a:rPr lang="en-CL" smtClean="0"/>
              <a:t>16</a:t>
            </a:fld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633135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</TotalTime>
  <Words>584</Words>
  <Application>Microsoft Macintosh PowerPoint</Application>
  <PresentationFormat>Widescreen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Courier</vt:lpstr>
      <vt:lpstr>Gill Sans MT</vt:lpstr>
      <vt:lpstr>Times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Domingo Mery</dc:creator>
  <cp:lastModifiedBy>Domingo Mery</cp:lastModifiedBy>
  <cp:revision>22</cp:revision>
  <dcterms:created xsi:type="dcterms:W3CDTF">2026-03-08T16:41:49Z</dcterms:created>
  <dcterms:modified xsi:type="dcterms:W3CDTF">2026-08-16T14:58:19Z</dcterms:modified>
</cp:coreProperties>
</file>