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mov" ContentType="video/quicktime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2"/>
  </p:notesMasterIdLst>
  <p:sldIdLst>
    <p:sldId id="257" r:id="rId2"/>
    <p:sldId id="300" r:id="rId3"/>
    <p:sldId id="443" r:id="rId4"/>
    <p:sldId id="444" r:id="rId5"/>
    <p:sldId id="445" r:id="rId6"/>
    <p:sldId id="446" r:id="rId7"/>
    <p:sldId id="447" r:id="rId8"/>
    <p:sldId id="448" r:id="rId9"/>
    <p:sldId id="449" r:id="rId10"/>
    <p:sldId id="450" r:id="rId11"/>
    <p:sldId id="451" r:id="rId12"/>
    <p:sldId id="452" r:id="rId13"/>
    <p:sldId id="453" r:id="rId14"/>
    <p:sldId id="454" r:id="rId15"/>
    <p:sldId id="455" r:id="rId16"/>
    <p:sldId id="707" r:id="rId17"/>
    <p:sldId id="653" r:id="rId18"/>
    <p:sldId id="654" r:id="rId19"/>
    <p:sldId id="685" r:id="rId20"/>
    <p:sldId id="686" r:id="rId21"/>
    <p:sldId id="655" r:id="rId22"/>
    <p:sldId id="688" r:id="rId23"/>
    <p:sldId id="689" r:id="rId24"/>
    <p:sldId id="690" r:id="rId25"/>
    <p:sldId id="691" r:id="rId26"/>
    <p:sldId id="692" r:id="rId27"/>
    <p:sldId id="693" r:id="rId28"/>
    <p:sldId id="694" r:id="rId29"/>
    <p:sldId id="661" r:id="rId30"/>
    <p:sldId id="695" r:id="rId31"/>
    <p:sldId id="700" r:id="rId32"/>
    <p:sldId id="696" r:id="rId33"/>
    <p:sldId id="697" r:id="rId34"/>
    <p:sldId id="698" r:id="rId35"/>
    <p:sldId id="702" r:id="rId36"/>
    <p:sldId id="701" r:id="rId37"/>
    <p:sldId id="703" r:id="rId38"/>
    <p:sldId id="704" r:id="rId39"/>
    <p:sldId id="705" r:id="rId40"/>
    <p:sldId id="706" r:id="rId41"/>
  </p:sldIdLst>
  <p:sldSz cx="12192000" cy="6858000"/>
  <p:notesSz cx="6858000" cy="9144000"/>
  <p:defaultTextStyle>
    <a:defPPr>
      <a:defRPr lang="en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121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157"/>
    <p:restoredTop sz="94658"/>
  </p:normalViewPr>
  <p:slideViewPr>
    <p:cSldViewPr snapToGrid="0">
      <p:cViewPr varScale="1">
        <p:scale>
          <a:sx n="120" d="100"/>
          <a:sy n="120" d="100"/>
        </p:scale>
        <p:origin x="5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Gill Sans MT" panose="020B0502020104020203" pitchFamily="34" charset="77"/>
              </a:defRPr>
            </a:lvl1pPr>
          </a:lstStyle>
          <a:p>
            <a:endParaRPr lang="en-CL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Gill Sans MT" panose="020B0502020104020203" pitchFamily="34" charset="77"/>
              </a:defRPr>
            </a:lvl1pPr>
          </a:lstStyle>
          <a:p>
            <a:fld id="{1249748F-0FE7-C64C-B0B9-9306A54D4824}" type="datetimeFigureOut">
              <a:rPr lang="en-CL" smtClean="0"/>
              <a:pPr/>
              <a:t>16-08-26</a:t>
            </a:fld>
            <a:endParaRPr lang="en-CL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L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Gill Sans MT" panose="020B0502020104020203" pitchFamily="34" charset="77"/>
              </a:defRPr>
            </a:lvl1pPr>
          </a:lstStyle>
          <a:p>
            <a:endParaRPr lang="en-CL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Gill Sans MT" panose="020B0502020104020203" pitchFamily="34" charset="77"/>
              </a:defRPr>
            </a:lvl1pPr>
          </a:lstStyle>
          <a:p>
            <a:fld id="{8C36E6B2-EC45-1147-8496-DFA2586CC8C4}" type="slidenum">
              <a:rPr lang="en-CL" smtClean="0"/>
              <a:pPr/>
              <a:t>‹#›</a:t>
            </a:fld>
            <a:endParaRPr lang="en-CL" dirty="0"/>
          </a:p>
        </p:txBody>
      </p:sp>
    </p:spTree>
    <p:extLst>
      <p:ext uri="{BB962C8B-B14F-4D97-AF65-F5344CB8AC3E}">
        <p14:creationId xmlns:p14="http://schemas.microsoft.com/office/powerpoint/2010/main" val="30345710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Gill Sans MT" panose="020B0502020104020203" pitchFamily="34" charset="77"/>
        <a:ea typeface="+mn-ea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50EC52F-017D-2940-B128-9438585181A6}" type="slidenum">
              <a:rPr lang="en-US"/>
              <a:pPr/>
              <a:t>3</a:t>
            </a:fld>
            <a:endParaRPr lang="en-US"/>
          </a:p>
        </p:txBody>
      </p:sp>
      <p:sp>
        <p:nvSpPr>
          <p:cNvPr id="1166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6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50EC52F-017D-2940-B128-9438585181A6}" type="slidenum">
              <a:rPr lang="en-US"/>
              <a:pPr/>
              <a:t>4</a:t>
            </a:fld>
            <a:endParaRPr lang="en-US"/>
          </a:p>
        </p:txBody>
      </p:sp>
      <p:sp>
        <p:nvSpPr>
          <p:cNvPr id="1166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6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50EC52F-017D-2940-B128-9438585181A6}" type="slidenum">
              <a:rPr lang="en-US"/>
              <a:pPr/>
              <a:t>5</a:t>
            </a:fld>
            <a:endParaRPr lang="en-US"/>
          </a:p>
        </p:txBody>
      </p:sp>
      <p:sp>
        <p:nvSpPr>
          <p:cNvPr id="1166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6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260DD4D-D46A-D149-809A-2A4346AC2FB8}" type="slidenum">
              <a:rPr lang="en-US"/>
              <a:pPr/>
              <a:t>6</a:t>
            </a:fld>
            <a:endParaRPr lang="en-US"/>
          </a:p>
        </p:txBody>
      </p:sp>
      <p:sp>
        <p:nvSpPr>
          <p:cNvPr id="1178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8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D2F551F-723D-204B-BD70-5B889A330B08}" type="slidenum">
              <a:rPr lang="en-US"/>
              <a:pPr/>
              <a:t>7</a:t>
            </a:fld>
            <a:endParaRPr lang="en-US"/>
          </a:p>
        </p:txBody>
      </p:sp>
      <p:sp>
        <p:nvSpPr>
          <p:cNvPr id="1180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0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6AE300F-C33D-884A-813C-39BD3C0B652F}" type="slidenum">
              <a:rPr lang="en-US"/>
              <a:pPr/>
              <a:t>8</a:t>
            </a:fld>
            <a:endParaRPr lang="en-US"/>
          </a:p>
        </p:txBody>
      </p:sp>
      <p:sp>
        <p:nvSpPr>
          <p:cNvPr id="1182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2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3B7A214-F39A-2F4F-BC6E-D8C8A661A1FE}" type="slidenum">
              <a:rPr lang="en-US"/>
              <a:pPr/>
              <a:t>9</a:t>
            </a:fld>
            <a:endParaRPr lang="en-US"/>
          </a:p>
        </p:txBody>
      </p:sp>
      <p:sp>
        <p:nvSpPr>
          <p:cNvPr id="1184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4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687273D-03FF-EC46-A2EE-87E73A225A66}" type="slidenum">
              <a:rPr lang="en-US"/>
              <a:pPr/>
              <a:t>10</a:t>
            </a:fld>
            <a:endParaRPr lang="en-US"/>
          </a:p>
        </p:txBody>
      </p:sp>
      <p:sp>
        <p:nvSpPr>
          <p:cNvPr id="1186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6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8C9CF64-9EF9-6442-A098-A1B3EC8F163B}" type="slidenum">
              <a:rPr lang="en-US"/>
              <a:pPr/>
              <a:t>11</a:t>
            </a:fld>
            <a:endParaRPr lang="en-US"/>
          </a:p>
        </p:txBody>
      </p:sp>
      <p:sp>
        <p:nvSpPr>
          <p:cNvPr id="1188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8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C41612D-FF04-9240-85CF-985788281246}" type="slidenum">
              <a:rPr lang="en-US"/>
              <a:pPr/>
              <a:t>12</a:t>
            </a:fld>
            <a:endParaRPr lang="en-US"/>
          </a:p>
        </p:txBody>
      </p:sp>
      <p:sp>
        <p:nvSpPr>
          <p:cNvPr id="1190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0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F26D9FF-1FEE-864E-8215-7B68708ADBEC}" type="slidenum">
              <a:rPr lang="en-US"/>
              <a:pPr/>
              <a:t>13</a:t>
            </a:fld>
            <a:endParaRPr lang="en-US"/>
          </a:p>
        </p:txBody>
      </p:sp>
      <p:sp>
        <p:nvSpPr>
          <p:cNvPr id="1192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2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BE7C39E-E8E2-7F44-8E24-B2C31D9C54D1}" type="slidenum">
              <a:rPr lang="en-US"/>
              <a:pPr/>
              <a:t>17</a:t>
            </a:fld>
            <a:endParaRPr lang="en-US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</p:spPr>
        <p:txBody>
          <a:bodyPr/>
          <a:lstStyle/>
          <a:p>
            <a:pPr eaLnBrk="1" hangingPunct="1"/>
            <a:endParaRPr lang="es-E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9BE873E-A071-884F-BDF6-0B2D8DD4AC5D}" type="slidenum">
              <a:rPr lang="en-US"/>
              <a:pPr/>
              <a:t>18</a:t>
            </a:fld>
            <a:endParaRPr lang="en-US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</p:spPr>
        <p:txBody>
          <a:bodyPr/>
          <a:lstStyle/>
          <a:p>
            <a:pPr eaLnBrk="1" hangingPunct="1"/>
            <a:endParaRPr lang="es-E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A65C056-7497-8E48-959E-0C4AF76A2EB6}" type="slidenum">
              <a:rPr lang="en-US"/>
              <a:pPr/>
              <a:t>21</a:t>
            </a:fld>
            <a:endParaRPr lang="en-US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</p:spPr>
        <p:txBody>
          <a:bodyPr/>
          <a:lstStyle/>
          <a:p>
            <a:pPr eaLnBrk="1" hangingPunct="1"/>
            <a:endParaRPr lang="es-E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D2F551F-723D-204B-BD70-5B889A330B08}" type="slidenum">
              <a:rPr lang="en-US"/>
              <a:pPr/>
              <a:t>22</a:t>
            </a:fld>
            <a:endParaRPr lang="en-US"/>
          </a:p>
        </p:txBody>
      </p:sp>
      <p:sp>
        <p:nvSpPr>
          <p:cNvPr id="1180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0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6AE300F-C33D-884A-813C-39BD3C0B652F}" type="slidenum">
              <a:rPr lang="en-US"/>
              <a:pPr/>
              <a:t>23</a:t>
            </a:fld>
            <a:endParaRPr lang="en-US"/>
          </a:p>
        </p:txBody>
      </p:sp>
      <p:sp>
        <p:nvSpPr>
          <p:cNvPr id="1182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2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3B7A214-F39A-2F4F-BC6E-D8C8A661A1FE}" type="slidenum">
              <a:rPr lang="en-US"/>
              <a:pPr/>
              <a:t>24</a:t>
            </a:fld>
            <a:endParaRPr lang="en-US"/>
          </a:p>
        </p:txBody>
      </p:sp>
      <p:sp>
        <p:nvSpPr>
          <p:cNvPr id="1184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4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687273D-03FF-EC46-A2EE-87E73A225A66}" type="slidenum">
              <a:rPr lang="en-US"/>
              <a:pPr/>
              <a:t>25</a:t>
            </a:fld>
            <a:endParaRPr lang="en-US"/>
          </a:p>
        </p:txBody>
      </p:sp>
      <p:sp>
        <p:nvSpPr>
          <p:cNvPr id="1186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6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8C9CF64-9EF9-6442-A098-A1B3EC8F163B}" type="slidenum">
              <a:rPr lang="en-US"/>
              <a:pPr/>
              <a:t>26</a:t>
            </a:fld>
            <a:endParaRPr lang="en-US"/>
          </a:p>
        </p:txBody>
      </p:sp>
      <p:sp>
        <p:nvSpPr>
          <p:cNvPr id="1188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8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C41612D-FF04-9240-85CF-985788281246}" type="slidenum">
              <a:rPr lang="en-US"/>
              <a:pPr/>
              <a:t>27</a:t>
            </a:fld>
            <a:endParaRPr lang="en-US"/>
          </a:p>
        </p:txBody>
      </p:sp>
      <p:sp>
        <p:nvSpPr>
          <p:cNvPr id="1190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0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F26D9FF-1FEE-864E-8215-7B68708ADBEC}" type="slidenum">
              <a:rPr lang="en-US"/>
              <a:pPr/>
              <a:t>28</a:t>
            </a:fld>
            <a:endParaRPr lang="en-US"/>
          </a:p>
        </p:txBody>
      </p:sp>
      <p:sp>
        <p:nvSpPr>
          <p:cNvPr id="1192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2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BBE90E7-3954-7D4D-A6E3-EC9998C5E6FF}" type="slidenum">
              <a:rPr lang="en-US"/>
              <a:pPr/>
              <a:t>29</a:t>
            </a:fld>
            <a:endParaRPr lang="en-US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</p:spPr>
        <p:txBody>
          <a:bodyPr/>
          <a:lstStyle/>
          <a:p>
            <a:pPr eaLnBrk="1" hangingPunct="1"/>
            <a:endParaRPr lang="es-E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E63A0E9-2FAD-4446-9462-517EC2C436C0}" type="slidenum">
              <a:rPr lang="en-US"/>
              <a:pPr/>
              <a:t>30</a:t>
            </a:fld>
            <a:endParaRPr lang="en-US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</p:spPr>
        <p:txBody>
          <a:bodyPr/>
          <a:lstStyle/>
          <a:p>
            <a:pPr eaLnBrk="1" hangingPunct="1"/>
            <a:endParaRPr lang="es-E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E63A0E9-2FAD-4446-9462-517EC2C436C0}" type="slidenum">
              <a:rPr lang="en-US"/>
              <a:pPr/>
              <a:t>31</a:t>
            </a:fld>
            <a:endParaRPr lang="en-US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</p:spPr>
        <p:txBody>
          <a:bodyPr/>
          <a:lstStyle/>
          <a:p>
            <a:pPr eaLnBrk="1" hangingPunct="1"/>
            <a:endParaRPr lang="es-E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E63A0E9-2FAD-4446-9462-517EC2C436C0}" type="slidenum">
              <a:rPr lang="en-US"/>
              <a:pPr/>
              <a:t>32</a:t>
            </a:fld>
            <a:endParaRPr lang="en-US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</p:spPr>
        <p:txBody>
          <a:bodyPr/>
          <a:lstStyle/>
          <a:p>
            <a:pPr eaLnBrk="1" hangingPunct="1"/>
            <a:endParaRPr lang="es-E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1CEF84E-F0F6-394D-976D-43DE31D41AF9}" type="slidenum">
              <a:rPr lang="en-US"/>
              <a:pPr/>
              <a:t>33</a:t>
            </a:fld>
            <a:endParaRPr lang="en-US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</p:spPr>
        <p:txBody>
          <a:bodyPr/>
          <a:lstStyle/>
          <a:p>
            <a:pPr eaLnBrk="1" hangingPunct="1"/>
            <a:endParaRPr lang="es-E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1CEF84E-F0F6-394D-976D-43DE31D41AF9}" type="slidenum">
              <a:rPr lang="en-US"/>
              <a:pPr/>
              <a:t>34</a:t>
            </a:fld>
            <a:endParaRPr lang="en-US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</p:spPr>
        <p:txBody>
          <a:bodyPr/>
          <a:lstStyle/>
          <a:p>
            <a:pPr eaLnBrk="1" hangingPunct="1"/>
            <a:endParaRPr lang="es-E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1CEF84E-F0F6-394D-976D-43DE31D41AF9}" type="slidenum">
              <a:rPr lang="en-US"/>
              <a:pPr/>
              <a:t>35</a:t>
            </a:fld>
            <a:endParaRPr lang="en-US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</p:spPr>
        <p:txBody>
          <a:bodyPr/>
          <a:lstStyle/>
          <a:p>
            <a:pPr eaLnBrk="1" hangingPunct="1"/>
            <a:endParaRPr lang="es-E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1CEF84E-F0F6-394D-976D-43DE31D41AF9}" type="slidenum">
              <a:rPr lang="en-US"/>
              <a:pPr/>
              <a:t>36</a:t>
            </a:fld>
            <a:endParaRPr lang="en-US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</p:spPr>
        <p:txBody>
          <a:bodyPr/>
          <a:lstStyle/>
          <a:p>
            <a:pPr eaLnBrk="1" hangingPunct="1"/>
            <a:endParaRPr lang="es-E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E63A0E9-2FAD-4446-9462-517EC2C436C0}" type="slidenum">
              <a:rPr lang="en-US"/>
              <a:pPr/>
              <a:t>37</a:t>
            </a:fld>
            <a:endParaRPr lang="en-US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</p:spPr>
        <p:txBody>
          <a:bodyPr/>
          <a:lstStyle/>
          <a:p>
            <a:pPr eaLnBrk="1" hangingPunct="1"/>
            <a:endParaRPr lang="es-E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a typeface="+mn-ea"/>
                <a:cs typeface="+mn-cs"/>
              </a:rPr>
              <a:t>\lambda \begin{</a:t>
            </a:r>
            <a:r>
              <a:rPr lang="en-US" sz="1200" kern="1200" dirty="0" err="1">
                <a:solidFill>
                  <a:schemeClr val="tx1"/>
                </a:solidFill>
                <a:ea typeface="+mn-ea"/>
                <a:cs typeface="+mn-cs"/>
              </a:rPr>
              <a:t>bmatrix</a:t>
            </a:r>
            <a:r>
              <a:rPr lang="en-US" sz="1200" kern="1200" dirty="0">
                <a:solidFill>
                  <a:schemeClr val="tx1"/>
                </a:solidFill>
                <a:ea typeface="+mn-ea"/>
                <a:cs typeface="+mn-cs"/>
              </a:rPr>
              <a:t>}</a:t>
            </a:r>
          </a:p>
          <a:p>
            <a:r>
              <a:rPr lang="en-US" sz="1200" kern="1200" dirty="0">
                <a:solidFill>
                  <a:schemeClr val="tx1"/>
                </a:solidFill>
                <a:ea typeface="+mn-ea"/>
                <a:cs typeface="+mn-cs"/>
              </a:rPr>
              <a:t>u\\</a:t>
            </a:r>
          </a:p>
          <a:p>
            <a:r>
              <a:rPr lang="en-US" sz="1200" kern="1200" dirty="0">
                <a:solidFill>
                  <a:schemeClr val="tx1"/>
                </a:solidFill>
                <a:ea typeface="+mn-ea"/>
                <a:cs typeface="+mn-cs"/>
              </a:rPr>
              <a:t>v\\ </a:t>
            </a:r>
          </a:p>
          <a:p>
            <a:r>
              <a:rPr lang="en-US" sz="1200" kern="1200" dirty="0">
                <a:solidFill>
                  <a:schemeClr val="tx1"/>
                </a:solidFill>
                <a:ea typeface="+mn-ea"/>
                <a:cs typeface="+mn-cs"/>
              </a:rPr>
              <a:t>1 </a:t>
            </a:r>
          </a:p>
          <a:p>
            <a:r>
              <a:rPr lang="en-US" sz="1200" kern="1200" dirty="0">
                <a:solidFill>
                  <a:schemeClr val="tx1"/>
                </a:solidFill>
                <a:ea typeface="+mn-ea"/>
                <a:cs typeface="+mn-cs"/>
              </a:rPr>
              <a:t>\end{</a:t>
            </a:r>
            <a:r>
              <a:rPr lang="en-US" sz="1200" kern="1200" dirty="0" err="1">
                <a:solidFill>
                  <a:schemeClr val="tx1"/>
                </a:solidFill>
                <a:ea typeface="+mn-ea"/>
                <a:cs typeface="+mn-cs"/>
              </a:rPr>
              <a:t>bmatrix</a:t>
            </a:r>
            <a:r>
              <a:rPr lang="en-US" sz="1200" kern="1200" dirty="0">
                <a:solidFill>
                  <a:schemeClr val="tx1"/>
                </a:solidFill>
                <a:ea typeface="+mn-ea"/>
                <a:cs typeface="+mn-cs"/>
              </a:rPr>
              <a:t>}</a:t>
            </a:r>
          </a:p>
          <a:p>
            <a:r>
              <a:rPr lang="en-US" sz="1200" kern="1200" dirty="0">
                <a:solidFill>
                  <a:schemeClr val="tx1"/>
                </a:solidFill>
                <a:ea typeface="+mn-ea"/>
                <a:cs typeface="+mn-cs"/>
              </a:rPr>
              <a:t>=</a:t>
            </a:r>
          </a:p>
          <a:p>
            <a:r>
              <a:rPr lang="en-US" sz="1200" kern="1200" dirty="0">
                <a:solidFill>
                  <a:schemeClr val="tx1"/>
                </a:solidFill>
                <a:ea typeface="+mn-ea"/>
                <a:cs typeface="+mn-cs"/>
              </a:rPr>
              <a:t>\begin{</a:t>
            </a:r>
            <a:r>
              <a:rPr lang="en-US" sz="1200" kern="1200" dirty="0" err="1">
                <a:solidFill>
                  <a:schemeClr val="tx1"/>
                </a:solidFill>
                <a:ea typeface="+mn-ea"/>
                <a:cs typeface="+mn-cs"/>
              </a:rPr>
              <a:t>bmatrix</a:t>
            </a:r>
            <a:r>
              <a:rPr lang="en-US" sz="1200" kern="1200" dirty="0">
                <a:solidFill>
                  <a:schemeClr val="tx1"/>
                </a:solidFill>
                <a:ea typeface="+mn-ea"/>
                <a:cs typeface="+mn-cs"/>
              </a:rPr>
              <a:t>}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\</a:t>
            </a:r>
            <a:r>
              <a:rPr lang="fr-FR" sz="1200" kern="1200" dirty="0" err="1">
                <a:solidFill>
                  <a:schemeClr val="tx1"/>
                </a:solidFill>
                <a:ea typeface="+mn-ea"/>
                <a:cs typeface="+mn-cs"/>
              </a:rPr>
              <a:t>alpha_x</a:t>
            </a:r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 &amp; s &amp; u_0\\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0 &amp; \</a:t>
            </a:r>
            <a:r>
              <a:rPr lang="fr-FR" sz="1200" kern="1200" dirty="0" err="1">
                <a:solidFill>
                  <a:schemeClr val="tx1"/>
                </a:solidFill>
                <a:ea typeface="+mn-ea"/>
                <a:cs typeface="+mn-cs"/>
              </a:rPr>
              <a:t>alpha_s</a:t>
            </a:r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 &amp; v_0 \\ 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0 &amp; 0 &amp; 1 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\end{</a:t>
            </a:r>
            <a:r>
              <a:rPr lang="fr-FR" sz="1200" kern="1200" dirty="0" err="1">
                <a:solidFill>
                  <a:schemeClr val="tx1"/>
                </a:solidFill>
                <a:ea typeface="+mn-ea"/>
                <a:cs typeface="+mn-cs"/>
              </a:rPr>
              <a:t>bmatrix</a:t>
            </a:r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}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\</a:t>
            </a:r>
            <a:r>
              <a:rPr lang="fr-FR" sz="1200" kern="1200" dirty="0" err="1">
                <a:solidFill>
                  <a:schemeClr val="tx1"/>
                </a:solidFill>
                <a:ea typeface="+mn-ea"/>
                <a:cs typeface="+mn-cs"/>
              </a:rPr>
              <a:t>begin</a:t>
            </a:r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{</a:t>
            </a:r>
            <a:r>
              <a:rPr lang="fr-FR" sz="1200" kern="1200" dirty="0" err="1">
                <a:solidFill>
                  <a:schemeClr val="tx1"/>
                </a:solidFill>
                <a:ea typeface="+mn-ea"/>
                <a:cs typeface="+mn-cs"/>
              </a:rPr>
              <a:t>bmatrix</a:t>
            </a:r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}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f &amp; 0 &amp; 0 &amp; 0\\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0 &amp; f &amp; 0 &amp; 0 \\ 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0 &amp; 0 &amp; 0 &amp; 1 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\end{</a:t>
            </a:r>
            <a:r>
              <a:rPr lang="fr-FR" sz="1200" kern="1200" dirty="0" err="1">
                <a:solidFill>
                  <a:schemeClr val="tx1"/>
                </a:solidFill>
                <a:ea typeface="+mn-ea"/>
                <a:cs typeface="+mn-cs"/>
              </a:rPr>
              <a:t>bmatrix</a:t>
            </a:r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}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\</a:t>
            </a:r>
            <a:r>
              <a:rPr lang="fr-FR" sz="1200" kern="1200" dirty="0" err="1">
                <a:solidFill>
                  <a:schemeClr val="tx1"/>
                </a:solidFill>
                <a:ea typeface="+mn-ea"/>
                <a:cs typeface="+mn-cs"/>
              </a:rPr>
              <a:t>begin</a:t>
            </a:r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{</a:t>
            </a:r>
            <a:r>
              <a:rPr lang="fr-FR" sz="1200" kern="1200" dirty="0" err="1">
                <a:solidFill>
                  <a:schemeClr val="tx1"/>
                </a:solidFill>
                <a:ea typeface="+mn-ea"/>
                <a:cs typeface="+mn-cs"/>
              </a:rPr>
              <a:t>bmatrix</a:t>
            </a:r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}</a:t>
            </a:r>
          </a:p>
          <a:p>
            <a:r>
              <a:rPr lang="en-US" sz="1200" kern="1200" dirty="0">
                <a:solidFill>
                  <a:schemeClr val="tx1"/>
                </a:solidFill>
                <a:ea typeface="+mn-ea"/>
                <a:cs typeface="+mn-cs"/>
              </a:rPr>
              <a:t>{\bf R}' &amp; {\bf t}'\\</a:t>
            </a:r>
          </a:p>
          <a:p>
            <a:r>
              <a:rPr lang="da-DK" sz="1200" kern="1200" dirty="0">
                <a:solidFill>
                  <a:schemeClr val="tx1"/>
                </a:solidFill>
                <a:ea typeface="+mn-ea"/>
                <a:cs typeface="+mn-cs"/>
              </a:rPr>
              <a:t>{\</a:t>
            </a:r>
            <a:r>
              <a:rPr lang="da-DK" sz="1200" kern="1200" dirty="0" err="1">
                <a:solidFill>
                  <a:schemeClr val="tx1"/>
                </a:solidFill>
                <a:ea typeface="+mn-ea"/>
                <a:cs typeface="+mn-cs"/>
              </a:rPr>
              <a:t>bf</a:t>
            </a:r>
            <a:r>
              <a:rPr lang="da-DK" sz="1200" kern="1200" dirty="0">
                <a:solidFill>
                  <a:schemeClr val="tx1"/>
                </a:solidFill>
                <a:ea typeface="+mn-ea"/>
                <a:cs typeface="+mn-cs"/>
              </a:rPr>
              <a:t> 0} &amp; 1 </a:t>
            </a:r>
          </a:p>
          <a:p>
            <a:r>
              <a:rPr lang="da-DK" sz="1200" kern="1200" dirty="0">
                <a:solidFill>
                  <a:schemeClr val="tx1"/>
                </a:solidFill>
                <a:ea typeface="+mn-ea"/>
                <a:cs typeface="+mn-cs"/>
              </a:rPr>
              <a:t>\end{</a:t>
            </a:r>
            <a:r>
              <a:rPr lang="da-DK" sz="1200" kern="1200" dirty="0" err="1">
                <a:solidFill>
                  <a:schemeClr val="tx1"/>
                </a:solidFill>
                <a:ea typeface="+mn-ea"/>
                <a:cs typeface="+mn-cs"/>
              </a:rPr>
              <a:t>bmatrix</a:t>
            </a:r>
            <a:r>
              <a:rPr lang="da-DK" sz="1200" kern="1200" dirty="0">
                <a:solidFill>
                  <a:schemeClr val="tx1"/>
                </a:solidFill>
                <a:ea typeface="+mn-ea"/>
                <a:cs typeface="+mn-cs"/>
              </a:rPr>
              <a:t>}</a:t>
            </a:r>
          </a:p>
          <a:p>
            <a:r>
              <a:rPr lang="da-DK" sz="1200" kern="1200" dirty="0">
                <a:solidFill>
                  <a:schemeClr val="tx1"/>
                </a:solidFill>
                <a:ea typeface="+mn-ea"/>
                <a:cs typeface="+mn-cs"/>
              </a:rPr>
              <a:t>\</a:t>
            </a:r>
            <a:r>
              <a:rPr lang="da-DK" sz="1200" kern="1200" dirty="0" err="1">
                <a:solidFill>
                  <a:schemeClr val="tx1"/>
                </a:solidFill>
                <a:ea typeface="+mn-ea"/>
                <a:cs typeface="+mn-cs"/>
              </a:rPr>
              <a:t>begin</a:t>
            </a:r>
            <a:r>
              <a:rPr lang="da-DK" sz="1200" kern="1200" dirty="0">
                <a:solidFill>
                  <a:schemeClr val="tx1"/>
                </a:solidFill>
                <a:ea typeface="+mn-ea"/>
                <a:cs typeface="+mn-cs"/>
              </a:rPr>
              <a:t>{</a:t>
            </a:r>
            <a:r>
              <a:rPr lang="da-DK" sz="1200" kern="1200" dirty="0" err="1">
                <a:solidFill>
                  <a:schemeClr val="tx1"/>
                </a:solidFill>
                <a:ea typeface="+mn-ea"/>
                <a:cs typeface="+mn-cs"/>
              </a:rPr>
              <a:t>bmatrix</a:t>
            </a:r>
            <a:r>
              <a:rPr lang="da-DK" sz="1200" kern="1200" dirty="0">
                <a:solidFill>
                  <a:schemeClr val="tx1"/>
                </a:solidFill>
                <a:ea typeface="+mn-ea"/>
                <a:cs typeface="+mn-cs"/>
              </a:rPr>
              <a:t>}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X'\\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Y'\\ 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Z'\\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1 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\end{</a:t>
            </a:r>
            <a:r>
              <a:rPr lang="fr-FR" sz="1200" kern="1200" dirty="0" err="1">
                <a:solidFill>
                  <a:schemeClr val="tx1"/>
                </a:solidFill>
                <a:ea typeface="+mn-ea"/>
                <a:cs typeface="+mn-cs"/>
              </a:rPr>
              <a:t>bmatrix</a:t>
            </a:r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}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DD0D98-5B29-F643-B9B8-C17D4878FC4E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76045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a typeface="+mn-ea"/>
                <a:cs typeface="+mn-cs"/>
              </a:rPr>
              <a:t>\lambda \begin{</a:t>
            </a:r>
            <a:r>
              <a:rPr lang="en-US" sz="1200" kern="1200" dirty="0" err="1">
                <a:solidFill>
                  <a:schemeClr val="tx1"/>
                </a:solidFill>
                <a:ea typeface="+mn-ea"/>
                <a:cs typeface="+mn-cs"/>
              </a:rPr>
              <a:t>bmatrix</a:t>
            </a:r>
            <a:r>
              <a:rPr lang="en-US" sz="1200" kern="1200" dirty="0">
                <a:solidFill>
                  <a:schemeClr val="tx1"/>
                </a:solidFill>
                <a:ea typeface="+mn-ea"/>
                <a:cs typeface="+mn-cs"/>
              </a:rPr>
              <a:t>}</a:t>
            </a:r>
          </a:p>
          <a:p>
            <a:r>
              <a:rPr lang="en-US" sz="1200" kern="1200" dirty="0">
                <a:solidFill>
                  <a:schemeClr val="tx1"/>
                </a:solidFill>
                <a:ea typeface="+mn-ea"/>
                <a:cs typeface="+mn-cs"/>
              </a:rPr>
              <a:t>u\\</a:t>
            </a:r>
          </a:p>
          <a:p>
            <a:r>
              <a:rPr lang="en-US" sz="1200" kern="1200" dirty="0">
                <a:solidFill>
                  <a:schemeClr val="tx1"/>
                </a:solidFill>
                <a:ea typeface="+mn-ea"/>
                <a:cs typeface="+mn-cs"/>
              </a:rPr>
              <a:t>v\\ </a:t>
            </a:r>
          </a:p>
          <a:p>
            <a:r>
              <a:rPr lang="en-US" sz="1200" kern="1200" dirty="0">
                <a:solidFill>
                  <a:schemeClr val="tx1"/>
                </a:solidFill>
                <a:ea typeface="+mn-ea"/>
                <a:cs typeface="+mn-cs"/>
              </a:rPr>
              <a:t>1 </a:t>
            </a:r>
          </a:p>
          <a:p>
            <a:r>
              <a:rPr lang="en-US" sz="1200" kern="1200" dirty="0">
                <a:solidFill>
                  <a:schemeClr val="tx1"/>
                </a:solidFill>
                <a:ea typeface="+mn-ea"/>
                <a:cs typeface="+mn-cs"/>
              </a:rPr>
              <a:t>\end{</a:t>
            </a:r>
            <a:r>
              <a:rPr lang="en-US" sz="1200" kern="1200" dirty="0" err="1">
                <a:solidFill>
                  <a:schemeClr val="tx1"/>
                </a:solidFill>
                <a:ea typeface="+mn-ea"/>
                <a:cs typeface="+mn-cs"/>
              </a:rPr>
              <a:t>bmatrix</a:t>
            </a:r>
            <a:r>
              <a:rPr lang="en-US" sz="1200" kern="1200" dirty="0">
                <a:solidFill>
                  <a:schemeClr val="tx1"/>
                </a:solidFill>
                <a:ea typeface="+mn-ea"/>
                <a:cs typeface="+mn-cs"/>
              </a:rPr>
              <a:t>}</a:t>
            </a:r>
          </a:p>
          <a:p>
            <a:r>
              <a:rPr lang="en-US" sz="1200" kern="1200" dirty="0">
                <a:solidFill>
                  <a:schemeClr val="tx1"/>
                </a:solidFill>
                <a:ea typeface="+mn-ea"/>
                <a:cs typeface="+mn-cs"/>
              </a:rPr>
              <a:t>=</a:t>
            </a:r>
          </a:p>
          <a:p>
            <a:r>
              <a:rPr lang="en-US" sz="1200" kern="1200" dirty="0">
                <a:solidFill>
                  <a:schemeClr val="tx1"/>
                </a:solidFill>
                <a:ea typeface="+mn-ea"/>
                <a:cs typeface="+mn-cs"/>
              </a:rPr>
              <a:t>\begin{</a:t>
            </a:r>
            <a:r>
              <a:rPr lang="en-US" sz="1200" kern="1200" dirty="0" err="1">
                <a:solidFill>
                  <a:schemeClr val="tx1"/>
                </a:solidFill>
                <a:ea typeface="+mn-ea"/>
                <a:cs typeface="+mn-cs"/>
              </a:rPr>
              <a:t>bmatrix</a:t>
            </a:r>
            <a:r>
              <a:rPr lang="en-US" sz="1200" kern="1200" dirty="0">
                <a:solidFill>
                  <a:schemeClr val="tx1"/>
                </a:solidFill>
                <a:ea typeface="+mn-ea"/>
                <a:cs typeface="+mn-cs"/>
              </a:rPr>
              <a:t>}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\</a:t>
            </a:r>
            <a:r>
              <a:rPr lang="fr-FR" sz="1200" kern="1200" dirty="0" err="1">
                <a:solidFill>
                  <a:schemeClr val="tx1"/>
                </a:solidFill>
                <a:ea typeface="+mn-ea"/>
                <a:cs typeface="+mn-cs"/>
              </a:rPr>
              <a:t>alpha_x</a:t>
            </a:r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 &amp; s &amp; u_0\\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0 &amp; \</a:t>
            </a:r>
            <a:r>
              <a:rPr lang="fr-FR" sz="1200" kern="1200" dirty="0" err="1">
                <a:solidFill>
                  <a:schemeClr val="tx1"/>
                </a:solidFill>
                <a:ea typeface="+mn-ea"/>
                <a:cs typeface="+mn-cs"/>
              </a:rPr>
              <a:t>alpha_s</a:t>
            </a:r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 &amp; v_0 \\ 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0 &amp; 0 &amp; 1 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\end{</a:t>
            </a:r>
            <a:r>
              <a:rPr lang="fr-FR" sz="1200" kern="1200" dirty="0" err="1">
                <a:solidFill>
                  <a:schemeClr val="tx1"/>
                </a:solidFill>
                <a:ea typeface="+mn-ea"/>
                <a:cs typeface="+mn-cs"/>
              </a:rPr>
              <a:t>bmatrix</a:t>
            </a:r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}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\</a:t>
            </a:r>
            <a:r>
              <a:rPr lang="fr-FR" sz="1200" kern="1200" dirty="0" err="1">
                <a:solidFill>
                  <a:schemeClr val="tx1"/>
                </a:solidFill>
                <a:ea typeface="+mn-ea"/>
                <a:cs typeface="+mn-cs"/>
              </a:rPr>
              <a:t>begin</a:t>
            </a:r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{</a:t>
            </a:r>
            <a:r>
              <a:rPr lang="fr-FR" sz="1200" kern="1200" dirty="0" err="1">
                <a:solidFill>
                  <a:schemeClr val="tx1"/>
                </a:solidFill>
                <a:ea typeface="+mn-ea"/>
                <a:cs typeface="+mn-cs"/>
              </a:rPr>
              <a:t>bmatrix</a:t>
            </a:r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}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f &amp; 0 &amp; 0 &amp; 0\\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0 &amp; f &amp; 0 &amp; 0 \\ 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0 &amp; 0 &amp; 0 &amp; 1 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\end{</a:t>
            </a:r>
            <a:r>
              <a:rPr lang="fr-FR" sz="1200" kern="1200" dirty="0" err="1">
                <a:solidFill>
                  <a:schemeClr val="tx1"/>
                </a:solidFill>
                <a:ea typeface="+mn-ea"/>
                <a:cs typeface="+mn-cs"/>
              </a:rPr>
              <a:t>bmatrix</a:t>
            </a:r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}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\</a:t>
            </a:r>
            <a:r>
              <a:rPr lang="fr-FR" sz="1200" kern="1200" dirty="0" err="1">
                <a:solidFill>
                  <a:schemeClr val="tx1"/>
                </a:solidFill>
                <a:ea typeface="+mn-ea"/>
                <a:cs typeface="+mn-cs"/>
              </a:rPr>
              <a:t>begin</a:t>
            </a:r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{</a:t>
            </a:r>
            <a:r>
              <a:rPr lang="fr-FR" sz="1200" kern="1200" dirty="0" err="1">
                <a:solidFill>
                  <a:schemeClr val="tx1"/>
                </a:solidFill>
                <a:ea typeface="+mn-ea"/>
                <a:cs typeface="+mn-cs"/>
              </a:rPr>
              <a:t>bmatrix</a:t>
            </a:r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}</a:t>
            </a:r>
          </a:p>
          <a:p>
            <a:r>
              <a:rPr lang="en-US" sz="1200" kern="1200" dirty="0">
                <a:solidFill>
                  <a:schemeClr val="tx1"/>
                </a:solidFill>
                <a:ea typeface="+mn-ea"/>
                <a:cs typeface="+mn-cs"/>
              </a:rPr>
              <a:t>{\bf R}' &amp; {\bf t}'\\</a:t>
            </a:r>
          </a:p>
          <a:p>
            <a:r>
              <a:rPr lang="da-DK" sz="1200" kern="1200" dirty="0">
                <a:solidFill>
                  <a:schemeClr val="tx1"/>
                </a:solidFill>
                <a:ea typeface="+mn-ea"/>
                <a:cs typeface="+mn-cs"/>
              </a:rPr>
              <a:t>{\</a:t>
            </a:r>
            <a:r>
              <a:rPr lang="da-DK" sz="1200" kern="1200" dirty="0" err="1">
                <a:solidFill>
                  <a:schemeClr val="tx1"/>
                </a:solidFill>
                <a:ea typeface="+mn-ea"/>
                <a:cs typeface="+mn-cs"/>
              </a:rPr>
              <a:t>bf</a:t>
            </a:r>
            <a:r>
              <a:rPr lang="da-DK" sz="1200" kern="1200" dirty="0">
                <a:solidFill>
                  <a:schemeClr val="tx1"/>
                </a:solidFill>
                <a:ea typeface="+mn-ea"/>
                <a:cs typeface="+mn-cs"/>
              </a:rPr>
              <a:t> 0} &amp; 1 </a:t>
            </a:r>
          </a:p>
          <a:p>
            <a:r>
              <a:rPr lang="da-DK" sz="1200" kern="1200" dirty="0">
                <a:solidFill>
                  <a:schemeClr val="tx1"/>
                </a:solidFill>
                <a:ea typeface="+mn-ea"/>
                <a:cs typeface="+mn-cs"/>
              </a:rPr>
              <a:t>\end{</a:t>
            </a:r>
            <a:r>
              <a:rPr lang="da-DK" sz="1200" kern="1200" dirty="0" err="1">
                <a:solidFill>
                  <a:schemeClr val="tx1"/>
                </a:solidFill>
                <a:ea typeface="+mn-ea"/>
                <a:cs typeface="+mn-cs"/>
              </a:rPr>
              <a:t>bmatrix</a:t>
            </a:r>
            <a:r>
              <a:rPr lang="da-DK" sz="1200" kern="1200" dirty="0">
                <a:solidFill>
                  <a:schemeClr val="tx1"/>
                </a:solidFill>
                <a:ea typeface="+mn-ea"/>
                <a:cs typeface="+mn-cs"/>
              </a:rPr>
              <a:t>}</a:t>
            </a:r>
          </a:p>
          <a:p>
            <a:r>
              <a:rPr lang="da-DK" sz="1200" kern="1200" dirty="0">
                <a:solidFill>
                  <a:schemeClr val="tx1"/>
                </a:solidFill>
                <a:ea typeface="+mn-ea"/>
                <a:cs typeface="+mn-cs"/>
              </a:rPr>
              <a:t>\</a:t>
            </a:r>
            <a:r>
              <a:rPr lang="da-DK" sz="1200" kern="1200" dirty="0" err="1">
                <a:solidFill>
                  <a:schemeClr val="tx1"/>
                </a:solidFill>
                <a:ea typeface="+mn-ea"/>
                <a:cs typeface="+mn-cs"/>
              </a:rPr>
              <a:t>begin</a:t>
            </a:r>
            <a:r>
              <a:rPr lang="da-DK" sz="1200" kern="1200" dirty="0">
                <a:solidFill>
                  <a:schemeClr val="tx1"/>
                </a:solidFill>
                <a:ea typeface="+mn-ea"/>
                <a:cs typeface="+mn-cs"/>
              </a:rPr>
              <a:t>{</a:t>
            </a:r>
            <a:r>
              <a:rPr lang="da-DK" sz="1200" kern="1200" dirty="0" err="1">
                <a:solidFill>
                  <a:schemeClr val="tx1"/>
                </a:solidFill>
                <a:ea typeface="+mn-ea"/>
                <a:cs typeface="+mn-cs"/>
              </a:rPr>
              <a:t>bmatrix</a:t>
            </a:r>
            <a:r>
              <a:rPr lang="da-DK" sz="1200" kern="1200" dirty="0">
                <a:solidFill>
                  <a:schemeClr val="tx1"/>
                </a:solidFill>
                <a:ea typeface="+mn-ea"/>
                <a:cs typeface="+mn-cs"/>
              </a:rPr>
              <a:t>}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X'\\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Y'\\ 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Z'\\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1 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\end{</a:t>
            </a:r>
            <a:r>
              <a:rPr lang="fr-FR" sz="1200" kern="1200" dirty="0" err="1">
                <a:solidFill>
                  <a:schemeClr val="tx1"/>
                </a:solidFill>
                <a:ea typeface="+mn-ea"/>
                <a:cs typeface="+mn-cs"/>
              </a:rPr>
              <a:t>bmatrix</a:t>
            </a:r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}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DD0D98-5B29-F643-B9B8-C17D4878FC4E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76045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a typeface="+mn-ea"/>
                <a:cs typeface="+mn-cs"/>
              </a:rPr>
              <a:t>\lambda \begin{</a:t>
            </a:r>
            <a:r>
              <a:rPr lang="en-US" sz="1200" kern="1200" dirty="0" err="1">
                <a:solidFill>
                  <a:schemeClr val="tx1"/>
                </a:solidFill>
                <a:ea typeface="+mn-ea"/>
                <a:cs typeface="+mn-cs"/>
              </a:rPr>
              <a:t>bmatrix</a:t>
            </a:r>
            <a:r>
              <a:rPr lang="en-US" sz="1200" kern="1200" dirty="0">
                <a:solidFill>
                  <a:schemeClr val="tx1"/>
                </a:solidFill>
                <a:ea typeface="+mn-ea"/>
                <a:cs typeface="+mn-cs"/>
              </a:rPr>
              <a:t>}</a:t>
            </a:r>
          </a:p>
          <a:p>
            <a:r>
              <a:rPr lang="en-US" sz="1200" kern="1200" dirty="0">
                <a:solidFill>
                  <a:schemeClr val="tx1"/>
                </a:solidFill>
                <a:ea typeface="+mn-ea"/>
                <a:cs typeface="+mn-cs"/>
              </a:rPr>
              <a:t>u\\</a:t>
            </a:r>
          </a:p>
          <a:p>
            <a:r>
              <a:rPr lang="en-US" sz="1200" kern="1200" dirty="0">
                <a:solidFill>
                  <a:schemeClr val="tx1"/>
                </a:solidFill>
                <a:ea typeface="+mn-ea"/>
                <a:cs typeface="+mn-cs"/>
              </a:rPr>
              <a:t>v\\ </a:t>
            </a:r>
          </a:p>
          <a:p>
            <a:r>
              <a:rPr lang="en-US" sz="1200" kern="1200" dirty="0">
                <a:solidFill>
                  <a:schemeClr val="tx1"/>
                </a:solidFill>
                <a:ea typeface="+mn-ea"/>
                <a:cs typeface="+mn-cs"/>
              </a:rPr>
              <a:t>1 </a:t>
            </a:r>
          </a:p>
          <a:p>
            <a:r>
              <a:rPr lang="en-US" sz="1200" kern="1200" dirty="0">
                <a:solidFill>
                  <a:schemeClr val="tx1"/>
                </a:solidFill>
                <a:ea typeface="+mn-ea"/>
                <a:cs typeface="+mn-cs"/>
              </a:rPr>
              <a:t>\end{</a:t>
            </a:r>
            <a:r>
              <a:rPr lang="en-US" sz="1200" kern="1200" dirty="0" err="1">
                <a:solidFill>
                  <a:schemeClr val="tx1"/>
                </a:solidFill>
                <a:ea typeface="+mn-ea"/>
                <a:cs typeface="+mn-cs"/>
              </a:rPr>
              <a:t>bmatrix</a:t>
            </a:r>
            <a:r>
              <a:rPr lang="en-US" sz="1200" kern="1200" dirty="0">
                <a:solidFill>
                  <a:schemeClr val="tx1"/>
                </a:solidFill>
                <a:ea typeface="+mn-ea"/>
                <a:cs typeface="+mn-cs"/>
              </a:rPr>
              <a:t>}</a:t>
            </a:r>
          </a:p>
          <a:p>
            <a:r>
              <a:rPr lang="en-US" sz="1200" kern="1200" dirty="0">
                <a:solidFill>
                  <a:schemeClr val="tx1"/>
                </a:solidFill>
                <a:ea typeface="+mn-ea"/>
                <a:cs typeface="+mn-cs"/>
              </a:rPr>
              <a:t>=</a:t>
            </a:r>
          </a:p>
          <a:p>
            <a:r>
              <a:rPr lang="en-US" sz="1200" kern="1200" dirty="0">
                <a:solidFill>
                  <a:schemeClr val="tx1"/>
                </a:solidFill>
                <a:ea typeface="+mn-ea"/>
                <a:cs typeface="+mn-cs"/>
              </a:rPr>
              <a:t>\begin{</a:t>
            </a:r>
            <a:r>
              <a:rPr lang="en-US" sz="1200" kern="1200" dirty="0" err="1">
                <a:solidFill>
                  <a:schemeClr val="tx1"/>
                </a:solidFill>
                <a:ea typeface="+mn-ea"/>
                <a:cs typeface="+mn-cs"/>
              </a:rPr>
              <a:t>bmatrix</a:t>
            </a:r>
            <a:r>
              <a:rPr lang="en-US" sz="1200" kern="1200" dirty="0">
                <a:solidFill>
                  <a:schemeClr val="tx1"/>
                </a:solidFill>
                <a:ea typeface="+mn-ea"/>
                <a:cs typeface="+mn-cs"/>
              </a:rPr>
              <a:t>}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\</a:t>
            </a:r>
            <a:r>
              <a:rPr lang="fr-FR" sz="1200" kern="1200" dirty="0" err="1">
                <a:solidFill>
                  <a:schemeClr val="tx1"/>
                </a:solidFill>
                <a:ea typeface="+mn-ea"/>
                <a:cs typeface="+mn-cs"/>
              </a:rPr>
              <a:t>alpha_x</a:t>
            </a:r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 &amp; s &amp; u_0\\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0 &amp; \</a:t>
            </a:r>
            <a:r>
              <a:rPr lang="fr-FR" sz="1200" kern="1200" dirty="0" err="1">
                <a:solidFill>
                  <a:schemeClr val="tx1"/>
                </a:solidFill>
                <a:ea typeface="+mn-ea"/>
                <a:cs typeface="+mn-cs"/>
              </a:rPr>
              <a:t>alpha_s</a:t>
            </a:r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 &amp; v_0 \\ 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0 &amp; 0 &amp; 1 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\end{</a:t>
            </a:r>
            <a:r>
              <a:rPr lang="fr-FR" sz="1200" kern="1200" dirty="0" err="1">
                <a:solidFill>
                  <a:schemeClr val="tx1"/>
                </a:solidFill>
                <a:ea typeface="+mn-ea"/>
                <a:cs typeface="+mn-cs"/>
              </a:rPr>
              <a:t>bmatrix</a:t>
            </a:r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}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\</a:t>
            </a:r>
            <a:r>
              <a:rPr lang="fr-FR" sz="1200" kern="1200" dirty="0" err="1">
                <a:solidFill>
                  <a:schemeClr val="tx1"/>
                </a:solidFill>
                <a:ea typeface="+mn-ea"/>
                <a:cs typeface="+mn-cs"/>
              </a:rPr>
              <a:t>begin</a:t>
            </a:r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{</a:t>
            </a:r>
            <a:r>
              <a:rPr lang="fr-FR" sz="1200" kern="1200" dirty="0" err="1">
                <a:solidFill>
                  <a:schemeClr val="tx1"/>
                </a:solidFill>
                <a:ea typeface="+mn-ea"/>
                <a:cs typeface="+mn-cs"/>
              </a:rPr>
              <a:t>bmatrix</a:t>
            </a:r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}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f &amp; 0 &amp; 0 &amp; 0\\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0 &amp; f &amp; 0 &amp; 0 \\ 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0 &amp; 0 &amp; 0 &amp; 1 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\end{</a:t>
            </a:r>
            <a:r>
              <a:rPr lang="fr-FR" sz="1200" kern="1200" dirty="0" err="1">
                <a:solidFill>
                  <a:schemeClr val="tx1"/>
                </a:solidFill>
                <a:ea typeface="+mn-ea"/>
                <a:cs typeface="+mn-cs"/>
              </a:rPr>
              <a:t>bmatrix</a:t>
            </a:r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}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\</a:t>
            </a:r>
            <a:r>
              <a:rPr lang="fr-FR" sz="1200" kern="1200" dirty="0" err="1">
                <a:solidFill>
                  <a:schemeClr val="tx1"/>
                </a:solidFill>
                <a:ea typeface="+mn-ea"/>
                <a:cs typeface="+mn-cs"/>
              </a:rPr>
              <a:t>begin</a:t>
            </a:r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{</a:t>
            </a:r>
            <a:r>
              <a:rPr lang="fr-FR" sz="1200" kern="1200" dirty="0" err="1">
                <a:solidFill>
                  <a:schemeClr val="tx1"/>
                </a:solidFill>
                <a:ea typeface="+mn-ea"/>
                <a:cs typeface="+mn-cs"/>
              </a:rPr>
              <a:t>bmatrix</a:t>
            </a:r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}</a:t>
            </a:r>
          </a:p>
          <a:p>
            <a:r>
              <a:rPr lang="en-US" sz="1200" kern="1200" dirty="0">
                <a:solidFill>
                  <a:schemeClr val="tx1"/>
                </a:solidFill>
                <a:ea typeface="+mn-ea"/>
                <a:cs typeface="+mn-cs"/>
              </a:rPr>
              <a:t>{\bf R}' &amp; {\bf t}'\\</a:t>
            </a:r>
          </a:p>
          <a:p>
            <a:r>
              <a:rPr lang="da-DK" sz="1200" kern="1200" dirty="0">
                <a:solidFill>
                  <a:schemeClr val="tx1"/>
                </a:solidFill>
                <a:ea typeface="+mn-ea"/>
                <a:cs typeface="+mn-cs"/>
              </a:rPr>
              <a:t>{\</a:t>
            </a:r>
            <a:r>
              <a:rPr lang="da-DK" sz="1200" kern="1200" dirty="0" err="1">
                <a:solidFill>
                  <a:schemeClr val="tx1"/>
                </a:solidFill>
                <a:ea typeface="+mn-ea"/>
                <a:cs typeface="+mn-cs"/>
              </a:rPr>
              <a:t>bf</a:t>
            </a:r>
            <a:r>
              <a:rPr lang="da-DK" sz="1200" kern="1200" dirty="0">
                <a:solidFill>
                  <a:schemeClr val="tx1"/>
                </a:solidFill>
                <a:ea typeface="+mn-ea"/>
                <a:cs typeface="+mn-cs"/>
              </a:rPr>
              <a:t> 0} &amp; 1 </a:t>
            </a:r>
          </a:p>
          <a:p>
            <a:r>
              <a:rPr lang="da-DK" sz="1200" kern="1200" dirty="0">
                <a:solidFill>
                  <a:schemeClr val="tx1"/>
                </a:solidFill>
                <a:ea typeface="+mn-ea"/>
                <a:cs typeface="+mn-cs"/>
              </a:rPr>
              <a:t>\end{</a:t>
            </a:r>
            <a:r>
              <a:rPr lang="da-DK" sz="1200" kern="1200" dirty="0" err="1">
                <a:solidFill>
                  <a:schemeClr val="tx1"/>
                </a:solidFill>
                <a:ea typeface="+mn-ea"/>
                <a:cs typeface="+mn-cs"/>
              </a:rPr>
              <a:t>bmatrix</a:t>
            </a:r>
            <a:r>
              <a:rPr lang="da-DK" sz="1200" kern="1200" dirty="0">
                <a:solidFill>
                  <a:schemeClr val="tx1"/>
                </a:solidFill>
                <a:ea typeface="+mn-ea"/>
                <a:cs typeface="+mn-cs"/>
              </a:rPr>
              <a:t>}</a:t>
            </a:r>
          </a:p>
          <a:p>
            <a:r>
              <a:rPr lang="da-DK" sz="1200" kern="1200" dirty="0">
                <a:solidFill>
                  <a:schemeClr val="tx1"/>
                </a:solidFill>
                <a:ea typeface="+mn-ea"/>
                <a:cs typeface="+mn-cs"/>
              </a:rPr>
              <a:t>\</a:t>
            </a:r>
            <a:r>
              <a:rPr lang="da-DK" sz="1200" kern="1200" dirty="0" err="1">
                <a:solidFill>
                  <a:schemeClr val="tx1"/>
                </a:solidFill>
                <a:ea typeface="+mn-ea"/>
                <a:cs typeface="+mn-cs"/>
              </a:rPr>
              <a:t>begin</a:t>
            </a:r>
            <a:r>
              <a:rPr lang="da-DK" sz="1200" kern="1200" dirty="0">
                <a:solidFill>
                  <a:schemeClr val="tx1"/>
                </a:solidFill>
                <a:ea typeface="+mn-ea"/>
                <a:cs typeface="+mn-cs"/>
              </a:rPr>
              <a:t>{</a:t>
            </a:r>
            <a:r>
              <a:rPr lang="da-DK" sz="1200" kern="1200" dirty="0" err="1">
                <a:solidFill>
                  <a:schemeClr val="tx1"/>
                </a:solidFill>
                <a:ea typeface="+mn-ea"/>
                <a:cs typeface="+mn-cs"/>
              </a:rPr>
              <a:t>bmatrix</a:t>
            </a:r>
            <a:r>
              <a:rPr lang="da-DK" sz="1200" kern="1200" dirty="0">
                <a:solidFill>
                  <a:schemeClr val="tx1"/>
                </a:solidFill>
                <a:ea typeface="+mn-ea"/>
                <a:cs typeface="+mn-cs"/>
              </a:rPr>
              <a:t>}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X'\\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Y'\\ 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Z'\\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1 </a:t>
            </a:r>
          </a:p>
          <a:p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\end{</a:t>
            </a:r>
            <a:r>
              <a:rPr lang="fr-FR" sz="1200" kern="1200" dirty="0" err="1">
                <a:solidFill>
                  <a:schemeClr val="tx1"/>
                </a:solidFill>
                <a:ea typeface="+mn-ea"/>
                <a:cs typeface="+mn-cs"/>
              </a:rPr>
              <a:t>bmatrix</a:t>
            </a:r>
            <a:r>
              <a:rPr lang="fr-FR" sz="1200" kern="1200" dirty="0">
                <a:solidFill>
                  <a:schemeClr val="tx1"/>
                </a:solidFill>
                <a:ea typeface="+mn-ea"/>
                <a:cs typeface="+mn-cs"/>
              </a:rPr>
              <a:t>}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DD0D98-5B29-F643-B9B8-C17D4878FC4E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7604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B8DC0-3787-B971-5D00-8727CB18CC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4A3FB4-AFDF-6CFB-84FB-E0438C517C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2F51BE-7742-8427-323B-6746C9276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CV02C</a:t>
            </a:r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17082A-B0F6-05B3-4148-6F125B3BE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35BB3A-30A8-1717-EEEF-CCDD19DE1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4018760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E5084-85EB-0ADC-D7F0-0DA592CED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A50CEA-EC43-5349-1EBB-8F562F4E7D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6EC922-A7D2-9731-7041-D7AC6FB83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CV02C</a:t>
            </a:r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7AEC05-6729-F167-4DA1-FB23E0490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6505FA-C70E-C130-A20D-DB301157A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78850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F4697-BA84-150B-4C2D-F84713796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49B2F4-202A-2BB1-535C-1A428E58FC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0EE603-A515-38A5-01CB-993F9D3E6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CV02C</a:t>
            </a:r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6D1643-6231-F3E2-610F-D775A2BB9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27DCF5-082A-FB09-50BE-837F0ACE1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326779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C9F8F-3D31-5054-B98B-32951A347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103B9-D8C0-4B32-EE45-9BD12EF747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52F047-75A3-523A-D879-40B2EDA8D1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9FB8B8-5B4E-1775-617E-5E75D094A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CV02C</a:t>
            </a:r>
            <a:endParaRPr lang="en-C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B9D2B7-35C0-0726-D40B-546E245F6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310F33-EF19-5FAC-1C0C-CC049E95F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265026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2880C-73E3-54CD-F870-565E8A1B1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35B4E4-4FDE-76FD-67FE-AC9066C11E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CE05A7-4548-3D67-22C7-AE2D1FA325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23D907-7359-B8EC-9C20-35EBC1A8C6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E90DD8-E513-9D1B-B62B-8CD564AF80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7A1F58-D509-1FFB-BFE0-0B0A48435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CV02C</a:t>
            </a:r>
            <a:endParaRPr lang="en-C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1A7296-B85D-0D25-EB6E-7FAF5D12D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31504A-0C9E-5FD4-88B8-34EEA6574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040050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B930F-82FE-3339-6D9E-1DCC65EE1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1259F5-F978-F338-03E4-3952DD8EF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CV02C</a:t>
            </a:r>
            <a:endParaRPr lang="en-C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FFF779-7E7D-359E-E5CD-14EA90664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3397C7-7E22-651A-C048-37C544FF4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627500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637C7D-F2B3-C204-E8FB-4C5FB6A76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CV02C</a:t>
            </a:r>
            <a:endParaRPr lang="en-C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EFEE0D-AE5F-8253-4CF5-C157DB29D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587494-01E2-375D-3A6E-278594CEB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217660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2A152-0160-E38E-9640-CE00E472C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EEA249-D00C-C8BF-F952-C8F00CAC92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48AD5D-DACB-DF63-8FE5-FD4EB5F134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DFD239-CEB5-6239-AE07-3B04DD523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CV02C</a:t>
            </a:r>
            <a:endParaRPr lang="en-C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6E91D8-CA73-7BEA-3043-ED8929AA7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BF3F48-2CE1-5E7C-C6F3-86C5FE51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704266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182A3-0F8B-CC16-20BE-CAA209EB5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53BF4D-06F1-F555-7BCE-8DDE12ECAC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78D79A-13B1-0A13-045B-552423534D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0F8041-19BA-61C7-2614-452EAEA62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CV02C</a:t>
            </a:r>
            <a:endParaRPr lang="en-C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2DDC1A-06C5-55BB-AD73-4558907A0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EA2152-78EF-2AC4-BAFC-1632F3AC7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033367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E0AD8-C101-EB20-BB37-5C26D22B6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2D8A52-99B4-C6B9-B1AB-C4AEFAF4B4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50266-8A1C-5C52-C130-674316BD0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CV02C</a:t>
            </a:r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48F916-6B33-A387-4535-E912E9B6D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D0DE79-9DC5-1075-5BCE-A06034D3D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111730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487A33-D0CF-C093-B49B-3DC54A000A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1C567E-C21C-371B-9E0F-758B9066F6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7ED834-5694-C52C-4AFB-CC7182B18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CV02C</a:t>
            </a:r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784DEE-BCC0-3112-ED29-8778C02F0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B55837-C56A-6554-DF4C-C991A899F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205057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788CC3-6112-0648-6A8C-40A7C6624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C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BAA52D-33E4-8E14-0BD4-6371720A8D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0AAD87-BD69-6E51-34E6-999EF83278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82000"/>
                  </a:schemeClr>
                </a:solidFill>
                <a:latin typeface="Gill Sans MT" panose="020B0502020104020203" pitchFamily="34" charset="77"/>
              </a:defRPr>
            </a:lvl1pPr>
          </a:lstStyle>
          <a:p>
            <a:r>
              <a:rPr lang="en-US"/>
              <a:t>(c) D.Mery - CV02C</a:t>
            </a:r>
            <a:endParaRPr lang="en-C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1F1805-E127-5436-F4BD-B493F4465B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Gill Sans MT" panose="020B0502020104020203" pitchFamily="34" charset="77"/>
              </a:defRPr>
            </a:lvl1pPr>
          </a:lstStyle>
          <a:p>
            <a:endParaRPr lang="en-C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0709C2-DDB7-3E94-C59E-462FCDB337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Gill Sans MT" panose="020B0502020104020203" pitchFamily="34" charset="77"/>
              </a:defRPr>
            </a:lvl1pPr>
          </a:lstStyle>
          <a:p>
            <a:fld id="{006AE8E3-C79C-E14F-9140-34B0C7F543F1}" type="slidenum">
              <a:rPr lang="en-CL" smtClean="0"/>
              <a:pPr/>
              <a:t>‹#›</a:t>
            </a:fld>
            <a:endParaRPr lang="en-CL" dirty="0"/>
          </a:p>
        </p:txBody>
      </p:sp>
    </p:spTree>
    <p:extLst>
      <p:ext uri="{BB962C8B-B14F-4D97-AF65-F5344CB8AC3E}">
        <p14:creationId xmlns:p14="http://schemas.microsoft.com/office/powerpoint/2010/main" val="4248052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Gill Sans MT" panose="020B0502020104020203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Gill Sans MT" panose="020B0502020104020203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Gill Sans MT" panose="020B0502020104020203" pitchFamily="34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Gill Sans MT" panose="020B0502020104020203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Gill Sans MT" panose="020B0502020104020203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Gill Sans MT" panose="020B0502020104020203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domingomery.ing.uc.cl/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3.w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5" Type="http://schemas.openxmlformats.org/officeDocument/2006/relationships/oleObject" Target="../embeddings/oleObject5.bin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1.mov"/><Relationship Id="rId1" Type="http://schemas.microsoft.com/office/2007/relationships/media" Target="../media/media1.mov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9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png"/><Relationship Id="rId5" Type="http://schemas.openxmlformats.org/officeDocument/2006/relationships/oleObject" Target="../embeddings/oleObject8.bin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0.w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5" Type="http://schemas.openxmlformats.org/officeDocument/2006/relationships/oleObject" Target="../embeddings/oleObject13.bin"/><Relationship Id="rId4" Type="http://schemas.openxmlformats.org/officeDocument/2006/relationships/image" Target="../media/image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emf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7.bin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0.wmf"/><Relationship Id="rId5" Type="http://schemas.openxmlformats.org/officeDocument/2006/relationships/oleObject" Target="../embeddings/oleObject16.bin"/><Relationship Id="rId10" Type="http://schemas.openxmlformats.org/officeDocument/2006/relationships/image" Target="../media/image22.emf"/><Relationship Id="rId4" Type="http://schemas.openxmlformats.org/officeDocument/2006/relationships/image" Target="../media/image11.png"/><Relationship Id="rId9" Type="http://schemas.openxmlformats.org/officeDocument/2006/relationships/oleObject" Target="../embeddings/oleObject18.bin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3.emf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9.emf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3.emf"/><Relationship Id="rId4" Type="http://schemas.openxmlformats.org/officeDocument/2006/relationships/image" Target="../media/image32.e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5.emf"/><Relationship Id="rId4" Type="http://schemas.openxmlformats.org/officeDocument/2006/relationships/image" Target="../media/image34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A2C7284-77CC-FC88-ACE0-20E53773C64D}"/>
              </a:ext>
            </a:extLst>
          </p:cNvPr>
          <p:cNvSpPr/>
          <p:nvPr/>
        </p:nvSpPr>
        <p:spPr>
          <a:xfrm>
            <a:off x="925897" y="683627"/>
            <a:ext cx="10340205" cy="84741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 dirty="0">
              <a:latin typeface="Gill Sans MT" panose="020B0502020104020203" pitchFamily="34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76E2BE-1E76-0F44-8020-A654157CDF76}"/>
              </a:ext>
            </a:extLst>
          </p:cNvPr>
          <p:cNvSpPr txBox="1"/>
          <p:nvPr/>
        </p:nvSpPr>
        <p:spPr>
          <a:xfrm>
            <a:off x="925898" y="3991689"/>
            <a:ext cx="3783921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600" noProof="1">
                <a:solidFill>
                  <a:srgbClr val="0041A1"/>
                </a:solidFill>
                <a:latin typeface="Gill Sans MT" panose="020B0502020104020203" pitchFamily="34" charset="77"/>
              </a:rPr>
              <a:t>Domingo Mery</a:t>
            </a:r>
          </a:p>
          <a:p>
            <a:endParaRPr lang="es-ES_tradnl" sz="2400" noProof="1">
              <a:solidFill>
                <a:schemeClr val="bg1">
                  <a:lumMod val="50000"/>
                </a:schemeClr>
              </a:solidFill>
              <a:latin typeface="Gill Sans MT" panose="020B0502020104020203" pitchFamily="34" charset="77"/>
            </a:endParaRPr>
          </a:p>
          <a:p>
            <a:r>
              <a:rPr lang="es-ES_tradnl" sz="2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Ciencia de la Computación</a:t>
            </a:r>
          </a:p>
          <a:p>
            <a:r>
              <a:rPr lang="es-ES_tradnl" sz="2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Universidad Católica – Chile</a:t>
            </a:r>
          </a:p>
          <a:p>
            <a:r>
              <a:rPr lang="es-ES_tradnl" sz="2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  <a:hlinkClick r:id="rId2"/>
              </a:rPr>
              <a:t>http://domingomery.ing.uc.cl</a:t>
            </a:r>
            <a:r>
              <a:rPr lang="es-ES_tradnl" sz="2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0B8274-BF81-6D48-B1EC-87E4CF24BC51}"/>
              </a:ext>
            </a:extLst>
          </p:cNvPr>
          <p:cNvSpPr txBox="1"/>
          <p:nvPr/>
        </p:nvSpPr>
        <p:spPr>
          <a:xfrm>
            <a:off x="925898" y="546159"/>
            <a:ext cx="5670142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4400" noProof="1">
                <a:solidFill>
                  <a:schemeClr val="accent2"/>
                </a:solidFill>
                <a:latin typeface="Gill Sans MT" panose="020B0502020104020203" pitchFamily="34" charset="77"/>
              </a:rPr>
              <a:t>Visión por Computador</a:t>
            </a:r>
          </a:p>
          <a:p>
            <a:r>
              <a:rPr lang="es-ES_tradnl" sz="1400" noProof="1">
                <a:solidFill>
                  <a:schemeClr val="accent1">
                    <a:lumMod val="60000"/>
                    <a:lumOff val="40000"/>
                  </a:schemeClr>
                </a:solidFill>
                <a:latin typeface="Gill Sans MT" panose="020B0502020104020203" pitchFamily="34" charset="77"/>
              </a:rPr>
              <a:t>Versión 2026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1F84582F-25ED-D64F-A141-4702851F27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2889" y="4153426"/>
            <a:ext cx="671000" cy="396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09BC001-F490-B55D-4087-04CD68E211CA}"/>
              </a:ext>
            </a:extLst>
          </p:cNvPr>
          <p:cNvSpPr txBox="1"/>
          <p:nvPr/>
        </p:nvSpPr>
        <p:spPr>
          <a:xfrm>
            <a:off x="925898" y="2363235"/>
            <a:ext cx="5074723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4400" noProof="1">
                <a:latin typeface="Gill Sans MT" panose="020B0502020104020203" pitchFamily="34" charset="77"/>
              </a:rPr>
              <a:t>Transformaciones 3D</a:t>
            </a:r>
            <a:endParaRPr lang="es-ES_tradnl" sz="1400" noProof="1">
              <a:latin typeface="Gill Sans MT" panose="020B0502020104020203" pitchFamily="34" charset="77"/>
            </a:endParaRPr>
          </a:p>
          <a:p>
            <a:r>
              <a:rPr lang="es-ES_tradnl" sz="1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(CAPÍTULO 2 – CV02C)</a:t>
            </a:r>
            <a:endParaRPr lang="es-ES_tradnl" sz="4400" noProof="1">
              <a:solidFill>
                <a:schemeClr val="bg1">
                  <a:lumMod val="50000"/>
                </a:schemeClr>
              </a:solidFill>
              <a:latin typeface="Gill Sans MT" panose="020B0502020104020203" pitchFamily="34" charset="77"/>
            </a:endParaRPr>
          </a:p>
        </p:txBody>
      </p:sp>
      <p:pic>
        <p:nvPicPr>
          <p:cNvPr id="4" name="Picture 3" descr="Screen Shot 2014-07-28 at 3.30.32 PM.png">
            <a:extLst>
              <a:ext uri="{FF2B5EF4-FFF2-40B4-BE49-F238E27FC236}">
                <a16:creationId xmlns:a16="http://schemas.microsoft.com/office/drawing/2014/main" id="{F713277D-8D19-F8E9-D0C7-160CDCD11B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7883" y="683626"/>
            <a:ext cx="2688219" cy="84741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F7C2C46-FB77-25C3-BA3D-A0231C48A0BC}"/>
              </a:ext>
            </a:extLst>
          </p:cNvPr>
          <p:cNvSpPr/>
          <p:nvPr/>
        </p:nvSpPr>
        <p:spPr>
          <a:xfrm>
            <a:off x="8532327" y="889536"/>
            <a:ext cx="94889" cy="94882"/>
          </a:xfrm>
          <a:prstGeom prst="rect">
            <a:avLst/>
          </a:prstGeom>
          <a:solidFill>
            <a:srgbClr val="FF0000">
              <a:alpha val="7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1821CF4-4421-1287-4A0F-68915CE9BDF0}"/>
              </a:ext>
            </a:extLst>
          </p:cNvPr>
          <p:cNvSpPr/>
          <p:nvPr/>
        </p:nvSpPr>
        <p:spPr>
          <a:xfrm>
            <a:off x="9457147" y="1041936"/>
            <a:ext cx="94889" cy="94882"/>
          </a:xfrm>
          <a:prstGeom prst="rect">
            <a:avLst/>
          </a:prstGeom>
          <a:solidFill>
            <a:srgbClr val="FFD300">
              <a:alpha val="7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697AF8-DB10-A907-E9A0-11DBFF2F41AD}"/>
              </a:ext>
            </a:extLst>
          </p:cNvPr>
          <p:cNvSpPr/>
          <p:nvPr/>
        </p:nvSpPr>
        <p:spPr>
          <a:xfrm>
            <a:off x="8450280" y="1194336"/>
            <a:ext cx="94889" cy="94882"/>
          </a:xfrm>
          <a:prstGeom prst="rect">
            <a:avLst/>
          </a:prstGeom>
          <a:solidFill>
            <a:srgbClr val="3366FF">
              <a:alpha val="7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433E66E-94EA-0AAE-A7DB-7F462B910E03}"/>
              </a:ext>
            </a:extLst>
          </p:cNvPr>
          <p:cNvSpPr/>
          <p:nvPr/>
        </p:nvSpPr>
        <p:spPr>
          <a:xfrm>
            <a:off x="9200620" y="814788"/>
            <a:ext cx="94889" cy="94882"/>
          </a:xfrm>
          <a:prstGeom prst="rect">
            <a:avLst/>
          </a:prstGeom>
          <a:solidFill>
            <a:schemeClr val="bg1">
              <a:alpha val="73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7468F98-E38C-0CEE-B1A7-0C8769B40381}"/>
              </a:ext>
            </a:extLst>
          </p:cNvPr>
          <p:cNvSpPr/>
          <p:nvPr/>
        </p:nvSpPr>
        <p:spPr>
          <a:xfrm>
            <a:off x="9043304" y="1325718"/>
            <a:ext cx="94889" cy="94882"/>
          </a:xfrm>
          <a:prstGeom prst="rect">
            <a:avLst/>
          </a:prstGeom>
          <a:solidFill>
            <a:srgbClr val="00FF00">
              <a:alpha val="7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8562CE25-1E0E-B848-34C1-C8C61BBCC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CV02C</a:t>
            </a:r>
            <a:endParaRPr lang="en-CL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DEE84B31-5B77-D43C-96E3-64EF8FD5C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</a:t>
            </a:fld>
            <a:endParaRPr lang="en-CL"/>
          </a:p>
        </p:txBody>
      </p:sp>
      <p:sp>
        <p:nvSpPr>
          <p:cNvPr id="3" name="Text Box 30">
            <a:extLst>
              <a:ext uri="{FF2B5EF4-FFF2-40B4-BE49-F238E27FC236}">
                <a16:creationId xmlns:a16="http://schemas.microsoft.com/office/drawing/2014/main" id="{980F60FB-5E3F-7431-22E1-F4830F414C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00863" y="5195363"/>
            <a:ext cx="37306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i="1">
                <a:latin typeface="Times New Roman" charset="0"/>
              </a:rPr>
              <a:t>X'</a:t>
            </a:r>
          </a:p>
        </p:txBody>
      </p:sp>
      <p:sp>
        <p:nvSpPr>
          <p:cNvPr id="6" name="Text Box 31">
            <a:extLst>
              <a:ext uri="{FF2B5EF4-FFF2-40B4-BE49-F238E27FC236}">
                <a16:creationId xmlns:a16="http://schemas.microsoft.com/office/drawing/2014/main" id="{ACC647E7-0A70-5DAA-571D-3A5FBD6A7E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7063" y="2666476"/>
            <a:ext cx="36036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i="1">
                <a:latin typeface="Times New Roman" charset="0"/>
              </a:rPr>
              <a:t>Z'</a:t>
            </a:r>
          </a:p>
        </p:txBody>
      </p:sp>
      <p:sp>
        <p:nvSpPr>
          <p:cNvPr id="15" name="Text Box 32">
            <a:extLst>
              <a:ext uri="{FF2B5EF4-FFF2-40B4-BE49-F238E27FC236}">
                <a16:creationId xmlns:a16="http://schemas.microsoft.com/office/drawing/2014/main" id="{A84A02A1-915E-9BD5-4586-5D7F875E34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10612" y="3657076"/>
            <a:ext cx="3683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i="1">
                <a:latin typeface="Times New Roman" charset="0"/>
              </a:rPr>
              <a:t>Y'</a:t>
            </a:r>
          </a:p>
        </p:txBody>
      </p:sp>
      <p:sp>
        <p:nvSpPr>
          <p:cNvPr id="16" name="Line 36">
            <a:extLst>
              <a:ext uri="{FF2B5EF4-FFF2-40B4-BE49-F238E27FC236}">
                <a16:creationId xmlns:a16="http://schemas.microsoft.com/office/drawing/2014/main" id="{27B8BDB3-59DE-E4B9-68E4-BA617AD4FEC4}"/>
              </a:ext>
            </a:extLst>
          </p:cNvPr>
          <p:cNvSpPr>
            <a:spLocks noChangeShapeType="1"/>
          </p:cNvSpPr>
          <p:nvPr/>
        </p:nvSpPr>
        <p:spPr bwMode="auto">
          <a:xfrm rot="19851013" flipV="1">
            <a:off x="8812012" y="2739500"/>
            <a:ext cx="0" cy="160020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9" name="Line 37">
            <a:extLst>
              <a:ext uri="{FF2B5EF4-FFF2-40B4-BE49-F238E27FC236}">
                <a16:creationId xmlns:a16="http://schemas.microsoft.com/office/drawing/2014/main" id="{CE70D57F-3216-B070-BE04-A989EF560E37}"/>
              </a:ext>
            </a:extLst>
          </p:cNvPr>
          <p:cNvSpPr>
            <a:spLocks noChangeShapeType="1"/>
          </p:cNvSpPr>
          <p:nvPr/>
        </p:nvSpPr>
        <p:spPr bwMode="auto">
          <a:xfrm rot="19851013" flipH="1">
            <a:off x="8583412" y="4398438"/>
            <a:ext cx="838200" cy="68580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20" name="Line 38">
            <a:extLst>
              <a:ext uri="{FF2B5EF4-FFF2-40B4-BE49-F238E27FC236}">
                <a16:creationId xmlns:a16="http://schemas.microsoft.com/office/drawing/2014/main" id="{76B5BD27-2B52-7D25-510C-CFE8916A728E}"/>
              </a:ext>
            </a:extLst>
          </p:cNvPr>
          <p:cNvSpPr>
            <a:spLocks noChangeShapeType="1"/>
          </p:cNvSpPr>
          <p:nvPr/>
        </p:nvSpPr>
        <p:spPr bwMode="auto">
          <a:xfrm rot="-1748987">
            <a:off x="9104112" y="3866625"/>
            <a:ext cx="1524000" cy="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21" name="Line 39">
            <a:extLst>
              <a:ext uri="{FF2B5EF4-FFF2-40B4-BE49-F238E27FC236}">
                <a16:creationId xmlns:a16="http://schemas.microsoft.com/office/drawing/2014/main" id="{34ECF462-9087-6709-7131-E82B9069DF2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291312" y="3218925"/>
            <a:ext cx="0" cy="16002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22" name="Line 40">
            <a:extLst>
              <a:ext uri="{FF2B5EF4-FFF2-40B4-BE49-F238E27FC236}">
                <a16:creationId xmlns:a16="http://schemas.microsoft.com/office/drawing/2014/main" id="{4C1323F1-C0DB-EB0C-0624-8436B4CDE32D}"/>
              </a:ext>
            </a:extLst>
          </p:cNvPr>
          <p:cNvSpPr>
            <a:spLocks noChangeShapeType="1"/>
          </p:cNvSpPr>
          <p:nvPr/>
        </p:nvSpPr>
        <p:spPr bwMode="auto">
          <a:xfrm>
            <a:off x="8291312" y="4819125"/>
            <a:ext cx="15240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23" name="Line 41">
            <a:extLst>
              <a:ext uri="{FF2B5EF4-FFF2-40B4-BE49-F238E27FC236}">
                <a16:creationId xmlns:a16="http://schemas.microsoft.com/office/drawing/2014/main" id="{7A656981-D0EB-B620-A116-7D4313CDA94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538838" y="4819126"/>
            <a:ext cx="752475" cy="75247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24" name="Text Box 42">
            <a:extLst>
              <a:ext uri="{FF2B5EF4-FFF2-40B4-BE49-F238E27FC236}">
                <a16:creationId xmlns:a16="http://schemas.microsoft.com/office/drawing/2014/main" id="{157F30C0-F361-9E8D-8A93-47E5B35104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24513" y="5443013"/>
            <a:ext cx="46672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i="1">
                <a:latin typeface="Times New Roman" charset="0"/>
              </a:rPr>
              <a:t>X</a:t>
            </a:r>
          </a:p>
        </p:txBody>
      </p:sp>
      <p:sp>
        <p:nvSpPr>
          <p:cNvPr id="25" name="Text Box 43">
            <a:extLst>
              <a:ext uri="{FF2B5EF4-FFF2-40B4-BE49-F238E27FC236}">
                <a16:creationId xmlns:a16="http://schemas.microsoft.com/office/drawing/2014/main" id="{CC4DF9C2-B336-4017-F726-19E7D29E01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15313" y="4666726"/>
            <a:ext cx="3968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i="1">
                <a:latin typeface="Times New Roman" charset="0"/>
              </a:rPr>
              <a:t>Y</a:t>
            </a:r>
          </a:p>
        </p:txBody>
      </p:sp>
      <p:sp>
        <p:nvSpPr>
          <p:cNvPr id="26" name="Text Box 44">
            <a:extLst>
              <a:ext uri="{FF2B5EF4-FFF2-40B4-BE49-F238E27FC236}">
                <a16:creationId xmlns:a16="http://schemas.microsoft.com/office/drawing/2014/main" id="{496BDF8F-4AC1-C111-8959-07416259BC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10313" y="3218926"/>
            <a:ext cx="39846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i="1">
                <a:latin typeface="Times New Roman" charset="0"/>
              </a:rPr>
              <a:t>Z</a:t>
            </a:r>
          </a:p>
        </p:txBody>
      </p:sp>
      <p:sp>
        <p:nvSpPr>
          <p:cNvPr id="27" name="Arco 45">
            <a:extLst>
              <a:ext uri="{FF2B5EF4-FFF2-40B4-BE49-F238E27FC236}">
                <a16:creationId xmlns:a16="http://schemas.microsoft.com/office/drawing/2014/main" id="{A5926185-3F2A-33FB-EF8F-C343DA2AB8B5}"/>
              </a:ext>
            </a:extLst>
          </p:cNvPr>
          <p:cNvSpPr>
            <a:spLocks/>
          </p:cNvSpPr>
          <p:nvPr/>
        </p:nvSpPr>
        <p:spPr bwMode="auto">
          <a:xfrm rot="8938271" flipV="1">
            <a:off x="8819950" y="4604814"/>
            <a:ext cx="482600" cy="434975"/>
          </a:xfrm>
          <a:custGeom>
            <a:avLst/>
            <a:gdLst>
              <a:gd name="G0" fmla="+- 21600 0 0"/>
              <a:gd name="G1" fmla="+- 21600 0 0"/>
              <a:gd name="G2" fmla="+- 21600 0 0"/>
              <a:gd name="T0" fmla="*/ 28847 w 43200"/>
              <a:gd name="T1" fmla="*/ 41948 h 43200"/>
              <a:gd name="T2" fmla="*/ 43200 w 43200"/>
              <a:gd name="T3" fmla="*/ 21599 h 43200"/>
              <a:gd name="T4" fmla="*/ 21600 w 43200"/>
              <a:gd name="T5" fmla="*/ 21600 h 43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3200" h="43200" fill="none" extrusionOk="0">
                <a:moveTo>
                  <a:pt x="28846" y="41947"/>
                </a:moveTo>
                <a:cubicBezTo>
                  <a:pt x="26520" y="42776"/>
                  <a:pt x="24069" y="43199"/>
                  <a:pt x="21600" y="43199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8" y="0"/>
                  <a:pt x="43199" y="9670"/>
                  <a:pt x="43199" y="21599"/>
                </a:cubicBezTo>
              </a:path>
              <a:path w="43200" h="43200" stroke="0" extrusionOk="0">
                <a:moveTo>
                  <a:pt x="28846" y="41947"/>
                </a:moveTo>
                <a:cubicBezTo>
                  <a:pt x="26520" y="42776"/>
                  <a:pt x="24069" y="43199"/>
                  <a:pt x="21600" y="43199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8" y="0"/>
                  <a:pt x="43199" y="9670"/>
                  <a:pt x="43199" y="21599"/>
                </a:cubicBezTo>
                <a:lnTo>
                  <a:pt x="21600" y="21600"/>
                </a:lnTo>
                <a:close/>
              </a:path>
            </a:pathLst>
          </a:custGeom>
          <a:noFill/>
          <a:ln w="57150">
            <a:solidFill>
              <a:srgbClr val="FF9900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28" name="Text Box 46">
            <a:extLst>
              <a:ext uri="{FF2B5EF4-FFF2-40B4-BE49-F238E27FC236}">
                <a16:creationId xmlns:a16="http://schemas.microsoft.com/office/drawing/2014/main" id="{64D8C54F-CE55-7D4E-CCAB-7E5DE1BE09F0}"/>
              </a:ext>
            </a:extLst>
          </p:cNvPr>
          <p:cNvSpPr txBox="1">
            <a:spLocks noChangeArrowheads="1"/>
          </p:cNvSpPr>
          <p:nvPr/>
        </p:nvSpPr>
        <p:spPr bwMode="auto">
          <a:xfrm rot="-1861729">
            <a:off x="9275563" y="4584175"/>
            <a:ext cx="5175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sz="2400">
                <a:latin typeface="Times New Roman" charset="0"/>
                <a:sym typeface="Symbol" charset="2"/>
              </a:rPr>
              <a:t></a:t>
            </a:r>
            <a:r>
              <a:rPr lang="es-ES_tradnl" sz="2400" i="1" baseline="-25000">
                <a:latin typeface="Times New Roman" charset="0"/>
                <a:sym typeface="Symbol" charset="2"/>
              </a:rPr>
              <a:t>X</a:t>
            </a:r>
            <a:endParaRPr lang="es-ES_tradnl" sz="2400">
              <a:latin typeface="Times New Roman" charset="0"/>
            </a:endParaRPr>
          </a:p>
        </p:txBody>
      </p:sp>
      <p:sp>
        <p:nvSpPr>
          <p:cNvPr id="29" name="Text Box 47">
            <a:extLst>
              <a:ext uri="{FF2B5EF4-FFF2-40B4-BE49-F238E27FC236}">
                <a16:creationId xmlns:a16="http://schemas.microsoft.com/office/drawing/2014/main" id="{B7C3C856-B568-50EB-A9A7-4BE1D38559A0}"/>
              </a:ext>
            </a:extLst>
          </p:cNvPr>
          <p:cNvSpPr txBox="1">
            <a:spLocks noChangeArrowheads="1"/>
          </p:cNvSpPr>
          <p:nvPr/>
        </p:nvSpPr>
        <p:spPr bwMode="auto">
          <a:xfrm rot="-1861729">
            <a:off x="10013751" y="2930000"/>
            <a:ext cx="5175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sz="2400">
                <a:latin typeface="Times New Roman" charset="0"/>
                <a:sym typeface="Symbol" charset="2"/>
              </a:rPr>
              <a:t></a:t>
            </a:r>
            <a:r>
              <a:rPr lang="es-ES_tradnl" sz="2400" i="1" baseline="-25000">
                <a:latin typeface="Times New Roman" charset="0"/>
                <a:sym typeface="Symbol" charset="2"/>
              </a:rPr>
              <a:t>Y</a:t>
            </a:r>
            <a:endParaRPr lang="es-ES_tradnl" sz="2400">
              <a:latin typeface="Times New Roman" charset="0"/>
            </a:endParaRPr>
          </a:p>
        </p:txBody>
      </p:sp>
      <p:sp>
        <p:nvSpPr>
          <p:cNvPr id="30" name="Text Box 48">
            <a:extLst>
              <a:ext uri="{FF2B5EF4-FFF2-40B4-BE49-F238E27FC236}">
                <a16:creationId xmlns:a16="http://schemas.microsoft.com/office/drawing/2014/main" id="{020D2A44-B406-04E3-7B57-0E282AD2A887}"/>
              </a:ext>
            </a:extLst>
          </p:cNvPr>
          <p:cNvSpPr txBox="1">
            <a:spLocks noChangeArrowheads="1"/>
          </p:cNvSpPr>
          <p:nvPr/>
        </p:nvSpPr>
        <p:spPr bwMode="auto">
          <a:xfrm rot="-1861729">
            <a:off x="8142088" y="3366563"/>
            <a:ext cx="5175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sz="2400">
                <a:latin typeface="Times New Roman" charset="0"/>
                <a:sym typeface="Symbol" charset="2"/>
              </a:rPr>
              <a:t></a:t>
            </a:r>
            <a:r>
              <a:rPr lang="es-ES_tradnl" sz="2400" i="1" baseline="-25000">
                <a:latin typeface="Times New Roman" charset="0"/>
                <a:sym typeface="Symbol" charset="2"/>
              </a:rPr>
              <a:t>Z</a:t>
            </a:r>
            <a:endParaRPr lang="es-ES_tradnl" sz="2400">
              <a:latin typeface="Times New Roman" charset="0"/>
            </a:endParaRPr>
          </a:p>
        </p:txBody>
      </p:sp>
      <p:sp>
        <p:nvSpPr>
          <p:cNvPr id="31" name="Arco 49">
            <a:extLst>
              <a:ext uri="{FF2B5EF4-FFF2-40B4-BE49-F238E27FC236}">
                <a16:creationId xmlns:a16="http://schemas.microsoft.com/office/drawing/2014/main" id="{D784A66D-2C74-C2A2-522B-CC96A4AFDF34}"/>
              </a:ext>
            </a:extLst>
          </p:cNvPr>
          <p:cNvSpPr>
            <a:spLocks/>
          </p:cNvSpPr>
          <p:nvPr/>
        </p:nvSpPr>
        <p:spPr bwMode="auto">
          <a:xfrm rot="8938271" flipH="1" flipV="1">
            <a:off x="10105825" y="3403076"/>
            <a:ext cx="315912" cy="434975"/>
          </a:xfrm>
          <a:custGeom>
            <a:avLst/>
            <a:gdLst>
              <a:gd name="G0" fmla="+- 21600 0 0"/>
              <a:gd name="G1" fmla="+- 21600 0 0"/>
              <a:gd name="G2" fmla="+- 21600 0 0"/>
              <a:gd name="T0" fmla="*/ 31373 w 31373"/>
              <a:gd name="T1" fmla="*/ 40863 h 43200"/>
              <a:gd name="T2" fmla="*/ 27875 w 31373"/>
              <a:gd name="T3" fmla="*/ 932 h 43200"/>
              <a:gd name="T4" fmla="*/ 21600 w 31373"/>
              <a:gd name="T5" fmla="*/ 21600 h 43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1373" h="43200" fill="none" extrusionOk="0">
                <a:moveTo>
                  <a:pt x="31372" y="40862"/>
                </a:moveTo>
                <a:cubicBezTo>
                  <a:pt x="28344" y="42399"/>
                  <a:pt x="24996" y="43199"/>
                  <a:pt x="21600" y="43199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23726" y="0"/>
                  <a:pt x="25840" y="313"/>
                  <a:pt x="27875" y="931"/>
                </a:cubicBezTo>
              </a:path>
              <a:path w="31373" h="43200" stroke="0" extrusionOk="0">
                <a:moveTo>
                  <a:pt x="31372" y="40862"/>
                </a:moveTo>
                <a:cubicBezTo>
                  <a:pt x="28344" y="42399"/>
                  <a:pt x="24996" y="43199"/>
                  <a:pt x="21600" y="43199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23726" y="0"/>
                  <a:pt x="25840" y="313"/>
                  <a:pt x="27875" y="931"/>
                </a:cubicBezTo>
                <a:lnTo>
                  <a:pt x="21600" y="21600"/>
                </a:lnTo>
                <a:close/>
              </a:path>
            </a:pathLst>
          </a:custGeom>
          <a:noFill/>
          <a:ln w="57150">
            <a:solidFill>
              <a:srgbClr val="FF9900"/>
            </a:solidFill>
            <a:round/>
            <a:headEnd type="triangle" w="med" len="med"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33" name="Arco 50">
            <a:extLst>
              <a:ext uri="{FF2B5EF4-FFF2-40B4-BE49-F238E27FC236}">
                <a16:creationId xmlns:a16="http://schemas.microsoft.com/office/drawing/2014/main" id="{B62C2A26-DB35-0314-C9D7-7C12962C326E}"/>
              </a:ext>
            </a:extLst>
          </p:cNvPr>
          <p:cNvSpPr>
            <a:spLocks/>
          </p:cNvSpPr>
          <p:nvPr/>
        </p:nvSpPr>
        <p:spPr bwMode="auto">
          <a:xfrm rot="8938271">
            <a:off x="8367512" y="3052238"/>
            <a:ext cx="482600" cy="368300"/>
          </a:xfrm>
          <a:custGeom>
            <a:avLst/>
            <a:gdLst>
              <a:gd name="G0" fmla="+- 21600 0 0"/>
              <a:gd name="G1" fmla="+- 21600 0 0"/>
              <a:gd name="G2" fmla="+- 21600 0 0"/>
              <a:gd name="T0" fmla="*/ 15228 w 43190"/>
              <a:gd name="T1" fmla="*/ 42239 h 42239"/>
              <a:gd name="T2" fmla="*/ 43190 w 43190"/>
              <a:gd name="T3" fmla="*/ 20930 h 42239"/>
              <a:gd name="T4" fmla="*/ 21600 w 43190"/>
              <a:gd name="T5" fmla="*/ 21600 h 422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3190" h="42239" fill="none" extrusionOk="0">
                <a:moveTo>
                  <a:pt x="15228" y="42238"/>
                </a:moveTo>
                <a:cubicBezTo>
                  <a:pt x="6174" y="39443"/>
                  <a:pt x="0" y="31074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268" y="0"/>
                  <a:pt x="42827" y="9267"/>
                  <a:pt x="43189" y="20930"/>
                </a:cubicBezTo>
              </a:path>
              <a:path w="43190" h="42239" stroke="0" extrusionOk="0">
                <a:moveTo>
                  <a:pt x="15228" y="42238"/>
                </a:moveTo>
                <a:cubicBezTo>
                  <a:pt x="6174" y="39443"/>
                  <a:pt x="0" y="31074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268" y="0"/>
                  <a:pt x="42827" y="9267"/>
                  <a:pt x="43189" y="20930"/>
                </a:cubicBezTo>
                <a:lnTo>
                  <a:pt x="21600" y="21600"/>
                </a:lnTo>
                <a:close/>
              </a:path>
            </a:pathLst>
          </a:custGeom>
          <a:noFill/>
          <a:ln w="57150">
            <a:solidFill>
              <a:srgbClr val="FF9900"/>
            </a:solidFill>
            <a:round/>
            <a:headEnd type="triangle" w="med" len="med"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34" name="Text Box 51">
            <a:extLst>
              <a:ext uri="{FF2B5EF4-FFF2-40B4-BE49-F238E27FC236}">
                <a16:creationId xmlns:a16="http://schemas.microsoft.com/office/drawing/2014/main" id="{221640CD-A55D-CBBB-0B88-7AE58047C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00963" y="2823639"/>
            <a:ext cx="4095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sz="2000" i="1">
                <a:latin typeface="Times New Roman" charset="0"/>
              </a:rPr>
              <a:t>M</a:t>
            </a:r>
          </a:p>
        </p:txBody>
      </p:sp>
      <p:sp>
        <p:nvSpPr>
          <p:cNvPr id="35" name="Oval 52">
            <a:extLst>
              <a:ext uri="{FF2B5EF4-FFF2-40B4-BE49-F238E27FC236}">
                <a16:creationId xmlns:a16="http://schemas.microsoft.com/office/drawing/2014/main" id="{D224EBF5-788E-6DE7-9356-6CA1D68861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35887" y="3241150"/>
            <a:ext cx="88900" cy="889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grpSp>
        <p:nvGrpSpPr>
          <p:cNvPr id="36" name="Group 55">
            <a:extLst>
              <a:ext uri="{FF2B5EF4-FFF2-40B4-BE49-F238E27FC236}">
                <a16:creationId xmlns:a16="http://schemas.microsoft.com/office/drawing/2014/main" id="{7D3DCE9D-AE76-A83F-F730-B8D32CD067FD}"/>
              </a:ext>
            </a:extLst>
          </p:cNvPr>
          <p:cNvGrpSpPr>
            <a:grpSpLocks/>
          </p:cNvGrpSpPr>
          <p:nvPr/>
        </p:nvGrpSpPr>
        <p:grpSpPr bwMode="auto">
          <a:xfrm>
            <a:off x="8129387" y="4219050"/>
            <a:ext cx="1085850" cy="762000"/>
            <a:chOff x="2202" y="1762"/>
            <a:chExt cx="684" cy="480"/>
          </a:xfrm>
        </p:grpSpPr>
        <p:sp>
          <p:nvSpPr>
            <p:cNvPr id="37" name="Rectangle 56">
              <a:extLst>
                <a:ext uri="{FF2B5EF4-FFF2-40B4-BE49-F238E27FC236}">
                  <a16:creationId xmlns:a16="http://schemas.microsoft.com/office/drawing/2014/main" id="{89177621-E538-BC42-5E25-8C598E322A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2" y="1762"/>
              <a:ext cx="684" cy="480"/>
            </a:xfrm>
            <a:prstGeom prst="rect">
              <a:avLst/>
            </a:prstGeom>
            <a:solidFill>
              <a:schemeClr val="accent1"/>
            </a:solidFill>
            <a:ln w="9525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430200" prstMaterial="legacyWireframe">
              <a:bevelT w="13500" h="13500" prst="angle"/>
              <a:bevelB w="13500" h="13500" prst="angle"/>
              <a:extrusionClr>
                <a:schemeClr val="accent1"/>
              </a:extrusionClr>
            </a:sp3d>
          </p:spPr>
          <p:txBody>
            <a:bodyPr wrap="none" anchor="ctr">
              <a:prstTxWarp prst="textNoShape">
                <a:avLst/>
              </a:prstTxWarp>
              <a:flatTx/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  <p:sp>
          <p:nvSpPr>
            <p:cNvPr id="38" name="Line 57">
              <a:extLst>
                <a:ext uri="{FF2B5EF4-FFF2-40B4-BE49-F238E27FC236}">
                  <a16:creationId xmlns:a16="http://schemas.microsoft.com/office/drawing/2014/main" id="{6067E87B-7127-1D68-5189-63CE23D67C7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28" y="1768"/>
              <a:ext cx="540" cy="354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  <p:sp>
          <p:nvSpPr>
            <p:cNvPr id="39" name="Text Box 58">
              <a:extLst>
                <a:ext uri="{FF2B5EF4-FFF2-40B4-BE49-F238E27FC236}">
                  <a16:creationId xmlns:a16="http://schemas.microsoft.com/office/drawing/2014/main" id="{9F8A0196-DC5C-A5EB-7254-FB8E0313ED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60" y="1780"/>
              <a:ext cx="23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s-ES_tradnl" b="1">
                  <a:latin typeface="Times New Roman" charset="0"/>
                </a:rPr>
                <a:t>t</a:t>
              </a:r>
              <a:endParaRPr lang="es-ES_tradnl" i="1">
                <a:latin typeface="Times New Roman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24940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B34FB-91E2-DEE0-BAA8-F949C8CAD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CL" sz="4800" dirty="0">
                <a:latin typeface="Gill Sans MT" panose="020B0502020104020203" pitchFamily="34" charset="77"/>
                <a:cs typeface="Consolas" panose="020B0609020204030204" pitchFamily="49" charset="0"/>
              </a:rPr>
              <a:t>Transformaciones 3D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D3C013-15E6-1BBF-AF0D-529944C11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CV02C</a:t>
            </a:r>
            <a:endParaRPr lang="en-CL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87E1617-01FE-FA19-2728-FC27B463A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2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1093821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31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524001" y="76200"/>
            <a:ext cx="4022725" cy="527050"/>
          </a:xfrm>
          <a:solidFill>
            <a:srgbClr val="FFFFFF"/>
          </a:solidFill>
          <a:ln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algn="l"/>
            <a:r>
              <a:rPr lang="es-ES_tradnl" sz="2000" b="1" dirty="0">
                <a:solidFill>
                  <a:srgbClr val="99CCFF"/>
                </a:solidFill>
              </a:rPr>
              <a:t>[ 3D </a:t>
            </a:r>
            <a:r>
              <a:rPr lang="es-ES_tradnl" sz="2000" b="1" dirty="0" err="1">
                <a:solidFill>
                  <a:srgbClr val="99CCFF"/>
                </a:solidFill>
              </a:rPr>
              <a:t>Transformation</a:t>
            </a:r>
            <a:r>
              <a:rPr lang="es-ES_tradnl" sz="2000" b="1" dirty="0">
                <a:solidFill>
                  <a:srgbClr val="99CCFF"/>
                </a:solidFill>
              </a:rPr>
              <a:t> ]</a:t>
            </a:r>
            <a:endParaRPr sz="2000" b="1" noProof="1">
              <a:solidFill>
                <a:srgbClr val="99CCFF"/>
              </a:solidFill>
            </a:endParaRPr>
          </a:p>
        </p:txBody>
      </p:sp>
      <p:sp>
        <p:nvSpPr>
          <p:cNvPr id="1165329" name="Line 17"/>
          <p:cNvSpPr>
            <a:spLocks noChangeShapeType="1"/>
          </p:cNvSpPr>
          <p:nvPr/>
        </p:nvSpPr>
        <p:spPr bwMode="auto">
          <a:xfrm>
            <a:off x="5334000" y="3727450"/>
            <a:ext cx="15240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165330" name="Line 18"/>
          <p:cNvSpPr>
            <a:spLocks noChangeShapeType="1"/>
          </p:cNvSpPr>
          <p:nvPr/>
        </p:nvSpPr>
        <p:spPr bwMode="auto">
          <a:xfrm flipH="1">
            <a:off x="4581526" y="3727451"/>
            <a:ext cx="752475" cy="75247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165331" name="Text Box 19"/>
          <p:cNvSpPr txBox="1">
            <a:spLocks noChangeArrowheads="1"/>
          </p:cNvSpPr>
          <p:nvPr/>
        </p:nvSpPr>
        <p:spPr bwMode="auto">
          <a:xfrm>
            <a:off x="4267201" y="4351338"/>
            <a:ext cx="46672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i="1">
                <a:latin typeface="Times New Roman" charset="0"/>
              </a:rPr>
              <a:t>X</a:t>
            </a:r>
          </a:p>
        </p:txBody>
      </p:sp>
      <p:sp>
        <p:nvSpPr>
          <p:cNvPr id="1165332" name="Text Box 20"/>
          <p:cNvSpPr txBox="1">
            <a:spLocks noChangeArrowheads="1"/>
          </p:cNvSpPr>
          <p:nvPr/>
        </p:nvSpPr>
        <p:spPr bwMode="auto">
          <a:xfrm>
            <a:off x="6858001" y="3575051"/>
            <a:ext cx="3968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i="1">
                <a:latin typeface="Times New Roman" charset="0"/>
              </a:rPr>
              <a:t>Y</a:t>
            </a:r>
          </a:p>
        </p:txBody>
      </p:sp>
      <p:grpSp>
        <p:nvGrpSpPr>
          <p:cNvPr id="1165341" name="Group 29"/>
          <p:cNvGrpSpPr>
            <a:grpSpLocks/>
          </p:cNvGrpSpPr>
          <p:nvPr/>
        </p:nvGrpSpPr>
        <p:grpSpPr bwMode="auto">
          <a:xfrm>
            <a:off x="6343651" y="1731963"/>
            <a:ext cx="409575" cy="506412"/>
            <a:chOff x="2972" y="1795"/>
            <a:chExt cx="258" cy="319"/>
          </a:xfrm>
        </p:grpSpPr>
        <p:sp>
          <p:nvSpPr>
            <p:cNvPr id="1165342" name="Text Box 30"/>
            <p:cNvSpPr txBox="1">
              <a:spLocks noChangeArrowheads="1"/>
            </p:cNvSpPr>
            <p:nvPr/>
          </p:nvSpPr>
          <p:spPr bwMode="auto">
            <a:xfrm>
              <a:off x="2972" y="1795"/>
              <a:ext cx="258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s-ES_tradnl" sz="2000" i="1" dirty="0">
                  <a:latin typeface="Times New Roman" charset="0"/>
                </a:rPr>
                <a:t>M</a:t>
              </a:r>
            </a:p>
          </p:txBody>
        </p:sp>
        <p:sp>
          <p:nvSpPr>
            <p:cNvPr id="1165343" name="Oval 31"/>
            <p:cNvSpPr>
              <a:spLocks noChangeArrowheads="1"/>
            </p:cNvSpPr>
            <p:nvPr/>
          </p:nvSpPr>
          <p:spPr bwMode="auto">
            <a:xfrm>
              <a:off x="2994" y="2058"/>
              <a:ext cx="56" cy="5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31" name="Rectangle 10"/>
          <p:cNvSpPr>
            <a:spLocks noChangeArrowheads="1"/>
          </p:cNvSpPr>
          <p:nvPr/>
        </p:nvSpPr>
        <p:spPr bwMode="auto">
          <a:xfrm>
            <a:off x="5172073" y="2167467"/>
            <a:ext cx="1245661" cy="1727197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miter lim="800000"/>
            <a:headEnd type="none" w="med" len="med"/>
            <a:tailEnd type="none" w="med" len="med"/>
          </a:ln>
          <a:effectLst/>
          <a:scene3d>
            <a:camera prst="legacyObliqueTopRight"/>
            <a:lightRig rig="legacyFlat3" dir="b"/>
          </a:scene3d>
          <a:sp3d extrusionH="430200" prstMaterial="legacyWireframe">
            <a:bevelT w="13500" h="13500" prst="angle"/>
            <a:bevelB w="13500" h="13500" prst="angle"/>
            <a:extrusionClr>
              <a:schemeClr val="accent1"/>
            </a:extrusionClr>
          </a:sp3d>
        </p:spPr>
        <p:txBody>
          <a:bodyPr wrap="none" anchor="ctr">
            <a:prstTxWarp prst="textNoShape">
              <a:avLst/>
            </a:prstTxWarp>
            <a:flatTx/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34" name="CuadroTexto 33"/>
          <p:cNvSpPr txBox="1"/>
          <p:nvPr/>
        </p:nvSpPr>
        <p:spPr>
          <a:xfrm>
            <a:off x="7996712" y="1693363"/>
            <a:ext cx="19177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b="1" dirty="0">
                <a:latin typeface="Times New Roman"/>
                <a:cs typeface="Times New Roman"/>
              </a:rPr>
              <a:t>M</a:t>
            </a:r>
            <a:r>
              <a:rPr lang="es-ES_tradnl" dirty="0">
                <a:latin typeface="Times New Roman"/>
                <a:cs typeface="Times New Roman"/>
              </a:rPr>
              <a:t> = [ </a:t>
            </a:r>
            <a:r>
              <a:rPr lang="es-ES_tradnl" i="1" dirty="0">
                <a:latin typeface="Times New Roman"/>
                <a:cs typeface="Times New Roman"/>
              </a:rPr>
              <a:t>X  Y  Z  </a:t>
            </a:r>
            <a:r>
              <a:rPr lang="es-ES_tradnl" dirty="0">
                <a:latin typeface="Times New Roman"/>
                <a:cs typeface="Times New Roman"/>
              </a:rPr>
              <a:t>1 ]</a:t>
            </a:r>
            <a:r>
              <a:rPr lang="es-ES_tradnl" baseline="30000" dirty="0">
                <a:latin typeface="Gill Sans MT" panose="020B0502020104020203" pitchFamily="34" charset="77"/>
                <a:cs typeface="Times New Roman"/>
              </a:rPr>
              <a:t>T</a:t>
            </a:r>
          </a:p>
        </p:txBody>
      </p:sp>
      <p:sp>
        <p:nvSpPr>
          <p:cNvPr id="14" name="Line 16">
            <a:extLst>
              <a:ext uri="{FF2B5EF4-FFF2-40B4-BE49-F238E27FC236}">
                <a16:creationId xmlns:a16="http://schemas.microsoft.com/office/drawing/2014/main" id="{1C06058D-C42D-6242-B7C6-B8D21CF61E0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333674" y="1364152"/>
            <a:ext cx="327" cy="2363298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5" name="Text Box 21">
            <a:extLst>
              <a:ext uri="{FF2B5EF4-FFF2-40B4-BE49-F238E27FC236}">
                <a16:creationId xmlns:a16="http://schemas.microsoft.com/office/drawing/2014/main" id="{5320398D-61B1-FD41-83AA-3DE68E592E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1" y="1437331"/>
            <a:ext cx="39846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i="1" dirty="0">
                <a:latin typeface="Times New Roman" charset="0"/>
              </a:rPr>
              <a:t>Z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BED847-9BED-3B65-E209-7AC4A7ECC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CV02C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C640EE1-6805-DB8C-F045-447DF5334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3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905810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5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11653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11653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1" grpId="1" animBg="1"/>
      <p:bldP spid="3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31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524001" y="76200"/>
            <a:ext cx="4022725" cy="527050"/>
          </a:xfrm>
          <a:solidFill>
            <a:srgbClr val="FFFFFF"/>
          </a:solidFill>
          <a:ln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algn="l"/>
            <a:r>
              <a:rPr lang="es-ES_tradnl" sz="2000" b="1" dirty="0">
                <a:solidFill>
                  <a:srgbClr val="99CCFF"/>
                </a:solidFill>
              </a:rPr>
              <a:t>[ 3D </a:t>
            </a:r>
            <a:r>
              <a:rPr lang="es-ES_tradnl" sz="2000" b="1" dirty="0" err="1">
                <a:solidFill>
                  <a:srgbClr val="99CCFF"/>
                </a:solidFill>
              </a:rPr>
              <a:t>Transformation</a:t>
            </a:r>
            <a:r>
              <a:rPr lang="es-ES_tradnl" sz="2000" b="1" dirty="0">
                <a:solidFill>
                  <a:srgbClr val="99CCFF"/>
                </a:solidFill>
              </a:rPr>
              <a:t> ]</a:t>
            </a:r>
            <a:endParaRPr sz="2000" b="1" noProof="1">
              <a:solidFill>
                <a:srgbClr val="99CCFF"/>
              </a:solidFill>
            </a:endParaRPr>
          </a:p>
        </p:txBody>
      </p:sp>
      <p:sp>
        <p:nvSpPr>
          <p:cNvPr id="1165318" name="Text Box 6"/>
          <p:cNvSpPr txBox="1">
            <a:spLocks noChangeArrowheads="1"/>
          </p:cNvSpPr>
          <p:nvPr/>
        </p:nvSpPr>
        <p:spPr bwMode="auto">
          <a:xfrm>
            <a:off x="5543551" y="4103688"/>
            <a:ext cx="37306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i="1">
                <a:latin typeface="Times New Roman" charset="0"/>
              </a:rPr>
              <a:t>X'</a:t>
            </a:r>
          </a:p>
        </p:txBody>
      </p:sp>
      <p:sp>
        <p:nvSpPr>
          <p:cNvPr id="1165319" name="Text Box 7"/>
          <p:cNvSpPr txBox="1">
            <a:spLocks noChangeArrowheads="1"/>
          </p:cNvSpPr>
          <p:nvPr/>
        </p:nvSpPr>
        <p:spPr bwMode="auto">
          <a:xfrm>
            <a:off x="5619751" y="1574801"/>
            <a:ext cx="36036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i="1">
                <a:latin typeface="Times New Roman" charset="0"/>
              </a:rPr>
              <a:t>Z'</a:t>
            </a:r>
          </a:p>
        </p:txBody>
      </p:sp>
      <p:sp>
        <p:nvSpPr>
          <p:cNvPr id="1165320" name="Text Box 8"/>
          <p:cNvSpPr txBox="1">
            <a:spLocks noChangeArrowheads="1"/>
          </p:cNvSpPr>
          <p:nvPr/>
        </p:nvSpPr>
        <p:spPr bwMode="auto">
          <a:xfrm>
            <a:off x="7353300" y="2565401"/>
            <a:ext cx="3683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i="1">
                <a:latin typeface="Times New Roman" charset="0"/>
              </a:rPr>
              <a:t>Y'</a:t>
            </a:r>
          </a:p>
        </p:txBody>
      </p:sp>
      <p:sp>
        <p:nvSpPr>
          <p:cNvPr id="1165325" name="Line 13"/>
          <p:cNvSpPr>
            <a:spLocks noChangeShapeType="1"/>
          </p:cNvSpPr>
          <p:nvPr/>
        </p:nvSpPr>
        <p:spPr bwMode="auto">
          <a:xfrm rot="19851013" flipV="1">
            <a:off x="5854700" y="1647825"/>
            <a:ext cx="0" cy="160020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165326" name="Line 14"/>
          <p:cNvSpPr>
            <a:spLocks noChangeShapeType="1"/>
          </p:cNvSpPr>
          <p:nvPr/>
        </p:nvSpPr>
        <p:spPr bwMode="auto">
          <a:xfrm rot="19851013" flipH="1">
            <a:off x="5626100" y="3306763"/>
            <a:ext cx="838200" cy="68580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165327" name="Line 15"/>
          <p:cNvSpPr>
            <a:spLocks noChangeShapeType="1"/>
          </p:cNvSpPr>
          <p:nvPr/>
        </p:nvSpPr>
        <p:spPr bwMode="auto">
          <a:xfrm rot="-1748987">
            <a:off x="6146800" y="2774950"/>
            <a:ext cx="1524000" cy="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165328" name="Line 16"/>
          <p:cNvSpPr>
            <a:spLocks noChangeShapeType="1"/>
          </p:cNvSpPr>
          <p:nvPr/>
        </p:nvSpPr>
        <p:spPr bwMode="auto">
          <a:xfrm flipH="1" flipV="1">
            <a:off x="5333674" y="1364152"/>
            <a:ext cx="327" cy="2363298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165329" name="Line 17"/>
          <p:cNvSpPr>
            <a:spLocks noChangeShapeType="1"/>
          </p:cNvSpPr>
          <p:nvPr/>
        </p:nvSpPr>
        <p:spPr bwMode="auto">
          <a:xfrm>
            <a:off x="5334000" y="3727450"/>
            <a:ext cx="15240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165330" name="Line 18"/>
          <p:cNvSpPr>
            <a:spLocks noChangeShapeType="1"/>
          </p:cNvSpPr>
          <p:nvPr/>
        </p:nvSpPr>
        <p:spPr bwMode="auto">
          <a:xfrm flipH="1">
            <a:off x="4581526" y="3727451"/>
            <a:ext cx="752475" cy="75247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165331" name="Text Box 19"/>
          <p:cNvSpPr txBox="1">
            <a:spLocks noChangeArrowheads="1"/>
          </p:cNvSpPr>
          <p:nvPr/>
        </p:nvSpPr>
        <p:spPr bwMode="auto">
          <a:xfrm>
            <a:off x="4267201" y="4351338"/>
            <a:ext cx="46672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i="1">
                <a:latin typeface="Times New Roman" charset="0"/>
              </a:rPr>
              <a:t>X</a:t>
            </a:r>
          </a:p>
        </p:txBody>
      </p:sp>
      <p:sp>
        <p:nvSpPr>
          <p:cNvPr id="1165332" name="Text Box 20"/>
          <p:cNvSpPr txBox="1">
            <a:spLocks noChangeArrowheads="1"/>
          </p:cNvSpPr>
          <p:nvPr/>
        </p:nvSpPr>
        <p:spPr bwMode="auto">
          <a:xfrm>
            <a:off x="6858001" y="3575051"/>
            <a:ext cx="3968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i="1">
                <a:latin typeface="Times New Roman" charset="0"/>
              </a:rPr>
              <a:t>Y</a:t>
            </a:r>
          </a:p>
        </p:txBody>
      </p:sp>
      <p:sp>
        <p:nvSpPr>
          <p:cNvPr id="1165333" name="Text Box 21"/>
          <p:cNvSpPr txBox="1">
            <a:spLocks noChangeArrowheads="1"/>
          </p:cNvSpPr>
          <p:nvPr/>
        </p:nvSpPr>
        <p:spPr bwMode="auto">
          <a:xfrm>
            <a:off x="4953001" y="1437331"/>
            <a:ext cx="39846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i="1" dirty="0">
                <a:latin typeface="Times New Roman" charset="0"/>
              </a:rPr>
              <a:t>Z</a:t>
            </a:r>
          </a:p>
        </p:txBody>
      </p:sp>
      <p:grpSp>
        <p:nvGrpSpPr>
          <p:cNvPr id="49" name="Agrupar 48"/>
          <p:cNvGrpSpPr/>
          <p:nvPr/>
        </p:nvGrpSpPr>
        <p:grpSpPr>
          <a:xfrm>
            <a:off x="5592228" y="1770061"/>
            <a:ext cx="1477469" cy="1799323"/>
            <a:chOff x="4068227" y="1770060"/>
            <a:chExt cx="1477469" cy="1799323"/>
          </a:xfrm>
        </p:grpSpPr>
        <p:grpSp>
          <p:nvGrpSpPr>
            <p:cNvPr id="44" name="Agrupar 43"/>
            <p:cNvGrpSpPr/>
            <p:nvPr/>
          </p:nvGrpSpPr>
          <p:grpSpPr>
            <a:xfrm>
              <a:off x="4068227" y="1770060"/>
              <a:ext cx="1477469" cy="1799323"/>
              <a:chOff x="4068227" y="1770060"/>
              <a:chExt cx="1477469" cy="1799323"/>
            </a:xfrm>
            <a:effectLst/>
          </p:grpSpPr>
          <p:cxnSp>
            <p:nvCxnSpPr>
              <p:cNvPr id="30" name="Conector recto 29"/>
              <p:cNvCxnSpPr/>
              <p:nvPr/>
            </p:nvCxnSpPr>
            <p:spPr>
              <a:xfrm flipV="1">
                <a:off x="4232482" y="1770060"/>
                <a:ext cx="813121" cy="499771"/>
              </a:xfrm>
              <a:prstGeom prst="line">
                <a:avLst/>
              </a:prstGeom>
              <a:ln w="12700" cap="flat" cmpd="sng" algn="ctr">
                <a:solidFill>
                  <a:schemeClr val="bg2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Conector recto 30"/>
              <p:cNvCxnSpPr/>
              <p:nvPr/>
            </p:nvCxnSpPr>
            <p:spPr>
              <a:xfrm rot="5400000" flipH="1" flipV="1">
                <a:off x="4779372" y="1888899"/>
                <a:ext cx="392951" cy="164241"/>
              </a:xfrm>
              <a:prstGeom prst="line">
                <a:avLst/>
              </a:prstGeom>
              <a:ln w="12700" cap="flat" cmpd="sng" algn="ctr">
                <a:solidFill>
                  <a:schemeClr val="bg2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Conector recto 34"/>
              <p:cNvCxnSpPr/>
              <p:nvPr/>
            </p:nvCxnSpPr>
            <p:spPr>
              <a:xfrm rot="16200000" flipH="1">
                <a:off x="4855307" y="1968827"/>
                <a:ext cx="885449" cy="495329"/>
              </a:xfrm>
              <a:prstGeom prst="line">
                <a:avLst/>
              </a:prstGeom>
              <a:ln w="12700" cap="flat" cmpd="sng" algn="ctr">
                <a:solidFill>
                  <a:schemeClr val="bg2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Conector recto 38"/>
              <p:cNvCxnSpPr/>
              <p:nvPr/>
            </p:nvCxnSpPr>
            <p:spPr>
              <a:xfrm rot="5400000" flipH="1" flipV="1">
                <a:off x="5261972" y="2769432"/>
                <a:ext cx="392951" cy="164241"/>
              </a:xfrm>
              <a:prstGeom prst="line">
                <a:avLst/>
              </a:prstGeom>
              <a:ln w="12700" cap="flat" cmpd="sng" algn="ctr">
                <a:solidFill>
                  <a:schemeClr val="bg2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Conector recto 39"/>
              <p:cNvCxnSpPr/>
              <p:nvPr/>
            </p:nvCxnSpPr>
            <p:spPr>
              <a:xfrm rot="5400000" flipH="1" flipV="1">
                <a:off x="3953872" y="2384199"/>
                <a:ext cx="392951" cy="164241"/>
              </a:xfrm>
              <a:prstGeom prst="line">
                <a:avLst/>
              </a:prstGeom>
              <a:ln w="12700" cap="flat" cmpd="sng" algn="ctr">
                <a:solidFill>
                  <a:schemeClr val="bg2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Conector recto 40"/>
              <p:cNvCxnSpPr/>
              <p:nvPr/>
            </p:nvCxnSpPr>
            <p:spPr>
              <a:xfrm flipV="1">
                <a:off x="4084315" y="2176460"/>
                <a:ext cx="813121" cy="499771"/>
              </a:xfrm>
              <a:prstGeom prst="line">
                <a:avLst/>
              </a:prstGeom>
              <a:ln w="12700" cap="flat" cmpd="sng" algn="ctr">
                <a:solidFill>
                  <a:schemeClr val="bg2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Conector recto 41"/>
              <p:cNvCxnSpPr/>
              <p:nvPr/>
            </p:nvCxnSpPr>
            <p:spPr>
              <a:xfrm flipV="1">
                <a:off x="4562683" y="3061224"/>
                <a:ext cx="813121" cy="499771"/>
              </a:xfrm>
              <a:prstGeom prst="line">
                <a:avLst/>
              </a:prstGeom>
              <a:ln w="12700" cap="flat" cmpd="sng" algn="ctr">
                <a:solidFill>
                  <a:schemeClr val="bg2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Conector recto 42"/>
              <p:cNvCxnSpPr/>
              <p:nvPr/>
            </p:nvCxnSpPr>
            <p:spPr>
              <a:xfrm rot="16200000" flipH="1">
                <a:off x="3890107" y="2878994"/>
                <a:ext cx="885449" cy="495329"/>
              </a:xfrm>
              <a:prstGeom prst="line">
                <a:avLst/>
              </a:prstGeom>
              <a:ln w="12700" cap="flat" cmpd="sng" algn="ctr">
                <a:solidFill>
                  <a:schemeClr val="bg2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8" name="Conector recto 47"/>
            <p:cNvCxnSpPr/>
            <p:nvPr/>
          </p:nvCxnSpPr>
          <p:spPr>
            <a:xfrm rot="16200000" flipH="1">
              <a:off x="4694441" y="2375227"/>
              <a:ext cx="885449" cy="495329"/>
            </a:xfrm>
            <a:prstGeom prst="line">
              <a:avLst/>
            </a:prstGeom>
            <a:ln w="12700" cap="flat" cmpd="sng" algn="ctr">
              <a:solidFill>
                <a:schemeClr val="bg2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Group 29"/>
          <p:cNvGrpSpPr>
            <a:grpSpLocks/>
          </p:cNvGrpSpPr>
          <p:nvPr/>
        </p:nvGrpSpPr>
        <p:grpSpPr bwMode="auto">
          <a:xfrm>
            <a:off x="6343651" y="1731963"/>
            <a:ext cx="409575" cy="506412"/>
            <a:chOff x="2972" y="1795"/>
            <a:chExt cx="258" cy="319"/>
          </a:xfrm>
        </p:grpSpPr>
        <p:sp>
          <p:nvSpPr>
            <p:cNvPr id="46" name="Text Box 30"/>
            <p:cNvSpPr txBox="1">
              <a:spLocks noChangeArrowheads="1"/>
            </p:cNvSpPr>
            <p:nvPr/>
          </p:nvSpPr>
          <p:spPr bwMode="auto">
            <a:xfrm>
              <a:off x="2972" y="1795"/>
              <a:ext cx="258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s-ES_tradnl" sz="2000" i="1" dirty="0">
                  <a:latin typeface="Times New Roman" charset="0"/>
                </a:rPr>
                <a:t>M</a:t>
              </a:r>
            </a:p>
          </p:txBody>
        </p:sp>
        <p:sp>
          <p:nvSpPr>
            <p:cNvPr id="47" name="Oval 31"/>
            <p:cNvSpPr>
              <a:spLocks noChangeArrowheads="1"/>
            </p:cNvSpPr>
            <p:nvPr/>
          </p:nvSpPr>
          <p:spPr bwMode="auto">
            <a:xfrm>
              <a:off x="2994" y="2058"/>
              <a:ext cx="56" cy="5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50" name="CuadroTexto 49"/>
          <p:cNvSpPr txBox="1"/>
          <p:nvPr/>
        </p:nvSpPr>
        <p:spPr>
          <a:xfrm>
            <a:off x="7929027" y="2070100"/>
            <a:ext cx="20954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b="1" dirty="0">
                <a:latin typeface="Times New Roman"/>
                <a:cs typeface="Times New Roman"/>
              </a:rPr>
              <a:t>M’</a:t>
            </a:r>
            <a:r>
              <a:rPr lang="es-ES_tradnl" dirty="0">
                <a:latin typeface="Times New Roman"/>
                <a:cs typeface="Times New Roman"/>
              </a:rPr>
              <a:t> = [ </a:t>
            </a:r>
            <a:r>
              <a:rPr lang="es-ES_tradnl" i="1" dirty="0">
                <a:latin typeface="Times New Roman"/>
                <a:cs typeface="Times New Roman"/>
              </a:rPr>
              <a:t>X’  Y’  Z’  </a:t>
            </a:r>
            <a:r>
              <a:rPr lang="es-ES_tradnl" dirty="0">
                <a:latin typeface="Times New Roman"/>
                <a:cs typeface="Times New Roman"/>
              </a:rPr>
              <a:t>1 ]</a:t>
            </a:r>
            <a:r>
              <a:rPr lang="es-ES_tradnl" baseline="30000" dirty="0">
                <a:latin typeface="Gill Sans MT" panose="020B0502020104020203" pitchFamily="34" charset="77"/>
                <a:cs typeface="Times New Roman"/>
              </a:rPr>
              <a:t>T</a:t>
            </a:r>
          </a:p>
        </p:txBody>
      </p:sp>
      <p:grpSp>
        <p:nvGrpSpPr>
          <p:cNvPr id="55" name="Agrupar 54"/>
          <p:cNvGrpSpPr/>
          <p:nvPr/>
        </p:nvGrpSpPr>
        <p:grpSpPr>
          <a:xfrm>
            <a:off x="5172072" y="1693363"/>
            <a:ext cx="4742352" cy="2201300"/>
            <a:chOff x="3648072" y="1693363"/>
            <a:chExt cx="4742352" cy="2201300"/>
          </a:xfrm>
        </p:grpSpPr>
        <p:sp>
          <p:nvSpPr>
            <p:cNvPr id="53" name="Rectangle 10"/>
            <p:cNvSpPr>
              <a:spLocks noChangeArrowheads="1"/>
            </p:cNvSpPr>
            <p:nvPr/>
          </p:nvSpPr>
          <p:spPr bwMode="auto">
            <a:xfrm>
              <a:off x="3648072" y="2167466"/>
              <a:ext cx="1245661" cy="1727197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dash"/>
              <a:miter lim="800000"/>
              <a:headEnd type="none" w="med" len="med"/>
              <a:tailEnd type="none" w="med" len="med"/>
            </a:ln>
            <a:effectLst/>
            <a:scene3d>
              <a:camera prst="legacyObliqueTopRight"/>
              <a:lightRig rig="legacyFlat3" dir="b"/>
            </a:scene3d>
            <a:sp3d extrusionH="430200" prstMaterial="legacyWireframe">
              <a:bevelT w="13500" h="13500" prst="angle"/>
              <a:bevelB w="13500" h="13500" prst="angle"/>
              <a:extrusionClr>
                <a:schemeClr val="accent1"/>
              </a:extrusionClr>
            </a:sp3d>
          </p:spPr>
          <p:txBody>
            <a:bodyPr wrap="none" anchor="ctr">
              <a:prstTxWarp prst="textNoShape">
                <a:avLst/>
              </a:prstTxWarp>
              <a:flatTx/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  <p:sp>
          <p:nvSpPr>
            <p:cNvPr id="54" name="CuadroTexto 53"/>
            <p:cNvSpPr txBox="1"/>
            <p:nvPr/>
          </p:nvSpPr>
          <p:spPr>
            <a:xfrm>
              <a:off x="6472711" y="1693363"/>
              <a:ext cx="191771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b="1" dirty="0">
                  <a:latin typeface="Times New Roman"/>
                  <a:cs typeface="Times New Roman"/>
                </a:rPr>
                <a:t>M</a:t>
              </a:r>
              <a:r>
                <a:rPr lang="es-ES_tradnl" dirty="0">
                  <a:latin typeface="Times New Roman"/>
                  <a:cs typeface="Times New Roman"/>
                </a:rPr>
                <a:t> = [ </a:t>
              </a:r>
              <a:r>
                <a:rPr lang="es-ES_tradnl" i="1" dirty="0">
                  <a:latin typeface="Times New Roman"/>
                  <a:cs typeface="Times New Roman"/>
                </a:rPr>
                <a:t>X  Y  Z  </a:t>
              </a:r>
              <a:r>
                <a:rPr lang="es-ES_tradnl" dirty="0">
                  <a:latin typeface="Times New Roman"/>
                  <a:cs typeface="Times New Roman"/>
                </a:rPr>
                <a:t>1 ]</a:t>
              </a:r>
              <a:r>
                <a:rPr lang="es-ES_tradnl" baseline="30000" dirty="0">
                  <a:latin typeface="Gill Sans MT" panose="020B0502020104020203" pitchFamily="34" charset="77"/>
                  <a:cs typeface="Times New Roman"/>
                </a:rPr>
                <a:t>T</a:t>
              </a:r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87BEBA-91F1-2A38-B2CD-8B0F77041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CV02C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B9B4CE1-B39E-D2C5-A894-3916F3004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4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36405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31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524001" y="76200"/>
            <a:ext cx="4022725" cy="527050"/>
          </a:xfrm>
          <a:solidFill>
            <a:srgbClr val="FFFFFF"/>
          </a:solidFill>
          <a:ln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algn="l"/>
            <a:r>
              <a:rPr lang="es-ES_tradnl" sz="2000" b="1" dirty="0">
                <a:solidFill>
                  <a:srgbClr val="99CCFF"/>
                </a:solidFill>
              </a:rPr>
              <a:t>[ 3D </a:t>
            </a:r>
            <a:r>
              <a:rPr lang="es-ES_tradnl" sz="2000" b="1" dirty="0" err="1">
                <a:solidFill>
                  <a:srgbClr val="99CCFF"/>
                </a:solidFill>
              </a:rPr>
              <a:t>Transformation</a:t>
            </a:r>
            <a:r>
              <a:rPr lang="es-ES_tradnl" sz="2000" b="1" dirty="0">
                <a:solidFill>
                  <a:srgbClr val="99CCFF"/>
                </a:solidFill>
              </a:rPr>
              <a:t> ]</a:t>
            </a:r>
            <a:endParaRPr sz="2000" b="1" noProof="1">
              <a:solidFill>
                <a:srgbClr val="99CCFF"/>
              </a:solidFill>
            </a:endParaRPr>
          </a:p>
        </p:txBody>
      </p:sp>
      <p:sp>
        <p:nvSpPr>
          <p:cNvPr id="1165318" name="Text Box 6"/>
          <p:cNvSpPr txBox="1">
            <a:spLocks noChangeArrowheads="1"/>
          </p:cNvSpPr>
          <p:nvPr/>
        </p:nvSpPr>
        <p:spPr bwMode="auto">
          <a:xfrm>
            <a:off x="5543551" y="4103688"/>
            <a:ext cx="37306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i="1">
                <a:latin typeface="Times New Roman" charset="0"/>
              </a:rPr>
              <a:t>X'</a:t>
            </a:r>
          </a:p>
        </p:txBody>
      </p:sp>
      <p:sp>
        <p:nvSpPr>
          <p:cNvPr id="1165319" name="Text Box 7"/>
          <p:cNvSpPr txBox="1">
            <a:spLocks noChangeArrowheads="1"/>
          </p:cNvSpPr>
          <p:nvPr/>
        </p:nvSpPr>
        <p:spPr bwMode="auto">
          <a:xfrm>
            <a:off x="5619751" y="1574801"/>
            <a:ext cx="36036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i="1">
                <a:latin typeface="Times New Roman" charset="0"/>
              </a:rPr>
              <a:t>Z'</a:t>
            </a:r>
          </a:p>
        </p:txBody>
      </p:sp>
      <p:sp>
        <p:nvSpPr>
          <p:cNvPr id="1165320" name="Text Box 8"/>
          <p:cNvSpPr txBox="1">
            <a:spLocks noChangeArrowheads="1"/>
          </p:cNvSpPr>
          <p:nvPr/>
        </p:nvSpPr>
        <p:spPr bwMode="auto">
          <a:xfrm>
            <a:off x="7353300" y="2565401"/>
            <a:ext cx="3683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i="1">
                <a:latin typeface="Times New Roman" charset="0"/>
              </a:rPr>
              <a:t>Y'</a:t>
            </a:r>
          </a:p>
        </p:txBody>
      </p:sp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5172075" y="3127375"/>
            <a:ext cx="1085850" cy="762000"/>
            <a:chOff x="2202" y="1762"/>
            <a:chExt cx="684" cy="480"/>
          </a:xfrm>
        </p:grpSpPr>
        <p:sp>
          <p:nvSpPr>
            <p:cNvPr id="1165322" name="Rectangle 10"/>
            <p:cNvSpPr>
              <a:spLocks noChangeArrowheads="1"/>
            </p:cNvSpPr>
            <p:nvPr/>
          </p:nvSpPr>
          <p:spPr bwMode="auto">
            <a:xfrm>
              <a:off x="2202" y="1762"/>
              <a:ext cx="684" cy="480"/>
            </a:xfrm>
            <a:prstGeom prst="rect">
              <a:avLst/>
            </a:prstGeom>
            <a:solidFill>
              <a:schemeClr val="accent1"/>
            </a:solidFill>
            <a:ln w="9525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430200" prstMaterial="legacyWireframe">
              <a:bevelT w="13500" h="13500" prst="angle"/>
              <a:bevelB w="13500" h="13500" prst="angle"/>
              <a:extrusionClr>
                <a:schemeClr val="accent1"/>
              </a:extrusionClr>
            </a:sp3d>
          </p:spPr>
          <p:txBody>
            <a:bodyPr wrap="none" anchor="ctr">
              <a:prstTxWarp prst="textNoShape">
                <a:avLst/>
              </a:prstTxWarp>
              <a:flatTx/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  <p:sp>
          <p:nvSpPr>
            <p:cNvPr id="1165323" name="Line 11"/>
            <p:cNvSpPr>
              <a:spLocks noChangeShapeType="1"/>
            </p:cNvSpPr>
            <p:nvPr/>
          </p:nvSpPr>
          <p:spPr bwMode="auto">
            <a:xfrm flipV="1">
              <a:off x="2328" y="1768"/>
              <a:ext cx="540" cy="354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  <p:sp>
          <p:nvSpPr>
            <p:cNvPr id="1165324" name="Text Box 12"/>
            <p:cNvSpPr txBox="1">
              <a:spLocks noChangeArrowheads="1"/>
            </p:cNvSpPr>
            <p:nvPr/>
          </p:nvSpPr>
          <p:spPr bwMode="auto">
            <a:xfrm>
              <a:off x="2460" y="1780"/>
              <a:ext cx="23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s-ES_tradnl" b="1">
                  <a:latin typeface="Times New Roman" charset="0"/>
                </a:rPr>
                <a:t>t</a:t>
              </a:r>
              <a:endParaRPr lang="es-ES_tradnl" i="1">
                <a:latin typeface="Times New Roman" charset="0"/>
              </a:endParaRPr>
            </a:p>
          </p:txBody>
        </p:sp>
      </p:grpSp>
      <p:sp>
        <p:nvSpPr>
          <p:cNvPr id="1165325" name="Line 13"/>
          <p:cNvSpPr>
            <a:spLocks noChangeShapeType="1"/>
          </p:cNvSpPr>
          <p:nvPr/>
        </p:nvSpPr>
        <p:spPr bwMode="auto">
          <a:xfrm rot="19851013" flipV="1">
            <a:off x="5854700" y="1647825"/>
            <a:ext cx="0" cy="160020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165326" name="Line 14"/>
          <p:cNvSpPr>
            <a:spLocks noChangeShapeType="1"/>
          </p:cNvSpPr>
          <p:nvPr/>
        </p:nvSpPr>
        <p:spPr bwMode="auto">
          <a:xfrm rot="19851013" flipH="1">
            <a:off x="5626100" y="3306763"/>
            <a:ext cx="838200" cy="68580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165327" name="Line 15"/>
          <p:cNvSpPr>
            <a:spLocks noChangeShapeType="1"/>
          </p:cNvSpPr>
          <p:nvPr/>
        </p:nvSpPr>
        <p:spPr bwMode="auto">
          <a:xfrm rot="-1748987">
            <a:off x="6146800" y="2774950"/>
            <a:ext cx="1524000" cy="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165328" name="Line 16"/>
          <p:cNvSpPr>
            <a:spLocks noChangeShapeType="1"/>
          </p:cNvSpPr>
          <p:nvPr/>
        </p:nvSpPr>
        <p:spPr bwMode="auto">
          <a:xfrm flipV="1">
            <a:off x="5334000" y="2127250"/>
            <a:ext cx="0" cy="16002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165329" name="Line 17"/>
          <p:cNvSpPr>
            <a:spLocks noChangeShapeType="1"/>
          </p:cNvSpPr>
          <p:nvPr/>
        </p:nvSpPr>
        <p:spPr bwMode="auto">
          <a:xfrm>
            <a:off x="5334000" y="3727450"/>
            <a:ext cx="15240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165330" name="Line 18"/>
          <p:cNvSpPr>
            <a:spLocks noChangeShapeType="1"/>
          </p:cNvSpPr>
          <p:nvPr/>
        </p:nvSpPr>
        <p:spPr bwMode="auto">
          <a:xfrm flipH="1">
            <a:off x="4581526" y="3727451"/>
            <a:ext cx="752475" cy="75247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165331" name="Text Box 19"/>
          <p:cNvSpPr txBox="1">
            <a:spLocks noChangeArrowheads="1"/>
          </p:cNvSpPr>
          <p:nvPr/>
        </p:nvSpPr>
        <p:spPr bwMode="auto">
          <a:xfrm>
            <a:off x="4267201" y="4351338"/>
            <a:ext cx="46672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i="1">
                <a:latin typeface="Times New Roman" charset="0"/>
              </a:rPr>
              <a:t>X</a:t>
            </a:r>
          </a:p>
        </p:txBody>
      </p:sp>
      <p:sp>
        <p:nvSpPr>
          <p:cNvPr id="1165332" name="Text Box 20"/>
          <p:cNvSpPr txBox="1">
            <a:spLocks noChangeArrowheads="1"/>
          </p:cNvSpPr>
          <p:nvPr/>
        </p:nvSpPr>
        <p:spPr bwMode="auto">
          <a:xfrm>
            <a:off x="6858001" y="3575051"/>
            <a:ext cx="3968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i="1">
                <a:latin typeface="Times New Roman" charset="0"/>
              </a:rPr>
              <a:t>Y</a:t>
            </a:r>
          </a:p>
        </p:txBody>
      </p:sp>
      <p:sp>
        <p:nvSpPr>
          <p:cNvPr id="1165333" name="Text Box 21"/>
          <p:cNvSpPr txBox="1">
            <a:spLocks noChangeArrowheads="1"/>
          </p:cNvSpPr>
          <p:nvPr/>
        </p:nvSpPr>
        <p:spPr bwMode="auto">
          <a:xfrm>
            <a:off x="4953001" y="2127251"/>
            <a:ext cx="39846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i="1">
                <a:latin typeface="Times New Roman" charset="0"/>
              </a:rPr>
              <a:t>Z</a:t>
            </a:r>
          </a:p>
        </p:txBody>
      </p:sp>
      <p:grpSp>
        <p:nvGrpSpPr>
          <p:cNvPr id="3" name="Group 22"/>
          <p:cNvGrpSpPr>
            <a:grpSpLocks/>
          </p:cNvGrpSpPr>
          <p:nvPr/>
        </p:nvGrpSpPr>
        <p:grpSpPr bwMode="auto">
          <a:xfrm rot="-1861729">
            <a:off x="5436560" y="1641847"/>
            <a:ext cx="2038350" cy="2330450"/>
            <a:chOff x="1890" y="1308"/>
            <a:chExt cx="1284" cy="1468"/>
          </a:xfrm>
        </p:grpSpPr>
        <p:sp>
          <p:nvSpPr>
            <p:cNvPr id="1165335" name="Arco 23"/>
            <p:cNvSpPr>
              <a:spLocks/>
            </p:cNvSpPr>
            <p:nvPr/>
          </p:nvSpPr>
          <p:spPr bwMode="auto">
            <a:xfrm rot="10800000" flipV="1">
              <a:off x="1890" y="2290"/>
              <a:ext cx="304" cy="274"/>
            </a:xfrm>
            <a:custGeom>
              <a:avLst/>
              <a:gdLst>
                <a:gd name="G0" fmla="+- 21600 0 0"/>
                <a:gd name="G1" fmla="+- 21600 0 0"/>
                <a:gd name="G2" fmla="+- 21600 0 0"/>
                <a:gd name="T0" fmla="*/ 28847 w 43200"/>
                <a:gd name="T1" fmla="*/ 41948 h 43200"/>
                <a:gd name="T2" fmla="*/ 43200 w 43200"/>
                <a:gd name="T3" fmla="*/ 21599 h 43200"/>
                <a:gd name="T4" fmla="*/ 21600 w 43200"/>
                <a:gd name="T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200" h="43200" fill="none" extrusionOk="0">
                  <a:moveTo>
                    <a:pt x="28846" y="41947"/>
                  </a:moveTo>
                  <a:cubicBezTo>
                    <a:pt x="26520" y="42776"/>
                    <a:pt x="24069" y="43199"/>
                    <a:pt x="21600" y="43199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8" y="0"/>
                    <a:pt x="43199" y="9670"/>
                    <a:pt x="43199" y="21599"/>
                  </a:cubicBezTo>
                </a:path>
                <a:path w="43200" h="43200" stroke="0" extrusionOk="0">
                  <a:moveTo>
                    <a:pt x="28846" y="41947"/>
                  </a:moveTo>
                  <a:cubicBezTo>
                    <a:pt x="26520" y="42776"/>
                    <a:pt x="24069" y="43199"/>
                    <a:pt x="21600" y="43199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8" y="0"/>
                    <a:pt x="43199" y="9670"/>
                    <a:pt x="43199" y="21599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57150">
              <a:solidFill>
                <a:srgbClr val="FF9900"/>
              </a:solidFill>
              <a:round/>
              <a:headEnd type="triangle"/>
              <a:tailEnd type="non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  <p:sp>
          <p:nvSpPr>
            <p:cNvPr id="1165336" name="Text Box 24"/>
            <p:cNvSpPr txBox="1">
              <a:spLocks noChangeArrowheads="1"/>
            </p:cNvSpPr>
            <p:nvPr/>
          </p:nvSpPr>
          <p:spPr bwMode="auto">
            <a:xfrm>
              <a:off x="2014" y="2488"/>
              <a:ext cx="32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s-ES_tradnl" sz="2400" dirty="0">
                  <a:latin typeface="Times New Roman" charset="0"/>
                  <a:sym typeface="Symbol" charset="2"/>
                </a:rPr>
                <a:t></a:t>
              </a:r>
              <a:r>
                <a:rPr lang="es-ES_tradnl" sz="2400" i="1" baseline="-25000" dirty="0">
                  <a:latin typeface="Times New Roman" charset="0"/>
                  <a:sym typeface="Symbol" charset="2"/>
                </a:rPr>
                <a:t>X</a:t>
              </a:r>
              <a:endParaRPr lang="es-ES_tradnl" sz="2400" dirty="0">
                <a:latin typeface="Times New Roman" charset="0"/>
              </a:endParaRPr>
            </a:p>
          </p:txBody>
        </p:sp>
        <p:sp>
          <p:nvSpPr>
            <p:cNvPr id="1165337" name="Text Box 25"/>
            <p:cNvSpPr txBox="1">
              <a:spLocks noChangeArrowheads="1"/>
            </p:cNvSpPr>
            <p:nvPr/>
          </p:nvSpPr>
          <p:spPr bwMode="auto">
            <a:xfrm>
              <a:off x="2848" y="1748"/>
              <a:ext cx="32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s-ES_tradnl" sz="2400" dirty="0">
                  <a:latin typeface="Times New Roman" charset="0"/>
                  <a:sym typeface="Symbol" charset="2"/>
                </a:rPr>
                <a:t></a:t>
              </a:r>
              <a:r>
                <a:rPr lang="es-ES_tradnl" sz="2400" i="1" baseline="-25000" dirty="0">
                  <a:latin typeface="Times New Roman" charset="0"/>
                  <a:sym typeface="Symbol" charset="2"/>
                </a:rPr>
                <a:t>Y</a:t>
              </a:r>
              <a:endParaRPr lang="es-ES_tradnl" sz="2400" dirty="0">
                <a:latin typeface="Times New Roman" charset="0"/>
              </a:endParaRPr>
            </a:p>
          </p:txBody>
        </p:sp>
        <p:sp>
          <p:nvSpPr>
            <p:cNvPr id="1165338" name="Text Box 26"/>
            <p:cNvSpPr txBox="1">
              <a:spLocks noChangeArrowheads="1"/>
            </p:cNvSpPr>
            <p:nvPr/>
          </p:nvSpPr>
          <p:spPr bwMode="auto">
            <a:xfrm>
              <a:off x="2010" y="1461"/>
              <a:ext cx="32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s-ES_tradnl" sz="2400" dirty="0">
                  <a:latin typeface="Times New Roman" charset="0"/>
                  <a:sym typeface="Symbol" charset="2"/>
                </a:rPr>
                <a:t></a:t>
              </a:r>
              <a:r>
                <a:rPr lang="es-ES_tradnl" sz="2400" i="1" baseline="-25000" dirty="0">
                  <a:latin typeface="Times New Roman" charset="0"/>
                  <a:sym typeface="Symbol" charset="2"/>
                </a:rPr>
                <a:t>Z</a:t>
              </a:r>
              <a:endParaRPr lang="es-ES_tradnl" sz="2400" dirty="0">
                <a:latin typeface="Times New Roman" charset="0"/>
              </a:endParaRPr>
            </a:p>
          </p:txBody>
        </p:sp>
        <p:sp>
          <p:nvSpPr>
            <p:cNvPr id="1165339" name="Arco 27"/>
            <p:cNvSpPr>
              <a:spLocks/>
            </p:cNvSpPr>
            <p:nvPr/>
          </p:nvSpPr>
          <p:spPr bwMode="auto">
            <a:xfrm rot="10800000" flipH="1" flipV="1">
              <a:off x="2788" y="2022"/>
              <a:ext cx="199" cy="274"/>
            </a:xfrm>
            <a:custGeom>
              <a:avLst/>
              <a:gdLst>
                <a:gd name="G0" fmla="+- 21600 0 0"/>
                <a:gd name="G1" fmla="+- 21600 0 0"/>
                <a:gd name="G2" fmla="+- 21600 0 0"/>
                <a:gd name="T0" fmla="*/ 31373 w 31373"/>
                <a:gd name="T1" fmla="*/ 40863 h 43200"/>
                <a:gd name="T2" fmla="*/ 27875 w 31373"/>
                <a:gd name="T3" fmla="*/ 932 h 43200"/>
                <a:gd name="T4" fmla="*/ 21600 w 31373"/>
                <a:gd name="T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1373" h="43200" fill="none" extrusionOk="0">
                  <a:moveTo>
                    <a:pt x="31372" y="40862"/>
                  </a:moveTo>
                  <a:cubicBezTo>
                    <a:pt x="28344" y="42399"/>
                    <a:pt x="24996" y="43199"/>
                    <a:pt x="21600" y="43199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3726" y="0"/>
                    <a:pt x="25840" y="313"/>
                    <a:pt x="27875" y="931"/>
                  </a:cubicBezTo>
                </a:path>
                <a:path w="31373" h="43200" stroke="0" extrusionOk="0">
                  <a:moveTo>
                    <a:pt x="31372" y="40862"/>
                  </a:moveTo>
                  <a:cubicBezTo>
                    <a:pt x="28344" y="42399"/>
                    <a:pt x="24996" y="43199"/>
                    <a:pt x="21600" y="43199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3726" y="0"/>
                    <a:pt x="25840" y="313"/>
                    <a:pt x="27875" y="931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57150">
              <a:solidFill>
                <a:srgbClr val="FF9900"/>
              </a:solidFill>
              <a:round/>
              <a:headEnd type="none" w="med" len="med"/>
              <a:tailEnd type="triangle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  <p:sp>
          <p:nvSpPr>
            <p:cNvPr id="1165340" name="Arco 28"/>
            <p:cNvSpPr>
              <a:spLocks/>
            </p:cNvSpPr>
            <p:nvPr/>
          </p:nvSpPr>
          <p:spPr bwMode="auto">
            <a:xfrm rot="10800000">
              <a:off x="2161" y="1308"/>
              <a:ext cx="304" cy="232"/>
            </a:xfrm>
            <a:custGeom>
              <a:avLst/>
              <a:gdLst>
                <a:gd name="G0" fmla="+- 21600 0 0"/>
                <a:gd name="G1" fmla="+- 21600 0 0"/>
                <a:gd name="G2" fmla="+- 21600 0 0"/>
                <a:gd name="T0" fmla="*/ 15228 w 43190"/>
                <a:gd name="T1" fmla="*/ 42239 h 42239"/>
                <a:gd name="T2" fmla="*/ 43190 w 43190"/>
                <a:gd name="T3" fmla="*/ 20930 h 42239"/>
                <a:gd name="T4" fmla="*/ 21600 w 43190"/>
                <a:gd name="T5" fmla="*/ 21600 h 42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190" h="42239" fill="none" extrusionOk="0">
                  <a:moveTo>
                    <a:pt x="15228" y="42238"/>
                  </a:moveTo>
                  <a:cubicBezTo>
                    <a:pt x="6174" y="39443"/>
                    <a:pt x="0" y="31074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268" y="0"/>
                    <a:pt x="42827" y="9267"/>
                    <a:pt x="43189" y="20930"/>
                  </a:cubicBezTo>
                </a:path>
                <a:path w="43190" h="42239" stroke="0" extrusionOk="0">
                  <a:moveTo>
                    <a:pt x="15228" y="42238"/>
                  </a:moveTo>
                  <a:cubicBezTo>
                    <a:pt x="6174" y="39443"/>
                    <a:pt x="0" y="31074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268" y="0"/>
                    <a:pt x="42827" y="9267"/>
                    <a:pt x="43189" y="20930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57150">
              <a:solidFill>
                <a:srgbClr val="FF9900"/>
              </a:solidFill>
              <a:round/>
              <a:headEnd type="none" w="med" len="med"/>
              <a:tailEnd type="triangle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4" name="Group 29"/>
          <p:cNvGrpSpPr>
            <a:grpSpLocks/>
          </p:cNvGrpSpPr>
          <p:nvPr/>
        </p:nvGrpSpPr>
        <p:grpSpPr bwMode="auto">
          <a:xfrm>
            <a:off x="6343651" y="1731963"/>
            <a:ext cx="409575" cy="506412"/>
            <a:chOff x="2972" y="1795"/>
            <a:chExt cx="258" cy="319"/>
          </a:xfrm>
        </p:grpSpPr>
        <p:sp>
          <p:nvSpPr>
            <p:cNvPr id="1165342" name="Text Box 30"/>
            <p:cNvSpPr txBox="1">
              <a:spLocks noChangeArrowheads="1"/>
            </p:cNvSpPr>
            <p:nvPr/>
          </p:nvSpPr>
          <p:spPr bwMode="auto">
            <a:xfrm>
              <a:off x="2972" y="1795"/>
              <a:ext cx="258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s-ES_tradnl" sz="2000" i="1">
                  <a:latin typeface="Times New Roman" charset="0"/>
                </a:rPr>
                <a:t>M</a:t>
              </a:r>
            </a:p>
          </p:txBody>
        </p:sp>
        <p:sp>
          <p:nvSpPr>
            <p:cNvPr id="1165343" name="Oval 31"/>
            <p:cNvSpPr>
              <a:spLocks noChangeArrowheads="1"/>
            </p:cNvSpPr>
            <p:nvPr/>
          </p:nvSpPr>
          <p:spPr bwMode="auto">
            <a:xfrm>
              <a:off x="2994" y="2058"/>
              <a:ext cx="56" cy="5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3624808" y="5001888"/>
            <a:ext cx="4505592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 dirty="0">
                <a:latin typeface="Times"/>
                <a:cs typeface="Times"/>
              </a:rPr>
              <a:t> </a:t>
            </a:r>
            <a:r>
              <a:rPr lang="en-US" sz="3600" b="1" dirty="0">
                <a:latin typeface="Times"/>
                <a:cs typeface="Times"/>
              </a:rPr>
              <a:t>t</a:t>
            </a:r>
            <a:r>
              <a:rPr lang="en-US" sz="3600" i="1" dirty="0">
                <a:latin typeface="Times"/>
                <a:cs typeface="Times"/>
              </a:rPr>
              <a:t>=</a:t>
            </a:r>
            <a:r>
              <a:rPr lang="en-US" sz="3600" dirty="0">
                <a:latin typeface="Times"/>
                <a:cs typeface="Times"/>
              </a:rPr>
              <a:t>(</a:t>
            </a:r>
            <a:r>
              <a:rPr lang="en-US" sz="3600" i="1" dirty="0" err="1">
                <a:latin typeface="Times"/>
                <a:cs typeface="Times"/>
              </a:rPr>
              <a:t>t</a:t>
            </a:r>
            <a:r>
              <a:rPr lang="en-US" sz="3600" i="1" baseline="-25000" dirty="0" err="1">
                <a:latin typeface="Times"/>
                <a:cs typeface="Times"/>
              </a:rPr>
              <a:t>X</a:t>
            </a:r>
            <a:r>
              <a:rPr lang="en-US" sz="3600" i="1" dirty="0">
                <a:latin typeface="Times"/>
                <a:cs typeface="Times"/>
              </a:rPr>
              <a:t>, </a:t>
            </a:r>
            <a:r>
              <a:rPr lang="en-US" sz="3600" i="1" dirty="0" err="1">
                <a:latin typeface="Times"/>
                <a:cs typeface="Times"/>
              </a:rPr>
              <a:t>t</a:t>
            </a:r>
            <a:r>
              <a:rPr lang="en-US" sz="3600" i="1" baseline="-25000" dirty="0" err="1">
                <a:latin typeface="Times"/>
                <a:cs typeface="Times"/>
              </a:rPr>
              <a:t>Y</a:t>
            </a:r>
            <a:r>
              <a:rPr lang="en-US" sz="3600" i="1" dirty="0">
                <a:latin typeface="Times"/>
                <a:cs typeface="Times"/>
              </a:rPr>
              <a:t>, </a:t>
            </a:r>
            <a:r>
              <a:rPr lang="en-US" sz="3600" i="1" dirty="0" err="1">
                <a:latin typeface="Times"/>
                <a:cs typeface="Times"/>
              </a:rPr>
              <a:t>t</a:t>
            </a:r>
            <a:r>
              <a:rPr lang="en-US" sz="3600" i="1" baseline="-25000" dirty="0" err="1">
                <a:latin typeface="Times"/>
                <a:cs typeface="Times"/>
              </a:rPr>
              <a:t>Z</a:t>
            </a:r>
            <a:r>
              <a:rPr lang="en-US" sz="3600" dirty="0">
                <a:latin typeface="Times"/>
                <a:cs typeface="Times"/>
              </a:rPr>
              <a:t>)</a:t>
            </a:r>
            <a:r>
              <a:rPr lang="en-US" sz="3600" dirty="0">
                <a:latin typeface="Gill Sans MT" panose="020B0502020104020203" pitchFamily="34" charset="77"/>
                <a:cs typeface="Trebuchet MS"/>
              </a:rPr>
              <a:t>: Translation</a:t>
            </a:r>
          </a:p>
          <a:p>
            <a:r>
              <a:rPr lang="en-US" sz="3600" i="1" dirty="0">
                <a:latin typeface="Times"/>
                <a:cs typeface="Times"/>
              </a:rPr>
              <a:t>  </a:t>
            </a:r>
            <a:r>
              <a:rPr lang="en-US" sz="3600" i="1" dirty="0" err="1">
                <a:latin typeface="Times"/>
                <a:cs typeface="Times"/>
              </a:rPr>
              <a:t>ω</a:t>
            </a:r>
            <a:r>
              <a:rPr lang="en-US" sz="3600" i="1" baseline="-25000" dirty="0" err="1">
                <a:latin typeface="Times"/>
                <a:cs typeface="Times"/>
              </a:rPr>
              <a:t>X</a:t>
            </a:r>
            <a:r>
              <a:rPr lang="en-US" sz="3600" i="1" dirty="0">
                <a:latin typeface="Times"/>
                <a:cs typeface="Times"/>
              </a:rPr>
              <a:t>, </a:t>
            </a:r>
            <a:r>
              <a:rPr lang="en-US" sz="3600" i="1" dirty="0" err="1">
                <a:latin typeface="Times"/>
                <a:cs typeface="Times"/>
              </a:rPr>
              <a:t>ω</a:t>
            </a:r>
            <a:r>
              <a:rPr lang="en-US" sz="3600" i="1" baseline="-25000" dirty="0" err="1">
                <a:latin typeface="Times"/>
                <a:cs typeface="Times"/>
              </a:rPr>
              <a:t>Y</a:t>
            </a:r>
            <a:r>
              <a:rPr lang="en-US" sz="3600" i="1" dirty="0">
                <a:latin typeface="Times"/>
                <a:cs typeface="Times"/>
              </a:rPr>
              <a:t>, </a:t>
            </a:r>
            <a:r>
              <a:rPr lang="en-US" sz="3600" i="1" dirty="0" err="1">
                <a:latin typeface="Times"/>
                <a:cs typeface="Times"/>
              </a:rPr>
              <a:t>ω</a:t>
            </a:r>
            <a:r>
              <a:rPr lang="en-US" sz="3600" i="1" baseline="-25000" dirty="0" err="1">
                <a:latin typeface="Times"/>
                <a:cs typeface="Times"/>
              </a:rPr>
              <a:t>Z</a:t>
            </a:r>
            <a:r>
              <a:rPr lang="en-US" sz="3600" dirty="0">
                <a:latin typeface="Gill Sans MT" panose="020B0502020104020203" pitchFamily="34" charset="77"/>
                <a:cs typeface="Trebuchet MS"/>
              </a:rPr>
              <a:t>: Rotation</a:t>
            </a:r>
          </a:p>
          <a:p>
            <a:endParaRPr lang="en-US" sz="3600" dirty="0">
              <a:latin typeface="Gill Sans MT" panose="020B0502020104020203" pitchFamily="34" charset="77"/>
              <a:cs typeface="Trebuchet MS"/>
            </a:endParaRPr>
          </a:p>
          <a:p>
            <a:endParaRPr lang="en-US" sz="3600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08FEBAD-BB36-8878-E487-7CCC3B0D2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CV02C</a:t>
            </a:r>
            <a:endParaRPr lang="en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1A9E28-ACD5-FB13-9654-6C6C73236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5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723406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0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524001" y="76200"/>
            <a:ext cx="4022725" cy="527050"/>
          </a:xfrm>
          <a:solidFill>
            <a:srgbClr val="FFFFFF"/>
          </a:solidFill>
          <a:ln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algn="l"/>
            <a:r>
              <a:rPr lang="es-ES_tradnl" sz="2000" b="1" dirty="0">
                <a:solidFill>
                  <a:srgbClr val="99CCFF"/>
                </a:solidFill>
              </a:rPr>
              <a:t>[ 3D </a:t>
            </a:r>
            <a:r>
              <a:rPr lang="es-ES_tradnl" sz="2000" b="1" dirty="0" err="1">
                <a:solidFill>
                  <a:srgbClr val="99CCFF"/>
                </a:solidFill>
              </a:rPr>
              <a:t>Transformation</a:t>
            </a:r>
            <a:r>
              <a:rPr lang="es-ES_tradnl" sz="2000" b="1" dirty="0">
                <a:solidFill>
                  <a:srgbClr val="99CCFF"/>
                </a:solidFill>
              </a:rPr>
              <a:t> ]</a:t>
            </a:r>
            <a:endParaRPr sz="2000" b="1" noProof="1">
              <a:solidFill>
                <a:srgbClr val="99CCFF"/>
              </a:solidFill>
            </a:endParaRPr>
          </a:p>
        </p:txBody>
      </p:sp>
      <p:sp>
        <p:nvSpPr>
          <p:cNvPr id="1177630" name="Text Box 30"/>
          <p:cNvSpPr txBox="1">
            <a:spLocks noChangeArrowheads="1"/>
          </p:cNvSpPr>
          <p:nvPr/>
        </p:nvSpPr>
        <p:spPr bwMode="auto">
          <a:xfrm>
            <a:off x="5327651" y="3443288"/>
            <a:ext cx="37306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i="1">
                <a:latin typeface="Times New Roman" charset="0"/>
              </a:rPr>
              <a:t>X'</a:t>
            </a:r>
          </a:p>
        </p:txBody>
      </p:sp>
      <p:sp>
        <p:nvSpPr>
          <p:cNvPr id="1177631" name="Text Box 31"/>
          <p:cNvSpPr txBox="1">
            <a:spLocks noChangeArrowheads="1"/>
          </p:cNvSpPr>
          <p:nvPr/>
        </p:nvSpPr>
        <p:spPr bwMode="auto">
          <a:xfrm>
            <a:off x="6318251" y="787401"/>
            <a:ext cx="36036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i="1">
                <a:latin typeface="Times New Roman" charset="0"/>
              </a:rPr>
              <a:t>Z'</a:t>
            </a:r>
          </a:p>
        </p:txBody>
      </p:sp>
      <p:sp>
        <p:nvSpPr>
          <p:cNvPr id="1177632" name="Text Box 32"/>
          <p:cNvSpPr txBox="1">
            <a:spLocks noChangeArrowheads="1"/>
          </p:cNvSpPr>
          <p:nvPr/>
        </p:nvSpPr>
        <p:spPr bwMode="auto">
          <a:xfrm>
            <a:off x="7759700" y="2514601"/>
            <a:ext cx="3683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i="1">
                <a:latin typeface="Times New Roman" charset="0"/>
              </a:rPr>
              <a:t>Y'</a:t>
            </a:r>
          </a:p>
        </p:txBody>
      </p:sp>
      <p:grpSp>
        <p:nvGrpSpPr>
          <p:cNvPr id="1177633" name="Group 33"/>
          <p:cNvGrpSpPr>
            <a:grpSpLocks/>
          </p:cNvGrpSpPr>
          <p:nvPr/>
        </p:nvGrpSpPr>
        <p:grpSpPr bwMode="auto">
          <a:xfrm>
            <a:off x="5172075" y="2670175"/>
            <a:ext cx="1085850" cy="762000"/>
            <a:chOff x="2202" y="1762"/>
            <a:chExt cx="684" cy="480"/>
          </a:xfrm>
        </p:grpSpPr>
        <p:sp>
          <p:nvSpPr>
            <p:cNvPr id="1177634" name="Rectangle 34"/>
            <p:cNvSpPr>
              <a:spLocks noChangeArrowheads="1"/>
            </p:cNvSpPr>
            <p:nvPr/>
          </p:nvSpPr>
          <p:spPr bwMode="auto">
            <a:xfrm>
              <a:off x="2202" y="1762"/>
              <a:ext cx="684" cy="480"/>
            </a:xfrm>
            <a:prstGeom prst="rect">
              <a:avLst/>
            </a:prstGeom>
            <a:solidFill>
              <a:schemeClr val="accent1"/>
            </a:solidFill>
            <a:ln w="9525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430200" prstMaterial="legacyWireframe">
              <a:bevelT w="13500" h="13500" prst="angle"/>
              <a:bevelB w="13500" h="13500" prst="angle"/>
              <a:extrusionClr>
                <a:schemeClr val="accent1"/>
              </a:extrusionClr>
            </a:sp3d>
          </p:spPr>
          <p:txBody>
            <a:bodyPr wrap="none" anchor="ctr">
              <a:prstTxWarp prst="textNoShape">
                <a:avLst/>
              </a:prstTxWarp>
              <a:flatTx/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  <p:sp>
          <p:nvSpPr>
            <p:cNvPr id="1177635" name="Line 35"/>
            <p:cNvSpPr>
              <a:spLocks noChangeShapeType="1"/>
            </p:cNvSpPr>
            <p:nvPr/>
          </p:nvSpPr>
          <p:spPr bwMode="auto">
            <a:xfrm flipV="1">
              <a:off x="2328" y="1768"/>
              <a:ext cx="540" cy="354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  <p:sp>
          <p:nvSpPr>
            <p:cNvPr id="1177636" name="Text Box 36"/>
            <p:cNvSpPr txBox="1">
              <a:spLocks noChangeArrowheads="1"/>
            </p:cNvSpPr>
            <p:nvPr/>
          </p:nvSpPr>
          <p:spPr bwMode="auto">
            <a:xfrm>
              <a:off x="2460" y="1780"/>
              <a:ext cx="23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s-ES_tradnl" b="1">
                  <a:latin typeface="Times New Roman" charset="0"/>
                </a:rPr>
                <a:t>t</a:t>
              </a:r>
              <a:endParaRPr lang="es-ES_tradnl" i="1">
                <a:latin typeface="Times New Roman" charset="0"/>
              </a:endParaRPr>
            </a:p>
          </p:txBody>
        </p:sp>
      </p:grpSp>
      <p:grpSp>
        <p:nvGrpSpPr>
          <p:cNvPr id="1177637" name="Group 37"/>
          <p:cNvGrpSpPr>
            <a:grpSpLocks/>
          </p:cNvGrpSpPr>
          <p:nvPr/>
        </p:nvGrpSpPr>
        <p:grpSpPr bwMode="auto">
          <a:xfrm>
            <a:off x="4581526" y="1670051"/>
            <a:ext cx="2276475" cy="2352675"/>
            <a:chOff x="1926" y="1340"/>
            <a:chExt cx="1434" cy="1482"/>
          </a:xfrm>
        </p:grpSpPr>
        <p:sp>
          <p:nvSpPr>
            <p:cNvPr id="1177638" name="Line 38"/>
            <p:cNvSpPr>
              <a:spLocks noChangeShapeType="1"/>
            </p:cNvSpPr>
            <p:nvPr/>
          </p:nvSpPr>
          <p:spPr bwMode="auto">
            <a:xfrm flipV="1">
              <a:off x="2400" y="1340"/>
              <a:ext cx="0" cy="100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  <p:sp>
          <p:nvSpPr>
            <p:cNvPr id="1177639" name="Line 39"/>
            <p:cNvSpPr>
              <a:spLocks noChangeShapeType="1"/>
            </p:cNvSpPr>
            <p:nvPr/>
          </p:nvSpPr>
          <p:spPr bwMode="auto">
            <a:xfrm>
              <a:off x="2400" y="2348"/>
              <a:ext cx="960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  <p:sp>
          <p:nvSpPr>
            <p:cNvPr id="1177640" name="Line 40"/>
            <p:cNvSpPr>
              <a:spLocks noChangeShapeType="1"/>
            </p:cNvSpPr>
            <p:nvPr/>
          </p:nvSpPr>
          <p:spPr bwMode="auto">
            <a:xfrm flipH="1">
              <a:off x="1926" y="2348"/>
              <a:ext cx="474" cy="47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177641" name="Text Box 41"/>
          <p:cNvSpPr txBox="1">
            <a:spLocks noChangeArrowheads="1"/>
          </p:cNvSpPr>
          <p:nvPr/>
        </p:nvSpPr>
        <p:spPr bwMode="auto">
          <a:xfrm>
            <a:off x="4267201" y="3894138"/>
            <a:ext cx="46672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i="1">
                <a:latin typeface="Times New Roman" charset="0"/>
              </a:rPr>
              <a:t>X</a:t>
            </a:r>
          </a:p>
        </p:txBody>
      </p:sp>
      <p:sp>
        <p:nvSpPr>
          <p:cNvPr id="1177642" name="Text Box 42"/>
          <p:cNvSpPr txBox="1">
            <a:spLocks noChangeArrowheads="1"/>
          </p:cNvSpPr>
          <p:nvPr/>
        </p:nvSpPr>
        <p:spPr bwMode="auto">
          <a:xfrm>
            <a:off x="6858001" y="3117851"/>
            <a:ext cx="3968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i="1">
                <a:latin typeface="Times New Roman" charset="0"/>
              </a:rPr>
              <a:t>Y</a:t>
            </a:r>
          </a:p>
        </p:txBody>
      </p:sp>
      <p:sp>
        <p:nvSpPr>
          <p:cNvPr id="1177643" name="Text Box 43"/>
          <p:cNvSpPr txBox="1">
            <a:spLocks noChangeArrowheads="1"/>
          </p:cNvSpPr>
          <p:nvPr/>
        </p:nvSpPr>
        <p:spPr bwMode="auto">
          <a:xfrm>
            <a:off x="4953001" y="1670051"/>
            <a:ext cx="39846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i="1">
                <a:latin typeface="Times New Roman" charset="0"/>
              </a:rPr>
              <a:t>Z</a:t>
            </a:r>
          </a:p>
        </p:txBody>
      </p:sp>
      <p:grpSp>
        <p:nvGrpSpPr>
          <p:cNvPr id="1177644" name="Group 44"/>
          <p:cNvGrpSpPr>
            <a:grpSpLocks/>
          </p:cNvGrpSpPr>
          <p:nvPr/>
        </p:nvGrpSpPr>
        <p:grpSpPr bwMode="auto">
          <a:xfrm>
            <a:off x="6686551" y="1490663"/>
            <a:ext cx="409575" cy="506412"/>
            <a:chOff x="2972" y="1795"/>
            <a:chExt cx="258" cy="319"/>
          </a:xfrm>
        </p:grpSpPr>
        <p:sp>
          <p:nvSpPr>
            <p:cNvPr id="1177645" name="Text Box 45"/>
            <p:cNvSpPr txBox="1">
              <a:spLocks noChangeArrowheads="1"/>
            </p:cNvSpPr>
            <p:nvPr/>
          </p:nvSpPr>
          <p:spPr bwMode="auto">
            <a:xfrm>
              <a:off x="2972" y="1795"/>
              <a:ext cx="258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s-ES_tradnl" sz="2000" i="1">
                  <a:latin typeface="Times New Roman" charset="0"/>
                </a:rPr>
                <a:t>M</a:t>
              </a:r>
            </a:p>
          </p:txBody>
        </p:sp>
        <p:sp>
          <p:nvSpPr>
            <p:cNvPr id="1177646" name="Oval 46"/>
            <p:cNvSpPr>
              <a:spLocks noChangeArrowheads="1"/>
            </p:cNvSpPr>
            <p:nvPr/>
          </p:nvSpPr>
          <p:spPr bwMode="auto">
            <a:xfrm>
              <a:off x="2994" y="2058"/>
              <a:ext cx="56" cy="5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1177647" name="Group 47"/>
          <p:cNvGrpSpPr>
            <a:grpSpLocks/>
          </p:cNvGrpSpPr>
          <p:nvPr/>
        </p:nvGrpSpPr>
        <p:grpSpPr bwMode="auto">
          <a:xfrm>
            <a:off x="5521326" y="1073151"/>
            <a:ext cx="2276475" cy="2352675"/>
            <a:chOff x="1926" y="1340"/>
            <a:chExt cx="1434" cy="1482"/>
          </a:xfrm>
        </p:grpSpPr>
        <p:sp>
          <p:nvSpPr>
            <p:cNvPr id="1177648" name="Line 48"/>
            <p:cNvSpPr>
              <a:spLocks noChangeShapeType="1"/>
            </p:cNvSpPr>
            <p:nvPr/>
          </p:nvSpPr>
          <p:spPr bwMode="auto">
            <a:xfrm flipV="1">
              <a:off x="2400" y="1340"/>
              <a:ext cx="0" cy="1008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  <p:sp>
          <p:nvSpPr>
            <p:cNvPr id="1177649" name="Line 49"/>
            <p:cNvSpPr>
              <a:spLocks noChangeShapeType="1"/>
            </p:cNvSpPr>
            <p:nvPr/>
          </p:nvSpPr>
          <p:spPr bwMode="auto">
            <a:xfrm>
              <a:off x="2400" y="2348"/>
              <a:ext cx="960" cy="0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  <p:sp>
          <p:nvSpPr>
            <p:cNvPr id="1177650" name="Line 50"/>
            <p:cNvSpPr>
              <a:spLocks noChangeShapeType="1"/>
            </p:cNvSpPr>
            <p:nvPr/>
          </p:nvSpPr>
          <p:spPr bwMode="auto">
            <a:xfrm flipH="1">
              <a:off x="1926" y="2348"/>
              <a:ext cx="474" cy="474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</p:grpSp>
      <p:graphicFrame>
        <p:nvGraphicFramePr>
          <p:cNvPr id="1177651" name="Object 51"/>
          <p:cNvGraphicFramePr>
            <a:graphicFrameLocks noChangeAspect="1"/>
          </p:cNvGraphicFramePr>
          <p:nvPr/>
        </p:nvGraphicFramePr>
        <p:xfrm>
          <a:off x="2489201" y="4635500"/>
          <a:ext cx="1863725" cy="140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3" imgW="939600" imgH="711000" progId="Equation.3">
                  <p:embed/>
                </p:oleObj>
              </mc:Choice>
              <mc:Fallback>
                <p:oleObj name="Ecuación" r:id="rId3" imgW="939600" imgH="711000" progId="Equation.3">
                  <p:embed/>
                  <p:pic>
                    <p:nvPicPr>
                      <p:cNvPr id="1177651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9201" y="4635500"/>
                        <a:ext cx="1863725" cy="14097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7652" name="Object 52"/>
          <p:cNvGraphicFramePr>
            <a:graphicFrameLocks noChangeAspect="1"/>
          </p:cNvGraphicFramePr>
          <p:nvPr/>
        </p:nvGraphicFramePr>
        <p:xfrm>
          <a:off x="6470651" y="4421189"/>
          <a:ext cx="3248025" cy="181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638000" imgH="914400" progId="Equation.3">
                  <p:embed/>
                </p:oleObj>
              </mc:Choice>
              <mc:Fallback>
                <p:oleObj name="Equation" r:id="rId5" imgW="1638000" imgH="914400" progId="Equation.3">
                  <p:embed/>
                  <p:pic>
                    <p:nvPicPr>
                      <p:cNvPr id="1177652" name="Object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0651" y="4421189"/>
                        <a:ext cx="3248025" cy="18129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77653" name="Rectangle 53"/>
          <p:cNvSpPr>
            <a:spLocks noChangeArrowheads="1"/>
          </p:cNvSpPr>
          <p:nvPr/>
        </p:nvSpPr>
        <p:spPr bwMode="auto">
          <a:xfrm>
            <a:off x="7016750" y="1858964"/>
            <a:ext cx="10795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sz="2000" i="1">
                <a:latin typeface="Times New Roman" charset="0"/>
              </a:rPr>
              <a:t>(X',Y',Z')</a:t>
            </a:r>
            <a:endParaRPr lang="es-ES" sz="2000" i="1">
              <a:latin typeface="Times New Roman" charset="0"/>
            </a:endParaRPr>
          </a:p>
        </p:txBody>
      </p:sp>
      <p:sp>
        <p:nvSpPr>
          <p:cNvPr id="1177654" name="Line 54"/>
          <p:cNvSpPr>
            <a:spLocks noChangeShapeType="1"/>
          </p:cNvSpPr>
          <p:nvPr/>
        </p:nvSpPr>
        <p:spPr bwMode="auto">
          <a:xfrm>
            <a:off x="4762500" y="5372100"/>
            <a:ext cx="1028700" cy="0"/>
          </a:xfrm>
          <a:prstGeom prst="line">
            <a:avLst/>
          </a:prstGeom>
          <a:noFill/>
          <a:ln w="19050">
            <a:solidFill>
              <a:srgbClr val="00FF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177655" name="Rectangle 55"/>
          <p:cNvSpPr>
            <a:spLocks noChangeArrowheads="1"/>
          </p:cNvSpPr>
          <p:nvPr/>
        </p:nvSpPr>
        <p:spPr bwMode="auto">
          <a:xfrm>
            <a:off x="1524000" y="749301"/>
            <a:ext cx="206979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" sz="2400" dirty="0">
                <a:latin typeface="Gill Sans MT" panose="020B0502020104020203" pitchFamily="34" charset="77"/>
              </a:rPr>
              <a:t>3D </a:t>
            </a:r>
            <a:r>
              <a:rPr lang="es-ES" sz="2400" dirty="0" err="1">
                <a:latin typeface="Gill Sans MT" panose="020B0502020104020203" pitchFamily="34" charset="77"/>
              </a:rPr>
              <a:t>Translation</a:t>
            </a:r>
            <a:r>
              <a:rPr lang="es-ES" sz="2400" dirty="0">
                <a:latin typeface="Gill Sans MT" panose="020B0502020104020203" pitchFamily="34" charset="77"/>
              </a:rPr>
              <a:t>: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7F3109-6EAA-6B43-C2C9-E2E1D52AC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CV02C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F0B0850-D526-343A-D831-AF844F88B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6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090973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77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77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500"/>
                                        <p:tgtEl>
                                          <p:spTgt spid="1177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7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765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96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524001" y="76200"/>
            <a:ext cx="4022725" cy="527050"/>
          </a:xfrm>
          <a:solidFill>
            <a:srgbClr val="FFFFFF"/>
          </a:solidFill>
          <a:ln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algn="l"/>
            <a:r>
              <a:rPr lang="es-ES_tradnl" sz="2000" b="1" dirty="0">
                <a:solidFill>
                  <a:srgbClr val="99CCFF"/>
                </a:solidFill>
              </a:rPr>
              <a:t>[ 3D </a:t>
            </a:r>
            <a:r>
              <a:rPr lang="es-ES_tradnl" sz="2000" b="1" dirty="0" err="1">
                <a:solidFill>
                  <a:srgbClr val="99CCFF"/>
                </a:solidFill>
              </a:rPr>
              <a:t>Transformation</a:t>
            </a:r>
            <a:r>
              <a:rPr lang="es-ES_tradnl" sz="2000" b="1" dirty="0">
                <a:solidFill>
                  <a:srgbClr val="99CCFF"/>
                </a:solidFill>
              </a:rPr>
              <a:t> ]</a:t>
            </a:r>
            <a:endParaRPr sz="2000" b="1" noProof="1">
              <a:solidFill>
                <a:srgbClr val="99CCFF"/>
              </a:solidFill>
            </a:endParaRPr>
          </a:p>
        </p:txBody>
      </p:sp>
      <p:sp>
        <p:nvSpPr>
          <p:cNvPr id="1179678" name="Text Box 30"/>
          <p:cNvSpPr txBox="1">
            <a:spLocks noChangeArrowheads="1"/>
          </p:cNvSpPr>
          <p:nvPr/>
        </p:nvSpPr>
        <p:spPr bwMode="auto">
          <a:xfrm>
            <a:off x="5695951" y="4256088"/>
            <a:ext cx="37306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i="1">
                <a:latin typeface="Times New Roman" charset="0"/>
              </a:rPr>
              <a:t>X'</a:t>
            </a:r>
          </a:p>
        </p:txBody>
      </p:sp>
      <p:sp>
        <p:nvSpPr>
          <p:cNvPr id="1179679" name="Text Box 31"/>
          <p:cNvSpPr txBox="1">
            <a:spLocks noChangeArrowheads="1"/>
          </p:cNvSpPr>
          <p:nvPr/>
        </p:nvSpPr>
        <p:spPr bwMode="auto">
          <a:xfrm>
            <a:off x="5772151" y="1727201"/>
            <a:ext cx="36036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i="1">
                <a:latin typeface="Times New Roman" charset="0"/>
              </a:rPr>
              <a:t>Z'</a:t>
            </a:r>
          </a:p>
        </p:txBody>
      </p:sp>
      <p:sp>
        <p:nvSpPr>
          <p:cNvPr id="1179680" name="Text Box 32"/>
          <p:cNvSpPr txBox="1">
            <a:spLocks noChangeArrowheads="1"/>
          </p:cNvSpPr>
          <p:nvPr/>
        </p:nvSpPr>
        <p:spPr bwMode="auto">
          <a:xfrm>
            <a:off x="7505700" y="2717801"/>
            <a:ext cx="3683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i="1">
                <a:latin typeface="Times New Roman" charset="0"/>
              </a:rPr>
              <a:t>Y'</a:t>
            </a:r>
          </a:p>
        </p:txBody>
      </p:sp>
      <p:sp>
        <p:nvSpPr>
          <p:cNvPr id="1179684" name="Line 36"/>
          <p:cNvSpPr>
            <a:spLocks noChangeShapeType="1"/>
          </p:cNvSpPr>
          <p:nvPr/>
        </p:nvSpPr>
        <p:spPr bwMode="auto">
          <a:xfrm rot="19851013" flipV="1">
            <a:off x="6007100" y="1800225"/>
            <a:ext cx="0" cy="160020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179685" name="Line 37"/>
          <p:cNvSpPr>
            <a:spLocks noChangeShapeType="1"/>
          </p:cNvSpPr>
          <p:nvPr/>
        </p:nvSpPr>
        <p:spPr bwMode="auto">
          <a:xfrm rot="19851013" flipH="1">
            <a:off x="5778500" y="3459163"/>
            <a:ext cx="838200" cy="68580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179686" name="Line 38"/>
          <p:cNvSpPr>
            <a:spLocks noChangeShapeType="1"/>
          </p:cNvSpPr>
          <p:nvPr/>
        </p:nvSpPr>
        <p:spPr bwMode="auto">
          <a:xfrm rot="-1748987">
            <a:off x="6299200" y="2927350"/>
            <a:ext cx="1524000" cy="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179687" name="Line 39"/>
          <p:cNvSpPr>
            <a:spLocks noChangeShapeType="1"/>
          </p:cNvSpPr>
          <p:nvPr/>
        </p:nvSpPr>
        <p:spPr bwMode="auto">
          <a:xfrm flipV="1">
            <a:off x="5486400" y="2279650"/>
            <a:ext cx="0" cy="16002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179688" name="Line 40"/>
          <p:cNvSpPr>
            <a:spLocks noChangeShapeType="1"/>
          </p:cNvSpPr>
          <p:nvPr/>
        </p:nvSpPr>
        <p:spPr bwMode="auto">
          <a:xfrm>
            <a:off x="5486400" y="3879850"/>
            <a:ext cx="15240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179689" name="Line 41"/>
          <p:cNvSpPr>
            <a:spLocks noChangeShapeType="1"/>
          </p:cNvSpPr>
          <p:nvPr/>
        </p:nvSpPr>
        <p:spPr bwMode="auto">
          <a:xfrm flipH="1">
            <a:off x="4733926" y="3879851"/>
            <a:ext cx="752475" cy="75247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179690" name="Text Box 42"/>
          <p:cNvSpPr txBox="1">
            <a:spLocks noChangeArrowheads="1"/>
          </p:cNvSpPr>
          <p:nvPr/>
        </p:nvSpPr>
        <p:spPr bwMode="auto">
          <a:xfrm>
            <a:off x="4419601" y="4503738"/>
            <a:ext cx="46672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i="1">
                <a:latin typeface="Times New Roman" charset="0"/>
              </a:rPr>
              <a:t>X</a:t>
            </a:r>
          </a:p>
        </p:txBody>
      </p:sp>
      <p:sp>
        <p:nvSpPr>
          <p:cNvPr id="1179691" name="Text Box 43"/>
          <p:cNvSpPr txBox="1">
            <a:spLocks noChangeArrowheads="1"/>
          </p:cNvSpPr>
          <p:nvPr/>
        </p:nvSpPr>
        <p:spPr bwMode="auto">
          <a:xfrm>
            <a:off x="7010401" y="3727451"/>
            <a:ext cx="3968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i="1">
                <a:latin typeface="Times New Roman" charset="0"/>
              </a:rPr>
              <a:t>Y</a:t>
            </a:r>
          </a:p>
        </p:txBody>
      </p:sp>
      <p:sp>
        <p:nvSpPr>
          <p:cNvPr id="1179692" name="Text Box 44"/>
          <p:cNvSpPr txBox="1">
            <a:spLocks noChangeArrowheads="1"/>
          </p:cNvSpPr>
          <p:nvPr/>
        </p:nvSpPr>
        <p:spPr bwMode="auto">
          <a:xfrm>
            <a:off x="5105401" y="2279651"/>
            <a:ext cx="39846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i="1">
                <a:latin typeface="Times New Roman" charset="0"/>
              </a:rPr>
              <a:t>Z</a:t>
            </a:r>
          </a:p>
        </p:txBody>
      </p:sp>
      <p:sp>
        <p:nvSpPr>
          <p:cNvPr id="1179693" name="Arco 45"/>
          <p:cNvSpPr>
            <a:spLocks/>
          </p:cNvSpPr>
          <p:nvPr/>
        </p:nvSpPr>
        <p:spPr bwMode="auto">
          <a:xfrm rot="8938271" flipV="1">
            <a:off x="6015038" y="3665539"/>
            <a:ext cx="482600" cy="434975"/>
          </a:xfrm>
          <a:custGeom>
            <a:avLst/>
            <a:gdLst>
              <a:gd name="G0" fmla="+- 21600 0 0"/>
              <a:gd name="G1" fmla="+- 21600 0 0"/>
              <a:gd name="G2" fmla="+- 21600 0 0"/>
              <a:gd name="T0" fmla="*/ 28847 w 43200"/>
              <a:gd name="T1" fmla="*/ 41948 h 43200"/>
              <a:gd name="T2" fmla="*/ 43200 w 43200"/>
              <a:gd name="T3" fmla="*/ 21599 h 43200"/>
              <a:gd name="T4" fmla="*/ 21600 w 43200"/>
              <a:gd name="T5" fmla="*/ 21600 h 43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3200" h="43200" fill="none" extrusionOk="0">
                <a:moveTo>
                  <a:pt x="28846" y="41947"/>
                </a:moveTo>
                <a:cubicBezTo>
                  <a:pt x="26520" y="42776"/>
                  <a:pt x="24069" y="43199"/>
                  <a:pt x="21600" y="43199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8" y="0"/>
                  <a:pt x="43199" y="9670"/>
                  <a:pt x="43199" y="21599"/>
                </a:cubicBezTo>
              </a:path>
              <a:path w="43200" h="43200" stroke="0" extrusionOk="0">
                <a:moveTo>
                  <a:pt x="28846" y="41947"/>
                </a:moveTo>
                <a:cubicBezTo>
                  <a:pt x="26520" y="42776"/>
                  <a:pt x="24069" y="43199"/>
                  <a:pt x="21600" y="43199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8" y="0"/>
                  <a:pt x="43199" y="9670"/>
                  <a:pt x="43199" y="21599"/>
                </a:cubicBezTo>
                <a:lnTo>
                  <a:pt x="21600" y="21600"/>
                </a:lnTo>
                <a:close/>
              </a:path>
            </a:pathLst>
          </a:custGeom>
          <a:noFill/>
          <a:ln w="57150">
            <a:solidFill>
              <a:srgbClr val="FF9900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179694" name="Text Box 46"/>
          <p:cNvSpPr txBox="1">
            <a:spLocks noChangeArrowheads="1"/>
          </p:cNvSpPr>
          <p:nvPr/>
        </p:nvSpPr>
        <p:spPr bwMode="auto">
          <a:xfrm rot="-1861729">
            <a:off x="6470651" y="3644900"/>
            <a:ext cx="5175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sz="2400">
                <a:latin typeface="Times New Roman" charset="0"/>
                <a:sym typeface="Symbol" charset="2"/>
              </a:rPr>
              <a:t></a:t>
            </a:r>
            <a:r>
              <a:rPr lang="es-ES_tradnl" sz="2400" i="1" baseline="-25000">
                <a:latin typeface="Times New Roman" charset="0"/>
                <a:sym typeface="Symbol" charset="2"/>
              </a:rPr>
              <a:t>X</a:t>
            </a:r>
            <a:endParaRPr lang="es-ES_tradnl" sz="2400">
              <a:latin typeface="Times New Roman" charset="0"/>
            </a:endParaRPr>
          </a:p>
        </p:txBody>
      </p:sp>
      <p:sp>
        <p:nvSpPr>
          <p:cNvPr id="1179695" name="Text Box 47"/>
          <p:cNvSpPr txBox="1">
            <a:spLocks noChangeArrowheads="1"/>
          </p:cNvSpPr>
          <p:nvPr/>
        </p:nvSpPr>
        <p:spPr bwMode="auto">
          <a:xfrm rot="-1861729">
            <a:off x="7208839" y="1990725"/>
            <a:ext cx="5175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sz="2400">
                <a:latin typeface="Times New Roman" charset="0"/>
                <a:sym typeface="Symbol" charset="2"/>
              </a:rPr>
              <a:t></a:t>
            </a:r>
            <a:r>
              <a:rPr lang="es-ES_tradnl" sz="2400" i="1" baseline="-25000">
                <a:latin typeface="Times New Roman" charset="0"/>
                <a:sym typeface="Symbol" charset="2"/>
              </a:rPr>
              <a:t>Y</a:t>
            </a:r>
            <a:endParaRPr lang="es-ES_tradnl" sz="2400">
              <a:latin typeface="Times New Roman" charset="0"/>
            </a:endParaRPr>
          </a:p>
        </p:txBody>
      </p:sp>
      <p:sp>
        <p:nvSpPr>
          <p:cNvPr id="1179696" name="Text Box 48"/>
          <p:cNvSpPr txBox="1">
            <a:spLocks noChangeArrowheads="1"/>
          </p:cNvSpPr>
          <p:nvPr/>
        </p:nvSpPr>
        <p:spPr bwMode="auto">
          <a:xfrm rot="-1861729">
            <a:off x="5337176" y="2427288"/>
            <a:ext cx="5175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sz="2400">
                <a:latin typeface="Times New Roman" charset="0"/>
                <a:sym typeface="Symbol" charset="2"/>
              </a:rPr>
              <a:t></a:t>
            </a:r>
            <a:r>
              <a:rPr lang="es-ES_tradnl" sz="2400" i="1" baseline="-25000">
                <a:latin typeface="Times New Roman" charset="0"/>
                <a:sym typeface="Symbol" charset="2"/>
              </a:rPr>
              <a:t>Z</a:t>
            </a:r>
            <a:endParaRPr lang="es-ES_tradnl" sz="2400">
              <a:latin typeface="Times New Roman" charset="0"/>
            </a:endParaRPr>
          </a:p>
        </p:txBody>
      </p:sp>
      <p:sp>
        <p:nvSpPr>
          <p:cNvPr id="1179697" name="Arco 49"/>
          <p:cNvSpPr>
            <a:spLocks/>
          </p:cNvSpPr>
          <p:nvPr/>
        </p:nvSpPr>
        <p:spPr bwMode="auto">
          <a:xfrm rot="8938271" flipH="1" flipV="1">
            <a:off x="7300913" y="2463801"/>
            <a:ext cx="315912" cy="434975"/>
          </a:xfrm>
          <a:custGeom>
            <a:avLst/>
            <a:gdLst>
              <a:gd name="G0" fmla="+- 21600 0 0"/>
              <a:gd name="G1" fmla="+- 21600 0 0"/>
              <a:gd name="G2" fmla="+- 21600 0 0"/>
              <a:gd name="T0" fmla="*/ 31373 w 31373"/>
              <a:gd name="T1" fmla="*/ 40863 h 43200"/>
              <a:gd name="T2" fmla="*/ 27875 w 31373"/>
              <a:gd name="T3" fmla="*/ 932 h 43200"/>
              <a:gd name="T4" fmla="*/ 21600 w 31373"/>
              <a:gd name="T5" fmla="*/ 21600 h 43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1373" h="43200" fill="none" extrusionOk="0">
                <a:moveTo>
                  <a:pt x="31372" y="40862"/>
                </a:moveTo>
                <a:cubicBezTo>
                  <a:pt x="28344" y="42399"/>
                  <a:pt x="24996" y="43199"/>
                  <a:pt x="21600" y="43199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23726" y="0"/>
                  <a:pt x="25840" y="313"/>
                  <a:pt x="27875" y="931"/>
                </a:cubicBezTo>
              </a:path>
              <a:path w="31373" h="43200" stroke="0" extrusionOk="0">
                <a:moveTo>
                  <a:pt x="31372" y="40862"/>
                </a:moveTo>
                <a:cubicBezTo>
                  <a:pt x="28344" y="42399"/>
                  <a:pt x="24996" y="43199"/>
                  <a:pt x="21600" y="43199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23726" y="0"/>
                  <a:pt x="25840" y="313"/>
                  <a:pt x="27875" y="931"/>
                </a:cubicBezTo>
                <a:lnTo>
                  <a:pt x="21600" y="21600"/>
                </a:lnTo>
                <a:close/>
              </a:path>
            </a:pathLst>
          </a:custGeom>
          <a:noFill/>
          <a:ln w="57150">
            <a:solidFill>
              <a:srgbClr val="FF9900"/>
            </a:solidFill>
            <a:round/>
            <a:headEnd type="triangle" w="med" len="med"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179698" name="Arco 50"/>
          <p:cNvSpPr>
            <a:spLocks/>
          </p:cNvSpPr>
          <p:nvPr/>
        </p:nvSpPr>
        <p:spPr bwMode="auto">
          <a:xfrm rot="8938271">
            <a:off x="5562600" y="2112963"/>
            <a:ext cx="482600" cy="368300"/>
          </a:xfrm>
          <a:custGeom>
            <a:avLst/>
            <a:gdLst>
              <a:gd name="G0" fmla="+- 21600 0 0"/>
              <a:gd name="G1" fmla="+- 21600 0 0"/>
              <a:gd name="G2" fmla="+- 21600 0 0"/>
              <a:gd name="T0" fmla="*/ 15228 w 43190"/>
              <a:gd name="T1" fmla="*/ 42239 h 42239"/>
              <a:gd name="T2" fmla="*/ 43190 w 43190"/>
              <a:gd name="T3" fmla="*/ 20930 h 42239"/>
              <a:gd name="T4" fmla="*/ 21600 w 43190"/>
              <a:gd name="T5" fmla="*/ 21600 h 422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3190" h="42239" fill="none" extrusionOk="0">
                <a:moveTo>
                  <a:pt x="15228" y="42238"/>
                </a:moveTo>
                <a:cubicBezTo>
                  <a:pt x="6174" y="39443"/>
                  <a:pt x="0" y="31074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268" y="0"/>
                  <a:pt x="42827" y="9267"/>
                  <a:pt x="43189" y="20930"/>
                </a:cubicBezTo>
              </a:path>
              <a:path w="43190" h="42239" stroke="0" extrusionOk="0">
                <a:moveTo>
                  <a:pt x="15228" y="42238"/>
                </a:moveTo>
                <a:cubicBezTo>
                  <a:pt x="6174" y="39443"/>
                  <a:pt x="0" y="31074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268" y="0"/>
                  <a:pt x="42827" y="9267"/>
                  <a:pt x="43189" y="20930"/>
                </a:cubicBezTo>
                <a:lnTo>
                  <a:pt x="21600" y="21600"/>
                </a:lnTo>
                <a:close/>
              </a:path>
            </a:pathLst>
          </a:custGeom>
          <a:noFill/>
          <a:ln w="57150">
            <a:solidFill>
              <a:srgbClr val="FF9900"/>
            </a:solidFill>
            <a:round/>
            <a:headEnd type="triangle" w="med" len="med"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179699" name="Text Box 51"/>
          <p:cNvSpPr txBox="1">
            <a:spLocks noChangeArrowheads="1"/>
          </p:cNvSpPr>
          <p:nvPr/>
        </p:nvSpPr>
        <p:spPr bwMode="auto">
          <a:xfrm>
            <a:off x="6496051" y="1884364"/>
            <a:ext cx="4095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sz="2000" i="1">
                <a:latin typeface="Times New Roman" charset="0"/>
              </a:rPr>
              <a:t>M</a:t>
            </a:r>
          </a:p>
        </p:txBody>
      </p:sp>
      <p:sp>
        <p:nvSpPr>
          <p:cNvPr id="1179700" name="Oval 52"/>
          <p:cNvSpPr>
            <a:spLocks noChangeArrowheads="1"/>
          </p:cNvSpPr>
          <p:nvPr/>
        </p:nvSpPr>
        <p:spPr bwMode="auto">
          <a:xfrm>
            <a:off x="6530975" y="2301875"/>
            <a:ext cx="88900" cy="889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179701" name="Rectangle 53"/>
          <p:cNvSpPr>
            <a:spLocks noChangeArrowheads="1"/>
          </p:cNvSpPr>
          <p:nvPr/>
        </p:nvSpPr>
        <p:spPr bwMode="auto">
          <a:xfrm>
            <a:off x="1676401" y="901701"/>
            <a:ext cx="187032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" sz="2400" dirty="0">
                <a:latin typeface="Gill Sans MT" panose="020B0502020104020203" pitchFamily="34" charset="77"/>
              </a:rPr>
              <a:t>3D </a:t>
            </a:r>
            <a:r>
              <a:rPr lang="es-ES" sz="2400" dirty="0" err="1">
                <a:latin typeface="Gill Sans MT" panose="020B0502020104020203" pitchFamily="34" charset="77"/>
              </a:rPr>
              <a:t>Rotation</a:t>
            </a:r>
            <a:r>
              <a:rPr lang="es-ES" sz="2400" dirty="0">
                <a:latin typeface="Gill Sans MT" panose="020B0502020104020203" pitchFamily="34" charset="77"/>
              </a:rPr>
              <a:t>:</a:t>
            </a:r>
          </a:p>
        </p:txBody>
      </p:sp>
      <p:grpSp>
        <p:nvGrpSpPr>
          <p:cNvPr id="1179703" name="Group 55"/>
          <p:cNvGrpSpPr>
            <a:grpSpLocks/>
          </p:cNvGrpSpPr>
          <p:nvPr/>
        </p:nvGrpSpPr>
        <p:grpSpPr bwMode="auto">
          <a:xfrm>
            <a:off x="5324475" y="3279775"/>
            <a:ext cx="1085850" cy="762000"/>
            <a:chOff x="2202" y="1762"/>
            <a:chExt cx="684" cy="480"/>
          </a:xfrm>
        </p:grpSpPr>
        <p:sp>
          <p:nvSpPr>
            <p:cNvPr id="1179704" name="Rectangle 56"/>
            <p:cNvSpPr>
              <a:spLocks noChangeArrowheads="1"/>
            </p:cNvSpPr>
            <p:nvPr/>
          </p:nvSpPr>
          <p:spPr bwMode="auto">
            <a:xfrm>
              <a:off x="2202" y="1762"/>
              <a:ext cx="684" cy="480"/>
            </a:xfrm>
            <a:prstGeom prst="rect">
              <a:avLst/>
            </a:prstGeom>
            <a:solidFill>
              <a:schemeClr val="accent1"/>
            </a:solidFill>
            <a:ln w="9525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430200" prstMaterial="legacyWireframe">
              <a:bevelT w="13500" h="13500" prst="angle"/>
              <a:bevelB w="13500" h="13500" prst="angle"/>
              <a:extrusionClr>
                <a:schemeClr val="accent1"/>
              </a:extrusionClr>
            </a:sp3d>
          </p:spPr>
          <p:txBody>
            <a:bodyPr wrap="none" anchor="ctr">
              <a:prstTxWarp prst="textNoShape">
                <a:avLst/>
              </a:prstTxWarp>
              <a:flatTx/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  <p:sp>
          <p:nvSpPr>
            <p:cNvPr id="1179705" name="Line 57"/>
            <p:cNvSpPr>
              <a:spLocks noChangeShapeType="1"/>
            </p:cNvSpPr>
            <p:nvPr/>
          </p:nvSpPr>
          <p:spPr bwMode="auto">
            <a:xfrm flipV="1">
              <a:off x="2328" y="1768"/>
              <a:ext cx="540" cy="354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  <p:sp>
          <p:nvSpPr>
            <p:cNvPr id="1179706" name="Text Box 58"/>
            <p:cNvSpPr txBox="1">
              <a:spLocks noChangeArrowheads="1"/>
            </p:cNvSpPr>
            <p:nvPr/>
          </p:nvSpPr>
          <p:spPr bwMode="auto">
            <a:xfrm>
              <a:off x="2460" y="1780"/>
              <a:ext cx="23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s-ES_tradnl" b="1">
                  <a:latin typeface="Times New Roman" charset="0"/>
                </a:rPr>
                <a:t>t</a:t>
              </a:r>
              <a:endParaRPr lang="es-ES_tradnl" i="1">
                <a:latin typeface="Times New Roman" charset="0"/>
              </a:endParaRPr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E2C032-042D-C668-E5B9-487711258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CV02C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E1BB053-954E-433B-7F65-E654F73E2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7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647734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69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524001" y="76200"/>
            <a:ext cx="4022725" cy="527050"/>
          </a:xfrm>
          <a:solidFill>
            <a:srgbClr val="FFFFFF"/>
          </a:solidFill>
          <a:ln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algn="l"/>
            <a:r>
              <a:rPr lang="es-ES_tradnl" sz="2000" b="1" dirty="0">
                <a:solidFill>
                  <a:srgbClr val="99CCFF"/>
                </a:solidFill>
              </a:rPr>
              <a:t>[ 3D </a:t>
            </a:r>
            <a:r>
              <a:rPr lang="es-ES_tradnl" sz="2000" b="1" dirty="0" err="1">
                <a:solidFill>
                  <a:srgbClr val="99CCFF"/>
                </a:solidFill>
              </a:rPr>
              <a:t>Transformation</a:t>
            </a:r>
            <a:r>
              <a:rPr lang="es-ES_tradnl" sz="2000" b="1" dirty="0">
                <a:solidFill>
                  <a:srgbClr val="99CCFF"/>
                </a:solidFill>
              </a:rPr>
              <a:t> ]</a:t>
            </a:r>
            <a:endParaRPr sz="2000" b="1" noProof="1">
              <a:solidFill>
                <a:srgbClr val="99CCFF"/>
              </a:solidFill>
            </a:endParaRPr>
          </a:p>
        </p:txBody>
      </p:sp>
      <p:grpSp>
        <p:nvGrpSpPr>
          <p:cNvPr id="1181699" name="Group 3"/>
          <p:cNvGrpSpPr>
            <a:grpSpLocks/>
          </p:cNvGrpSpPr>
          <p:nvPr/>
        </p:nvGrpSpPr>
        <p:grpSpPr bwMode="auto">
          <a:xfrm>
            <a:off x="4370389" y="1225551"/>
            <a:ext cx="3278187" cy="2105025"/>
            <a:chOff x="145" y="580"/>
            <a:chExt cx="2065" cy="1326"/>
          </a:xfrm>
        </p:grpSpPr>
        <p:sp>
          <p:nvSpPr>
            <p:cNvPr id="1181700" name="Line 4"/>
            <p:cNvSpPr>
              <a:spLocks noChangeShapeType="1"/>
            </p:cNvSpPr>
            <p:nvPr/>
          </p:nvSpPr>
          <p:spPr bwMode="auto">
            <a:xfrm>
              <a:off x="762" y="1708"/>
              <a:ext cx="1200" cy="0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  <p:sp>
          <p:nvSpPr>
            <p:cNvPr id="1181701" name="Line 5"/>
            <p:cNvSpPr>
              <a:spLocks noChangeShapeType="1"/>
            </p:cNvSpPr>
            <p:nvPr/>
          </p:nvSpPr>
          <p:spPr bwMode="auto">
            <a:xfrm rot="16200000" flipV="1">
              <a:off x="258" y="1204"/>
              <a:ext cx="1200" cy="0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  <p:sp>
          <p:nvSpPr>
            <p:cNvPr id="1181702" name="Line 6"/>
            <p:cNvSpPr>
              <a:spLocks noChangeShapeType="1"/>
            </p:cNvSpPr>
            <p:nvPr/>
          </p:nvSpPr>
          <p:spPr bwMode="auto">
            <a:xfrm rot="-1718229">
              <a:off x="703" y="1466"/>
              <a:ext cx="1200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  <p:sp>
          <p:nvSpPr>
            <p:cNvPr id="1181703" name="Line 7"/>
            <p:cNvSpPr>
              <a:spLocks noChangeShapeType="1"/>
            </p:cNvSpPr>
            <p:nvPr/>
          </p:nvSpPr>
          <p:spPr bwMode="auto">
            <a:xfrm rot="14481771" flipV="1">
              <a:off x="19" y="1265"/>
              <a:ext cx="1200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  <p:sp>
          <p:nvSpPr>
            <p:cNvPr id="1181704" name="Oval 8"/>
            <p:cNvSpPr>
              <a:spLocks noChangeArrowheads="1"/>
            </p:cNvSpPr>
            <p:nvPr/>
          </p:nvSpPr>
          <p:spPr bwMode="auto">
            <a:xfrm>
              <a:off x="780" y="1618"/>
              <a:ext cx="162" cy="16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  <p:sp>
          <p:nvSpPr>
            <p:cNvPr id="1181705" name="Text Box 9"/>
            <p:cNvSpPr txBox="1">
              <a:spLocks noChangeArrowheads="1"/>
            </p:cNvSpPr>
            <p:nvPr/>
          </p:nvSpPr>
          <p:spPr bwMode="auto">
            <a:xfrm>
              <a:off x="782" y="1497"/>
              <a:ext cx="16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s-ES_tradnl" sz="2400">
                  <a:latin typeface="Times New Roman" charset="0"/>
                </a:rPr>
                <a:t>.</a:t>
              </a:r>
              <a:endParaRPr lang="es-ES_tradnl" sz="2400" u="sng">
                <a:latin typeface="Times New Roman" charset="0"/>
              </a:endParaRPr>
            </a:p>
          </p:txBody>
        </p:sp>
        <p:sp>
          <p:nvSpPr>
            <p:cNvPr id="1181706" name="Text Box 10"/>
            <p:cNvSpPr txBox="1">
              <a:spLocks noChangeArrowheads="1"/>
            </p:cNvSpPr>
            <p:nvPr/>
          </p:nvSpPr>
          <p:spPr bwMode="auto">
            <a:xfrm>
              <a:off x="1813" y="1027"/>
              <a:ext cx="29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s-ES_tradnl" i="1">
                  <a:latin typeface="Times New Roman" charset="0"/>
                </a:rPr>
                <a:t>X</a:t>
              </a:r>
            </a:p>
          </p:txBody>
        </p:sp>
        <p:sp>
          <p:nvSpPr>
            <p:cNvPr id="1181707" name="Text Box 11"/>
            <p:cNvSpPr txBox="1">
              <a:spLocks noChangeArrowheads="1"/>
            </p:cNvSpPr>
            <p:nvPr/>
          </p:nvSpPr>
          <p:spPr bwMode="auto">
            <a:xfrm>
              <a:off x="145" y="793"/>
              <a:ext cx="25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s-ES_tradnl" i="1">
                  <a:latin typeface="Times New Roman" charset="0"/>
                </a:rPr>
                <a:t>Y</a:t>
              </a:r>
            </a:p>
          </p:txBody>
        </p:sp>
        <p:sp>
          <p:nvSpPr>
            <p:cNvPr id="1181708" name="Text Box 12"/>
            <p:cNvSpPr txBox="1">
              <a:spLocks noChangeArrowheads="1"/>
            </p:cNvSpPr>
            <p:nvPr/>
          </p:nvSpPr>
          <p:spPr bwMode="auto">
            <a:xfrm>
              <a:off x="563" y="1645"/>
              <a:ext cx="251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s-ES_tradnl" i="1">
                  <a:latin typeface="Times New Roman" charset="0"/>
                </a:rPr>
                <a:t>Z'</a:t>
              </a:r>
            </a:p>
          </p:txBody>
        </p:sp>
        <p:sp>
          <p:nvSpPr>
            <p:cNvPr id="1181709" name="Text Box 13"/>
            <p:cNvSpPr txBox="1">
              <a:spLocks noChangeArrowheads="1"/>
            </p:cNvSpPr>
            <p:nvPr/>
          </p:nvSpPr>
          <p:spPr bwMode="auto">
            <a:xfrm>
              <a:off x="1958" y="1603"/>
              <a:ext cx="25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s-ES_tradnl" i="1">
                  <a:latin typeface="Times New Roman" charset="0"/>
                </a:rPr>
                <a:t>X’</a:t>
              </a:r>
            </a:p>
          </p:txBody>
        </p:sp>
        <p:sp>
          <p:nvSpPr>
            <p:cNvPr id="1181710" name="Text Box 14"/>
            <p:cNvSpPr txBox="1">
              <a:spLocks noChangeArrowheads="1"/>
            </p:cNvSpPr>
            <p:nvPr/>
          </p:nvSpPr>
          <p:spPr bwMode="auto">
            <a:xfrm>
              <a:off x="888" y="1675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s-ES_tradnl" i="1">
                  <a:latin typeface="Times New Roman" charset="0"/>
                </a:rPr>
                <a:t>Z</a:t>
              </a:r>
            </a:p>
          </p:txBody>
        </p:sp>
        <p:sp>
          <p:nvSpPr>
            <p:cNvPr id="1181711" name="Text Box 15"/>
            <p:cNvSpPr txBox="1">
              <a:spLocks noChangeArrowheads="1"/>
            </p:cNvSpPr>
            <p:nvPr/>
          </p:nvSpPr>
          <p:spPr bwMode="auto">
            <a:xfrm>
              <a:off x="889" y="580"/>
              <a:ext cx="23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s-ES_tradnl" i="1">
                  <a:latin typeface="Times New Roman" charset="0"/>
                </a:rPr>
                <a:t>Y'</a:t>
              </a:r>
            </a:p>
          </p:txBody>
        </p:sp>
        <p:sp>
          <p:nvSpPr>
            <p:cNvPr id="1181712" name="Arco 16"/>
            <p:cNvSpPr>
              <a:spLocks/>
            </p:cNvSpPr>
            <p:nvPr/>
          </p:nvSpPr>
          <p:spPr bwMode="auto">
            <a:xfrm rot="10800000" flipV="1">
              <a:off x="1246" y="1517"/>
              <a:ext cx="147" cy="187"/>
            </a:xfrm>
            <a:custGeom>
              <a:avLst/>
              <a:gdLst>
                <a:gd name="G0" fmla="+- 21600 0 0"/>
                <a:gd name="G1" fmla="+- 21600 0 0"/>
                <a:gd name="G2" fmla="+- 21600 0 0"/>
                <a:gd name="T0" fmla="*/ 612 w 24723"/>
                <a:gd name="T1" fmla="*/ 26706 h 26706"/>
                <a:gd name="T2" fmla="*/ 24723 w 24723"/>
                <a:gd name="T3" fmla="*/ 227 h 26706"/>
                <a:gd name="T4" fmla="*/ 21600 w 24723"/>
                <a:gd name="T5" fmla="*/ 21600 h 26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723" h="26706" fill="none" extrusionOk="0">
                  <a:moveTo>
                    <a:pt x="612" y="26705"/>
                  </a:moveTo>
                  <a:cubicBezTo>
                    <a:pt x="205" y="25034"/>
                    <a:pt x="0" y="23320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2645" y="0"/>
                    <a:pt x="23688" y="75"/>
                    <a:pt x="24723" y="226"/>
                  </a:cubicBezTo>
                </a:path>
                <a:path w="24723" h="26706" stroke="0" extrusionOk="0">
                  <a:moveTo>
                    <a:pt x="612" y="26705"/>
                  </a:moveTo>
                  <a:cubicBezTo>
                    <a:pt x="205" y="25034"/>
                    <a:pt x="0" y="23320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2645" y="0"/>
                    <a:pt x="23688" y="75"/>
                    <a:pt x="24723" y="226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38100">
              <a:solidFill>
                <a:srgbClr val="FF99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  <p:sp>
          <p:nvSpPr>
            <p:cNvPr id="1181713" name="Text Box 17"/>
            <p:cNvSpPr txBox="1">
              <a:spLocks noChangeArrowheads="1"/>
            </p:cNvSpPr>
            <p:nvPr/>
          </p:nvSpPr>
          <p:spPr bwMode="auto">
            <a:xfrm>
              <a:off x="1354" y="1380"/>
              <a:ext cx="32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s-ES_tradnl" sz="2400">
                  <a:latin typeface="Times New Roman" charset="0"/>
                  <a:sym typeface="Symbol" charset="2"/>
                </a:rPr>
                <a:t></a:t>
              </a:r>
              <a:r>
                <a:rPr lang="es-ES_tradnl" sz="2400" i="1" baseline="-25000">
                  <a:latin typeface="Times New Roman" charset="0"/>
                  <a:sym typeface="Symbol" charset="2"/>
                </a:rPr>
                <a:t>Z</a:t>
              </a:r>
              <a:endParaRPr lang="es-ES_tradnl" sz="2400">
                <a:latin typeface="Times New Roman" charset="0"/>
              </a:endParaRPr>
            </a:p>
          </p:txBody>
        </p:sp>
      </p:grpSp>
      <p:pic>
        <p:nvPicPr>
          <p:cNvPr id="1181745" name="Picture 49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58141" y="3862389"/>
            <a:ext cx="5741988" cy="1093787"/>
          </a:xfrm>
          <a:prstGeom prst="rect">
            <a:avLst/>
          </a:prstGeom>
          <a:noFill/>
        </p:spPr>
      </p:pic>
      <p:sp>
        <p:nvSpPr>
          <p:cNvPr id="1181746" name="Rectangle 50"/>
          <p:cNvSpPr>
            <a:spLocks noChangeArrowheads="1"/>
          </p:cNvSpPr>
          <p:nvPr/>
        </p:nvSpPr>
        <p:spPr bwMode="auto">
          <a:xfrm>
            <a:off x="1524001" y="749301"/>
            <a:ext cx="231435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" sz="2400" dirty="0">
                <a:latin typeface="Gill Sans MT" panose="020B0502020104020203" pitchFamily="34" charset="77"/>
              </a:rPr>
              <a:t>Axis Z </a:t>
            </a:r>
            <a:r>
              <a:rPr lang="es-ES" sz="2400" dirty="0" err="1">
                <a:latin typeface="Gill Sans MT" panose="020B0502020104020203" pitchFamily="34" charset="77"/>
              </a:rPr>
              <a:t>Rotation</a:t>
            </a:r>
            <a:r>
              <a:rPr lang="es-ES" sz="2400" dirty="0">
                <a:latin typeface="Gill Sans MT" panose="020B0502020104020203" pitchFamily="34" charset="77"/>
              </a:rPr>
              <a:t>:</a:t>
            </a:r>
          </a:p>
        </p:txBody>
      </p:sp>
      <p:sp>
        <p:nvSpPr>
          <p:cNvPr id="2" name="Rectangle 1"/>
          <p:cNvSpPr/>
          <p:nvPr/>
        </p:nvSpPr>
        <p:spPr>
          <a:xfrm>
            <a:off x="3170156" y="3731818"/>
            <a:ext cx="1473701" cy="134847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7AA17A-0016-5D55-8C85-C6B4D8F21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CV02C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1D71FD-88C7-CCB3-4212-59930CAED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8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326897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74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524001" y="76200"/>
            <a:ext cx="4022725" cy="527050"/>
          </a:xfrm>
          <a:solidFill>
            <a:srgbClr val="FFFFFF"/>
          </a:solidFill>
          <a:ln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algn="l"/>
            <a:r>
              <a:rPr lang="es-ES_tradnl" sz="2000" b="1" dirty="0">
                <a:solidFill>
                  <a:srgbClr val="99CCFF"/>
                </a:solidFill>
              </a:rPr>
              <a:t>[ 3D </a:t>
            </a:r>
            <a:r>
              <a:rPr lang="es-ES_tradnl" sz="2000" b="1" dirty="0" err="1">
                <a:solidFill>
                  <a:srgbClr val="99CCFF"/>
                </a:solidFill>
              </a:rPr>
              <a:t>Transformation</a:t>
            </a:r>
            <a:r>
              <a:rPr lang="es-ES_tradnl" sz="2000" b="1" dirty="0">
                <a:solidFill>
                  <a:srgbClr val="99CCFF"/>
                </a:solidFill>
              </a:rPr>
              <a:t> ]</a:t>
            </a:r>
            <a:endParaRPr sz="2000" b="1" noProof="1">
              <a:solidFill>
                <a:srgbClr val="99CCFF"/>
              </a:solidFill>
            </a:endParaRPr>
          </a:p>
        </p:txBody>
      </p:sp>
      <p:grpSp>
        <p:nvGrpSpPr>
          <p:cNvPr id="1183762" name="Group 18"/>
          <p:cNvGrpSpPr>
            <a:grpSpLocks/>
          </p:cNvGrpSpPr>
          <p:nvPr/>
        </p:nvGrpSpPr>
        <p:grpSpPr bwMode="auto">
          <a:xfrm>
            <a:off x="4760913" y="1073151"/>
            <a:ext cx="3238500" cy="2105025"/>
            <a:chOff x="1943" y="580"/>
            <a:chExt cx="2040" cy="1326"/>
          </a:xfrm>
        </p:grpSpPr>
        <p:sp>
          <p:nvSpPr>
            <p:cNvPr id="1183763" name="Line 19"/>
            <p:cNvSpPr>
              <a:spLocks noChangeShapeType="1"/>
            </p:cNvSpPr>
            <p:nvPr/>
          </p:nvSpPr>
          <p:spPr bwMode="auto">
            <a:xfrm>
              <a:off x="2560" y="1708"/>
              <a:ext cx="1200" cy="0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  <p:sp>
          <p:nvSpPr>
            <p:cNvPr id="1183764" name="Line 20"/>
            <p:cNvSpPr>
              <a:spLocks noChangeShapeType="1"/>
            </p:cNvSpPr>
            <p:nvPr/>
          </p:nvSpPr>
          <p:spPr bwMode="auto">
            <a:xfrm rot="16200000" flipV="1">
              <a:off x="2056" y="1204"/>
              <a:ext cx="1200" cy="0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  <p:sp>
          <p:nvSpPr>
            <p:cNvPr id="1183765" name="Line 21"/>
            <p:cNvSpPr>
              <a:spLocks noChangeShapeType="1"/>
            </p:cNvSpPr>
            <p:nvPr/>
          </p:nvSpPr>
          <p:spPr bwMode="auto">
            <a:xfrm rot="-1718229">
              <a:off x="2501" y="1466"/>
              <a:ext cx="1200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  <p:sp>
          <p:nvSpPr>
            <p:cNvPr id="1183766" name="Line 22"/>
            <p:cNvSpPr>
              <a:spLocks noChangeShapeType="1"/>
            </p:cNvSpPr>
            <p:nvPr/>
          </p:nvSpPr>
          <p:spPr bwMode="auto">
            <a:xfrm rot="14481771" flipV="1">
              <a:off x="1817" y="1265"/>
              <a:ext cx="1200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  <p:sp>
          <p:nvSpPr>
            <p:cNvPr id="1183767" name="Oval 23"/>
            <p:cNvSpPr>
              <a:spLocks noChangeArrowheads="1"/>
            </p:cNvSpPr>
            <p:nvPr/>
          </p:nvSpPr>
          <p:spPr bwMode="auto">
            <a:xfrm>
              <a:off x="2578" y="1618"/>
              <a:ext cx="162" cy="16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  <p:sp>
          <p:nvSpPr>
            <p:cNvPr id="1183768" name="Text Box 24"/>
            <p:cNvSpPr txBox="1">
              <a:spLocks noChangeArrowheads="1"/>
            </p:cNvSpPr>
            <p:nvPr/>
          </p:nvSpPr>
          <p:spPr bwMode="auto">
            <a:xfrm>
              <a:off x="2580" y="1497"/>
              <a:ext cx="16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s-ES_tradnl" sz="2400">
                  <a:latin typeface="Times New Roman" charset="0"/>
                </a:rPr>
                <a:t>.</a:t>
              </a:r>
              <a:endParaRPr lang="es-ES_tradnl" sz="2400" u="sng">
                <a:latin typeface="Times New Roman" charset="0"/>
              </a:endParaRPr>
            </a:p>
          </p:txBody>
        </p:sp>
        <p:sp>
          <p:nvSpPr>
            <p:cNvPr id="1183769" name="Text Box 25"/>
            <p:cNvSpPr txBox="1">
              <a:spLocks noChangeArrowheads="1"/>
            </p:cNvSpPr>
            <p:nvPr/>
          </p:nvSpPr>
          <p:spPr bwMode="auto">
            <a:xfrm>
              <a:off x="3611" y="1027"/>
              <a:ext cx="29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s-ES_tradnl" i="1">
                  <a:latin typeface="Times New Roman" charset="0"/>
                </a:rPr>
                <a:t>Z</a:t>
              </a:r>
            </a:p>
          </p:txBody>
        </p:sp>
        <p:sp>
          <p:nvSpPr>
            <p:cNvPr id="1183770" name="Text Box 26"/>
            <p:cNvSpPr txBox="1">
              <a:spLocks noChangeArrowheads="1"/>
            </p:cNvSpPr>
            <p:nvPr/>
          </p:nvSpPr>
          <p:spPr bwMode="auto">
            <a:xfrm>
              <a:off x="1943" y="793"/>
              <a:ext cx="25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s-ES_tradnl" i="1">
                  <a:latin typeface="Times New Roman" charset="0"/>
                </a:rPr>
                <a:t>X</a:t>
              </a:r>
            </a:p>
          </p:txBody>
        </p:sp>
        <p:sp>
          <p:nvSpPr>
            <p:cNvPr id="1183771" name="Text Box 27"/>
            <p:cNvSpPr txBox="1">
              <a:spLocks noChangeArrowheads="1"/>
            </p:cNvSpPr>
            <p:nvPr/>
          </p:nvSpPr>
          <p:spPr bwMode="auto">
            <a:xfrm>
              <a:off x="2361" y="1645"/>
              <a:ext cx="251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s-ES_tradnl" i="1">
                  <a:latin typeface="Times New Roman" charset="0"/>
                </a:rPr>
                <a:t>Y'</a:t>
              </a:r>
            </a:p>
          </p:txBody>
        </p:sp>
        <p:sp>
          <p:nvSpPr>
            <p:cNvPr id="1183772" name="Text Box 28"/>
            <p:cNvSpPr txBox="1">
              <a:spLocks noChangeArrowheads="1"/>
            </p:cNvSpPr>
            <p:nvPr/>
          </p:nvSpPr>
          <p:spPr bwMode="auto">
            <a:xfrm>
              <a:off x="3756" y="1603"/>
              <a:ext cx="227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s-ES_tradnl" i="1">
                  <a:latin typeface="Times New Roman" charset="0"/>
                </a:rPr>
                <a:t>Z'</a:t>
              </a:r>
            </a:p>
          </p:txBody>
        </p:sp>
        <p:sp>
          <p:nvSpPr>
            <p:cNvPr id="1183773" name="Text Box 29"/>
            <p:cNvSpPr txBox="1">
              <a:spLocks noChangeArrowheads="1"/>
            </p:cNvSpPr>
            <p:nvPr/>
          </p:nvSpPr>
          <p:spPr bwMode="auto">
            <a:xfrm>
              <a:off x="2686" y="1675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s-ES_tradnl" i="1">
                  <a:latin typeface="Times New Roman" charset="0"/>
                </a:rPr>
                <a:t>Y</a:t>
              </a:r>
            </a:p>
          </p:txBody>
        </p:sp>
        <p:sp>
          <p:nvSpPr>
            <p:cNvPr id="1183774" name="Text Box 30"/>
            <p:cNvSpPr txBox="1">
              <a:spLocks noChangeArrowheads="1"/>
            </p:cNvSpPr>
            <p:nvPr/>
          </p:nvSpPr>
          <p:spPr bwMode="auto">
            <a:xfrm>
              <a:off x="2687" y="580"/>
              <a:ext cx="33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s-ES_tradnl" i="1">
                  <a:latin typeface="Times New Roman" charset="0"/>
                </a:rPr>
                <a:t>X'</a:t>
              </a:r>
            </a:p>
          </p:txBody>
        </p:sp>
        <p:sp>
          <p:nvSpPr>
            <p:cNvPr id="1183775" name="Arco 31"/>
            <p:cNvSpPr>
              <a:spLocks/>
            </p:cNvSpPr>
            <p:nvPr/>
          </p:nvSpPr>
          <p:spPr bwMode="auto">
            <a:xfrm rot="10800000" flipV="1">
              <a:off x="3044" y="1517"/>
              <a:ext cx="147" cy="187"/>
            </a:xfrm>
            <a:custGeom>
              <a:avLst/>
              <a:gdLst>
                <a:gd name="G0" fmla="+- 21600 0 0"/>
                <a:gd name="G1" fmla="+- 21600 0 0"/>
                <a:gd name="G2" fmla="+- 21600 0 0"/>
                <a:gd name="T0" fmla="*/ 612 w 24723"/>
                <a:gd name="T1" fmla="*/ 26706 h 26706"/>
                <a:gd name="T2" fmla="*/ 24723 w 24723"/>
                <a:gd name="T3" fmla="*/ 227 h 26706"/>
                <a:gd name="T4" fmla="*/ 21600 w 24723"/>
                <a:gd name="T5" fmla="*/ 21600 h 26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723" h="26706" fill="none" extrusionOk="0">
                  <a:moveTo>
                    <a:pt x="612" y="26705"/>
                  </a:moveTo>
                  <a:cubicBezTo>
                    <a:pt x="205" y="25034"/>
                    <a:pt x="0" y="23320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2645" y="0"/>
                    <a:pt x="23688" y="75"/>
                    <a:pt x="24723" y="226"/>
                  </a:cubicBezTo>
                </a:path>
                <a:path w="24723" h="26706" stroke="0" extrusionOk="0">
                  <a:moveTo>
                    <a:pt x="612" y="26705"/>
                  </a:moveTo>
                  <a:cubicBezTo>
                    <a:pt x="205" y="25034"/>
                    <a:pt x="0" y="23320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2645" y="0"/>
                    <a:pt x="23688" y="75"/>
                    <a:pt x="24723" y="226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38100">
              <a:solidFill>
                <a:srgbClr val="FF99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  <p:sp>
          <p:nvSpPr>
            <p:cNvPr id="1183776" name="Text Box 32"/>
            <p:cNvSpPr txBox="1">
              <a:spLocks noChangeArrowheads="1"/>
            </p:cNvSpPr>
            <p:nvPr/>
          </p:nvSpPr>
          <p:spPr bwMode="auto">
            <a:xfrm>
              <a:off x="3152" y="1380"/>
              <a:ext cx="32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s-ES_tradnl" sz="2400">
                  <a:latin typeface="Times New Roman" charset="0"/>
                  <a:sym typeface="Symbol" charset="2"/>
                </a:rPr>
                <a:t></a:t>
              </a:r>
              <a:r>
                <a:rPr lang="es-ES_tradnl" sz="2400" i="1" baseline="-25000">
                  <a:latin typeface="Times New Roman" charset="0"/>
                  <a:sym typeface="Symbol" charset="2"/>
                </a:rPr>
                <a:t>Y</a:t>
              </a:r>
              <a:endParaRPr lang="es-ES_tradnl" sz="2400">
                <a:latin typeface="Times New Roman" charset="0"/>
              </a:endParaRPr>
            </a:p>
          </p:txBody>
        </p:sp>
      </p:grpSp>
      <p:pic>
        <p:nvPicPr>
          <p:cNvPr id="1183793" name="Picture 49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379359" y="4022725"/>
            <a:ext cx="5221288" cy="1009650"/>
          </a:xfrm>
          <a:prstGeom prst="rect">
            <a:avLst/>
          </a:prstGeom>
          <a:noFill/>
        </p:spPr>
      </p:pic>
      <p:sp>
        <p:nvSpPr>
          <p:cNvPr id="1183794" name="Rectangle 50"/>
          <p:cNvSpPr>
            <a:spLocks noChangeArrowheads="1"/>
          </p:cNvSpPr>
          <p:nvPr/>
        </p:nvSpPr>
        <p:spPr bwMode="auto">
          <a:xfrm>
            <a:off x="1524000" y="749301"/>
            <a:ext cx="229813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" sz="2400" dirty="0">
                <a:latin typeface="Gill Sans MT" panose="020B0502020104020203" pitchFamily="34" charset="77"/>
              </a:rPr>
              <a:t> Axis Y </a:t>
            </a:r>
            <a:r>
              <a:rPr lang="es-ES" sz="2400" dirty="0" err="1">
                <a:latin typeface="Gill Sans MT" panose="020B0502020104020203" pitchFamily="34" charset="77"/>
              </a:rPr>
              <a:t>Rotation</a:t>
            </a:r>
            <a:r>
              <a:rPr lang="es-ES" sz="2400" dirty="0">
                <a:latin typeface="Gill Sans MT" panose="020B0502020104020203" pitchFamily="34" charset="77"/>
              </a:rPr>
              <a:t>: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70156" y="3731818"/>
            <a:ext cx="1473701" cy="134847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01B2B4-869D-AFBB-BB42-58503872E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CV02C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46DDE72-F1A9-EB3F-8784-E787F963D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9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6935228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79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524001" y="76200"/>
            <a:ext cx="4022725" cy="527050"/>
          </a:xfrm>
          <a:solidFill>
            <a:srgbClr val="FFFFFF"/>
          </a:solidFill>
          <a:ln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algn="l"/>
            <a:r>
              <a:rPr lang="es-ES_tradnl" sz="2000" b="1" dirty="0">
                <a:solidFill>
                  <a:srgbClr val="99CCFF"/>
                </a:solidFill>
              </a:rPr>
              <a:t>[ 3D </a:t>
            </a:r>
            <a:r>
              <a:rPr lang="es-ES_tradnl" sz="2000" b="1" dirty="0" err="1">
                <a:solidFill>
                  <a:srgbClr val="99CCFF"/>
                </a:solidFill>
              </a:rPr>
              <a:t>Transformation</a:t>
            </a:r>
            <a:r>
              <a:rPr lang="es-ES_tradnl" sz="2000" b="1" dirty="0">
                <a:solidFill>
                  <a:srgbClr val="99CCFF"/>
                </a:solidFill>
              </a:rPr>
              <a:t> ]</a:t>
            </a:r>
            <a:endParaRPr sz="2000" b="1" noProof="1">
              <a:solidFill>
                <a:srgbClr val="99CCFF"/>
              </a:solidFill>
            </a:endParaRPr>
          </a:p>
        </p:txBody>
      </p:sp>
      <p:grpSp>
        <p:nvGrpSpPr>
          <p:cNvPr id="1185825" name="Group 33"/>
          <p:cNvGrpSpPr>
            <a:grpSpLocks/>
          </p:cNvGrpSpPr>
          <p:nvPr/>
        </p:nvGrpSpPr>
        <p:grpSpPr bwMode="auto">
          <a:xfrm>
            <a:off x="4430713" y="1035051"/>
            <a:ext cx="3238500" cy="2105025"/>
            <a:chOff x="3751" y="580"/>
            <a:chExt cx="2040" cy="1326"/>
          </a:xfrm>
        </p:grpSpPr>
        <p:sp>
          <p:nvSpPr>
            <p:cNvPr id="1185826" name="Line 34"/>
            <p:cNvSpPr>
              <a:spLocks noChangeShapeType="1"/>
            </p:cNvSpPr>
            <p:nvPr/>
          </p:nvSpPr>
          <p:spPr bwMode="auto">
            <a:xfrm>
              <a:off x="4368" y="1708"/>
              <a:ext cx="1200" cy="0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  <p:sp>
          <p:nvSpPr>
            <p:cNvPr id="1185827" name="Line 35"/>
            <p:cNvSpPr>
              <a:spLocks noChangeShapeType="1"/>
            </p:cNvSpPr>
            <p:nvPr/>
          </p:nvSpPr>
          <p:spPr bwMode="auto">
            <a:xfrm rot="16200000" flipV="1">
              <a:off x="3864" y="1204"/>
              <a:ext cx="1200" cy="0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  <p:sp>
          <p:nvSpPr>
            <p:cNvPr id="1185828" name="Line 36"/>
            <p:cNvSpPr>
              <a:spLocks noChangeShapeType="1"/>
            </p:cNvSpPr>
            <p:nvPr/>
          </p:nvSpPr>
          <p:spPr bwMode="auto">
            <a:xfrm rot="-1718229">
              <a:off x="4309" y="1466"/>
              <a:ext cx="1200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  <p:sp>
          <p:nvSpPr>
            <p:cNvPr id="1185829" name="Line 37"/>
            <p:cNvSpPr>
              <a:spLocks noChangeShapeType="1"/>
            </p:cNvSpPr>
            <p:nvPr/>
          </p:nvSpPr>
          <p:spPr bwMode="auto">
            <a:xfrm rot="14481771" flipV="1">
              <a:off x="3625" y="1265"/>
              <a:ext cx="1200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  <p:sp>
          <p:nvSpPr>
            <p:cNvPr id="1185830" name="Oval 38"/>
            <p:cNvSpPr>
              <a:spLocks noChangeArrowheads="1"/>
            </p:cNvSpPr>
            <p:nvPr/>
          </p:nvSpPr>
          <p:spPr bwMode="auto">
            <a:xfrm>
              <a:off x="4386" y="1618"/>
              <a:ext cx="162" cy="16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  <p:sp>
          <p:nvSpPr>
            <p:cNvPr id="1185831" name="Text Box 39"/>
            <p:cNvSpPr txBox="1">
              <a:spLocks noChangeArrowheads="1"/>
            </p:cNvSpPr>
            <p:nvPr/>
          </p:nvSpPr>
          <p:spPr bwMode="auto">
            <a:xfrm>
              <a:off x="4388" y="1497"/>
              <a:ext cx="16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s-ES_tradnl" sz="2400">
                  <a:latin typeface="Times New Roman" charset="0"/>
                </a:rPr>
                <a:t>.</a:t>
              </a:r>
              <a:endParaRPr lang="es-ES_tradnl" sz="2400" u="sng">
                <a:latin typeface="Times New Roman" charset="0"/>
              </a:endParaRPr>
            </a:p>
          </p:txBody>
        </p:sp>
        <p:sp>
          <p:nvSpPr>
            <p:cNvPr id="1185832" name="Text Box 40"/>
            <p:cNvSpPr txBox="1">
              <a:spLocks noChangeArrowheads="1"/>
            </p:cNvSpPr>
            <p:nvPr/>
          </p:nvSpPr>
          <p:spPr bwMode="auto">
            <a:xfrm>
              <a:off x="5419" y="1027"/>
              <a:ext cx="29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s-ES_tradnl" i="1">
                  <a:latin typeface="Times New Roman" charset="0"/>
                </a:rPr>
                <a:t>Y</a:t>
              </a:r>
            </a:p>
          </p:txBody>
        </p:sp>
        <p:sp>
          <p:nvSpPr>
            <p:cNvPr id="1185833" name="Text Box 41"/>
            <p:cNvSpPr txBox="1">
              <a:spLocks noChangeArrowheads="1"/>
            </p:cNvSpPr>
            <p:nvPr/>
          </p:nvSpPr>
          <p:spPr bwMode="auto">
            <a:xfrm>
              <a:off x="3751" y="793"/>
              <a:ext cx="25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s-ES_tradnl" i="1">
                  <a:latin typeface="Times New Roman" charset="0"/>
                </a:rPr>
                <a:t>Z</a:t>
              </a:r>
            </a:p>
          </p:txBody>
        </p:sp>
        <p:sp>
          <p:nvSpPr>
            <p:cNvPr id="1185834" name="Text Box 42"/>
            <p:cNvSpPr txBox="1">
              <a:spLocks noChangeArrowheads="1"/>
            </p:cNvSpPr>
            <p:nvPr/>
          </p:nvSpPr>
          <p:spPr bwMode="auto">
            <a:xfrm>
              <a:off x="4169" y="1645"/>
              <a:ext cx="251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s-ES_tradnl" i="1">
                  <a:latin typeface="Times New Roman" charset="0"/>
                </a:rPr>
                <a:t>X'</a:t>
              </a:r>
            </a:p>
          </p:txBody>
        </p:sp>
        <p:sp>
          <p:nvSpPr>
            <p:cNvPr id="1185835" name="Text Box 43"/>
            <p:cNvSpPr txBox="1">
              <a:spLocks noChangeArrowheads="1"/>
            </p:cNvSpPr>
            <p:nvPr/>
          </p:nvSpPr>
          <p:spPr bwMode="auto">
            <a:xfrm>
              <a:off x="5564" y="1603"/>
              <a:ext cx="227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s-ES_tradnl" i="1">
                  <a:latin typeface="Times New Roman" charset="0"/>
                </a:rPr>
                <a:t>Y'</a:t>
              </a:r>
            </a:p>
          </p:txBody>
        </p:sp>
        <p:sp>
          <p:nvSpPr>
            <p:cNvPr id="1185836" name="Text Box 44"/>
            <p:cNvSpPr txBox="1">
              <a:spLocks noChangeArrowheads="1"/>
            </p:cNvSpPr>
            <p:nvPr/>
          </p:nvSpPr>
          <p:spPr bwMode="auto">
            <a:xfrm>
              <a:off x="4494" y="1675"/>
              <a:ext cx="20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s-ES_tradnl" i="1">
                  <a:latin typeface="Times New Roman" charset="0"/>
                </a:rPr>
                <a:t>X</a:t>
              </a:r>
            </a:p>
          </p:txBody>
        </p:sp>
        <p:sp>
          <p:nvSpPr>
            <p:cNvPr id="1185837" name="Text Box 45"/>
            <p:cNvSpPr txBox="1">
              <a:spLocks noChangeArrowheads="1"/>
            </p:cNvSpPr>
            <p:nvPr/>
          </p:nvSpPr>
          <p:spPr bwMode="auto">
            <a:xfrm>
              <a:off x="4495" y="580"/>
              <a:ext cx="23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s-ES_tradnl" i="1">
                  <a:latin typeface="Times New Roman" charset="0"/>
                </a:rPr>
                <a:t>Z'</a:t>
              </a:r>
            </a:p>
          </p:txBody>
        </p:sp>
        <p:sp>
          <p:nvSpPr>
            <p:cNvPr id="1185838" name="Arco 46"/>
            <p:cNvSpPr>
              <a:spLocks/>
            </p:cNvSpPr>
            <p:nvPr/>
          </p:nvSpPr>
          <p:spPr bwMode="auto">
            <a:xfrm rot="10800000" flipV="1">
              <a:off x="4852" y="1517"/>
              <a:ext cx="147" cy="187"/>
            </a:xfrm>
            <a:custGeom>
              <a:avLst/>
              <a:gdLst>
                <a:gd name="G0" fmla="+- 21600 0 0"/>
                <a:gd name="G1" fmla="+- 21600 0 0"/>
                <a:gd name="G2" fmla="+- 21600 0 0"/>
                <a:gd name="T0" fmla="*/ 612 w 24723"/>
                <a:gd name="T1" fmla="*/ 26706 h 26706"/>
                <a:gd name="T2" fmla="*/ 24723 w 24723"/>
                <a:gd name="T3" fmla="*/ 227 h 26706"/>
                <a:gd name="T4" fmla="*/ 21600 w 24723"/>
                <a:gd name="T5" fmla="*/ 21600 h 26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723" h="26706" fill="none" extrusionOk="0">
                  <a:moveTo>
                    <a:pt x="612" y="26705"/>
                  </a:moveTo>
                  <a:cubicBezTo>
                    <a:pt x="205" y="25034"/>
                    <a:pt x="0" y="23320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2645" y="0"/>
                    <a:pt x="23688" y="75"/>
                    <a:pt x="24723" y="226"/>
                  </a:cubicBezTo>
                </a:path>
                <a:path w="24723" h="26706" stroke="0" extrusionOk="0">
                  <a:moveTo>
                    <a:pt x="612" y="26705"/>
                  </a:moveTo>
                  <a:cubicBezTo>
                    <a:pt x="205" y="25034"/>
                    <a:pt x="0" y="23320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2645" y="0"/>
                    <a:pt x="23688" y="75"/>
                    <a:pt x="24723" y="226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38100">
              <a:solidFill>
                <a:srgbClr val="FF99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  <p:sp>
          <p:nvSpPr>
            <p:cNvPr id="1185839" name="Text Box 47"/>
            <p:cNvSpPr txBox="1">
              <a:spLocks noChangeArrowheads="1"/>
            </p:cNvSpPr>
            <p:nvPr/>
          </p:nvSpPr>
          <p:spPr bwMode="auto">
            <a:xfrm>
              <a:off x="4960" y="1380"/>
              <a:ext cx="32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s-ES_tradnl" sz="2400">
                  <a:latin typeface="Times New Roman" charset="0"/>
                  <a:sym typeface="Symbol" charset="2"/>
                </a:rPr>
                <a:t></a:t>
              </a:r>
              <a:r>
                <a:rPr lang="es-ES_tradnl" sz="2400" i="1" baseline="-25000">
                  <a:latin typeface="Times New Roman" charset="0"/>
                  <a:sym typeface="Symbol" charset="2"/>
                </a:rPr>
                <a:t>X</a:t>
              </a:r>
              <a:endParaRPr lang="es-ES_tradnl" sz="2400">
                <a:latin typeface="Times New Roman" charset="0"/>
              </a:endParaRPr>
            </a:p>
          </p:txBody>
        </p:sp>
      </p:grpSp>
      <p:pic>
        <p:nvPicPr>
          <p:cNvPr id="1185841" name="Picture 49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324411" y="4038600"/>
            <a:ext cx="5365750" cy="1041400"/>
          </a:xfrm>
          <a:prstGeom prst="rect">
            <a:avLst/>
          </a:prstGeom>
          <a:noFill/>
        </p:spPr>
      </p:pic>
      <p:sp>
        <p:nvSpPr>
          <p:cNvPr id="1185842" name="Rectangle 50"/>
          <p:cNvSpPr>
            <a:spLocks noChangeArrowheads="1"/>
          </p:cNvSpPr>
          <p:nvPr/>
        </p:nvSpPr>
        <p:spPr bwMode="auto">
          <a:xfrm>
            <a:off x="1524000" y="749301"/>
            <a:ext cx="245028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" sz="2400" dirty="0">
                <a:latin typeface="Gill Sans MT" panose="020B0502020104020203" pitchFamily="34" charset="77"/>
              </a:rPr>
              <a:t> Axis X </a:t>
            </a:r>
            <a:r>
              <a:rPr lang="es-ES" sz="2400" dirty="0" err="1">
                <a:latin typeface="Gill Sans MT" panose="020B0502020104020203" pitchFamily="34" charset="77"/>
              </a:rPr>
              <a:t>Rotation</a:t>
            </a:r>
            <a:r>
              <a:rPr lang="es-ES" sz="2400" dirty="0">
                <a:latin typeface="Gill Sans MT" panose="020B0502020104020203" pitchFamily="34" charset="77"/>
              </a:rPr>
              <a:t> :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70156" y="3731818"/>
            <a:ext cx="1473701" cy="134847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A9231F-156B-1514-E3A3-339C3C9AD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CV02C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360F6B4-9923-05B7-EADE-010F9A809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10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350422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4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524001" y="76200"/>
            <a:ext cx="4022725" cy="527050"/>
          </a:xfrm>
          <a:solidFill>
            <a:srgbClr val="FFFFFF"/>
          </a:solidFill>
          <a:ln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algn="l"/>
            <a:r>
              <a:rPr lang="es-ES_tradnl" sz="2000" b="1" dirty="0">
                <a:solidFill>
                  <a:srgbClr val="99CCFF"/>
                </a:solidFill>
              </a:rPr>
              <a:t>[ 3D </a:t>
            </a:r>
            <a:r>
              <a:rPr lang="es-ES_tradnl" sz="2000" b="1" dirty="0" err="1">
                <a:solidFill>
                  <a:srgbClr val="99CCFF"/>
                </a:solidFill>
              </a:rPr>
              <a:t>Transformation</a:t>
            </a:r>
            <a:r>
              <a:rPr lang="es-ES_tradnl" sz="2000" b="1" dirty="0">
                <a:solidFill>
                  <a:srgbClr val="99CCFF"/>
                </a:solidFill>
              </a:rPr>
              <a:t> ]</a:t>
            </a:r>
            <a:endParaRPr sz="2000" b="1" noProof="1">
              <a:solidFill>
                <a:srgbClr val="99CCFF"/>
              </a:solidFill>
            </a:endParaRPr>
          </a:p>
        </p:txBody>
      </p:sp>
      <p:grpSp>
        <p:nvGrpSpPr>
          <p:cNvPr id="1187843" name="Group 3"/>
          <p:cNvGrpSpPr>
            <a:grpSpLocks/>
          </p:cNvGrpSpPr>
          <p:nvPr/>
        </p:nvGrpSpPr>
        <p:grpSpPr bwMode="auto">
          <a:xfrm>
            <a:off x="1766889" y="1073151"/>
            <a:ext cx="3278187" cy="2105025"/>
            <a:chOff x="145" y="580"/>
            <a:chExt cx="2065" cy="1326"/>
          </a:xfrm>
        </p:grpSpPr>
        <p:sp>
          <p:nvSpPr>
            <p:cNvPr id="1187844" name="Line 4"/>
            <p:cNvSpPr>
              <a:spLocks noChangeShapeType="1"/>
            </p:cNvSpPr>
            <p:nvPr/>
          </p:nvSpPr>
          <p:spPr bwMode="auto">
            <a:xfrm>
              <a:off x="762" y="1708"/>
              <a:ext cx="1200" cy="0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  <p:sp>
          <p:nvSpPr>
            <p:cNvPr id="1187845" name="Line 5"/>
            <p:cNvSpPr>
              <a:spLocks noChangeShapeType="1"/>
            </p:cNvSpPr>
            <p:nvPr/>
          </p:nvSpPr>
          <p:spPr bwMode="auto">
            <a:xfrm rot="16200000" flipV="1">
              <a:off x="258" y="1204"/>
              <a:ext cx="1200" cy="0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  <p:sp>
          <p:nvSpPr>
            <p:cNvPr id="1187846" name="Line 6"/>
            <p:cNvSpPr>
              <a:spLocks noChangeShapeType="1"/>
            </p:cNvSpPr>
            <p:nvPr/>
          </p:nvSpPr>
          <p:spPr bwMode="auto">
            <a:xfrm rot="-1718229">
              <a:off x="703" y="1466"/>
              <a:ext cx="1200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  <p:sp>
          <p:nvSpPr>
            <p:cNvPr id="1187847" name="Line 7"/>
            <p:cNvSpPr>
              <a:spLocks noChangeShapeType="1"/>
            </p:cNvSpPr>
            <p:nvPr/>
          </p:nvSpPr>
          <p:spPr bwMode="auto">
            <a:xfrm rot="14481771" flipV="1">
              <a:off x="19" y="1265"/>
              <a:ext cx="1200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  <p:sp>
          <p:nvSpPr>
            <p:cNvPr id="1187848" name="Oval 8"/>
            <p:cNvSpPr>
              <a:spLocks noChangeArrowheads="1"/>
            </p:cNvSpPr>
            <p:nvPr/>
          </p:nvSpPr>
          <p:spPr bwMode="auto">
            <a:xfrm>
              <a:off x="780" y="1618"/>
              <a:ext cx="162" cy="16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  <p:sp>
          <p:nvSpPr>
            <p:cNvPr id="1187849" name="Text Box 9"/>
            <p:cNvSpPr txBox="1">
              <a:spLocks noChangeArrowheads="1"/>
            </p:cNvSpPr>
            <p:nvPr/>
          </p:nvSpPr>
          <p:spPr bwMode="auto">
            <a:xfrm>
              <a:off x="782" y="1497"/>
              <a:ext cx="16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s-ES_tradnl" sz="2400">
                  <a:latin typeface="Times New Roman" charset="0"/>
                </a:rPr>
                <a:t>.</a:t>
              </a:r>
              <a:endParaRPr lang="es-ES_tradnl" sz="2400" u="sng">
                <a:latin typeface="Times New Roman" charset="0"/>
              </a:endParaRPr>
            </a:p>
          </p:txBody>
        </p:sp>
        <p:sp>
          <p:nvSpPr>
            <p:cNvPr id="1187850" name="Text Box 10"/>
            <p:cNvSpPr txBox="1">
              <a:spLocks noChangeArrowheads="1"/>
            </p:cNvSpPr>
            <p:nvPr/>
          </p:nvSpPr>
          <p:spPr bwMode="auto">
            <a:xfrm>
              <a:off x="1813" y="1027"/>
              <a:ext cx="29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s-ES_tradnl" i="1">
                  <a:latin typeface="Times New Roman" charset="0"/>
                </a:rPr>
                <a:t>X</a:t>
              </a:r>
            </a:p>
          </p:txBody>
        </p:sp>
        <p:sp>
          <p:nvSpPr>
            <p:cNvPr id="1187851" name="Text Box 11"/>
            <p:cNvSpPr txBox="1">
              <a:spLocks noChangeArrowheads="1"/>
            </p:cNvSpPr>
            <p:nvPr/>
          </p:nvSpPr>
          <p:spPr bwMode="auto">
            <a:xfrm>
              <a:off x="145" y="793"/>
              <a:ext cx="25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s-ES_tradnl" i="1">
                  <a:latin typeface="Times New Roman" charset="0"/>
                </a:rPr>
                <a:t>Y</a:t>
              </a:r>
            </a:p>
          </p:txBody>
        </p:sp>
        <p:sp>
          <p:nvSpPr>
            <p:cNvPr id="1187852" name="Text Box 12"/>
            <p:cNvSpPr txBox="1">
              <a:spLocks noChangeArrowheads="1"/>
            </p:cNvSpPr>
            <p:nvPr/>
          </p:nvSpPr>
          <p:spPr bwMode="auto">
            <a:xfrm>
              <a:off x="563" y="1645"/>
              <a:ext cx="251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s-ES_tradnl" i="1">
                  <a:latin typeface="Times New Roman" charset="0"/>
                </a:rPr>
                <a:t>Z'</a:t>
              </a:r>
            </a:p>
          </p:txBody>
        </p:sp>
        <p:sp>
          <p:nvSpPr>
            <p:cNvPr id="1187853" name="Text Box 13"/>
            <p:cNvSpPr txBox="1">
              <a:spLocks noChangeArrowheads="1"/>
            </p:cNvSpPr>
            <p:nvPr/>
          </p:nvSpPr>
          <p:spPr bwMode="auto">
            <a:xfrm>
              <a:off x="1958" y="1603"/>
              <a:ext cx="25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s-ES_tradnl" i="1">
                  <a:latin typeface="Times New Roman" charset="0"/>
                </a:rPr>
                <a:t>X’</a:t>
              </a:r>
            </a:p>
          </p:txBody>
        </p:sp>
        <p:sp>
          <p:nvSpPr>
            <p:cNvPr id="1187854" name="Text Box 14"/>
            <p:cNvSpPr txBox="1">
              <a:spLocks noChangeArrowheads="1"/>
            </p:cNvSpPr>
            <p:nvPr/>
          </p:nvSpPr>
          <p:spPr bwMode="auto">
            <a:xfrm>
              <a:off x="888" y="1675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s-ES_tradnl" i="1">
                  <a:latin typeface="Times New Roman" charset="0"/>
                </a:rPr>
                <a:t>Z</a:t>
              </a:r>
            </a:p>
          </p:txBody>
        </p:sp>
        <p:sp>
          <p:nvSpPr>
            <p:cNvPr id="1187855" name="Text Box 15"/>
            <p:cNvSpPr txBox="1">
              <a:spLocks noChangeArrowheads="1"/>
            </p:cNvSpPr>
            <p:nvPr/>
          </p:nvSpPr>
          <p:spPr bwMode="auto">
            <a:xfrm>
              <a:off x="889" y="580"/>
              <a:ext cx="23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s-ES_tradnl" i="1">
                  <a:latin typeface="Times New Roman" charset="0"/>
                </a:rPr>
                <a:t>Y'</a:t>
              </a:r>
            </a:p>
          </p:txBody>
        </p:sp>
        <p:sp>
          <p:nvSpPr>
            <p:cNvPr id="1187856" name="Arco 16"/>
            <p:cNvSpPr>
              <a:spLocks/>
            </p:cNvSpPr>
            <p:nvPr/>
          </p:nvSpPr>
          <p:spPr bwMode="auto">
            <a:xfrm rot="10800000" flipV="1">
              <a:off x="1246" y="1517"/>
              <a:ext cx="147" cy="187"/>
            </a:xfrm>
            <a:custGeom>
              <a:avLst/>
              <a:gdLst>
                <a:gd name="G0" fmla="+- 21600 0 0"/>
                <a:gd name="G1" fmla="+- 21600 0 0"/>
                <a:gd name="G2" fmla="+- 21600 0 0"/>
                <a:gd name="T0" fmla="*/ 612 w 24723"/>
                <a:gd name="T1" fmla="*/ 26706 h 26706"/>
                <a:gd name="T2" fmla="*/ 24723 w 24723"/>
                <a:gd name="T3" fmla="*/ 227 h 26706"/>
                <a:gd name="T4" fmla="*/ 21600 w 24723"/>
                <a:gd name="T5" fmla="*/ 21600 h 26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723" h="26706" fill="none" extrusionOk="0">
                  <a:moveTo>
                    <a:pt x="612" y="26705"/>
                  </a:moveTo>
                  <a:cubicBezTo>
                    <a:pt x="205" y="25034"/>
                    <a:pt x="0" y="23320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2645" y="0"/>
                    <a:pt x="23688" y="75"/>
                    <a:pt x="24723" y="226"/>
                  </a:cubicBezTo>
                </a:path>
                <a:path w="24723" h="26706" stroke="0" extrusionOk="0">
                  <a:moveTo>
                    <a:pt x="612" y="26705"/>
                  </a:moveTo>
                  <a:cubicBezTo>
                    <a:pt x="205" y="25034"/>
                    <a:pt x="0" y="23320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2645" y="0"/>
                    <a:pt x="23688" y="75"/>
                    <a:pt x="24723" y="226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38100">
              <a:solidFill>
                <a:srgbClr val="FF99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  <p:sp>
          <p:nvSpPr>
            <p:cNvPr id="1187857" name="Text Box 17"/>
            <p:cNvSpPr txBox="1">
              <a:spLocks noChangeArrowheads="1"/>
            </p:cNvSpPr>
            <p:nvPr/>
          </p:nvSpPr>
          <p:spPr bwMode="auto">
            <a:xfrm>
              <a:off x="1354" y="1380"/>
              <a:ext cx="32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s-ES_tradnl" sz="2400">
                  <a:latin typeface="Times New Roman" charset="0"/>
                  <a:sym typeface="Symbol" charset="2"/>
                </a:rPr>
                <a:t></a:t>
              </a:r>
              <a:r>
                <a:rPr lang="es-ES_tradnl" sz="2400" i="1" baseline="-25000">
                  <a:latin typeface="Times New Roman" charset="0"/>
                  <a:sym typeface="Symbol" charset="2"/>
                </a:rPr>
                <a:t>Z</a:t>
              </a:r>
              <a:endParaRPr lang="es-ES_tradnl" sz="2400">
                <a:latin typeface="Times New Roman" charset="0"/>
              </a:endParaRPr>
            </a:p>
          </p:txBody>
        </p:sp>
      </p:grpSp>
      <p:grpSp>
        <p:nvGrpSpPr>
          <p:cNvPr id="1187858" name="Group 18"/>
          <p:cNvGrpSpPr>
            <a:grpSpLocks/>
          </p:cNvGrpSpPr>
          <p:nvPr/>
        </p:nvGrpSpPr>
        <p:grpSpPr bwMode="auto">
          <a:xfrm>
            <a:off x="4621213" y="1073151"/>
            <a:ext cx="3238500" cy="2105025"/>
            <a:chOff x="1943" y="580"/>
            <a:chExt cx="2040" cy="1326"/>
          </a:xfrm>
        </p:grpSpPr>
        <p:sp>
          <p:nvSpPr>
            <p:cNvPr id="1187859" name="Line 19"/>
            <p:cNvSpPr>
              <a:spLocks noChangeShapeType="1"/>
            </p:cNvSpPr>
            <p:nvPr/>
          </p:nvSpPr>
          <p:spPr bwMode="auto">
            <a:xfrm>
              <a:off x="2560" y="1708"/>
              <a:ext cx="1200" cy="0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  <p:sp>
          <p:nvSpPr>
            <p:cNvPr id="1187860" name="Line 20"/>
            <p:cNvSpPr>
              <a:spLocks noChangeShapeType="1"/>
            </p:cNvSpPr>
            <p:nvPr/>
          </p:nvSpPr>
          <p:spPr bwMode="auto">
            <a:xfrm rot="16200000" flipV="1">
              <a:off x="2056" y="1204"/>
              <a:ext cx="1200" cy="0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  <p:sp>
          <p:nvSpPr>
            <p:cNvPr id="1187861" name="Line 21"/>
            <p:cNvSpPr>
              <a:spLocks noChangeShapeType="1"/>
            </p:cNvSpPr>
            <p:nvPr/>
          </p:nvSpPr>
          <p:spPr bwMode="auto">
            <a:xfrm rot="-1718229">
              <a:off x="2501" y="1466"/>
              <a:ext cx="1200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  <p:sp>
          <p:nvSpPr>
            <p:cNvPr id="1187862" name="Line 22"/>
            <p:cNvSpPr>
              <a:spLocks noChangeShapeType="1"/>
            </p:cNvSpPr>
            <p:nvPr/>
          </p:nvSpPr>
          <p:spPr bwMode="auto">
            <a:xfrm rot="14481771" flipV="1">
              <a:off x="1817" y="1265"/>
              <a:ext cx="1200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  <p:sp>
          <p:nvSpPr>
            <p:cNvPr id="1187863" name="Oval 23"/>
            <p:cNvSpPr>
              <a:spLocks noChangeArrowheads="1"/>
            </p:cNvSpPr>
            <p:nvPr/>
          </p:nvSpPr>
          <p:spPr bwMode="auto">
            <a:xfrm>
              <a:off x="2578" y="1618"/>
              <a:ext cx="162" cy="16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  <p:sp>
          <p:nvSpPr>
            <p:cNvPr id="1187864" name="Text Box 24"/>
            <p:cNvSpPr txBox="1">
              <a:spLocks noChangeArrowheads="1"/>
            </p:cNvSpPr>
            <p:nvPr/>
          </p:nvSpPr>
          <p:spPr bwMode="auto">
            <a:xfrm>
              <a:off x="2580" y="1497"/>
              <a:ext cx="16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s-ES_tradnl" sz="2400">
                  <a:latin typeface="Times New Roman" charset="0"/>
                </a:rPr>
                <a:t>.</a:t>
              </a:r>
              <a:endParaRPr lang="es-ES_tradnl" sz="2400" u="sng">
                <a:latin typeface="Times New Roman" charset="0"/>
              </a:endParaRPr>
            </a:p>
          </p:txBody>
        </p:sp>
        <p:sp>
          <p:nvSpPr>
            <p:cNvPr id="1187865" name="Text Box 25"/>
            <p:cNvSpPr txBox="1">
              <a:spLocks noChangeArrowheads="1"/>
            </p:cNvSpPr>
            <p:nvPr/>
          </p:nvSpPr>
          <p:spPr bwMode="auto">
            <a:xfrm>
              <a:off x="3611" y="1027"/>
              <a:ext cx="29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s-ES_tradnl" i="1">
                  <a:latin typeface="Times New Roman" charset="0"/>
                </a:rPr>
                <a:t>Z</a:t>
              </a:r>
            </a:p>
          </p:txBody>
        </p:sp>
        <p:sp>
          <p:nvSpPr>
            <p:cNvPr id="1187866" name="Text Box 26"/>
            <p:cNvSpPr txBox="1">
              <a:spLocks noChangeArrowheads="1"/>
            </p:cNvSpPr>
            <p:nvPr/>
          </p:nvSpPr>
          <p:spPr bwMode="auto">
            <a:xfrm>
              <a:off x="1943" y="793"/>
              <a:ext cx="25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s-ES_tradnl" i="1">
                  <a:latin typeface="Times New Roman" charset="0"/>
                </a:rPr>
                <a:t>X</a:t>
              </a:r>
            </a:p>
          </p:txBody>
        </p:sp>
        <p:sp>
          <p:nvSpPr>
            <p:cNvPr id="1187867" name="Text Box 27"/>
            <p:cNvSpPr txBox="1">
              <a:spLocks noChangeArrowheads="1"/>
            </p:cNvSpPr>
            <p:nvPr/>
          </p:nvSpPr>
          <p:spPr bwMode="auto">
            <a:xfrm>
              <a:off x="2361" y="1645"/>
              <a:ext cx="251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s-ES_tradnl" i="1">
                  <a:latin typeface="Times New Roman" charset="0"/>
                </a:rPr>
                <a:t>Y'</a:t>
              </a:r>
            </a:p>
          </p:txBody>
        </p:sp>
        <p:sp>
          <p:nvSpPr>
            <p:cNvPr id="1187868" name="Text Box 28"/>
            <p:cNvSpPr txBox="1">
              <a:spLocks noChangeArrowheads="1"/>
            </p:cNvSpPr>
            <p:nvPr/>
          </p:nvSpPr>
          <p:spPr bwMode="auto">
            <a:xfrm>
              <a:off x="3756" y="1603"/>
              <a:ext cx="227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s-ES_tradnl" i="1">
                  <a:latin typeface="Times New Roman" charset="0"/>
                </a:rPr>
                <a:t>Z'</a:t>
              </a:r>
            </a:p>
          </p:txBody>
        </p:sp>
        <p:sp>
          <p:nvSpPr>
            <p:cNvPr id="1187869" name="Text Box 29"/>
            <p:cNvSpPr txBox="1">
              <a:spLocks noChangeArrowheads="1"/>
            </p:cNvSpPr>
            <p:nvPr/>
          </p:nvSpPr>
          <p:spPr bwMode="auto">
            <a:xfrm>
              <a:off x="2686" y="1675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s-ES_tradnl" i="1">
                  <a:latin typeface="Times New Roman" charset="0"/>
                </a:rPr>
                <a:t>Y</a:t>
              </a:r>
            </a:p>
          </p:txBody>
        </p:sp>
        <p:sp>
          <p:nvSpPr>
            <p:cNvPr id="1187870" name="Text Box 30"/>
            <p:cNvSpPr txBox="1">
              <a:spLocks noChangeArrowheads="1"/>
            </p:cNvSpPr>
            <p:nvPr/>
          </p:nvSpPr>
          <p:spPr bwMode="auto">
            <a:xfrm>
              <a:off x="2687" y="580"/>
              <a:ext cx="33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s-ES_tradnl" i="1">
                  <a:latin typeface="Times New Roman" charset="0"/>
                </a:rPr>
                <a:t>X'</a:t>
              </a:r>
            </a:p>
          </p:txBody>
        </p:sp>
        <p:sp>
          <p:nvSpPr>
            <p:cNvPr id="1187871" name="Arco 31"/>
            <p:cNvSpPr>
              <a:spLocks/>
            </p:cNvSpPr>
            <p:nvPr/>
          </p:nvSpPr>
          <p:spPr bwMode="auto">
            <a:xfrm rot="10800000" flipV="1">
              <a:off x="3044" y="1517"/>
              <a:ext cx="147" cy="187"/>
            </a:xfrm>
            <a:custGeom>
              <a:avLst/>
              <a:gdLst>
                <a:gd name="G0" fmla="+- 21600 0 0"/>
                <a:gd name="G1" fmla="+- 21600 0 0"/>
                <a:gd name="G2" fmla="+- 21600 0 0"/>
                <a:gd name="T0" fmla="*/ 612 w 24723"/>
                <a:gd name="T1" fmla="*/ 26706 h 26706"/>
                <a:gd name="T2" fmla="*/ 24723 w 24723"/>
                <a:gd name="T3" fmla="*/ 227 h 26706"/>
                <a:gd name="T4" fmla="*/ 21600 w 24723"/>
                <a:gd name="T5" fmla="*/ 21600 h 26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723" h="26706" fill="none" extrusionOk="0">
                  <a:moveTo>
                    <a:pt x="612" y="26705"/>
                  </a:moveTo>
                  <a:cubicBezTo>
                    <a:pt x="205" y="25034"/>
                    <a:pt x="0" y="23320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2645" y="0"/>
                    <a:pt x="23688" y="75"/>
                    <a:pt x="24723" y="226"/>
                  </a:cubicBezTo>
                </a:path>
                <a:path w="24723" h="26706" stroke="0" extrusionOk="0">
                  <a:moveTo>
                    <a:pt x="612" y="26705"/>
                  </a:moveTo>
                  <a:cubicBezTo>
                    <a:pt x="205" y="25034"/>
                    <a:pt x="0" y="23320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2645" y="0"/>
                    <a:pt x="23688" y="75"/>
                    <a:pt x="24723" y="226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38100">
              <a:solidFill>
                <a:srgbClr val="FF99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  <p:sp>
          <p:nvSpPr>
            <p:cNvPr id="1187872" name="Text Box 32"/>
            <p:cNvSpPr txBox="1">
              <a:spLocks noChangeArrowheads="1"/>
            </p:cNvSpPr>
            <p:nvPr/>
          </p:nvSpPr>
          <p:spPr bwMode="auto">
            <a:xfrm>
              <a:off x="3152" y="1380"/>
              <a:ext cx="32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s-ES_tradnl" sz="2400">
                  <a:latin typeface="Times New Roman" charset="0"/>
                  <a:sym typeface="Symbol" charset="2"/>
                </a:rPr>
                <a:t></a:t>
              </a:r>
              <a:r>
                <a:rPr lang="es-ES_tradnl" sz="2400" i="1" baseline="-25000">
                  <a:latin typeface="Times New Roman" charset="0"/>
                  <a:sym typeface="Symbol" charset="2"/>
                </a:rPr>
                <a:t>Y</a:t>
              </a:r>
              <a:endParaRPr lang="es-ES_tradnl" sz="2400">
                <a:latin typeface="Times New Roman" charset="0"/>
              </a:endParaRPr>
            </a:p>
          </p:txBody>
        </p:sp>
      </p:grpSp>
      <p:grpSp>
        <p:nvGrpSpPr>
          <p:cNvPr id="1187873" name="Group 33"/>
          <p:cNvGrpSpPr>
            <a:grpSpLocks/>
          </p:cNvGrpSpPr>
          <p:nvPr/>
        </p:nvGrpSpPr>
        <p:grpSpPr bwMode="auto">
          <a:xfrm>
            <a:off x="7491413" y="1073151"/>
            <a:ext cx="3238500" cy="2105025"/>
            <a:chOff x="3751" y="580"/>
            <a:chExt cx="2040" cy="1326"/>
          </a:xfrm>
        </p:grpSpPr>
        <p:sp>
          <p:nvSpPr>
            <p:cNvPr id="1187874" name="Line 34"/>
            <p:cNvSpPr>
              <a:spLocks noChangeShapeType="1"/>
            </p:cNvSpPr>
            <p:nvPr/>
          </p:nvSpPr>
          <p:spPr bwMode="auto">
            <a:xfrm>
              <a:off x="4368" y="1708"/>
              <a:ext cx="1200" cy="0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  <p:sp>
          <p:nvSpPr>
            <p:cNvPr id="1187875" name="Line 35"/>
            <p:cNvSpPr>
              <a:spLocks noChangeShapeType="1"/>
            </p:cNvSpPr>
            <p:nvPr/>
          </p:nvSpPr>
          <p:spPr bwMode="auto">
            <a:xfrm rot="16200000" flipV="1">
              <a:off x="3864" y="1204"/>
              <a:ext cx="1200" cy="0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  <p:sp>
          <p:nvSpPr>
            <p:cNvPr id="1187876" name="Line 36"/>
            <p:cNvSpPr>
              <a:spLocks noChangeShapeType="1"/>
            </p:cNvSpPr>
            <p:nvPr/>
          </p:nvSpPr>
          <p:spPr bwMode="auto">
            <a:xfrm rot="-1718229">
              <a:off x="4309" y="1466"/>
              <a:ext cx="1200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  <p:sp>
          <p:nvSpPr>
            <p:cNvPr id="1187877" name="Line 37"/>
            <p:cNvSpPr>
              <a:spLocks noChangeShapeType="1"/>
            </p:cNvSpPr>
            <p:nvPr/>
          </p:nvSpPr>
          <p:spPr bwMode="auto">
            <a:xfrm rot="14481771" flipV="1">
              <a:off x="3625" y="1265"/>
              <a:ext cx="1200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  <p:sp>
          <p:nvSpPr>
            <p:cNvPr id="1187878" name="Oval 38"/>
            <p:cNvSpPr>
              <a:spLocks noChangeArrowheads="1"/>
            </p:cNvSpPr>
            <p:nvPr/>
          </p:nvSpPr>
          <p:spPr bwMode="auto">
            <a:xfrm>
              <a:off x="4386" y="1618"/>
              <a:ext cx="162" cy="16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  <p:sp>
          <p:nvSpPr>
            <p:cNvPr id="1187879" name="Text Box 39"/>
            <p:cNvSpPr txBox="1">
              <a:spLocks noChangeArrowheads="1"/>
            </p:cNvSpPr>
            <p:nvPr/>
          </p:nvSpPr>
          <p:spPr bwMode="auto">
            <a:xfrm>
              <a:off x="4388" y="1497"/>
              <a:ext cx="16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s-ES_tradnl" sz="2400">
                  <a:latin typeface="Times New Roman" charset="0"/>
                </a:rPr>
                <a:t>.</a:t>
              </a:r>
              <a:endParaRPr lang="es-ES_tradnl" sz="2400" u="sng">
                <a:latin typeface="Times New Roman" charset="0"/>
              </a:endParaRPr>
            </a:p>
          </p:txBody>
        </p:sp>
        <p:sp>
          <p:nvSpPr>
            <p:cNvPr id="1187880" name="Text Box 40"/>
            <p:cNvSpPr txBox="1">
              <a:spLocks noChangeArrowheads="1"/>
            </p:cNvSpPr>
            <p:nvPr/>
          </p:nvSpPr>
          <p:spPr bwMode="auto">
            <a:xfrm>
              <a:off x="5419" y="1027"/>
              <a:ext cx="29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s-ES_tradnl" i="1">
                  <a:latin typeface="Times New Roman" charset="0"/>
                </a:rPr>
                <a:t>Y</a:t>
              </a:r>
            </a:p>
          </p:txBody>
        </p:sp>
        <p:sp>
          <p:nvSpPr>
            <p:cNvPr id="1187881" name="Text Box 41"/>
            <p:cNvSpPr txBox="1">
              <a:spLocks noChangeArrowheads="1"/>
            </p:cNvSpPr>
            <p:nvPr/>
          </p:nvSpPr>
          <p:spPr bwMode="auto">
            <a:xfrm>
              <a:off x="3751" y="793"/>
              <a:ext cx="25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s-ES_tradnl" i="1">
                  <a:latin typeface="Times New Roman" charset="0"/>
                </a:rPr>
                <a:t>Z</a:t>
              </a:r>
            </a:p>
          </p:txBody>
        </p:sp>
        <p:sp>
          <p:nvSpPr>
            <p:cNvPr id="1187882" name="Text Box 42"/>
            <p:cNvSpPr txBox="1">
              <a:spLocks noChangeArrowheads="1"/>
            </p:cNvSpPr>
            <p:nvPr/>
          </p:nvSpPr>
          <p:spPr bwMode="auto">
            <a:xfrm>
              <a:off x="4169" y="1645"/>
              <a:ext cx="251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s-ES_tradnl" i="1">
                  <a:latin typeface="Times New Roman" charset="0"/>
                </a:rPr>
                <a:t>X'</a:t>
              </a:r>
            </a:p>
          </p:txBody>
        </p:sp>
        <p:sp>
          <p:nvSpPr>
            <p:cNvPr id="1187883" name="Text Box 43"/>
            <p:cNvSpPr txBox="1">
              <a:spLocks noChangeArrowheads="1"/>
            </p:cNvSpPr>
            <p:nvPr/>
          </p:nvSpPr>
          <p:spPr bwMode="auto">
            <a:xfrm>
              <a:off x="5564" y="1603"/>
              <a:ext cx="227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s-ES_tradnl" i="1">
                  <a:latin typeface="Times New Roman" charset="0"/>
                </a:rPr>
                <a:t>Y'</a:t>
              </a:r>
            </a:p>
          </p:txBody>
        </p:sp>
        <p:sp>
          <p:nvSpPr>
            <p:cNvPr id="1187884" name="Text Box 44"/>
            <p:cNvSpPr txBox="1">
              <a:spLocks noChangeArrowheads="1"/>
            </p:cNvSpPr>
            <p:nvPr/>
          </p:nvSpPr>
          <p:spPr bwMode="auto">
            <a:xfrm>
              <a:off x="4494" y="1675"/>
              <a:ext cx="20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s-ES_tradnl" i="1">
                  <a:latin typeface="Times New Roman" charset="0"/>
                </a:rPr>
                <a:t>X</a:t>
              </a:r>
            </a:p>
          </p:txBody>
        </p:sp>
        <p:sp>
          <p:nvSpPr>
            <p:cNvPr id="1187885" name="Text Box 45"/>
            <p:cNvSpPr txBox="1">
              <a:spLocks noChangeArrowheads="1"/>
            </p:cNvSpPr>
            <p:nvPr/>
          </p:nvSpPr>
          <p:spPr bwMode="auto">
            <a:xfrm>
              <a:off x="4495" y="580"/>
              <a:ext cx="23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s-ES_tradnl" i="1">
                  <a:latin typeface="Times New Roman" charset="0"/>
                </a:rPr>
                <a:t>Z'</a:t>
              </a:r>
            </a:p>
          </p:txBody>
        </p:sp>
        <p:sp>
          <p:nvSpPr>
            <p:cNvPr id="1187886" name="Arco 46"/>
            <p:cNvSpPr>
              <a:spLocks/>
            </p:cNvSpPr>
            <p:nvPr/>
          </p:nvSpPr>
          <p:spPr bwMode="auto">
            <a:xfrm rot="10800000" flipV="1">
              <a:off x="4852" y="1517"/>
              <a:ext cx="147" cy="187"/>
            </a:xfrm>
            <a:custGeom>
              <a:avLst/>
              <a:gdLst>
                <a:gd name="G0" fmla="+- 21600 0 0"/>
                <a:gd name="G1" fmla="+- 21600 0 0"/>
                <a:gd name="G2" fmla="+- 21600 0 0"/>
                <a:gd name="T0" fmla="*/ 612 w 24723"/>
                <a:gd name="T1" fmla="*/ 26706 h 26706"/>
                <a:gd name="T2" fmla="*/ 24723 w 24723"/>
                <a:gd name="T3" fmla="*/ 227 h 26706"/>
                <a:gd name="T4" fmla="*/ 21600 w 24723"/>
                <a:gd name="T5" fmla="*/ 21600 h 26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723" h="26706" fill="none" extrusionOk="0">
                  <a:moveTo>
                    <a:pt x="612" y="26705"/>
                  </a:moveTo>
                  <a:cubicBezTo>
                    <a:pt x="205" y="25034"/>
                    <a:pt x="0" y="23320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2645" y="0"/>
                    <a:pt x="23688" y="75"/>
                    <a:pt x="24723" y="226"/>
                  </a:cubicBezTo>
                </a:path>
                <a:path w="24723" h="26706" stroke="0" extrusionOk="0">
                  <a:moveTo>
                    <a:pt x="612" y="26705"/>
                  </a:moveTo>
                  <a:cubicBezTo>
                    <a:pt x="205" y="25034"/>
                    <a:pt x="0" y="23320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2645" y="0"/>
                    <a:pt x="23688" y="75"/>
                    <a:pt x="24723" y="226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38100">
              <a:solidFill>
                <a:srgbClr val="FF99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  <p:sp>
          <p:nvSpPr>
            <p:cNvPr id="1187887" name="Text Box 47"/>
            <p:cNvSpPr txBox="1">
              <a:spLocks noChangeArrowheads="1"/>
            </p:cNvSpPr>
            <p:nvPr/>
          </p:nvSpPr>
          <p:spPr bwMode="auto">
            <a:xfrm>
              <a:off x="4960" y="1380"/>
              <a:ext cx="32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s-ES_tradnl" sz="2400">
                  <a:latin typeface="Times New Roman" charset="0"/>
                  <a:sym typeface="Symbol" charset="2"/>
                </a:rPr>
                <a:t></a:t>
              </a:r>
              <a:r>
                <a:rPr lang="es-ES_tradnl" sz="2400" i="1" baseline="-25000">
                  <a:latin typeface="Times New Roman" charset="0"/>
                  <a:sym typeface="Symbol" charset="2"/>
                </a:rPr>
                <a:t>X</a:t>
              </a:r>
              <a:endParaRPr lang="es-ES_tradnl" sz="2400">
                <a:latin typeface="Times New Roman" charset="0"/>
              </a:endParaRPr>
            </a:p>
          </p:txBody>
        </p:sp>
      </p:grpSp>
      <p:graphicFrame>
        <p:nvGraphicFramePr>
          <p:cNvPr id="1187888" name="Object 48"/>
          <p:cNvGraphicFramePr>
            <a:graphicFrameLocks noChangeAspect="1"/>
          </p:cNvGraphicFramePr>
          <p:nvPr/>
        </p:nvGraphicFramePr>
        <p:xfrm>
          <a:off x="3693487" y="3552825"/>
          <a:ext cx="4357688" cy="283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tografía de Photo Editor" r:id="rId3" imgW="3715269" imgH="2419048" progId="">
                  <p:embed/>
                </p:oleObj>
              </mc:Choice>
              <mc:Fallback>
                <p:oleObj name="Fotografía de Photo Editor" r:id="rId3" imgW="3715269" imgH="2419048" progId="">
                  <p:embed/>
                  <p:pic>
                    <p:nvPicPr>
                      <p:cNvPr id="1187888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93487" y="3552825"/>
                        <a:ext cx="4357688" cy="2838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" name="Rectangle 48"/>
          <p:cNvSpPr/>
          <p:nvPr/>
        </p:nvSpPr>
        <p:spPr>
          <a:xfrm>
            <a:off x="3373970" y="3731818"/>
            <a:ext cx="1473701" cy="275966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3526370" y="3554938"/>
            <a:ext cx="5068259" cy="49047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C66C4A-841F-5E09-41B6-8C5BF4EF5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CV02C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8070BE9-BB3B-60E8-6B87-1724429CC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11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686526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7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7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7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989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524001" y="76200"/>
            <a:ext cx="4022725" cy="527050"/>
          </a:xfrm>
          <a:solidFill>
            <a:srgbClr val="FFFFFF"/>
          </a:solidFill>
          <a:ln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algn="l"/>
            <a:r>
              <a:rPr lang="es-ES_tradnl" sz="2000" b="1" dirty="0">
                <a:solidFill>
                  <a:srgbClr val="99CCFF"/>
                </a:solidFill>
              </a:rPr>
              <a:t>[ 3D </a:t>
            </a:r>
            <a:r>
              <a:rPr lang="es-ES_tradnl" sz="2000" b="1" dirty="0" err="1">
                <a:solidFill>
                  <a:srgbClr val="99CCFF"/>
                </a:solidFill>
              </a:rPr>
              <a:t>Transformation</a:t>
            </a:r>
            <a:r>
              <a:rPr lang="es-ES_tradnl" sz="2000" b="1" dirty="0">
                <a:solidFill>
                  <a:srgbClr val="99CCFF"/>
                </a:solidFill>
              </a:rPr>
              <a:t> ]</a:t>
            </a:r>
            <a:endParaRPr sz="2000" b="1" noProof="1">
              <a:solidFill>
                <a:srgbClr val="99CCFF"/>
              </a:solidFill>
            </a:endParaRPr>
          </a:p>
        </p:txBody>
      </p:sp>
      <p:graphicFrame>
        <p:nvGraphicFramePr>
          <p:cNvPr id="1189937" name="Object 49"/>
          <p:cNvGraphicFramePr>
            <a:graphicFrameLocks noChangeAspect="1"/>
          </p:cNvGraphicFramePr>
          <p:nvPr/>
        </p:nvGraphicFramePr>
        <p:xfrm>
          <a:off x="2541589" y="1404939"/>
          <a:ext cx="6689725" cy="974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tografía de Photo Editor" r:id="rId3" imgW="4772691" imgH="695238" progId="">
                  <p:embed/>
                </p:oleObj>
              </mc:Choice>
              <mc:Fallback>
                <p:oleObj name="Fotografía de Photo Editor" r:id="rId3" imgW="4772691" imgH="695238" progId="">
                  <p:embed/>
                  <p:pic>
                    <p:nvPicPr>
                      <p:cNvPr id="1189937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1589" y="1404939"/>
                        <a:ext cx="6689725" cy="974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89938" name="Object 50"/>
          <p:cNvGraphicFramePr>
            <a:graphicFrameLocks noChangeAspect="1"/>
          </p:cNvGraphicFramePr>
          <p:nvPr/>
        </p:nvGraphicFramePr>
        <p:xfrm>
          <a:off x="2908301" y="2965450"/>
          <a:ext cx="6124575" cy="294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tografía de Photo Editor" r:id="rId5" imgW="4038095" imgH="1943371" progId="">
                  <p:embed/>
                </p:oleObj>
              </mc:Choice>
              <mc:Fallback>
                <p:oleObj name="Fotografía de Photo Editor" r:id="rId5" imgW="4038095" imgH="1943371" progId="">
                  <p:embed/>
                  <p:pic>
                    <p:nvPicPr>
                      <p:cNvPr id="1189938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8301" y="2965450"/>
                        <a:ext cx="6124575" cy="294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4F8924-D283-32E0-655F-FAEB0A367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CV02C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9AD626A-2665-A572-E058-C8FF62E0A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12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546106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9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93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981200" y="122238"/>
            <a:ext cx="4038600" cy="495300"/>
          </a:xfrm>
          <a:solidFill>
            <a:srgbClr val="FFFFFF"/>
          </a:solidFill>
          <a:ln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algn="l"/>
            <a:r>
              <a:rPr lang="es-ES_tradnl" sz="2000" b="1" dirty="0">
                <a:solidFill>
                  <a:srgbClr val="99CCFF"/>
                </a:solidFill>
              </a:rPr>
              <a:t>[ 3D </a:t>
            </a:r>
            <a:r>
              <a:rPr lang="es-ES_tradnl" sz="2000" b="1" dirty="0" err="1">
                <a:solidFill>
                  <a:srgbClr val="99CCFF"/>
                </a:solidFill>
              </a:rPr>
              <a:t>Transformation</a:t>
            </a:r>
            <a:r>
              <a:rPr lang="es-ES_tradnl" sz="2000" b="1" dirty="0">
                <a:solidFill>
                  <a:srgbClr val="99CCFF"/>
                </a:solidFill>
              </a:rPr>
              <a:t> ]</a:t>
            </a:r>
            <a:endParaRPr sz="2000" b="1" noProof="1">
              <a:solidFill>
                <a:srgbClr val="99CCFF"/>
              </a:solidFill>
            </a:endParaRPr>
          </a:p>
        </p:txBody>
      </p:sp>
      <p:graphicFrame>
        <p:nvGraphicFramePr>
          <p:cNvPr id="1191941" name="Object 5"/>
          <p:cNvGraphicFramePr>
            <a:graphicFrameLocks noGrp="1" noChangeAspect="1"/>
          </p:cNvGraphicFramePr>
          <p:nvPr>
            <p:ph idx="1"/>
          </p:nvPr>
        </p:nvGraphicFramePr>
        <p:xfrm>
          <a:off x="4122739" y="2560638"/>
          <a:ext cx="3754437" cy="173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tografía de Photo Editor" r:id="rId3" imgW="2219635" imgH="1028844" progId="">
                  <p:embed/>
                </p:oleObj>
              </mc:Choice>
              <mc:Fallback>
                <p:oleObj name="Fotografía de Photo Editor" r:id="rId3" imgW="2219635" imgH="1028844" progId="">
                  <p:embed/>
                  <p:pic>
                    <p:nvPicPr>
                      <p:cNvPr id="1191941" name="Object 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2739" y="2560638"/>
                        <a:ext cx="3754437" cy="173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  <a:ext uri="{FAA26D3D-D897-4be2-8F04-BA451C77F1D7}">
                          <ma14:placeholderFlag xmlns="" xmlns:ma14="http://schemas.microsoft.com/office/mac/drawingml/2011/main" val="1"/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5009E7-9353-4A96-8C34-C30AE05AE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CV02C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CB4D8B8-5BB7-7C95-B4A5-BA87650D1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13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2609708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1D705E8-F7A5-0C41-804E-CE999E4382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3050" y="1777759"/>
            <a:ext cx="6565900" cy="4483100"/>
          </a:xfrm>
          <a:prstGeom prst="rect">
            <a:avLst/>
          </a:prstGeom>
        </p:spPr>
      </p:pic>
      <p:sp>
        <p:nvSpPr>
          <p:cNvPr id="5" name="Freeform 4">
            <a:extLst>
              <a:ext uri="{FF2B5EF4-FFF2-40B4-BE49-F238E27FC236}">
                <a16:creationId xmlns:a16="http://schemas.microsoft.com/office/drawing/2014/main" id="{54B277FD-CFFE-E747-9DE8-51D51906EA1C}"/>
              </a:ext>
            </a:extLst>
          </p:cNvPr>
          <p:cNvSpPr/>
          <p:nvPr/>
        </p:nvSpPr>
        <p:spPr>
          <a:xfrm>
            <a:off x="5628550" y="3231154"/>
            <a:ext cx="1377751" cy="483853"/>
          </a:xfrm>
          <a:custGeom>
            <a:avLst/>
            <a:gdLst>
              <a:gd name="connsiteX0" fmla="*/ 0 w 1377751"/>
              <a:gd name="connsiteY0" fmla="*/ 209123 h 483853"/>
              <a:gd name="connsiteX1" fmla="*/ 783186 w 1377751"/>
              <a:gd name="connsiteY1" fmla="*/ 0 h 483853"/>
              <a:gd name="connsiteX2" fmla="*/ 1377751 w 1377751"/>
              <a:gd name="connsiteY2" fmla="*/ 274730 h 483853"/>
              <a:gd name="connsiteX3" fmla="*/ 602766 w 1377751"/>
              <a:gd name="connsiteY3" fmla="*/ 483853 h 483853"/>
              <a:gd name="connsiteX4" fmla="*/ 0 w 1377751"/>
              <a:gd name="connsiteY4" fmla="*/ 209123 h 483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7751" h="483853">
                <a:moveTo>
                  <a:pt x="0" y="209123"/>
                </a:moveTo>
                <a:lnTo>
                  <a:pt x="783186" y="0"/>
                </a:lnTo>
                <a:lnTo>
                  <a:pt x="1377751" y="274730"/>
                </a:lnTo>
                <a:lnTo>
                  <a:pt x="602766" y="483853"/>
                </a:lnTo>
                <a:lnTo>
                  <a:pt x="0" y="209123"/>
                </a:lnTo>
                <a:close/>
              </a:path>
            </a:pathLst>
          </a:cu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6384A7ED-A640-C94B-AE3A-445B0B63AF6D}"/>
              </a:ext>
            </a:extLst>
          </p:cNvPr>
          <p:cNvSpPr/>
          <p:nvPr/>
        </p:nvSpPr>
        <p:spPr>
          <a:xfrm>
            <a:off x="5636750" y="2870314"/>
            <a:ext cx="1373650" cy="844692"/>
          </a:xfrm>
          <a:custGeom>
            <a:avLst/>
            <a:gdLst>
              <a:gd name="connsiteX0" fmla="*/ 0 w 1373650"/>
              <a:gd name="connsiteY0" fmla="*/ 569962 h 844692"/>
              <a:gd name="connsiteX1" fmla="*/ 684775 w 1373650"/>
              <a:gd name="connsiteY1" fmla="*/ 0 h 844692"/>
              <a:gd name="connsiteX2" fmla="*/ 774985 w 1373650"/>
              <a:gd name="connsiteY2" fmla="*/ 360839 h 844692"/>
              <a:gd name="connsiteX3" fmla="*/ 1373650 w 1373650"/>
              <a:gd name="connsiteY3" fmla="*/ 635569 h 844692"/>
              <a:gd name="connsiteX4" fmla="*/ 684775 w 1373650"/>
              <a:gd name="connsiteY4" fmla="*/ 4100 h 844692"/>
              <a:gd name="connsiteX5" fmla="*/ 594565 w 1373650"/>
              <a:gd name="connsiteY5" fmla="*/ 844692 h 844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73650" h="844692">
                <a:moveTo>
                  <a:pt x="0" y="569962"/>
                </a:moveTo>
                <a:lnTo>
                  <a:pt x="684775" y="0"/>
                </a:lnTo>
                <a:lnTo>
                  <a:pt x="774985" y="360839"/>
                </a:lnTo>
                <a:lnTo>
                  <a:pt x="1373650" y="635569"/>
                </a:lnTo>
                <a:lnTo>
                  <a:pt x="684775" y="4100"/>
                </a:lnTo>
                <a:lnTo>
                  <a:pt x="594565" y="844692"/>
                </a:lnTo>
              </a:path>
            </a:pathLst>
          </a:cu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89B605C8-DE5D-C04B-A4D5-531CABE286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524001" y="76200"/>
            <a:ext cx="4022725" cy="527050"/>
          </a:xfrm>
          <a:solidFill>
            <a:srgbClr val="FFFFFF"/>
          </a:solidFill>
          <a:ln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algn="l"/>
            <a:r>
              <a:rPr lang="es-ES_tradnl" sz="2000" b="1" dirty="0">
                <a:solidFill>
                  <a:srgbClr val="99CCFF"/>
                </a:solidFill>
              </a:rPr>
              <a:t>[ </a:t>
            </a:r>
            <a:r>
              <a:rPr lang="es-ES_tradnl" sz="2000" b="1" dirty="0" err="1">
                <a:solidFill>
                  <a:srgbClr val="99CCFF"/>
                </a:solidFill>
              </a:rPr>
              <a:t>Example</a:t>
            </a:r>
            <a:r>
              <a:rPr lang="es-ES_tradnl" sz="2000" b="1" dirty="0">
                <a:solidFill>
                  <a:srgbClr val="99CCFF"/>
                </a:solidFill>
              </a:rPr>
              <a:t>: </a:t>
            </a:r>
            <a:r>
              <a:rPr lang="es-ES_tradnl" sz="2000" b="1" dirty="0" err="1">
                <a:solidFill>
                  <a:srgbClr val="99CCFF"/>
                </a:solidFill>
              </a:rPr>
              <a:t>Pyramid</a:t>
            </a:r>
            <a:r>
              <a:rPr lang="es-ES_tradnl" sz="2000" b="1" dirty="0">
                <a:solidFill>
                  <a:srgbClr val="99CCFF"/>
                </a:solidFill>
              </a:rPr>
              <a:t> ]</a:t>
            </a:r>
            <a:endParaRPr sz="2000" b="1" noProof="1">
              <a:solidFill>
                <a:srgbClr val="99CCFF"/>
              </a:solidFill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8CE768-3D37-1FFA-B058-4A5C3C180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CV02C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F036B8E-83A4-F30A-9E4E-0C0B86C6C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14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581299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yramid.mov" descr="pyramid.mov">
            <a:hlinkClick r:id="" action="ppaction://media"/>
            <a:extLst>
              <a:ext uri="{FF2B5EF4-FFF2-40B4-BE49-F238E27FC236}">
                <a16:creationId xmlns:a16="http://schemas.microsoft.com/office/drawing/2014/main" id="{3FC3617B-AC3F-3749-AAF5-FBBFB8A0DD9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524000" y="1533525"/>
            <a:ext cx="9144000" cy="379095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10FB7A-0FBE-A44B-C4BF-49EBF51F6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CV02C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EB1217-8D13-2778-6D23-C2A9391D2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15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526980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326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FB30A-275D-30AF-F0A5-861333E3C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E2C52-7A4B-3652-654B-71D55CF37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CL" sz="4800" dirty="0">
                <a:latin typeface="Gill Sans MT" panose="020B0502020104020203" pitchFamily="34" charset="77"/>
                <a:cs typeface="Consolas" panose="020B0609020204030204" pitchFamily="49" charset="0"/>
              </a:rPr>
              <a:t>Transformaciones 3D &gt; 2D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3BAD83-6FEF-1AE6-EE87-49DD687ED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CV02C</a:t>
            </a:r>
            <a:endParaRPr lang="en-CL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A51EC3D-2816-25EE-9FEE-EAA1CB372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16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3956129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65000"/>
            <a:lumOff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7612064" y="1141413"/>
            <a:ext cx="2117725" cy="4900612"/>
            <a:chOff x="3835" y="543"/>
            <a:chExt cx="1334" cy="3087"/>
          </a:xfrm>
        </p:grpSpPr>
        <p:sp>
          <p:nvSpPr>
            <p:cNvPr id="17478" name="Line 3"/>
            <p:cNvSpPr>
              <a:spLocks noChangeShapeType="1"/>
            </p:cNvSpPr>
            <p:nvPr/>
          </p:nvSpPr>
          <p:spPr bwMode="auto">
            <a:xfrm flipH="1" flipV="1">
              <a:off x="4898" y="543"/>
              <a:ext cx="6" cy="1853"/>
            </a:xfrm>
            <a:prstGeom prst="line">
              <a:avLst/>
            </a:prstGeom>
            <a:noFill/>
            <a:ln w="19050">
              <a:solidFill>
                <a:srgbClr val="FFCC66"/>
              </a:solidFill>
              <a:round/>
              <a:headEnd/>
              <a:tailEnd type="triangle" w="med" len="med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  <p:sp>
          <p:nvSpPr>
            <p:cNvPr id="17479" name="Line 4"/>
            <p:cNvSpPr>
              <a:spLocks noChangeShapeType="1"/>
            </p:cNvSpPr>
            <p:nvPr/>
          </p:nvSpPr>
          <p:spPr bwMode="auto">
            <a:xfrm flipH="1">
              <a:off x="3848" y="2412"/>
              <a:ext cx="1042" cy="1012"/>
            </a:xfrm>
            <a:prstGeom prst="line">
              <a:avLst/>
            </a:prstGeom>
            <a:noFill/>
            <a:ln w="28575">
              <a:solidFill>
                <a:srgbClr val="FFCC66"/>
              </a:solidFill>
              <a:round/>
              <a:headEnd/>
              <a:tailEnd type="triangle" w="med" len="med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  <p:sp>
          <p:nvSpPr>
            <p:cNvPr id="17480" name="Text Box 5"/>
            <p:cNvSpPr txBox="1">
              <a:spLocks noChangeArrowheads="1"/>
            </p:cNvSpPr>
            <p:nvPr/>
          </p:nvSpPr>
          <p:spPr bwMode="auto">
            <a:xfrm>
              <a:off x="3835" y="3380"/>
              <a:ext cx="250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s-ES_tradnl" sz="2000" i="1">
                  <a:solidFill>
                    <a:srgbClr val="FFFF00"/>
                  </a:solidFill>
                  <a:latin typeface="Times New Roman" charset="0"/>
                </a:rPr>
                <a:t>y</a:t>
              </a:r>
            </a:p>
          </p:txBody>
        </p:sp>
        <p:sp>
          <p:nvSpPr>
            <p:cNvPr id="17481" name="Text Box 6"/>
            <p:cNvSpPr txBox="1">
              <a:spLocks noChangeArrowheads="1"/>
            </p:cNvSpPr>
            <p:nvPr/>
          </p:nvSpPr>
          <p:spPr bwMode="auto">
            <a:xfrm>
              <a:off x="4919" y="575"/>
              <a:ext cx="250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s-ES_tradnl" sz="2000" i="1">
                  <a:solidFill>
                    <a:srgbClr val="FFFF00"/>
                  </a:solidFill>
                  <a:latin typeface="Times New Roman" charset="0"/>
                </a:rPr>
                <a:t>x</a:t>
              </a:r>
            </a:p>
          </p:txBody>
        </p:sp>
      </p:grpSp>
      <p:sp>
        <p:nvSpPr>
          <p:cNvPr id="1097735" name="Line 7"/>
          <p:cNvSpPr>
            <a:spLocks noChangeShapeType="1"/>
          </p:cNvSpPr>
          <p:nvPr/>
        </p:nvSpPr>
        <p:spPr bwMode="auto">
          <a:xfrm flipV="1">
            <a:off x="3457575" y="3222626"/>
            <a:ext cx="4781550" cy="866775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97736" name="AutoShape 8"/>
          <p:cNvSpPr>
            <a:spLocks noChangeArrowheads="1"/>
          </p:cNvSpPr>
          <p:nvPr/>
        </p:nvSpPr>
        <p:spPr bwMode="auto">
          <a:xfrm rot="5400000" flipH="1">
            <a:off x="7270750" y="3130550"/>
            <a:ext cx="2971800" cy="1079500"/>
          </a:xfrm>
          <a:prstGeom prst="parallelogram">
            <a:avLst>
              <a:gd name="adj" fmla="val 97054"/>
            </a:avLst>
          </a:prstGeom>
          <a:noFill/>
          <a:ln w="9525">
            <a:solidFill>
              <a:srgbClr val="FFFF00"/>
            </a:solidFill>
            <a:prstDash val="dash"/>
            <a:miter lim="800000"/>
            <a:headEnd/>
            <a:tailEnd/>
          </a:ln>
        </p:spPr>
        <p:txBody>
          <a:bodyPr rot="10800000" vert="eaVert" wrap="none" anchor="ctr">
            <a:prstTxWarp prst="textNoShape">
              <a:avLst/>
            </a:prstTxWarp>
          </a:bodyPr>
          <a:lstStyle/>
          <a:p>
            <a:pPr algn="ctr" eaLnBrk="0" hangingPunct="0"/>
            <a:endParaRPr lang="es-ES" sz="2400" dirty="0">
              <a:latin typeface="Gill Sans MT" panose="020B0502020104020203" pitchFamily="34" charset="77"/>
            </a:endParaRPr>
          </a:p>
        </p:txBody>
      </p:sp>
      <p:sp>
        <p:nvSpPr>
          <p:cNvPr id="1097739" name="Line 11"/>
          <p:cNvSpPr>
            <a:spLocks noChangeShapeType="1"/>
          </p:cNvSpPr>
          <p:nvPr/>
        </p:nvSpPr>
        <p:spPr bwMode="auto">
          <a:xfrm>
            <a:off x="3448051" y="2032000"/>
            <a:ext cx="5865813" cy="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 type="triangle" w="med" len="med"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grpSp>
        <p:nvGrpSpPr>
          <p:cNvPr id="3" name="Group 12"/>
          <p:cNvGrpSpPr>
            <a:grpSpLocks/>
          </p:cNvGrpSpPr>
          <p:nvPr/>
        </p:nvGrpSpPr>
        <p:grpSpPr bwMode="auto">
          <a:xfrm>
            <a:off x="1755775" y="1517650"/>
            <a:ext cx="8707438" cy="3716338"/>
            <a:chOff x="146" y="780"/>
            <a:chExt cx="5485" cy="2341"/>
          </a:xfrm>
        </p:grpSpPr>
        <p:sp>
          <p:nvSpPr>
            <p:cNvPr id="17472" name="Line 13"/>
            <p:cNvSpPr>
              <a:spLocks noChangeShapeType="1"/>
            </p:cNvSpPr>
            <p:nvPr/>
          </p:nvSpPr>
          <p:spPr bwMode="auto">
            <a:xfrm flipV="1">
              <a:off x="1212" y="912"/>
              <a:ext cx="0" cy="1584"/>
            </a:xfrm>
            <a:prstGeom prst="line">
              <a:avLst/>
            </a:prstGeom>
            <a:noFill/>
            <a:ln w="9525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  <p:sp>
          <p:nvSpPr>
            <p:cNvPr id="17473" name="Line 14"/>
            <p:cNvSpPr>
              <a:spLocks noChangeShapeType="1"/>
            </p:cNvSpPr>
            <p:nvPr/>
          </p:nvSpPr>
          <p:spPr bwMode="auto">
            <a:xfrm>
              <a:off x="1116" y="2400"/>
              <a:ext cx="4452" cy="0"/>
            </a:xfrm>
            <a:prstGeom prst="line">
              <a:avLst/>
            </a:prstGeom>
            <a:noFill/>
            <a:ln w="9525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  <p:sp>
          <p:nvSpPr>
            <p:cNvPr id="17474" name="Line 15"/>
            <p:cNvSpPr>
              <a:spLocks noChangeShapeType="1"/>
            </p:cNvSpPr>
            <p:nvPr/>
          </p:nvSpPr>
          <p:spPr bwMode="auto">
            <a:xfrm flipH="1">
              <a:off x="668" y="2244"/>
              <a:ext cx="700" cy="712"/>
            </a:xfrm>
            <a:prstGeom prst="line">
              <a:avLst/>
            </a:prstGeom>
            <a:noFill/>
            <a:ln w="9525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  <p:sp>
          <p:nvSpPr>
            <p:cNvPr id="17475" name="Text Box 16"/>
            <p:cNvSpPr txBox="1">
              <a:spLocks noChangeArrowheads="1"/>
            </p:cNvSpPr>
            <p:nvPr/>
          </p:nvSpPr>
          <p:spPr bwMode="auto">
            <a:xfrm>
              <a:off x="146" y="2871"/>
              <a:ext cx="250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s-ES_tradnl" sz="2000" i="1">
                  <a:solidFill>
                    <a:srgbClr val="FFFF00"/>
                  </a:solidFill>
                  <a:latin typeface="Times New Roman" charset="0"/>
                </a:rPr>
                <a:t>Y</a:t>
              </a:r>
            </a:p>
          </p:txBody>
        </p:sp>
        <p:sp>
          <p:nvSpPr>
            <p:cNvPr id="17476" name="Text Box 17"/>
            <p:cNvSpPr txBox="1">
              <a:spLocks noChangeArrowheads="1"/>
            </p:cNvSpPr>
            <p:nvPr/>
          </p:nvSpPr>
          <p:spPr bwMode="auto">
            <a:xfrm>
              <a:off x="1227" y="780"/>
              <a:ext cx="250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s-ES_tradnl" sz="2000" i="1">
                  <a:solidFill>
                    <a:srgbClr val="FFFF00"/>
                  </a:solidFill>
                  <a:latin typeface="Times New Roman" charset="0"/>
                </a:rPr>
                <a:t>X</a:t>
              </a:r>
            </a:p>
          </p:txBody>
        </p:sp>
        <p:sp>
          <p:nvSpPr>
            <p:cNvPr id="17477" name="Text Box 18"/>
            <p:cNvSpPr txBox="1">
              <a:spLocks noChangeArrowheads="1"/>
            </p:cNvSpPr>
            <p:nvPr/>
          </p:nvSpPr>
          <p:spPr bwMode="auto">
            <a:xfrm>
              <a:off x="5381" y="2153"/>
              <a:ext cx="250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s-ES_tradnl" sz="2000" i="1">
                  <a:solidFill>
                    <a:srgbClr val="FFFF00"/>
                  </a:solidFill>
                  <a:latin typeface="Times New Roman" charset="0"/>
                </a:rPr>
                <a:t>Z</a:t>
              </a:r>
            </a:p>
          </p:txBody>
        </p:sp>
      </p:grpSp>
      <p:sp>
        <p:nvSpPr>
          <p:cNvPr id="1097747" name="Text Box 19"/>
          <p:cNvSpPr txBox="1">
            <a:spLocks noChangeArrowheads="1"/>
          </p:cNvSpPr>
          <p:nvPr/>
        </p:nvSpPr>
        <p:spPr bwMode="auto">
          <a:xfrm>
            <a:off x="8288339" y="3128964"/>
            <a:ext cx="8540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sz="2000" i="1">
                <a:solidFill>
                  <a:srgbClr val="FFFF00"/>
                </a:solidFill>
                <a:latin typeface="Times New Roman" charset="0"/>
              </a:rPr>
              <a:t>(x,y)</a:t>
            </a:r>
          </a:p>
        </p:txBody>
      </p:sp>
      <p:sp>
        <p:nvSpPr>
          <p:cNvPr id="1097748" name="Text Box 20"/>
          <p:cNvSpPr txBox="1">
            <a:spLocks noChangeArrowheads="1"/>
          </p:cNvSpPr>
          <p:nvPr/>
        </p:nvSpPr>
        <p:spPr bwMode="auto">
          <a:xfrm>
            <a:off x="6088063" y="1641476"/>
            <a:ext cx="2540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sz="2000" i="1">
                <a:solidFill>
                  <a:srgbClr val="FFFF00"/>
                </a:solidFill>
                <a:latin typeface="Times New Roman" charset="0"/>
              </a:rPr>
              <a:t>f</a:t>
            </a:r>
          </a:p>
        </p:txBody>
      </p:sp>
      <p:sp>
        <p:nvSpPr>
          <p:cNvPr id="1097749" name="Text Box 21"/>
          <p:cNvSpPr txBox="1">
            <a:spLocks noChangeArrowheads="1"/>
          </p:cNvSpPr>
          <p:nvPr/>
        </p:nvSpPr>
        <p:spPr bwMode="auto">
          <a:xfrm>
            <a:off x="4940301" y="3344864"/>
            <a:ext cx="4095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sz="2000" i="1">
                <a:solidFill>
                  <a:srgbClr val="FFFF00"/>
                </a:solidFill>
                <a:latin typeface="Times New Roman" charset="0"/>
              </a:rPr>
              <a:t>M</a:t>
            </a:r>
          </a:p>
        </p:txBody>
      </p:sp>
      <p:sp>
        <p:nvSpPr>
          <p:cNvPr id="1097750" name="AutoShape 22"/>
          <p:cNvSpPr>
            <a:spLocks noChangeArrowheads="1"/>
          </p:cNvSpPr>
          <p:nvPr/>
        </p:nvSpPr>
        <p:spPr bwMode="auto">
          <a:xfrm rot="5400000" flipH="1">
            <a:off x="6578600" y="2806700"/>
            <a:ext cx="3975100" cy="1460500"/>
          </a:xfrm>
          <a:prstGeom prst="parallelogram">
            <a:avLst>
              <a:gd name="adj" fmla="val 95954"/>
            </a:avLst>
          </a:prstGeom>
          <a:noFill/>
          <a:ln w="28575">
            <a:solidFill>
              <a:srgbClr val="FFCC66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4" name="Group 23"/>
          <p:cNvGrpSpPr>
            <a:grpSpLocks/>
          </p:cNvGrpSpPr>
          <p:nvPr/>
        </p:nvGrpSpPr>
        <p:grpSpPr bwMode="auto">
          <a:xfrm>
            <a:off x="2930526" y="3219450"/>
            <a:ext cx="2955925" cy="1397000"/>
            <a:chOff x="886" y="1852"/>
            <a:chExt cx="1862" cy="880"/>
          </a:xfrm>
        </p:grpSpPr>
        <p:sp>
          <p:nvSpPr>
            <p:cNvPr id="17462" name="Line 24"/>
            <p:cNvSpPr>
              <a:spLocks noChangeShapeType="1"/>
            </p:cNvSpPr>
            <p:nvPr/>
          </p:nvSpPr>
          <p:spPr bwMode="auto">
            <a:xfrm>
              <a:off x="886" y="2186"/>
              <a:ext cx="0" cy="546"/>
            </a:xfrm>
            <a:prstGeom prst="line">
              <a:avLst/>
            </a:prstGeom>
            <a:noFill/>
            <a:ln w="3175">
              <a:solidFill>
                <a:srgbClr val="FFCC66"/>
              </a:solidFill>
              <a:prstDash val="dash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  <p:grpSp>
          <p:nvGrpSpPr>
            <p:cNvPr id="17463" name="Group 25"/>
            <p:cNvGrpSpPr>
              <a:grpSpLocks/>
            </p:cNvGrpSpPr>
            <p:nvPr/>
          </p:nvGrpSpPr>
          <p:grpSpPr bwMode="auto">
            <a:xfrm>
              <a:off x="886" y="1852"/>
              <a:ext cx="1862" cy="876"/>
              <a:chOff x="886" y="1852"/>
              <a:chExt cx="1862" cy="876"/>
            </a:xfrm>
          </p:grpSpPr>
          <p:sp>
            <p:nvSpPr>
              <p:cNvPr id="17464" name="Line 26"/>
              <p:cNvSpPr>
                <a:spLocks noChangeShapeType="1"/>
              </p:cNvSpPr>
              <p:nvPr/>
            </p:nvSpPr>
            <p:spPr bwMode="auto">
              <a:xfrm>
                <a:off x="1208" y="1852"/>
                <a:ext cx="1537" cy="0"/>
              </a:xfrm>
              <a:prstGeom prst="line">
                <a:avLst/>
              </a:prstGeom>
              <a:noFill/>
              <a:ln w="3175">
                <a:solidFill>
                  <a:srgbClr val="FFCC66"/>
                </a:solidFill>
                <a:prstDash val="dash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s-ES_tradnl" dirty="0">
                  <a:latin typeface="Gill Sans MT" panose="020B0502020104020203" pitchFamily="34" charset="77"/>
                </a:endParaRPr>
              </a:p>
            </p:txBody>
          </p:sp>
          <p:sp>
            <p:nvSpPr>
              <p:cNvPr id="17465" name="Line 27"/>
              <p:cNvSpPr>
                <a:spLocks noChangeShapeType="1"/>
              </p:cNvSpPr>
              <p:nvPr/>
            </p:nvSpPr>
            <p:spPr bwMode="auto">
              <a:xfrm flipH="1">
                <a:off x="2427" y="1854"/>
                <a:ext cx="321" cy="327"/>
              </a:xfrm>
              <a:prstGeom prst="line">
                <a:avLst/>
              </a:prstGeom>
              <a:noFill/>
              <a:ln w="3175">
                <a:solidFill>
                  <a:srgbClr val="FFCC66"/>
                </a:solidFill>
                <a:prstDash val="dash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s-ES_tradnl" dirty="0">
                  <a:latin typeface="Gill Sans MT" panose="020B0502020104020203" pitchFamily="34" charset="77"/>
                </a:endParaRPr>
              </a:p>
            </p:txBody>
          </p:sp>
          <p:sp>
            <p:nvSpPr>
              <p:cNvPr id="17466" name="Line 28"/>
              <p:cNvSpPr>
                <a:spLocks noChangeShapeType="1"/>
              </p:cNvSpPr>
              <p:nvPr/>
            </p:nvSpPr>
            <p:spPr bwMode="auto">
              <a:xfrm>
                <a:off x="2748" y="1854"/>
                <a:ext cx="0" cy="546"/>
              </a:xfrm>
              <a:prstGeom prst="line">
                <a:avLst/>
              </a:prstGeom>
              <a:noFill/>
              <a:ln w="3175">
                <a:solidFill>
                  <a:srgbClr val="FFCC66"/>
                </a:solidFill>
                <a:prstDash val="dash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s-ES_tradnl" dirty="0">
                  <a:latin typeface="Gill Sans MT" panose="020B0502020104020203" pitchFamily="34" charset="77"/>
                </a:endParaRPr>
              </a:p>
            </p:txBody>
          </p:sp>
          <p:sp>
            <p:nvSpPr>
              <p:cNvPr id="17467" name="Line 29"/>
              <p:cNvSpPr>
                <a:spLocks noChangeShapeType="1"/>
              </p:cNvSpPr>
              <p:nvPr/>
            </p:nvSpPr>
            <p:spPr bwMode="auto">
              <a:xfrm>
                <a:off x="2426" y="2182"/>
                <a:ext cx="0" cy="546"/>
              </a:xfrm>
              <a:prstGeom prst="line">
                <a:avLst/>
              </a:prstGeom>
              <a:noFill/>
              <a:ln w="3175">
                <a:solidFill>
                  <a:srgbClr val="FFCC66"/>
                </a:solidFill>
                <a:prstDash val="dash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s-ES_tradnl" dirty="0">
                  <a:latin typeface="Gill Sans MT" panose="020B0502020104020203" pitchFamily="34" charset="77"/>
                </a:endParaRPr>
              </a:p>
            </p:txBody>
          </p:sp>
          <p:sp>
            <p:nvSpPr>
              <p:cNvPr id="17468" name="Line 30"/>
              <p:cNvSpPr>
                <a:spLocks noChangeShapeType="1"/>
              </p:cNvSpPr>
              <p:nvPr/>
            </p:nvSpPr>
            <p:spPr bwMode="auto">
              <a:xfrm flipH="1">
                <a:off x="2427" y="2400"/>
                <a:ext cx="321" cy="327"/>
              </a:xfrm>
              <a:prstGeom prst="line">
                <a:avLst/>
              </a:prstGeom>
              <a:noFill/>
              <a:ln w="3175">
                <a:solidFill>
                  <a:srgbClr val="FFCC66"/>
                </a:solidFill>
                <a:prstDash val="dash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s-ES_tradnl" dirty="0">
                  <a:latin typeface="Gill Sans MT" panose="020B0502020104020203" pitchFamily="34" charset="77"/>
                </a:endParaRPr>
              </a:p>
            </p:txBody>
          </p:sp>
          <p:sp>
            <p:nvSpPr>
              <p:cNvPr id="17469" name="Line 31"/>
              <p:cNvSpPr>
                <a:spLocks noChangeShapeType="1"/>
              </p:cNvSpPr>
              <p:nvPr/>
            </p:nvSpPr>
            <p:spPr bwMode="auto">
              <a:xfrm flipH="1">
                <a:off x="887" y="1854"/>
                <a:ext cx="321" cy="327"/>
              </a:xfrm>
              <a:prstGeom prst="line">
                <a:avLst/>
              </a:prstGeom>
              <a:noFill/>
              <a:ln w="3175">
                <a:solidFill>
                  <a:srgbClr val="FFCC66"/>
                </a:solidFill>
                <a:prstDash val="dash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s-ES_tradnl" dirty="0">
                  <a:latin typeface="Gill Sans MT" panose="020B0502020104020203" pitchFamily="34" charset="77"/>
                </a:endParaRPr>
              </a:p>
            </p:txBody>
          </p:sp>
          <p:sp>
            <p:nvSpPr>
              <p:cNvPr id="17470" name="Line 32"/>
              <p:cNvSpPr>
                <a:spLocks noChangeShapeType="1"/>
              </p:cNvSpPr>
              <p:nvPr/>
            </p:nvSpPr>
            <p:spPr bwMode="auto">
              <a:xfrm>
                <a:off x="886" y="2180"/>
                <a:ext cx="1537" cy="0"/>
              </a:xfrm>
              <a:prstGeom prst="line">
                <a:avLst/>
              </a:prstGeom>
              <a:noFill/>
              <a:ln w="3175">
                <a:solidFill>
                  <a:srgbClr val="FFCC66"/>
                </a:solidFill>
                <a:prstDash val="dash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s-ES_tradnl" dirty="0">
                  <a:latin typeface="Gill Sans MT" panose="020B0502020104020203" pitchFamily="34" charset="77"/>
                </a:endParaRPr>
              </a:p>
            </p:txBody>
          </p:sp>
          <p:sp>
            <p:nvSpPr>
              <p:cNvPr id="17471" name="Line 33"/>
              <p:cNvSpPr>
                <a:spLocks noChangeShapeType="1"/>
              </p:cNvSpPr>
              <p:nvPr/>
            </p:nvSpPr>
            <p:spPr bwMode="auto">
              <a:xfrm>
                <a:off x="888" y="2728"/>
                <a:ext cx="1537" cy="0"/>
              </a:xfrm>
              <a:prstGeom prst="line">
                <a:avLst/>
              </a:prstGeom>
              <a:noFill/>
              <a:ln w="3175">
                <a:solidFill>
                  <a:srgbClr val="FFCC66"/>
                </a:solidFill>
                <a:prstDash val="dash"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s-ES_tradnl" dirty="0">
                  <a:latin typeface="Gill Sans MT" panose="020B0502020104020203" pitchFamily="34" charset="77"/>
                </a:endParaRPr>
              </a:p>
            </p:txBody>
          </p:sp>
        </p:grpSp>
      </p:grpSp>
      <p:sp>
        <p:nvSpPr>
          <p:cNvPr id="1097762" name="Text Box 34"/>
          <p:cNvSpPr txBox="1">
            <a:spLocks noChangeArrowheads="1"/>
          </p:cNvSpPr>
          <p:nvPr/>
        </p:nvSpPr>
        <p:spPr bwMode="auto">
          <a:xfrm>
            <a:off x="4381501" y="4119564"/>
            <a:ext cx="9556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sz="2000" i="1">
                <a:solidFill>
                  <a:srgbClr val="FFFF00"/>
                </a:solidFill>
                <a:latin typeface="Times New Roman" charset="0"/>
              </a:rPr>
              <a:t>(X,Y,Z)</a:t>
            </a:r>
          </a:p>
        </p:txBody>
      </p:sp>
      <p:grpSp>
        <p:nvGrpSpPr>
          <p:cNvPr id="6" name="Group 35"/>
          <p:cNvGrpSpPr>
            <a:grpSpLocks/>
          </p:cNvGrpSpPr>
          <p:nvPr/>
        </p:nvGrpSpPr>
        <p:grpSpPr bwMode="auto">
          <a:xfrm>
            <a:off x="3400425" y="4048126"/>
            <a:ext cx="400050" cy="479425"/>
            <a:chOff x="1182" y="2374"/>
            <a:chExt cx="252" cy="302"/>
          </a:xfrm>
        </p:grpSpPr>
        <p:sp>
          <p:nvSpPr>
            <p:cNvPr id="17460" name="Oval 36"/>
            <p:cNvSpPr>
              <a:spLocks noChangeArrowheads="1"/>
            </p:cNvSpPr>
            <p:nvPr/>
          </p:nvSpPr>
          <p:spPr bwMode="auto">
            <a:xfrm>
              <a:off x="1182" y="2374"/>
              <a:ext cx="56" cy="5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17461" name="Text Box 37"/>
            <p:cNvSpPr txBox="1">
              <a:spLocks noChangeArrowheads="1"/>
            </p:cNvSpPr>
            <p:nvPr/>
          </p:nvSpPr>
          <p:spPr bwMode="auto">
            <a:xfrm>
              <a:off x="1184" y="2426"/>
              <a:ext cx="250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s-ES_tradnl" sz="2000" i="1">
                  <a:solidFill>
                    <a:srgbClr val="FFFF00"/>
                  </a:solidFill>
                  <a:latin typeface="Times New Roman" charset="0"/>
                </a:rPr>
                <a:t>C</a:t>
              </a:r>
            </a:p>
          </p:txBody>
        </p:sp>
      </p:grpSp>
      <p:grpSp>
        <p:nvGrpSpPr>
          <p:cNvPr id="7" name="Group 38"/>
          <p:cNvGrpSpPr>
            <a:grpSpLocks/>
          </p:cNvGrpSpPr>
          <p:nvPr/>
        </p:nvGrpSpPr>
        <p:grpSpPr bwMode="auto">
          <a:xfrm>
            <a:off x="3448051" y="2032000"/>
            <a:ext cx="5819775" cy="1181100"/>
            <a:chOff x="1212" y="1104"/>
            <a:chExt cx="3666" cy="744"/>
          </a:xfrm>
        </p:grpSpPr>
        <p:sp>
          <p:nvSpPr>
            <p:cNvPr id="17457" name="Text Box 39"/>
            <p:cNvSpPr txBox="1">
              <a:spLocks noChangeArrowheads="1"/>
            </p:cNvSpPr>
            <p:nvPr/>
          </p:nvSpPr>
          <p:spPr bwMode="auto">
            <a:xfrm>
              <a:off x="1869" y="1549"/>
              <a:ext cx="250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s-ES_tradnl" sz="2000" i="1">
                  <a:solidFill>
                    <a:srgbClr val="FFFF00"/>
                  </a:solidFill>
                  <a:latin typeface="Times New Roman" charset="0"/>
                </a:rPr>
                <a:t>Z</a:t>
              </a:r>
            </a:p>
          </p:txBody>
        </p:sp>
        <p:sp>
          <p:nvSpPr>
            <p:cNvPr id="17458" name="Line 40"/>
            <p:cNvSpPr>
              <a:spLocks noChangeShapeType="1"/>
            </p:cNvSpPr>
            <p:nvPr/>
          </p:nvSpPr>
          <p:spPr bwMode="auto">
            <a:xfrm>
              <a:off x="1212" y="1848"/>
              <a:ext cx="153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  <p:sp>
          <p:nvSpPr>
            <p:cNvPr id="17459" name="Line 41"/>
            <p:cNvSpPr>
              <a:spLocks noChangeShapeType="1"/>
            </p:cNvSpPr>
            <p:nvPr/>
          </p:nvSpPr>
          <p:spPr bwMode="auto">
            <a:xfrm>
              <a:off x="1224" y="1104"/>
              <a:ext cx="3654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8" name="Group 42"/>
          <p:cNvGrpSpPr>
            <a:grpSpLocks/>
          </p:cNvGrpSpPr>
          <p:nvPr/>
        </p:nvGrpSpPr>
        <p:grpSpPr bwMode="auto">
          <a:xfrm>
            <a:off x="4400550" y="5033963"/>
            <a:ext cx="400050" cy="787400"/>
            <a:chOff x="1812" y="2995"/>
            <a:chExt cx="252" cy="496"/>
          </a:xfrm>
        </p:grpSpPr>
        <p:sp>
          <p:nvSpPr>
            <p:cNvPr id="17454" name="Rectangle 43"/>
            <p:cNvSpPr>
              <a:spLocks noChangeArrowheads="1"/>
            </p:cNvSpPr>
            <p:nvPr/>
          </p:nvSpPr>
          <p:spPr bwMode="auto">
            <a:xfrm>
              <a:off x="1848" y="2995"/>
              <a:ext cx="205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s-ES_tradnl" sz="2000" i="1">
                  <a:solidFill>
                    <a:srgbClr val="FF0000"/>
                  </a:solidFill>
                  <a:latin typeface="Times New Roman" charset="0"/>
                </a:rPr>
                <a:t>Z</a:t>
              </a:r>
              <a:endParaRPr lang="es-ES" sz="2000" i="1">
                <a:solidFill>
                  <a:srgbClr val="FF0000"/>
                </a:solidFill>
                <a:latin typeface="Times New Roman" charset="0"/>
              </a:endParaRPr>
            </a:p>
          </p:txBody>
        </p:sp>
        <p:sp>
          <p:nvSpPr>
            <p:cNvPr id="17455" name="Rectangle 44"/>
            <p:cNvSpPr>
              <a:spLocks noChangeArrowheads="1"/>
            </p:cNvSpPr>
            <p:nvPr/>
          </p:nvSpPr>
          <p:spPr bwMode="auto">
            <a:xfrm>
              <a:off x="1836" y="3241"/>
              <a:ext cx="22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s-ES_tradnl" sz="2000" i="1">
                  <a:solidFill>
                    <a:srgbClr val="FF0000"/>
                  </a:solidFill>
                  <a:latin typeface="Times New Roman" charset="0"/>
                </a:rPr>
                <a:t>f</a:t>
              </a:r>
              <a:endParaRPr lang="es-ES" sz="2000" i="1">
                <a:solidFill>
                  <a:srgbClr val="FF0000"/>
                </a:solidFill>
                <a:latin typeface="Times New Roman" charset="0"/>
              </a:endParaRPr>
            </a:p>
          </p:txBody>
        </p:sp>
        <p:sp>
          <p:nvSpPr>
            <p:cNvPr id="17456" name="Line 45"/>
            <p:cNvSpPr>
              <a:spLocks noChangeShapeType="1"/>
            </p:cNvSpPr>
            <p:nvPr/>
          </p:nvSpPr>
          <p:spPr bwMode="auto">
            <a:xfrm>
              <a:off x="1812" y="3252"/>
              <a:ext cx="252" cy="0"/>
            </a:xfrm>
            <a:prstGeom prst="line">
              <a:avLst/>
            </a:prstGeom>
            <a:noFill/>
            <a:ln w="9525">
              <a:solidFill>
                <a:srgbClr val="FFFF00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9" name="Group 46"/>
          <p:cNvGrpSpPr>
            <a:grpSpLocks/>
          </p:cNvGrpSpPr>
          <p:nvPr/>
        </p:nvGrpSpPr>
        <p:grpSpPr bwMode="auto">
          <a:xfrm>
            <a:off x="4943475" y="2203451"/>
            <a:ext cx="4324350" cy="3617913"/>
            <a:chOff x="2154" y="1212"/>
            <a:chExt cx="2724" cy="2279"/>
          </a:xfrm>
        </p:grpSpPr>
        <p:grpSp>
          <p:nvGrpSpPr>
            <p:cNvPr id="17442" name="Group 47"/>
            <p:cNvGrpSpPr>
              <a:grpSpLocks/>
            </p:cNvGrpSpPr>
            <p:nvPr/>
          </p:nvGrpSpPr>
          <p:grpSpPr bwMode="auto">
            <a:xfrm>
              <a:off x="2418" y="1212"/>
              <a:ext cx="2460" cy="966"/>
              <a:chOff x="2418" y="1212"/>
              <a:chExt cx="2460" cy="966"/>
            </a:xfrm>
          </p:grpSpPr>
          <p:sp>
            <p:nvSpPr>
              <p:cNvPr id="17450" name="Line 48"/>
              <p:cNvSpPr>
                <a:spLocks noChangeShapeType="1"/>
              </p:cNvSpPr>
              <p:nvPr/>
            </p:nvSpPr>
            <p:spPr bwMode="auto">
              <a:xfrm flipH="1">
                <a:off x="2436" y="1860"/>
                <a:ext cx="318" cy="318"/>
              </a:xfrm>
              <a:prstGeom prst="line">
                <a:avLst/>
              </a:prstGeom>
              <a:noFill/>
              <a:ln w="38100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s-ES_tradnl" dirty="0">
                  <a:latin typeface="Gill Sans MT" panose="020B0502020104020203" pitchFamily="34" charset="77"/>
                </a:endParaRPr>
              </a:p>
            </p:txBody>
          </p:sp>
          <p:sp>
            <p:nvSpPr>
              <p:cNvPr id="17451" name="Line 49"/>
              <p:cNvSpPr>
                <a:spLocks noChangeShapeType="1"/>
              </p:cNvSpPr>
              <p:nvPr/>
            </p:nvSpPr>
            <p:spPr bwMode="auto">
              <a:xfrm flipH="1">
                <a:off x="4218" y="1212"/>
                <a:ext cx="660" cy="654"/>
              </a:xfrm>
              <a:prstGeom prst="line">
                <a:avLst/>
              </a:prstGeom>
              <a:noFill/>
              <a:ln w="38100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s-ES_tradnl" dirty="0">
                  <a:latin typeface="Gill Sans MT" panose="020B0502020104020203" pitchFamily="34" charset="77"/>
                </a:endParaRPr>
              </a:p>
            </p:txBody>
          </p:sp>
          <p:sp>
            <p:nvSpPr>
              <p:cNvPr id="17452" name="Rectangle 50"/>
              <p:cNvSpPr>
                <a:spLocks noChangeArrowheads="1"/>
              </p:cNvSpPr>
              <p:nvPr/>
            </p:nvSpPr>
            <p:spPr bwMode="auto">
              <a:xfrm>
                <a:off x="2418" y="1843"/>
                <a:ext cx="205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pPr eaLnBrk="0" hangingPunct="0"/>
                <a:r>
                  <a:rPr lang="es-ES_tradnl" sz="2000" i="1">
                    <a:solidFill>
                      <a:srgbClr val="FFFF00"/>
                    </a:solidFill>
                    <a:latin typeface="Times New Roman" charset="0"/>
                  </a:rPr>
                  <a:t>Y</a:t>
                </a:r>
                <a:endParaRPr lang="es-ES" sz="2000" i="1">
                  <a:solidFill>
                    <a:srgbClr val="FFFF00"/>
                  </a:solidFill>
                  <a:latin typeface="Times New Roman" charset="0"/>
                </a:endParaRPr>
              </a:p>
            </p:txBody>
          </p:sp>
          <p:sp>
            <p:nvSpPr>
              <p:cNvPr id="17453" name="Rectangle 51"/>
              <p:cNvSpPr>
                <a:spLocks noChangeArrowheads="1"/>
              </p:cNvSpPr>
              <p:nvPr/>
            </p:nvSpPr>
            <p:spPr bwMode="auto">
              <a:xfrm>
                <a:off x="4446" y="1321"/>
                <a:ext cx="187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pPr eaLnBrk="0" hangingPunct="0"/>
                <a:r>
                  <a:rPr lang="es-ES_tradnl" sz="2000" i="1">
                    <a:solidFill>
                      <a:srgbClr val="FFFF00"/>
                    </a:solidFill>
                    <a:latin typeface="Times New Roman" charset="0"/>
                  </a:rPr>
                  <a:t>y</a:t>
                </a:r>
                <a:endParaRPr lang="es-ES" sz="2000" i="1">
                  <a:solidFill>
                    <a:srgbClr val="FFFF00"/>
                  </a:solidFill>
                  <a:latin typeface="Times New Roman" charset="0"/>
                </a:endParaRPr>
              </a:p>
            </p:txBody>
          </p:sp>
        </p:grpSp>
        <p:grpSp>
          <p:nvGrpSpPr>
            <p:cNvPr id="17443" name="Group 52"/>
            <p:cNvGrpSpPr>
              <a:grpSpLocks/>
            </p:cNvGrpSpPr>
            <p:nvPr/>
          </p:nvGrpSpPr>
          <p:grpSpPr bwMode="auto">
            <a:xfrm>
              <a:off x="2154" y="2995"/>
              <a:ext cx="426" cy="496"/>
              <a:chOff x="2154" y="2995"/>
              <a:chExt cx="426" cy="496"/>
            </a:xfrm>
          </p:grpSpPr>
          <p:grpSp>
            <p:nvGrpSpPr>
              <p:cNvPr id="17444" name="Group 53"/>
              <p:cNvGrpSpPr>
                <a:grpSpLocks/>
              </p:cNvGrpSpPr>
              <p:nvPr/>
            </p:nvGrpSpPr>
            <p:grpSpPr bwMode="auto">
              <a:xfrm>
                <a:off x="2154" y="3228"/>
                <a:ext cx="90" cy="54"/>
                <a:chOff x="2274" y="3084"/>
                <a:chExt cx="252" cy="60"/>
              </a:xfrm>
            </p:grpSpPr>
            <p:sp>
              <p:nvSpPr>
                <p:cNvPr id="17448" name="Line 54"/>
                <p:cNvSpPr>
                  <a:spLocks noChangeShapeType="1"/>
                </p:cNvSpPr>
                <p:nvPr/>
              </p:nvSpPr>
              <p:spPr bwMode="auto">
                <a:xfrm>
                  <a:off x="2274" y="3084"/>
                  <a:ext cx="252" cy="0"/>
                </a:xfrm>
                <a:prstGeom prst="line">
                  <a:avLst/>
                </a:prstGeom>
                <a:noFill/>
                <a:ln w="9525">
                  <a:solidFill>
                    <a:srgbClr val="FFFF00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s-ES_tradnl" dirty="0">
                    <a:latin typeface="Gill Sans MT" panose="020B0502020104020203" pitchFamily="34" charset="77"/>
                  </a:endParaRPr>
                </a:p>
              </p:txBody>
            </p:sp>
            <p:sp>
              <p:nvSpPr>
                <p:cNvPr id="17449" name="Line 55"/>
                <p:cNvSpPr>
                  <a:spLocks noChangeShapeType="1"/>
                </p:cNvSpPr>
                <p:nvPr/>
              </p:nvSpPr>
              <p:spPr bwMode="auto">
                <a:xfrm>
                  <a:off x="2274" y="3144"/>
                  <a:ext cx="252" cy="0"/>
                </a:xfrm>
                <a:prstGeom prst="line">
                  <a:avLst/>
                </a:prstGeom>
                <a:noFill/>
                <a:ln w="9525">
                  <a:solidFill>
                    <a:srgbClr val="FFFF00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s-ES_tradnl" dirty="0">
                    <a:latin typeface="Gill Sans MT" panose="020B0502020104020203" pitchFamily="34" charset="77"/>
                  </a:endParaRPr>
                </a:p>
              </p:txBody>
            </p:sp>
          </p:grpSp>
          <p:sp>
            <p:nvSpPr>
              <p:cNvPr id="17445" name="Rectangle 56"/>
              <p:cNvSpPr>
                <a:spLocks noChangeArrowheads="1"/>
              </p:cNvSpPr>
              <p:nvPr/>
            </p:nvSpPr>
            <p:spPr bwMode="auto">
              <a:xfrm>
                <a:off x="2364" y="2995"/>
                <a:ext cx="205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pPr eaLnBrk="0" hangingPunct="0"/>
                <a:r>
                  <a:rPr lang="es-ES_tradnl" sz="2000" i="1">
                    <a:solidFill>
                      <a:srgbClr val="00FF00"/>
                    </a:solidFill>
                    <a:latin typeface="Times New Roman" charset="0"/>
                  </a:rPr>
                  <a:t>Y</a:t>
                </a:r>
                <a:endParaRPr lang="es-ES" sz="2000" i="1">
                  <a:solidFill>
                    <a:srgbClr val="00FF00"/>
                  </a:solidFill>
                  <a:latin typeface="Times New Roman" charset="0"/>
                </a:endParaRPr>
              </a:p>
            </p:txBody>
          </p:sp>
          <p:sp>
            <p:nvSpPr>
              <p:cNvPr id="17446" name="Rectangle 57"/>
              <p:cNvSpPr>
                <a:spLocks noChangeArrowheads="1"/>
              </p:cNvSpPr>
              <p:nvPr/>
            </p:nvSpPr>
            <p:spPr bwMode="auto">
              <a:xfrm>
                <a:off x="2352" y="3241"/>
                <a:ext cx="226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prstTxWarp prst="textNoShape">
                  <a:avLst/>
                </a:prstTxWarp>
                <a:spAutoFit/>
              </a:bodyPr>
              <a:lstStyle/>
              <a:p>
                <a:pPr eaLnBrk="0" hangingPunct="0"/>
                <a:r>
                  <a:rPr lang="es-ES_tradnl" sz="2000" i="1">
                    <a:solidFill>
                      <a:srgbClr val="00FF00"/>
                    </a:solidFill>
                    <a:latin typeface="Times New Roman" charset="0"/>
                  </a:rPr>
                  <a:t>y</a:t>
                </a:r>
                <a:endParaRPr lang="es-ES" sz="2000" i="1">
                  <a:solidFill>
                    <a:srgbClr val="00FF00"/>
                  </a:solidFill>
                  <a:latin typeface="Times New Roman" charset="0"/>
                </a:endParaRPr>
              </a:p>
            </p:txBody>
          </p:sp>
          <p:sp>
            <p:nvSpPr>
              <p:cNvPr id="17447" name="Line 58"/>
              <p:cNvSpPr>
                <a:spLocks noChangeShapeType="1"/>
              </p:cNvSpPr>
              <p:nvPr/>
            </p:nvSpPr>
            <p:spPr bwMode="auto">
              <a:xfrm>
                <a:off x="2328" y="3252"/>
                <a:ext cx="252" cy="0"/>
              </a:xfrm>
              <a:prstGeom prst="line">
                <a:avLst/>
              </a:prstGeom>
              <a:noFill/>
              <a:ln w="9525">
                <a:solidFill>
                  <a:srgbClr val="FFFF00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s-ES_tradnl" dirty="0">
                  <a:latin typeface="Gill Sans MT" panose="020B0502020104020203" pitchFamily="34" charset="77"/>
                </a:endParaRPr>
              </a:p>
            </p:txBody>
          </p:sp>
        </p:grpSp>
      </p:grpSp>
      <p:grpSp>
        <p:nvGrpSpPr>
          <p:cNvPr id="13" name="Group 59"/>
          <p:cNvGrpSpPr>
            <a:grpSpLocks/>
          </p:cNvGrpSpPr>
          <p:nvPr/>
        </p:nvGrpSpPr>
        <p:grpSpPr bwMode="auto">
          <a:xfrm>
            <a:off x="5357813" y="3241675"/>
            <a:ext cx="3173412" cy="2579688"/>
            <a:chOff x="2415" y="1866"/>
            <a:chExt cx="1999" cy="1625"/>
          </a:xfrm>
        </p:grpSpPr>
        <p:grpSp>
          <p:nvGrpSpPr>
            <p:cNvPr id="17431" name="Group 60"/>
            <p:cNvGrpSpPr>
              <a:grpSpLocks/>
            </p:cNvGrpSpPr>
            <p:nvPr/>
          </p:nvGrpSpPr>
          <p:grpSpPr bwMode="auto">
            <a:xfrm>
              <a:off x="2670" y="2995"/>
              <a:ext cx="426" cy="496"/>
              <a:chOff x="2670" y="2995"/>
              <a:chExt cx="426" cy="496"/>
            </a:xfrm>
          </p:grpSpPr>
          <p:grpSp>
            <p:nvGrpSpPr>
              <p:cNvPr id="17436" name="Group 61"/>
              <p:cNvGrpSpPr>
                <a:grpSpLocks/>
              </p:cNvGrpSpPr>
              <p:nvPr/>
            </p:nvGrpSpPr>
            <p:grpSpPr bwMode="auto">
              <a:xfrm>
                <a:off x="2670" y="3228"/>
                <a:ext cx="90" cy="54"/>
                <a:chOff x="2274" y="3084"/>
                <a:chExt cx="252" cy="60"/>
              </a:xfrm>
            </p:grpSpPr>
            <p:sp>
              <p:nvSpPr>
                <p:cNvPr id="17440" name="Line 62"/>
                <p:cNvSpPr>
                  <a:spLocks noChangeShapeType="1"/>
                </p:cNvSpPr>
                <p:nvPr/>
              </p:nvSpPr>
              <p:spPr bwMode="auto">
                <a:xfrm>
                  <a:off x="2274" y="3084"/>
                  <a:ext cx="252" cy="0"/>
                </a:xfrm>
                <a:prstGeom prst="line">
                  <a:avLst/>
                </a:prstGeom>
                <a:noFill/>
                <a:ln w="9525">
                  <a:solidFill>
                    <a:srgbClr val="FFFF00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s-ES_tradnl" dirty="0">
                    <a:latin typeface="Gill Sans MT" panose="020B0502020104020203" pitchFamily="34" charset="77"/>
                  </a:endParaRPr>
                </a:p>
              </p:txBody>
            </p:sp>
            <p:sp>
              <p:nvSpPr>
                <p:cNvPr id="17441" name="Line 63"/>
                <p:cNvSpPr>
                  <a:spLocks noChangeShapeType="1"/>
                </p:cNvSpPr>
                <p:nvPr/>
              </p:nvSpPr>
              <p:spPr bwMode="auto">
                <a:xfrm>
                  <a:off x="2274" y="3144"/>
                  <a:ext cx="252" cy="0"/>
                </a:xfrm>
                <a:prstGeom prst="line">
                  <a:avLst/>
                </a:prstGeom>
                <a:noFill/>
                <a:ln w="9525">
                  <a:solidFill>
                    <a:srgbClr val="FFFF00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s-ES_tradnl" dirty="0">
                    <a:latin typeface="Gill Sans MT" panose="020B0502020104020203" pitchFamily="34" charset="77"/>
                  </a:endParaRPr>
                </a:p>
              </p:txBody>
            </p:sp>
          </p:grpSp>
          <p:sp>
            <p:nvSpPr>
              <p:cNvPr id="17437" name="Rectangle 64"/>
              <p:cNvSpPr>
                <a:spLocks noChangeArrowheads="1"/>
              </p:cNvSpPr>
              <p:nvPr/>
            </p:nvSpPr>
            <p:spPr bwMode="auto">
              <a:xfrm>
                <a:off x="2880" y="2995"/>
                <a:ext cx="214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pPr eaLnBrk="0" hangingPunct="0"/>
                <a:r>
                  <a:rPr lang="es-ES_tradnl" sz="2000" i="1">
                    <a:solidFill>
                      <a:srgbClr val="FFFF00"/>
                    </a:solidFill>
                    <a:latin typeface="Times New Roman" charset="0"/>
                  </a:rPr>
                  <a:t>X</a:t>
                </a:r>
                <a:endParaRPr lang="es-ES" sz="2000" i="1">
                  <a:solidFill>
                    <a:srgbClr val="FFFF00"/>
                  </a:solidFill>
                  <a:latin typeface="Times New Roman" charset="0"/>
                </a:endParaRPr>
              </a:p>
            </p:txBody>
          </p:sp>
          <p:sp>
            <p:nvSpPr>
              <p:cNvPr id="17438" name="Rectangle 65"/>
              <p:cNvSpPr>
                <a:spLocks noChangeArrowheads="1"/>
              </p:cNvSpPr>
              <p:nvPr/>
            </p:nvSpPr>
            <p:spPr bwMode="auto">
              <a:xfrm>
                <a:off x="2868" y="3241"/>
                <a:ext cx="226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prstTxWarp prst="textNoShape">
                  <a:avLst/>
                </a:prstTxWarp>
                <a:spAutoFit/>
              </a:bodyPr>
              <a:lstStyle/>
              <a:p>
                <a:pPr eaLnBrk="0" hangingPunct="0"/>
                <a:r>
                  <a:rPr lang="es-ES_tradnl" sz="2000" i="1">
                    <a:solidFill>
                      <a:srgbClr val="FFFF00"/>
                    </a:solidFill>
                    <a:latin typeface="Times New Roman" charset="0"/>
                  </a:rPr>
                  <a:t>x</a:t>
                </a:r>
                <a:endParaRPr lang="es-ES" sz="2000" i="1">
                  <a:solidFill>
                    <a:srgbClr val="FFFF00"/>
                  </a:solidFill>
                  <a:latin typeface="Times New Roman" charset="0"/>
                </a:endParaRPr>
              </a:p>
            </p:txBody>
          </p:sp>
          <p:sp>
            <p:nvSpPr>
              <p:cNvPr id="17439" name="Line 66"/>
              <p:cNvSpPr>
                <a:spLocks noChangeShapeType="1"/>
              </p:cNvSpPr>
              <p:nvPr/>
            </p:nvSpPr>
            <p:spPr bwMode="auto">
              <a:xfrm>
                <a:off x="2844" y="3252"/>
                <a:ext cx="252" cy="0"/>
              </a:xfrm>
              <a:prstGeom prst="line">
                <a:avLst/>
              </a:prstGeom>
              <a:noFill/>
              <a:ln w="9525">
                <a:solidFill>
                  <a:srgbClr val="FFFF00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s-ES_tradnl" dirty="0">
                  <a:latin typeface="Gill Sans MT" panose="020B0502020104020203" pitchFamily="34" charset="77"/>
                </a:endParaRPr>
              </a:p>
            </p:txBody>
          </p:sp>
        </p:grpSp>
        <p:sp>
          <p:nvSpPr>
            <p:cNvPr id="17432" name="Line 67"/>
            <p:cNvSpPr>
              <a:spLocks noChangeShapeType="1"/>
            </p:cNvSpPr>
            <p:nvPr/>
          </p:nvSpPr>
          <p:spPr bwMode="auto">
            <a:xfrm flipH="1" flipV="1">
              <a:off x="2418" y="2178"/>
              <a:ext cx="0" cy="552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  <p:sp>
          <p:nvSpPr>
            <p:cNvPr id="17433" name="Line 68"/>
            <p:cNvSpPr>
              <a:spLocks noChangeShapeType="1"/>
            </p:cNvSpPr>
            <p:nvPr/>
          </p:nvSpPr>
          <p:spPr bwMode="auto">
            <a:xfrm flipH="1" flipV="1">
              <a:off x="4218" y="1866"/>
              <a:ext cx="0" cy="1218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  <p:sp>
          <p:nvSpPr>
            <p:cNvPr id="17434" name="Rectangle 69"/>
            <p:cNvSpPr>
              <a:spLocks noChangeArrowheads="1"/>
            </p:cNvSpPr>
            <p:nvPr/>
          </p:nvSpPr>
          <p:spPr bwMode="auto">
            <a:xfrm>
              <a:off x="4227" y="2431"/>
              <a:ext cx="187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s-ES_tradnl" sz="2000" i="1">
                  <a:solidFill>
                    <a:srgbClr val="FFFF00"/>
                  </a:solidFill>
                  <a:latin typeface="Times New Roman" charset="0"/>
                </a:rPr>
                <a:t>x</a:t>
              </a:r>
              <a:endParaRPr lang="es-ES" sz="2000" i="1">
                <a:solidFill>
                  <a:srgbClr val="FFFF00"/>
                </a:solidFill>
                <a:latin typeface="Times New Roman" charset="0"/>
              </a:endParaRPr>
            </a:p>
          </p:txBody>
        </p:sp>
        <p:sp>
          <p:nvSpPr>
            <p:cNvPr id="17435" name="Rectangle 70"/>
            <p:cNvSpPr>
              <a:spLocks noChangeArrowheads="1"/>
            </p:cNvSpPr>
            <p:nvPr/>
          </p:nvSpPr>
          <p:spPr bwMode="auto">
            <a:xfrm>
              <a:off x="2415" y="2197"/>
              <a:ext cx="214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s-ES_tradnl" sz="2000" i="1">
                  <a:solidFill>
                    <a:srgbClr val="FFFF00"/>
                  </a:solidFill>
                  <a:latin typeface="Times New Roman" charset="0"/>
                </a:rPr>
                <a:t>X</a:t>
              </a:r>
              <a:endParaRPr lang="es-ES" sz="2000" i="1">
                <a:solidFill>
                  <a:srgbClr val="FFFF00"/>
                </a:solidFill>
                <a:latin typeface="Times New Roman" charset="0"/>
              </a:endParaRPr>
            </a:p>
          </p:txBody>
        </p:sp>
      </p:grpSp>
      <p:sp>
        <p:nvSpPr>
          <p:cNvPr id="17426" name="Rectangle 71"/>
          <p:cNvSpPr>
            <a:spLocks noChangeArrowheads="1"/>
          </p:cNvSpPr>
          <p:nvPr/>
        </p:nvSpPr>
        <p:spPr bwMode="auto">
          <a:xfrm>
            <a:off x="1524000" y="1"/>
            <a:ext cx="336752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" sz="2400" dirty="0">
                <a:solidFill>
                  <a:schemeClr val="bg1"/>
                </a:solidFill>
                <a:latin typeface="Gill Sans MT" panose="020B0502020104020203" pitchFamily="34" charset="77"/>
              </a:rPr>
              <a:t>[ </a:t>
            </a:r>
            <a:r>
              <a:rPr lang="es-ES" sz="2400" dirty="0" err="1">
                <a:solidFill>
                  <a:schemeClr val="bg1"/>
                </a:solidFill>
                <a:latin typeface="Gill Sans MT" panose="020B0502020104020203" pitchFamily="34" charset="77"/>
              </a:rPr>
              <a:t>Perspective</a:t>
            </a:r>
            <a:r>
              <a:rPr lang="es-ES" sz="2400" dirty="0">
                <a:solidFill>
                  <a:schemeClr val="bg1"/>
                </a:solidFill>
                <a:latin typeface="Gill Sans MT" panose="020B0502020104020203" pitchFamily="34" charset="77"/>
              </a:rPr>
              <a:t> </a:t>
            </a:r>
            <a:r>
              <a:rPr lang="es-ES" sz="2400" dirty="0" err="1">
                <a:solidFill>
                  <a:schemeClr val="bg1"/>
                </a:solidFill>
                <a:latin typeface="Gill Sans MT" panose="020B0502020104020203" pitchFamily="34" charset="77"/>
              </a:rPr>
              <a:t>Projection</a:t>
            </a:r>
            <a:r>
              <a:rPr lang="es-ES" sz="2400" dirty="0">
                <a:solidFill>
                  <a:schemeClr val="bg1"/>
                </a:solidFill>
                <a:latin typeface="Gill Sans MT" panose="020B0502020104020203" pitchFamily="34" charset="77"/>
              </a:rPr>
              <a:t> ]</a:t>
            </a:r>
          </a:p>
        </p:txBody>
      </p:sp>
      <p:sp>
        <p:nvSpPr>
          <p:cNvPr id="1097800" name="Oval 72"/>
          <p:cNvSpPr>
            <a:spLocks noChangeArrowheads="1"/>
          </p:cNvSpPr>
          <p:nvPr/>
        </p:nvSpPr>
        <p:spPr bwMode="auto">
          <a:xfrm>
            <a:off x="5324475" y="3698875"/>
            <a:ext cx="88900" cy="889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16" name="Group 73"/>
          <p:cNvGrpSpPr>
            <a:grpSpLocks/>
          </p:cNvGrpSpPr>
          <p:nvPr/>
        </p:nvGrpSpPr>
        <p:grpSpPr bwMode="auto">
          <a:xfrm>
            <a:off x="8013701" y="2806701"/>
            <a:ext cx="396875" cy="473075"/>
            <a:chOff x="4088" y="1592"/>
            <a:chExt cx="250" cy="298"/>
          </a:xfrm>
        </p:grpSpPr>
        <p:sp>
          <p:nvSpPr>
            <p:cNvPr id="17429" name="Oval 74"/>
            <p:cNvSpPr>
              <a:spLocks noChangeArrowheads="1"/>
            </p:cNvSpPr>
            <p:nvPr/>
          </p:nvSpPr>
          <p:spPr bwMode="auto">
            <a:xfrm>
              <a:off x="4188" y="1834"/>
              <a:ext cx="56" cy="5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17430" name="Text Box 75"/>
            <p:cNvSpPr txBox="1">
              <a:spLocks noChangeArrowheads="1"/>
            </p:cNvSpPr>
            <p:nvPr/>
          </p:nvSpPr>
          <p:spPr bwMode="auto">
            <a:xfrm>
              <a:off x="4088" y="1592"/>
              <a:ext cx="250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s-ES_tradnl" sz="2000" i="1">
                  <a:solidFill>
                    <a:srgbClr val="FFFF00"/>
                  </a:solidFill>
                  <a:latin typeface="Times New Roman" charset="0"/>
                </a:rPr>
                <a:t>m</a:t>
              </a:r>
            </a:p>
          </p:txBody>
        </p: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5ED3D4-BDCA-58CD-7E09-52431DF2C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CV02C</a:t>
            </a:r>
            <a:endParaRPr lang="en-CL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20BFE74-5C58-30DB-3C7E-A61EE0406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17</a:t>
            </a:fld>
            <a:endParaRPr lang="en-CL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978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978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97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97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8" dur="500"/>
                                        <p:tgtEl>
                                          <p:spTgt spid="1097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97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97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8" presetClass="entr" presetSubtype="3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2" dur="500"/>
                                        <p:tgtEl>
                                          <p:spTgt spid="1097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000"/>
                            </p:stCondLst>
                            <p:childTnLst>
                              <p:par>
                                <p:cTn id="44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97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000"/>
                            </p:stCondLst>
                            <p:childTnLst>
                              <p:par>
                                <p:cTn id="5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97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7735" grpId="0" animBg="1"/>
      <p:bldP spid="1097736" grpId="0" animBg="1" autoUpdateAnimBg="0"/>
      <p:bldP spid="1097739" grpId="0" animBg="1"/>
      <p:bldP spid="1097747" grpId="0" autoUpdateAnimBg="0"/>
      <p:bldP spid="1097748" grpId="0" autoUpdateAnimBg="0"/>
      <p:bldP spid="1097749" grpId="0" autoUpdateAnimBg="0"/>
      <p:bldP spid="1097750" grpId="0" animBg="1"/>
      <p:bldP spid="1097762" grpId="0" autoUpdateAnimBg="0"/>
      <p:bldP spid="109780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65000"/>
            <a:lumOff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99778" name="Object 2"/>
          <p:cNvGraphicFramePr>
            <a:graphicFrameLocks noChangeAspect="1"/>
          </p:cNvGraphicFramePr>
          <p:nvPr/>
        </p:nvGraphicFramePr>
        <p:xfrm>
          <a:off x="5743575" y="2938464"/>
          <a:ext cx="3695700" cy="162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tografía de Photo Editor" r:id="rId3" imgW="3696216" imgH="1628571" progId="">
                  <p:embed/>
                </p:oleObj>
              </mc:Choice>
              <mc:Fallback>
                <p:oleObj name="Fotografía de Photo Editor" r:id="rId3" imgW="3696216" imgH="1628571" progId="">
                  <p:embed/>
                  <p:pic>
                    <p:nvPicPr>
                      <p:cNvPr id="109977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43575" y="2938464"/>
                        <a:ext cx="3695700" cy="1628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9779" name="Object 3"/>
          <p:cNvGraphicFramePr>
            <a:graphicFrameLocks noChangeAspect="1"/>
          </p:cNvGraphicFramePr>
          <p:nvPr/>
        </p:nvGraphicFramePr>
        <p:xfrm>
          <a:off x="2733675" y="2938464"/>
          <a:ext cx="3009900" cy="162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tografía de Photo Editor" r:id="rId5" imgW="3010320" imgH="1628571" progId="">
                  <p:embed/>
                </p:oleObj>
              </mc:Choice>
              <mc:Fallback>
                <p:oleObj name="Fotografía de Photo Editor" r:id="rId5" imgW="3010320" imgH="1628571" progId="">
                  <p:embed/>
                  <p:pic>
                    <p:nvPicPr>
                      <p:cNvPr id="109977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3675" y="2938464"/>
                        <a:ext cx="3009900" cy="1628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2" name="Rectangle 6"/>
          <p:cNvSpPr>
            <a:spLocks noChangeArrowheads="1"/>
          </p:cNvSpPr>
          <p:nvPr/>
        </p:nvSpPr>
        <p:spPr bwMode="auto">
          <a:xfrm>
            <a:off x="1952625" y="1363664"/>
            <a:ext cx="32543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sz="2000" i="1">
                <a:solidFill>
                  <a:srgbClr val="FF0000"/>
                </a:solidFill>
                <a:latin typeface="Times New Roman" charset="0"/>
              </a:rPr>
              <a:t>Z</a:t>
            </a:r>
            <a:endParaRPr lang="es-ES" sz="2000" i="1">
              <a:solidFill>
                <a:srgbClr val="FF0000"/>
              </a:solidFill>
              <a:latin typeface="Times New Roman" charset="0"/>
            </a:endParaRPr>
          </a:p>
        </p:txBody>
      </p:sp>
      <p:sp>
        <p:nvSpPr>
          <p:cNvPr id="4103" name="Rectangle 7"/>
          <p:cNvSpPr>
            <a:spLocks noChangeArrowheads="1"/>
          </p:cNvSpPr>
          <p:nvPr/>
        </p:nvSpPr>
        <p:spPr bwMode="auto">
          <a:xfrm>
            <a:off x="1933576" y="1754189"/>
            <a:ext cx="3587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sz="2000" i="1">
                <a:solidFill>
                  <a:srgbClr val="FF0000"/>
                </a:solidFill>
                <a:latin typeface="Times New Roman" charset="0"/>
              </a:rPr>
              <a:t>f</a:t>
            </a:r>
            <a:endParaRPr lang="es-ES" sz="2000" i="1">
              <a:solidFill>
                <a:srgbClr val="FF0000"/>
              </a:solidFill>
              <a:latin typeface="Times New Roman" charset="0"/>
            </a:endParaRPr>
          </a:p>
        </p:txBody>
      </p:sp>
      <p:sp>
        <p:nvSpPr>
          <p:cNvPr id="4104" name="Line 8"/>
          <p:cNvSpPr>
            <a:spLocks noChangeShapeType="1"/>
          </p:cNvSpPr>
          <p:nvPr/>
        </p:nvSpPr>
        <p:spPr bwMode="auto">
          <a:xfrm>
            <a:off x="1895475" y="1771650"/>
            <a:ext cx="400050" cy="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grpSp>
        <p:nvGrpSpPr>
          <p:cNvPr id="4105" name="Group 9"/>
          <p:cNvGrpSpPr>
            <a:grpSpLocks/>
          </p:cNvGrpSpPr>
          <p:nvPr/>
        </p:nvGrpSpPr>
        <p:grpSpPr bwMode="auto">
          <a:xfrm>
            <a:off x="2438401" y="1363663"/>
            <a:ext cx="676275" cy="787400"/>
            <a:chOff x="2154" y="2995"/>
            <a:chExt cx="426" cy="496"/>
          </a:xfrm>
        </p:grpSpPr>
        <p:grpSp>
          <p:nvGrpSpPr>
            <p:cNvPr id="4137" name="Group 10"/>
            <p:cNvGrpSpPr>
              <a:grpSpLocks/>
            </p:cNvGrpSpPr>
            <p:nvPr/>
          </p:nvGrpSpPr>
          <p:grpSpPr bwMode="auto">
            <a:xfrm>
              <a:off x="2154" y="3228"/>
              <a:ext cx="90" cy="54"/>
              <a:chOff x="2274" y="3084"/>
              <a:chExt cx="252" cy="60"/>
            </a:xfrm>
          </p:grpSpPr>
          <p:sp>
            <p:nvSpPr>
              <p:cNvPr id="4141" name="Line 11"/>
              <p:cNvSpPr>
                <a:spLocks noChangeShapeType="1"/>
              </p:cNvSpPr>
              <p:nvPr/>
            </p:nvSpPr>
            <p:spPr bwMode="auto">
              <a:xfrm>
                <a:off x="2274" y="3084"/>
                <a:ext cx="252" cy="0"/>
              </a:xfrm>
              <a:prstGeom prst="line">
                <a:avLst/>
              </a:prstGeom>
              <a:noFill/>
              <a:ln w="9525">
                <a:solidFill>
                  <a:srgbClr val="FFFF00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s-ES_tradnl" dirty="0">
                  <a:latin typeface="Gill Sans MT" panose="020B0502020104020203" pitchFamily="34" charset="77"/>
                </a:endParaRPr>
              </a:p>
            </p:txBody>
          </p:sp>
          <p:sp>
            <p:nvSpPr>
              <p:cNvPr id="4142" name="Line 12"/>
              <p:cNvSpPr>
                <a:spLocks noChangeShapeType="1"/>
              </p:cNvSpPr>
              <p:nvPr/>
            </p:nvSpPr>
            <p:spPr bwMode="auto">
              <a:xfrm>
                <a:off x="2274" y="3144"/>
                <a:ext cx="252" cy="0"/>
              </a:xfrm>
              <a:prstGeom prst="line">
                <a:avLst/>
              </a:prstGeom>
              <a:noFill/>
              <a:ln w="9525">
                <a:solidFill>
                  <a:srgbClr val="FFFF00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s-ES_tradnl" dirty="0">
                  <a:latin typeface="Gill Sans MT" panose="020B0502020104020203" pitchFamily="34" charset="77"/>
                </a:endParaRPr>
              </a:p>
            </p:txBody>
          </p:sp>
        </p:grpSp>
        <p:sp>
          <p:nvSpPr>
            <p:cNvPr id="4138" name="Rectangle 13"/>
            <p:cNvSpPr>
              <a:spLocks noChangeArrowheads="1"/>
            </p:cNvSpPr>
            <p:nvPr/>
          </p:nvSpPr>
          <p:spPr bwMode="auto">
            <a:xfrm>
              <a:off x="2364" y="2995"/>
              <a:ext cx="205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s-ES_tradnl" sz="2000" i="1">
                  <a:solidFill>
                    <a:srgbClr val="00FF00"/>
                  </a:solidFill>
                  <a:latin typeface="Times New Roman" charset="0"/>
                </a:rPr>
                <a:t>Y</a:t>
              </a:r>
              <a:endParaRPr lang="es-ES" sz="2000" i="1">
                <a:solidFill>
                  <a:srgbClr val="00FF00"/>
                </a:solidFill>
                <a:latin typeface="Times New Roman" charset="0"/>
              </a:endParaRPr>
            </a:p>
          </p:txBody>
        </p:sp>
        <p:sp>
          <p:nvSpPr>
            <p:cNvPr id="4139" name="Rectangle 14"/>
            <p:cNvSpPr>
              <a:spLocks noChangeArrowheads="1"/>
            </p:cNvSpPr>
            <p:nvPr/>
          </p:nvSpPr>
          <p:spPr bwMode="auto">
            <a:xfrm>
              <a:off x="2352" y="3241"/>
              <a:ext cx="22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s-ES_tradnl" sz="2000" i="1">
                  <a:solidFill>
                    <a:srgbClr val="00FF00"/>
                  </a:solidFill>
                  <a:latin typeface="Times New Roman" charset="0"/>
                </a:rPr>
                <a:t>y</a:t>
              </a:r>
              <a:endParaRPr lang="es-ES" sz="2000" i="1">
                <a:solidFill>
                  <a:srgbClr val="00FF00"/>
                </a:solidFill>
                <a:latin typeface="Times New Roman" charset="0"/>
              </a:endParaRPr>
            </a:p>
          </p:txBody>
        </p:sp>
        <p:sp>
          <p:nvSpPr>
            <p:cNvPr id="4140" name="Line 15"/>
            <p:cNvSpPr>
              <a:spLocks noChangeShapeType="1"/>
            </p:cNvSpPr>
            <p:nvPr/>
          </p:nvSpPr>
          <p:spPr bwMode="auto">
            <a:xfrm>
              <a:off x="2328" y="3252"/>
              <a:ext cx="252" cy="0"/>
            </a:xfrm>
            <a:prstGeom prst="line">
              <a:avLst/>
            </a:prstGeom>
            <a:noFill/>
            <a:ln w="9525">
              <a:solidFill>
                <a:srgbClr val="FFFF00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4106" name="Group 16"/>
          <p:cNvGrpSpPr>
            <a:grpSpLocks/>
          </p:cNvGrpSpPr>
          <p:nvPr/>
        </p:nvGrpSpPr>
        <p:grpSpPr bwMode="auto">
          <a:xfrm>
            <a:off x="3257551" y="1363663"/>
            <a:ext cx="676275" cy="787400"/>
            <a:chOff x="2670" y="2995"/>
            <a:chExt cx="426" cy="496"/>
          </a:xfrm>
        </p:grpSpPr>
        <p:grpSp>
          <p:nvGrpSpPr>
            <p:cNvPr id="4131" name="Group 17"/>
            <p:cNvGrpSpPr>
              <a:grpSpLocks/>
            </p:cNvGrpSpPr>
            <p:nvPr/>
          </p:nvGrpSpPr>
          <p:grpSpPr bwMode="auto">
            <a:xfrm>
              <a:off x="2670" y="3228"/>
              <a:ext cx="90" cy="54"/>
              <a:chOff x="2274" y="3084"/>
              <a:chExt cx="252" cy="60"/>
            </a:xfrm>
          </p:grpSpPr>
          <p:sp>
            <p:nvSpPr>
              <p:cNvPr id="4135" name="Line 18"/>
              <p:cNvSpPr>
                <a:spLocks noChangeShapeType="1"/>
              </p:cNvSpPr>
              <p:nvPr/>
            </p:nvSpPr>
            <p:spPr bwMode="auto">
              <a:xfrm>
                <a:off x="2274" y="3084"/>
                <a:ext cx="252" cy="0"/>
              </a:xfrm>
              <a:prstGeom prst="line">
                <a:avLst/>
              </a:prstGeom>
              <a:noFill/>
              <a:ln w="9525">
                <a:solidFill>
                  <a:srgbClr val="FFFF00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s-ES_tradnl" dirty="0">
                  <a:latin typeface="Gill Sans MT" panose="020B0502020104020203" pitchFamily="34" charset="77"/>
                </a:endParaRPr>
              </a:p>
            </p:txBody>
          </p:sp>
          <p:sp>
            <p:nvSpPr>
              <p:cNvPr id="4136" name="Line 19"/>
              <p:cNvSpPr>
                <a:spLocks noChangeShapeType="1"/>
              </p:cNvSpPr>
              <p:nvPr/>
            </p:nvSpPr>
            <p:spPr bwMode="auto">
              <a:xfrm>
                <a:off x="2274" y="3144"/>
                <a:ext cx="252" cy="0"/>
              </a:xfrm>
              <a:prstGeom prst="line">
                <a:avLst/>
              </a:prstGeom>
              <a:noFill/>
              <a:ln w="9525">
                <a:solidFill>
                  <a:srgbClr val="FFFF00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s-ES_tradnl" dirty="0">
                  <a:latin typeface="Gill Sans MT" panose="020B0502020104020203" pitchFamily="34" charset="77"/>
                </a:endParaRPr>
              </a:p>
            </p:txBody>
          </p:sp>
        </p:grpSp>
        <p:sp>
          <p:nvSpPr>
            <p:cNvPr id="4132" name="Rectangle 20"/>
            <p:cNvSpPr>
              <a:spLocks noChangeArrowheads="1"/>
            </p:cNvSpPr>
            <p:nvPr/>
          </p:nvSpPr>
          <p:spPr bwMode="auto">
            <a:xfrm>
              <a:off x="2880" y="2995"/>
              <a:ext cx="214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s-ES_tradnl" sz="2000" i="1">
                  <a:solidFill>
                    <a:srgbClr val="FFFF00"/>
                  </a:solidFill>
                  <a:latin typeface="Times New Roman" charset="0"/>
                </a:rPr>
                <a:t>X</a:t>
              </a:r>
              <a:endParaRPr lang="es-ES" sz="2000" i="1">
                <a:solidFill>
                  <a:srgbClr val="FFFF00"/>
                </a:solidFill>
                <a:latin typeface="Times New Roman" charset="0"/>
              </a:endParaRPr>
            </a:p>
          </p:txBody>
        </p:sp>
        <p:sp>
          <p:nvSpPr>
            <p:cNvPr id="4133" name="Rectangle 21"/>
            <p:cNvSpPr>
              <a:spLocks noChangeArrowheads="1"/>
            </p:cNvSpPr>
            <p:nvPr/>
          </p:nvSpPr>
          <p:spPr bwMode="auto">
            <a:xfrm>
              <a:off x="2868" y="3241"/>
              <a:ext cx="22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s-ES_tradnl" sz="2000" i="1">
                  <a:solidFill>
                    <a:srgbClr val="FFFF00"/>
                  </a:solidFill>
                  <a:latin typeface="Times New Roman" charset="0"/>
                </a:rPr>
                <a:t>x</a:t>
              </a:r>
              <a:endParaRPr lang="es-ES" sz="2000" i="1">
                <a:solidFill>
                  <a:srgbClr val="FFFF00"/>
                </a:solidFill>
                <a:latin typeface="Times New Roman" charset="0"/>
              </a:endParaRPr>
            </a:p>
          </p:txBody>
        </p:sp>
        <p:sp>
          <p:nvSpPr>
            <p:cNvPr id="4134" name="Line 22"/>
            <p:cNvSpPr>
              <a:spLocks noChangeShapeType="1"/>
            </p:cNvSpPr>
            <p:nvPr/>
          </p:nvSpPr>
          <p:spPr bwMode="auto">
            <a:xfrm>
              <a:off x="2844" y="3252"/>
              <a:ext cx="252" cy="0"/>
            </a:xfrm>
            <a:prstGeom prst="line">
              <a:avLst/>
            </a:prstGeom>
            <a:noFill/>
            <a:ln w="9525">
              <a:solidFill>
                <a:srgbClr val="FFFF00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099799" name="Rectangle 23"/>
          <p:cNvSpPr>
            <a:spLocks noChangeArrowheads="1"/>
          </p:cNvSpPr>
          <p:nvPr/>
        </p:nvSpPr>
        <p:spPr bwMode="auto">
          <a:xfrm>
            <a:off x="7212013" y="1230314"/>
            <a:ext cx="15049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sz="2000" i="1">
                <a:solidFill>
                  <a:srgbClr val="FFFF00"/>
                </a:solidFill>
                <a:latin typeface="Times New Roman" charset="0"/>
              </a:rPr>
              <a:t>Z x = f  X</a:t>
            </a:r>
            <a:endParaRPr lang="es-ES" sz="2000" i="1">
              <a:solidFill>
                <a:srgbClr val="FFFF00"/>
              </a:solidFill>
              <a:latin typeface="Times New Roman" charset="0"/>
            </a:endParaRPr>
          </a:p>
        </p:txBody>
      </p:sp>
      <p:sp>
        <p:nvSpPr>
          <p:cNvPr id="1099800" name="Rectangle 24"/>
          <p:cNvSpPr>
            <a:spLocks noChangeArrowheads="1"/>
          </p:cNvSpPr>
          <p:nvPr/>
        </p:nvSpPr>
        <p:spPr bwMode="auto">
          <a:xfrm>
            <a:off x="7212013" y="1887539"/>
            <a:ext cx="15049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sz="2000" i="1">
                <a:solidFill>
                  <a:srgbClr val="FFFF00"/>
                </a:solidFill>
                <a:latin typeface="Times New Roman" charset="0"/>
              </a:rPr>
              <a:t>Z y = f  Y</a:t>
            </a:r>
            <a:endParaRPr lang="es-ES" sz="2000" i="1">
              <a:solidFill>
                <a:srgbClr val="FFFF00"/>
              </a:solidFill>
              <a:latin typeface="Times New Roman" charset="0"/>
            </a:endParaRPr>
          </a:p>
        </p:txBody>
      </p:sp>
      <p:grpSp>
        <p:nvGrpSpPr>
          <p:cNvPr id="6" name="Group 25"/>
          <p:cNvGrpSpPr>
            <a:grpSpLocks/>
          </p:cNvGrpSpPr>
          <p:nvPr/>
        </p:nvGrpSpPr>
        <p:grpSpPr bwMode="auto">
          <a:xfrm>
            <a:off x="2152650" y="850901"/>
            <a:ext cx="4972050" cy="549275"/>
            <a:chOff x="396" y="536"/>
            <a:chExt cx="3132" cy="346"/>
          </a:xfrm>
        </p:grpSpPr>
        <p:sp>
          <p:nvSpPr>
            <p:cNvPr id="4129" name="Freeform 26"/>
            <p:cNvSpPr>
              <a:spLocks/>
            </p:cNvSpPr>
            <p:nvPr/>
          </p:nvSpPr>
          <p:spPr bwMode="auto">
            <a:xfrm>
              <a:off x="396" y="536"/>
              <a:ext cx="990" cy="322"/>
            </a:xfrm>
            <a:custGeom>
              <a:avLst/>
              <a:gdLst>
                <a:gd name="T0" fmla="*/ 0 w 990"/>
                <a:gd name="T1" fmla="*/ 298 h 322"/>
                <a:gd name="T2" fmla="*/ 510 w 990"/>
                <a:gd name="T3" fmla="*/ 4 h 322"/>
                <a:gd name="T4" fmla="*/ 990 w 990"/>
                <a:gd name="T5" fmla="*/ 322 h 322"/>
                <a:gd name="T6" fmla="*/ 0 60000 65536"/>
                <a:gd name="T7" fmla="*/ 0 60000 65536"/>
                <a:gd name="T8" fmla="*/ 0 60000 65536"/>
                <a:gd name="T9" fmla="*/ 0 w 990"/>
                <a:gd name="T10" fmla="*/ 0 h 322"/>
                <a:gd name="T11" fmla="*/ 990 w 990"/>
                <a:gd name="T12" fmla="*/ 322 h 32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90" h="322">
                  <a:moveTo>
                    <a:pt x="0" y="298"/>
                  </a:moveTo>
                  <a:cubicBezTo>
                    <a:pt x="172" y="149"/>
                    <a:pt x="345" y="0"/>
                    <a:pt x="510" y="4"/>
                  </a:cubicBezTo>
                  <a:cubicBezTo>
                    <a:pt x="675" y="8"/>
                    <a:pt x="832" y="165"/>
                    <a:pt x="990" y="322"/>
                  </a:cubicBezTo>
                </a:path>
              </a:pathLst>
            </a:custGeom>
            <a:noFill/>
            <a:ln w="9525">
              <a:solidFill>
                <a:srgbClr val="FFFF00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4130" name="Freeform 27"/>
            <p:cNvSpPr>
              <a:spLocks/>
            </p:cNvSpPr>
            <p:nvPr/>
          </p:nvSpPr>
          <p:spPr bwMode="auto">
            <a:xfrm>
              <a:off x="1386" y="560"/>
              <a:ext cx="2142" cy="322"/>
            </a:xfrm>
            <a:custGeom>
              <a:avLst/>
              <a:gdLst>
                <a:gd name="T0" fmla="*/ 0 w 990"/>
                <a:gd name="T1" fmla="*/ 298 h 322"/>
                <a:gd name="T2" fmla="*/ 510 w 990"/>
                <a:gd name="T3" fmla="*/ 4 h 322"/>
                <a:gd name="T4" fmla="*/ 990 w 990"/>
                <a:gd name="T5" fmla="*/ 322 h 322"/>
                <a:gd name="T6" fmla="*/ 0 60000 65536"/>
                <a:gd name="T7" fmla="*/ 0 60000 65536"/>
                <a:gd name="T8" fmla="*/ 0 60000 65536"/>
                <a:gd name="T9" fmla="*/ 0 w 990"/>
                <a:gd name="T10" fmla="*/ 0 h 322"/>
                <a:gd name="T11" fmla="*/ 990 w 990"/>
                <a:gd name="T12" fmla="*/ 322 h 32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90" h="322">
                  <a:moveTo>
                    <a:pt x="0" y="298"/>
                  </a:moveTo>
                  <a:cubicBezTo>
                    <a:pt x="172" y="149"/>
                    <a:pt x="345" y="0"/>
                    <a:pt x="510" y="4"/>
                  </a:cubicBezTo>
                  <a:cubicBezTo>
                    <a:pt x="675" y="8"/>
                    <a:pt x="832" y="165"/>
                    <a:pt x="990" y="322"/>
                  </a:cubicBezTo>
                </a:path>
              </a:pathLst>
            </a:custGeom>
            <a:noFill/>
            <a:ln w="9525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7" name="Group 28"/>
          <p:cNvGrpSpPr>
            <a:grpSpLocks/>
          </p:cNvGrpSpPr>
          <p:nvPr/>
        </p:nvGrpSpPr>
        <p:grpSpPr bwMode="auto">
          <a:xfrm>
            <a:off x="2009775" y="2193926"/>
            <a:ext cx="5105400" cy="511175"/>
            <a:chOff x="306" y="1382"/>
            <a:chExt cx="3216" cy="322"/>
          </a:xfrm>
        </p:grpSpPr>
        <p:sp>
          <p:nvSpPr>
            <p:cNvPr id="4127" name="Freeform 29"/>
            <p:cNvSpPr>
              <a:spLocks/>
            </p:cNvSpPr>
            <p:nvPr/>
          </p:nvSpPr>
          <p:spPr bwMode="auto">
            <a:xfrm rot="10800000">
              <a:off x="306" y="1394"/>
              <a:ext cx="528" cy="172"/>
            </a:xfrm>
            <a:custGeom>
              <a:avLst/>
              <a:gdLst>
                <a:gd name="T0" fmla="*/ 0 w 990"/>
                <a:gd name="T1" fmla="*/ 298 h 322"/>
                <a:gd name="T2" fmla="*/ 510 w 990"/>
                <a:gd name="T3" fmla="*/ 4 h 322"/>
                <a:gd name="T4" fmla="*/ 990 w 990"/>
                <a:gd name="T5" fmla="*/ 322 h 322"/>
                <a:gd name="T6" fmla="*/ 0 60000 65536"/>
                <a:gd name="T7" fmla="*/ 0 60000 65536"/>
                <a:gd name="T8" fmla="*/ 0 60000 65536"/>
                <a:gd name="T9" fmla="*/ 0 w 990"/>
                <a:gd name="T10" fmla="*/ 0 h 322"/>
                <a:gd name="T11" fmla="*/ 990 w 990"/>
                <a:gd name="T12" fmla="*/ 322 h 32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90" h="322">
                  <a:moveTo>
                    <a:pt x="0" y="298"/>
                  </a:moveTo>
                  <a:cubicBezTo>
                    <a:pt x="172" y="149"/>
                    <a:pt x="345" y="0"/>
                    <a:pt x="510" y="4"/>
                  </a:cubicBezTo>
                  <a:cubicBezTo>
                    <a:pt x="675" y="8"/>
                    <a:pt x="832" y="165"/>
                    <a:pt x="990" y="322"/>
                  </a:cubicBezTo>
                </a:path>
              </a:pathLst>
            </a:custGeom>
            <a:noFill/>
            <a:ln w="9525">
              <a:solidFill>
                <a:srgbClr val="FFFF00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4128" name="Freeform 30"/>
            <p:cNvSpPr>
              <a:spLocks/>
            </p:cNvSpPr>
            <p:nvPr/>
          </p:nvSpPr>
          <p:spPr bwMode="auto">
            <a:xfrm rot="10800000" flipH="1">
              <a:off x="834" y="1382"/>
              <a:ext cx="2688" cy="322"/>
            </a:xfrm>
            <a:custGeom>
              <a:avLst/>
              <a:gdLst>
                <a:gd name="T0" fmla="*/ 0 w 990"/>
                <a:gd name="T1" fmla="*/ 298 h 322"/>
                <a:gd name="T2" fmla="*/ 510 w 990"/>
                <a:gd name="T3" fmla="*/ 4 h 322"/>
                <a:gd name="T4" fmla="*/ 990 w 990"/>
                <a:gd name="T5" fmla="*/ 322 h 322"/>
                <a:gd name="T6" fmla="*/ 0 60000 65536"/>
                <a:gd name="T7" fmla="*/ 0 60000 65536"/>
                <a:gd name="T8" fmla="*/ 0 60000 65536"/>
                <a:gd name="T9" fmla="*/ 0 w 990"/>
                <a:gd name="T10" fmla="*/ 0 h 322"/>
                <a:gd name="T11" fmla="*/ 990 w 990"/>
                <a:gd name="T12" fmla="*/ 322 h 32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90" h="322">
                  <a:moveTo>
                    <a:pt x="0" y="298"/>
                  </a:moveTo>
                  <a:cubicBezTo>
                    <a:pt x="172" y="149"/>
                    <a:pt x="345" y="0"/>
                    <a:pt x="510" y="4"/>
                  </a:cubicBezTo>
                  <a:cubicBezTo>
                    <a:pt x="675" y="8"/>
                    <a:pt x="832" y="165"/>
                    <a:pt x="990" y="322"/>
                  </a:cubicBezTo>
                </a:path>
              </a:pathLst>
            </a:custGeom>
            <a:noFill/>
            <a:ln w="9525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8" name="Group 31"/>
          <p:cNvGrpSpPr>
            <a:grpSpLocks/>
          </p:cNvGrpSpPr>
          <p:nvPr/>
        </p:nvGrpSpPr>
        <p:grpSpPr bwMode="auto">
          <a:xfrm>
            <a:off x="3238501" y="2933701"/>
            <a:ext cx="790575" cy="2384425"/>
            <a:chOff x="1080" y="1932"/>
            <a:chExt cx="498" cy="1502"/>
          </a:xfrm>
        </p:grpSpPr>
        <p:sp>
          <p:nvSpPr>
            <p:cNvPr id="4125" name="Oval 32"/>
            <p:cNvSpPr>
              <a:spLocks noChangeArrowheads="1"/>
            </p:cNvSpPr>
            <p:nvPr/>
          </p:nvSpPr>
          <p:spPr bwMode="auto">
            <a:xfrm>
              <a:off x="1080" y="1932"/>
              <a:ext cx="498" cy="1038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4126" name="Text Box 33"/>
            <p:cNvSpPr txBox="1">
              <a:spLocks noChangeArrowheads="1"/>
            </p:cNvSpPr>
            <p:nvPr/>
          </p:nvSpPr>
          <p:spPr bwMode="auto">
            <a:xfrm>
              <a:off x="1208" y="3146"/>
              <a:ext cx="27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s-ES" sz="2400" b="1">
                  <a:solidFill>
                    <a:srgbClr val="FFFF00"/>
                  </a:solidFill>
                  <a:latin typeface="Times New Roman" charset="0"/>
                </a:rPr>
                <a:t>m</a:t>
              </a:r>
            </a:p>
          </p:txBody>
        </p:sp>
      </p:grpSp>
      <p:grpSp>
        <p:nvGrpSpPr>
          <p:cNvPr id="9" name="Group 34"/>
          <p:cNvGrpSpPr>
            <a:grpSpLocks/>
          </p:cNvGrpSpPr>
          <p:nvPr/>
        </p:nvGrpSpPr>
        <p:grpSpPr bwMode="auto">
          <a:xfrm>
            <a:off x="8515351" y="2705100"/>
            <a:ext cx="790575" cy="2603500"/>
            <a:chOff x="4404" y="1788"/>
            <a:chExt cx="498" cy="1640"/>
          </a:xfrm>
        </p:grpSpPr>
        <p:sp>
          <p:nvSpPr>
            <p:cNvPr id="4123" name="Oval 35"/>
            <p:cNvSpPr>
              <a:spLocks noChangeArrowheads="1"/>
            </p:cNvSpPr>
            <p:nvPr/>
          </p:nvSpPr>
          <p:spPr bwMode="auto">
            <a:xfrm>
              <a:off x="4404" y="1788"/>
              <a:ext cx="498" cy="1254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4124" name="Text Box 36"/>
            <p:cNvSpPr txBox="1">
              <a:spLocks noChangeArrowheads="1"/>
            </p:cNvSpPr>
            <p:nvPr/>
          </p:nvSpPr>
          <p:spPr bwMode="auto">
            <a:xfrm>
              <a:off x="4550" y="3140"/>
              <a:ext cx="297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s-ES" sz="2400" b="1">
                  <a:solidFill>
                    <a:srgbClr val="FFFF00"/>
                  </a:solidFill>
                  <a:latin typeface="Times New Roman" charset="0"/>
                </a:rPr>
                <a:t>M</a:t>
              </a:r>
            </a:p>
          </p:txBody>
        </p:sp>
      </p:grpSp>
      <p:grpSp>
        <p:nvGrpSpPr>
          <p:cNvPr id="10" name="Group 37"/>
          <p:cNvGrpSpPr>
            <a:grpSpLocks/>
          </p:cNvGrpSpPr>
          <p:nvPr/>
        </p:nvGrpSpPr>
        <p:grpSpPr bwMode="auto">
          <a:xfrm>
            <a:off x="6076950" y="2914651"/>
            <a:ext cx="2286000" cy="2403475"/>
            <a:chOff x="2868" y="1920"/>
            <a:chExt cx="1440" cy="1514"/>
          </a:xfrm>
        </p:grpSpPr>
        <p:sp>
          <p:nvSpPr>
            <p:cNvPr id="4121" name="Oval 38"/>
            <p:cNvSpPr>
              <a:spLocks noChangeArrowheads="1"/>
            </p:cNvSpPr>
            <p:nvPr/>
          </p:nvSpPr>
          <p:spPr bwMode="auto">
            <a:xfrm>
              <a:off x="2868" y="1920"/>
              <a:ext cx="1440" cy="1038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4122" name="Text Box 39"/>
            <p:cNvSpPr txBox="1">
              <a:spLocks noChangeArrowheads="1"/>
            </p:cNvSpPr>
            <p:nvPr/>
          </p:nvSpPr>
          <p:spPr bwMode="auto">
            <a:xfrm>
              <a:off x="3512" y="3146"/>
              <a:ext cx="23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s-ES" sz="2400" b="1">
                  <a:solidFill>
                    <a:srgbClr val="FFFF00"/>
                  </a:solidFill>
                  <a:latin typeface="Times New Roman" charset="0"/>
                </a:rPr>
                <a:t>P</a:t>
              </a:r>
            </a:p>
          </p:txBody>
        </p:sp>
      </p:grpSp>
      <p:grpSp>
        <p:nvGrpSpPr>
          <p:cNvPr id="11" name="Group 40"/>
          <p:cNvGrpSpPr>
            <a:grpSpLocks/>
          </p:cNvGrpSpPr>
          <p:nvPr/>
        </p:nvGrpSpPr>
        <p:grpSpPr bwMode="auto">
          <a:xfrm>
            <a:off x="4508500" y="4918082"/>
            <a:ext cx="3805238" cy="357188"/>
            <a:chOff x="1880" y="3182"/>
            <a:chExt cx="2397" cy="225"/>
          </a:xfrm>
        </p:grpSpPr>
        <p:sp>
          <p:nvSpPr>
            <p:cNvPr id="4119" name="Text Box 41"/>
            <p:cNvSpPr txBox="1">
              <a:spLocks noChangeArrowheads="1"/>
            </p:cNvSpPr>
            <p:nvPr/>
          </p:nvSpPr>
          <p:spPr bwMode="auto">
            <a:xfrm>
              <a:off x="1880" y="3182"/>
              <a:ext cx="1079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s-ES" sz="1600" dirty="0" err="1">
                  <a:solidFill>
                    <a:srgbClr val="FFCC66"/>
                  </a:solidFill>
                  <a:latin typeface="Gill Sans MT" panose="020B0502020104020203" pitchFamily="34" charset="77"/>
                </a:rPr>
                <a:t>is</a:t>
              </a:r>
              <a:r>
                <a:rPr lang="es-ES" sz="1600" dirty="0">
                  <a:solidFill>
                    <a:srgbClr val="FFCC66"/>
                  </a:solidFill>
                  <a:latin typeface="Gill Sans MT" panose="020B0502020104020203" pitchFamily="34" charset="77"/>
                </a:rPr>
                <a:t>  </a:t>
              </a:r>
              <a:r>
                <a:rPr lang="es-ES" sz="1600" dirty="0" err="1">
                  <a:solidFill>
                    <a:srgbClr val="FFCC66"/>
                  </a:solidFill>
                  <a:latin typeface="Gill Sans MT" panose="020B0502020104020203" pitchFamily="34" charset="77"/>
                </a:rPr>
                <a:t>proportional</a:t>
              </a:r>
              <a:r>
                <a:rPr lang="es-ES" sz="1600" dirty="0">
                  <a:solidFill>
                    <a:srgbClr val="FFCC66"/>
                  </a:solidFill>
                  <a:latin typeface="Gill Sans MT" panose="020B0502020104020203" pitchFamily="34" charset="77"/>
                </a:rPr>
                <a:t> </a:t>
              </a:r>
              <a:r>
                <a:rPr lang="es-ES" sz="1600" dirty="0" err="1">
                  <a:solidFill>
                    <a:srgbClr val="FFCC66"/>
                  </a:solidFill>
                  <a:latin typeface="Gill Sans MT" panose="020B0502020104020203" pitchFamily="34" charset="77"/>
                </a:rPr>
                <a:t>to</a:t>
              </a:r>
              <a:endParaRPr lang="es-ES" sz="1600" dirty="0">
                <a:solidFill>
                  <a:srgbClr val="FFCC66"/>
                </a:solidFill>
                <a:latin typeface="Gill Sans MT" panose="020B0502020104020203" pitchFamily="34" charset="77"/>
              </a:endParaRPr>
            </a:p>
          </p:txBody>
        </p:sp>
        <p:sp>
          <p:nvSpPr>
            <p:cNvPr id="4120" name="Rectangle 42"/>
            <p:cNvSpPr>
              <a:spLocks noChangeArrowheads="1"/>
            </p:cNvSpPr>
            <p:nvPr/>
          </p:nvSpPr>
          <p:spPr bwMode="auto">
            <a:xfrm>
              <a:off x="4101" y="3194"/>
              <a:ext cx="176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s-ES" sz="1600" dirty="0">
                  <a:solidFill>
                    <a:srgbClr val="FFCC66"/>
                  </a:solidFill>
                  <a:latin typeface="Gill Sans MT" panose="020B0502020104020203" pitchFamily="34" charset="77"/>
                </a:rPr>
                <a:t>*</a:t>
              </a:r>
            </a:p>
          </p:txBody>
        </p:sp>
      </p:grpSp>
      <p:grpSp>
        <p:nvGrpSpPr>
          <p:cNvPr id="12" name="Group 43"/>
          <p:cNvGrpSpPr>
            <a:grpSpLocks/>
          </p:cNvGrpSpPr>
          <p:nvPr/>
        </p:nvGrpSpPr>
        <p:grpSpPr bwMode="auto">
          <a:xfrm>
            <a:off x="5086350" y="5653088"/>
            <a:ext cx="1290638" cy="538162"/>
            <a:chOff x="2136" y="3459"/>
            <a:chExt cx="1245" cy="525"/>
          </a:xfrm>
        </p:grpSpPr>
        <p:sp>
          <p:nvSpPr>
            <p:cNvPr id="4118" name="Rectangle 44"/>
            <p:cNvSpPr>
              <a:spLocks noChangeArrowheads="1"/>
            </p:cNvSpPr>
            <p:nvPr/>
          </p:nvSpPr>
          <p:spPr bwMode="auto">
            <a:xfrm>
              <a:off x="2136" y="3462"/>
              <a:ext cx="1242" cy="522"/>
            </a:xfrm>
            <a:prstGeom prst="rect">
              <a:avLst/>
            </a:prstGeom>
            <a:solidFill>
              <a:srgbClr val="777777"/>
            </a:soli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777777"/>
              </a:extrusionClr>
            </a:sp3d>
          </p:spPr>
          <p:txBody>
            <a:bodyPr wrap="none" anchor="ctr">
              <a:prstTxWarp prst="textNoShape">
                <a:avLst/>
              </a:prstTxWarp>
              <a:flatTx/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graphicFrame>
          <p:nvGraphicFramePr>
            <p:cNvPr id="4100" name="Object 45"/>
            <p:cNvGraphicFramePr>
              <a:graphicFrameLocks noChangeAspect="1"/>
            </p:cNvGraphicFramePr>
            <p:nvPr/>
          </p:nvGraphicFramePr>
          <p:xfrm>
            <a:off x="2139" y="3459"/>
            <a:ext cx="1242" cy="5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Fotografía de Photo Editor" r:id="rId7" imgW="1971950" imgH="828791" progId="">
                    <p:embed/>
                  </p:oleObj>
                </mc:Choice>
                <mc:Fallback>
                  <p:oleObj name="Fotografía de Photo Editor" r:id="rId7" imgW="1971950" imgH="828791" progId="">
                    <p:embed/>
                    <p:pic>
                      <p:nvPicPr>
                        <p:cNvPr id="4100" name="Object 4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39" y="3459"/>
                          <a:ext cx="1242" cy="5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=""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=""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99822" name="Freeform 46"/>
          <p:cNvSpPr>
            <a:spLocks/>
          </p:cNvSpPr>
          <p:nvPr/>
        </p:nvSpPr>
        <p:spPr bwMode="auto">
          <a:xfrm>
            <a:off x="4229100" y="620714"/>
            <a:ext cx="4794250" cy="2224087"/>
          </a:xfrm>
          <a:custGeom>
            <a:avLst/>
            <a:gdLst>
              <a:gd name="T0" fmla="*/ 1864 w 3020"/>
              <a:gd name="T1" fmla="*/ 265 h 1401"/>
              <a:gd name="T2" fmla="*/ 1696 w 3020"/>
              <a:gd name="T3" fmla="*/ 697 h 1401"/>
              <a:gd name="T4" fmla="*/ 1936 w 3020"/>
              <a:gd name="T5" fmla="*/ 1193 h 1401"/>
              <a:gd name="T6" fmla="*/ 2880 w 3020"/>
              <a:gd name="T7" fmla="*/ 1001 h 1401"/>
              <a:gd name="T8" fmla="*/ 2776 w 3020"/>
              <a:gd name="T9" fmla="*/ 241 h 1401"/>
              <a:gd name="T10" fmla="*/ 1616 w 3020"/>
              <a:gd name="T11" fmla="*/ 193 h 1401"/>
              <a:gd name="T12" fmla="*/ 0 w 3020"/>
              <a:gd name="T13" fmla="*/ 1401 h 140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020"/>
              <a:gd name="T22" fmla="*/ 0 h 1401"/>
              <a:gd name="T23" fmla="*/ 3020 w 3020"/>
              <a:gd name="T24" fmla="*/ 1401 h 140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020" h="1401">
                <a:moveTo>
                  <a:pt x="1864" y="265"/>
                </a:moveTo>
                <a:cubicBezTo>
                  <a:pt x="1836" y="337"/>
                  <a:pt x="1684" y="542"/>
                  <a:pt x="1696" y="697"/>
                </a:cubicBezTo>
                <a:cubicBezTo>
                  <a:pt x="1708" y="852"/>
                  <a:pt x="1739" y="1142"/>
                  <a:pt x="1936" y="1193"/>
                </a:cubicBezTo>
                <a:cubicBezTo>
                  <a:pt x="2133" y="1244"/>
                  <a:pt x="2740" y="1160"/>
                  <a:pt x="2880" y="1001"/>
                </a:cubicBezTo>
                <a:cubicBezTo>
                  <a:pt x="3020" y="842"/>
                  <a:pt x="2987" y="376"/>
                  <a:pt x="2776" y="241"/>
                </a:cubicBezTo>
                <a:cubicBezTo>
                  <a:pt x="2565" y="106"/>
                  <a:pt x="2079" y="0"/>
                  <a:pt x="1616" y="193"/>
                </a:cubicBezTo>
                <a:cubicBezTo>
                  <a:pt x="1153" y="386"/>
                  <a:pt x="576" y="893"/>
                  <a:pt x="0" y="1401"/>
                </a:cubicBezTo>
              </a:path>
            </a:pathLst>
          </a:custGeom>
          <a:noFill/>
          <a:ln w="9525">
            <a:solidFill>
              <a:srgbClr val="00FF00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46" name="Rectangle 71"/>
          <p:cNvSpPr>
            <a:spLocks noChangeArrowheads="1"/>
          </p:cNvSpPr>
          <p:nvPr/>
        </p:nvSpPr>
        <p:spPr bwMode="auto">
          <a:xfrm>
            <a:off x="1524000" y="1"/>
            <a:ext cx="336752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" sz="2400" dirty="0">
                <a:solidFill>
                  <a:schemeClr val="bg1"/>
                </a:solidFill>
                <a:latin typeface="Gill Sans MT" panose="020B0502020104020203" pitchFamily="34" charset="77"/>
              </a:rPr>
              <a:t>[ </a:t>
            </a:r>
            <a:r>
              <a:rPr lang="es-ES" sz="2400" dirty="0" err="1">
                <a:solidFill>
                  <a:schemeClr val="bg1"/>
                </a:solidFill>
                <a:latin typeface="Gill Sans MT" panose="020B0502020104020203" pitchFamily="34" charset="77"/>
              </a:rPr>
              <a:t>Perspective</a:t>
            </a:r>
            <a:r>
              <a:rPr lang="es-ES" sz="2400" dirty="0">
                <a:solidFill>
                  <a:schemeClr val="bg1"/>
                </a:solidFill>
                <a:latin typeface="Gill Sans MT" panose="020B0502020104020203" pitchFamily="34" charset="77"/>
              </a:rPr>
              <a:t> </a:t>
            </a:r>
            <a:r>
              <a:rPr lang="es-ES" sz="2400" dirty="0" err="1">
                <a:solidFill>
                  <a:schemeClr val="bg1"/>
                </a:solidFill>
                <a:latin typeface="Gill Sans MT" panose="020B0502020104020203" pitchFamily="34" charset="77"/>
              </a:rPr>
              <a:t>Projection</a:t>
            </a:r>
            <a:r>
              <a:rPr lang="es-ES" sz="2400" dirty="0">
                <a:solidFill>
                  <a:schemeClr val="bg1"/>
                </a:solidFill>
                <a:latin typeface="Gill Sans MT" panose="020B0502020104020203" pitchFamily="34" charset="77"/>
              </a:rPr>
              <a:t> ]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FEF3D2-0C3C-24E9-8A86-1708C2A93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CV02C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B0EC361-2A10-0BC6-8F88-14C8FD38D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18</a:t>
            </a:fld>
            <a:endParaRPr lang="en-CL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99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99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3" dur="500"/>
                                        <p:tgtEl>
                                          <p:spTgt spid="1099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99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99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9799" grpId="0" autoUpdateAnimBg="0"/>
      <p:bldP spid="1099800" grpId="0" autoUpdateAnimBg="0"/>
      <p:bldP spid="109982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Picture 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0231" y="525187"/>
            <a:ext cx="7476918" cy="3570564"/>
          </a:xfrm>
          <a:prstGeom prst="rect">
            <a:avLst/>
          </a:prstGeom>
        </p:spPr>
      </p:pic>
      <p:sp>
        <p:nvSpPr>
          <p:cNvPr id="4" name="CuadroTexto 3"/>
          <p:cNvSpPr txBox="1"/>
          <p:nvPr/>
        </p:nvSpPr>
        <p:spPr>
          <a:xfrm>
            <a:off x="4254466" y="5175236"/>
            <a:ext cx="13821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 err="1">
                <a:latin typeface="Gill Sans MT" panose="020B0502020104020203" pitchFamily="34" charset="77"/>
              </a:rPr>
              <a:t>Matrix</a:t>
            </a:r>
            <a:r>
              <a:rPr lang="es-ES_tradnl" dirty="0">
                <a:latin typeface="Gill Sans MT" panose="020B0502020104020203" pitchFamily="34" charset="77"/>
              </a:rPr>
              <a:t> P = ?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037661" y="1153584"/>
            <a:ext cx="1023165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Gill Sans MT" panose="020B0502020104020203" pitchFamily="34" charset="77"/>
                <a:cs typeface="Trebuchet MS"/>
              </a:rPr>
              <a:t>focal distance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50730" y="3052234"/>
            <a:ext cx="1045479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Gill Sans MT" panose="020B0502020104020203" pitchFamily="34" charset="77"/>
                <a:cs typeface="Trebuchet MS"/>
              </a:rPr>
              <a:t>optical center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08125" y="3437467"/>
            <a:ext cx="1060868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Gill Sans MT" panose="020B0502020104020203" pitchFamily="34" charset="77"/>
                <a:cs typeface="Trebuchet MS"/>
              </a:rPr>
              <a:t>2D projection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519" y="3314704"/>
            <a:ext cx="763400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Gill Sans MT" panose="020B0502020104020203" pitchFamily="34" charset="77"/>
                <a:cs typeface="Trebuchet MS"/>
              </a:rPr>
              <a:t>3D point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91582" y="2662769"/>
            <a:ext cx="877163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Gill Sans MT" panose="020B0502020104020203" pitchFamily="34" charset="77"/>
                <a:cs typeface="Trebuchet MS"/>
              </a:rPr>
              <a:t>optical axis</a:t>
            </a:r>
          </a:p>
        </p:txBody>
      </p:sp>
      <p:sp>
        <p:nvSpPr>
          <p:cNvPr id="9" name="TextBox 8"/>
          <p:cNvSpPr txBox="1"/>
          <p:nvPr/>
        </p:nvSpPr>
        <p:spPr>
          <a:xfrm rot="19405773">
            <a:off x="6099388" y="1944445"/>
            <a:ext cx="1154483" cy="261610"/>
          </a:xfrm>
          <a:prstGeom prst="rect">
            <a:avLst/>
          </a:prstGeom>
          <a:solidFill>
            <a:srgbClr val="F6AC53"/>
          </a:solidFill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Gill Sans MT" panose="020B0502020104020203" pitchFamily="34" charset="77"/>
                <a:cs typeface="Trebuchet MS"/>
              </a:rPr>
              <a:t>Projection plane </a:t>
            </a:r>
          </a:p>
        </p:txBody>
      </p:sp>
      <p:pic>
        <p:nvPicPr>
          <p:cNvPr id="11" name="Picture 10" descr="Screen Shot 2014-11-13 at 5.22.23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4668" y="4633371"/>
            <a:ext cx="2580217" cy="1602156"/>
          </a:xfrm>
          <a:prstGeom prst="rect">
            <a:avLst/>
          </a:prstGeom>
        </p:spPr>
      </p:pic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8EFFC384-7E27-1DCF-AEC2-69D22DA0A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CV02C</a:t>
            </a:r>
            <a:endParaRPr lang="en-CL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0235845-B19C-3606-1F32-DE3A07F13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19</a:t>
            </a:fld>
            <a:endParaRPr lang="en-CL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Picture 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4168" y="127002"/>
            <a:ext cx="7503583" cy="4402665"/>
          </a:xfrm>
          <a:prstGeom prst="rect">
            <a:avLst/>
          </a:prstGeom>
        </p:spPr>
      </p:pic>
      <p:sp>
        <p:nvSpPr>
          <p:cNvPr id="7" name="Rectángulo 6"/>
          <p:cNvSpPr/>
          <p:nvPr/>
        </p:nvSpPr>
        <p:spPr>
          <a:xfrm>
            <a:off x="4296834" y="4042833"/>
            <a:ext cx="1957917" cy="381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5" name="CuadroTexto 3"/>
          <p:cNvSpPr txBox="1"/>
          <p:nvPr/>
        </p:nvSpPr>
        <p:spPr>
          <a:xfrm>
            <a:off x="4254466" y="5175236"/>
            <a:ext cx="13821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 err="1">
                <a:latin typeface="Gill Sans MT" panose="020B0502020104020203" pitchFamily="34" charset="77"/>
              </a:rPr>
              <a:t>Matrix</a:t>
            </a:r>
            <a:r>
              <a:rPr lang="es-ES_tradnl" dirty="0">
                <a:latin typeface="Gill Sans MT" panose="020B0502020104020203" pitchFamily="34" charset="77"/>
              </a:rPr>
              <a:t> P = ? 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5854668" y="4529667"/>
            <a:ext cx="2580217" cy="1705861"/>
            <a:chOff x="4330667" y="4529666"/>
            <a:chExt cx="2580217" cy="1705861"/>
          </a:xfrm>
        </p:grpSpPr>
        <p:pic>
          <p:nvPicPr>
            <p:cNvPr id="8" name="Picture 7" descr="Screen Shot 2014-11-13 at 5.22.23 PM.png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0667" y="4633371"/>
              <a:ext cx="2580217" cy="1602156"/>
            </a:xfrm>
            <a:prstGeom prst="rect">
              <a:avLst/>
            </a:prstGeom>
          </p:spPr>
        </p:pic>
        <p:grpSp>
          <p:nvGrpSpPr>
            <p:cNvPr id="3" name="Group 2"/>
            <p:cNvGrpSpPr/>
            <p:nvPr/>
          </p:nvGrpSpPr>
          <p:grpSpPr>
            <a:xfrm>
              <a:off x="4572102" y="4529666"/>
              <a:ext cx="888874" cy="1188359"/>
              <a:chOff x="4572102" y="4529666"/>
              <a:chExt cx="888874" cy="1188359"/>
            </a:xfrm>
          </p:grpSpPr>
          <p:sp>
            <p:nvSpPr>
              <p:cNvPr id="2" name="TextBox 1"/>
              <p:cNvSpPr txBox="1"/>
              <p:nvPr/>
            </p:nvSpPr>
            <p:spPr>
              <a:xfrm>
                <a:off x="4572102" y="4529666"/>
                <a:ext cx="355486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4000" dirty="0">
                    <a:solidFill>
                      <a:srgbClr val="FF0000"/>
                    </a:solidFill>
                    <a:latin typeface="Times"/>
                    <a:cs typeface="Times"/>
                  </a:rPr>
                  <a:t>-</a:t>
                </a:r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5105490" y="5010139"/>
                <a:ext cx="355486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4000" dirty="0">
                    <a:solidFill>
                      <a:srgbClr val="FF0000"/>
                    </a:solidFill>
                    <a:latin typeface="Times"/>
                    <a:cs typeface="Times"/>
                  </a:rPr>
                  <a:t>-</a:t>
                </a:r>
              </a:p>
            </p:txBody>
          </p:sp>
        </p:grp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08197C-610C-E597-2CBB-69DFA1AF6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CV02C</a:t>
            </a:r>
            <a:endParaRPr lang="en-CL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E93485B-F9B2-48F7-E663-0FACC496A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20</a:t>
            </a:fld>
            <a:endParaRPr lang="en-CL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65000"/>
            <a:lumOff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5" name="Line 4"/>
          <p:cNvSpPr>
            <a:spLocks noChangeShapeType="1"/>
          </p:cNvSpPr>
          <p:nvPr/>
        </p:nvSpPr>
        <p:spPr bwMode="auto">
          <a:xfrm flipH="1" flipV="1">
            <a:off x="9299576" y="862014"/>
            <a:ext cx="9525" cy="2941637"/>
          </a:xfrm>
          <a:prstGeom prst="line">
            <a:avLst/>
          </a:prstGeom>
          <a:noFill/>
          <a:ln w="19050">
            <a:solidFill>
              <a:srgbClr val="FFCC66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5126" name="Line 5"/>
          <p:cNvSpPr>
            <a:spLocks noChangeShapeType="1"/>
          </p:cNvSpPr>
          <p:nvPr/>
        </p:nvSpPr>
        <p:spPr bwMode="auto">
          <a:xfrm flipH="1">
            <a:off x="7632701" y="3829050"/>
            <a:ext cx="1654175" cy="1606550"/>
          </a:xfrm>
          <a:prstGeom prst="line">
            <a:avLst/>
          </a:prstGeom>
          <a:noFill/>
          <a:ln w="28575">
            <a:solidFill>
              <a:srgbClr val="FFCC66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5127" name="Text Box 6"/>
          <p:cNvSpPr txBox="1">
            <a:spLocks noChangeArrowheads="1"/>
          </p:cNvSpPr>
          <p:nvPr/>
        </p:nvSpPr>
        <p:spPr bwMode="auto">
          <a:xfrm>
            <a:off x="7612064" y="5365751"/>
            <a:ext cx="3968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sz="2000" i="1">
                <a:solidFill>
                  <a:srgbClr val="FFFF00"/>
                </a:solidFill>
                <a:latin typeface="Times New Roman" charset="0"/>
              </a:rPr>
              <a:t>y</a:t>
            </a:r>
          </a:p>
        </p:txBody>
      </p:sp>
      <p:sp>
        <p:nvSpPr>
          <p:cNvPr id="5128" name="Text Box 7"/>
          <p:cNvSpPr txBox="1">
            <a:spLocks noChangeArrowheads="1"/>
          </p:cNvSpPr>
          <p:nvPr/>
        </p:nvSpPr>
        <p:spPr bwMode="auto">
          <a:xfrm>
            <a:off x="9332914" y="912814"/>
            <a:ext cx="3968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sz="2000" i="1">
                <a:solidFill>
                  <a:srgbClr val="FFFF00"/>
                </a:solidFill>
                <a:latin typeface="Times New Roman" charset="0"/>
              </a:rPr>
              <a:t>x</a:t>
            </a:r>
          </a:p>
        </p:txBody>
      </p:sp>
      <p:sp>
        <p:nvSpPr>
          <p:cNvPr id="5129" name="Line 8"/>
          <p:cNvSpPr>
            <a:spLocks noChangeShapeType="1"/>
          </p:cNvSpPr>
          <p:nvPr/>
        </p:nvSpPr>
        <p:spPr bwMode="auto">
          <a:xfrm flipV="1">
            <a:off x="3457575" y="2943226"/>
            <a:ext cx="4781550" cy="866775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5130" name="AutoShape 9"/>
          <p:cNvSpPr>
            <a:spLocks noChangeArrowheads="1"/>
          </p:cNvSpPr>
          <p:nvPr/>
        </p:nvSpPr>
        <p:spPr bwMode="auto">
          <a:xfrm rot="5400000" flipH="1">
            <a:off x="7270750" y="2851150"/>
            <a:ext cx="2971800" cy="1079500"/>
          </a:xfrm>
          <a:prstGeom prst="parallelogram">
            <a:avLst>
              <a:gd name="adj" fmla="val 97054"/>
            </a:avLst>
          </a:prstGeom>
          <a:noFill/>
          <a:ln w="9525">
            <a:solidFill>
              <a:srgbClr val="FFFF00"/>
            </a:solidFill>
            <a:prstDash val="dash"/>
            <a:miter lim="800000"/>
            <a:headEnd/>
            <a:tailEnd/>
          </a:ln>
        </p:spPr>
        <p:txBody>
          <a:bodyPr rot="10800000" vert="eaVert" wrap="none" anchor="ctr">
            <a:prstTxWarp prst="textNoShape">
              <a:avLst/>
            </a:prstTxWarp>
          </a:bodyPr>
          <a:lstStyle/>
          <a:p>
            <a:pPr algn="ctr" eaLnBrk="0" hangingPunct="0"/>
            <a:endParaRPr lang="es-ES" sz="2400" dirty="0">
              <a:latin typeface="Gill Sans MT" panose="020B0502020104020203" pitchFamily="34" charset="77"/>
            </a:endParaRPr>
          </a:p>
        </p:txBody>
      </p:sp>
      <p:sp>
        <p:nvSpPr>
          <p:cNvPr id="5131" name="Line 10"/>
          <p:cNvSpPr>
            <a:spLocks noChangeShapeType="1"/>
          </p:cNvSpPr>
          <p:nvPr/>
        </p:nvSpPr>
        <p:spPr bwMode="auto">
          <a:xfrm flipV="1">
            <a:off x="3448050" y="1447800"/>
            <a:ext cx="0" cy="251460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5132" name="Line 11"/>
          <p:cNvSpPr>
            <a:spLocks noChangeShapeType="1"/>
          </p:cNvSpPr>
          <p:nvPr/>
        </p:nvSpPr>
        <p:spPr bwMode="auto">
          <a:xfrm>
            <a:off x="3295650" y="3810000"/>
            <a:ext cx="7067550" cy="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5133" name="Line 12"/>
          <p:cNvSpPr>
            <a:spLocks noChangeShapeType="1"/>
          </p:cNvSpPr>
          <p:nvPr/>
        </p:nvSpPr>
        <p:spPr bwMode="auto">
          <a:xfrm flipH="1">
            <a:off x="2584450" y="3562350"/>
            <a:ext cx="1111250" cy="113030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5134" name="Text Box 13"/>
          <p:cNvSpPr txBox="1">
            <a:spLocks noChangeArrowheads="1"/>
          </p:cNvSpPr>
          <p:nvPr/>
        </p:nvSpPr>
        <p:spPr bwMode="auto">
          <a:xfrm>
            <a:off x="2162176" y="4557714"/>
            <a:ext cx="3968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sz="2000" i="1">
                <a:solidFill>
                  <a:srgbClr val="FFFF00"/>
                </a:solidFill>
                <a:latin typeface="Times New Roman" charset="0"/>
              </a:rPr>
              <a:t>Y</a:t>
            </a:r>
          </a:p>
        </p:txBody>
      </p:sp>
      <p:sp>
        <p:nvSpPr>
          <p:cNvPr id="5135" name="Text Box 14"/>
          <p:cNvSpPr txBox="1">
            <a:spLocks noChangeArrowheads="1"/>
          </p:cNvSpPr>
          <p:nvPr/>
        </p:nvSpPr>
        <p:spPr bwMode="auto">
          <a:xfrm>
            <a:off x="3471864" y="1238251"/>
            <a:ext cx="3968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sz="2000" i="1">
                <a:solidFill>
                  <a:srgbClr val="FFFF00"/>
                </a:solidFill>
                <a:latin typeface="Times New Roman" charset="0"/>
              </a:rPr>
              <a:t>X</a:t>
            </a:r>
          </a:p>
        </p:txBody>
      </p:sp>
      <p:sp>
        <p:nvSpPr>
          <p:cNvPr id="5136" name="Text Box 15"/>
          <p:cNvSpPr txBox="1">
            <a:spLocks noChangeArrowheads="1"/>
          </p:cNvSpPr>
          <p:nvPr/>
        </p:nvSpPr>
        <p:spPr bwMode="auto">
          <a:xfrm>
            <a:off x="10066339" y="3417889"/>
            <a:ext cx="3968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sz="2000" i="1">
                <a:solidFill>
                  <a:srgbClr val="FFFF00"/>
                </a:solidFill>
                <a:latin typeface="Times New Roman" charset="0"/>
              </a:rPr>
              <a:t>Z</a:t>
            </a:r>
          </a:p>
        </p:txBody>
      </p:sp>
      <p:sp>
        <p:nvSpPr>
          <p:cNvPr id="5137" name="Text Box 16"/>
          <p:cNvSpPr txBox="1">
            <a:spLocks noChangeArrowheads="1"/>
          </p:cNvSpPr>
          <p:nvPr/>
        </p:nvSpPr>
        <p:spPr bwMode="auto">
          <a:xfrm>
            <a:off x="8288339" y="2849564"/>
            <a:ext cx="8540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sz="2000" i="1">
                <a:solidFill>
                  <a:srgbClr val="FFFF00"/>
                </a:solidFill>
                <a:latin typeface="Times New Roman" charset="0"/>
              </a:rPr>
              <a:t>(x,y)</a:t>
            </a:r>
          </a:p>
        </p:txBody>
      </p:sp>
      <p:sp>
        <p:nvSpPr>
          <p:cNvPr id="5138" name="Text Box 17"/>
          <p:cNvSpPr txBox="1">
            <a:spLocks noChangeArrowheads="1"/>
          </p:cNvSpPr>
          <p:nvPr/>
        </p:nvSpPr>
        <p:spPr bwMode="auto">
          <a:xfrm>
            <a:off x="6088063" y="1362076"/>
            <a:ext cx="2540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sz="2000" i="1">
                <a:solidFill>
                  <a:srgbClr val="FFFF00"/>
                </a:solidFill>
                <a:latin typeface="Times New Roman" charset="0"/>
              </a:rPr>
              <a:t>f</a:t>
            </a:r>
          </a:p>
        </p:txBody>
      </p:sp>
      <p:sp>
        <p:nvSpPr>
          <p:cNvPr id="5139" name="AutoShape 18"/>
          <p:cNvSpPr>
            <a:spLocks noChangeArrowheads="1"/>
          </p:cNvSpPr>
          <p:nvPr/>
        </p:nvSpPr>
        <p:spPr bwMode="auto">
          <a:xfrm rot="5400000" flipH="1">
            <a:off x="6578600" y="2527300"/>
            <a:ext cx="3975100" cy="1460500"/>
          </a:xfrm>
          <a:prstGeom prst="parallelogram">
            <a:avLst>
              <a:gd name="adj" fmla="val 95954"/>
            </a:avLst>
          </a:prstGeom>
          <a:noFill/>
          <a:ln w="28575">
            <a:solidFill>
              <a:srgbClr val="FFCC66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5140" name="Oval 19"/>
          <p:cNvSpPr>
            <a:spLocks noChangeArrowheads="1"/>
          </p:cNvSpPr>
          <p:nvPr/>
        </p:nvSpPr>
        <p:spPr bwMode="auto">
          <a:xfrm>
            <a:off x="3400425" y="3768725"/>
            <a:ext cx="88900" cy="889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5141" name="Text Box 20"/>
          <p:cNvSpPr txBox="1">
            <a:spLocks noChangeArrowheads="1"/>
          </p:cNvSpPr>
          <p:nvPr/>
        </p:nvSpPr>
        <p:spPr bwMode="auto">
          <a:xfrm>
            <a:off x="3403601" y="3851276"/>
            <a:ext cx="3968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sz="2000" i="1">
                <a:solidFill>
                  <a:srgbClr val="FFFF00"/>
                </a:solidFill>
                <a:latin typeface="Times New Roman" charset="0"/>
              </a:rPr>
              <a:t>C</a:t>
            </a:r>
          </a:p>
        </p:txBody>
      </p:sp>
      <p:sp>
        <p:nvSpPr>
          <p:cNvPr id="5142" name="Oval 21"/>
          <p:cNvSpPr>
            <a:spLocks noChangeArrowheads="1"/>
          </p:cNvSpPr>
          <p:nvPr/>
        </p:nvSpPr>
        <p:spPr bwMode="auto">
          <a:xfrm>
            <a:off x="8172450" y="2911475"/>
            <a:ext cx="88900" cy="889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5143" name="Text Box 22"/>
          <p:cNvSpPr txBox="1">
            <a:spLocks noChangeArrowheads="1"/>
          </p:cNvSpPr>
          <p:nvPr/>
        </p:nvSpPr>
        <p:spPr bwMode="auto">
          <a:xfrm>
            <a:off x="8013701" y="2527301"/>
            <a:ext cx="3968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sz="2000" i="1">
                <a:solidFill>
                  <a:srgbClr val="FFFF00"/>
                </a:solidFill>
                <a:latin typeface="Times New Roman" charset="0"/>
              </a:rPr>
              <a:t>m</a:t>
            </a:r>
          </a:p>
        </p:txBody>
      </p:sp>
      <p:sp>
        <p:nvSpPr>
          <p:cNvPr id="5144" name="Rectangle 23"/>
          <p:cNvSpPr>
            <a:spLocks noChangeArrowheads="1"/>
          </p:cNvSpPr>
          <p:nvPr/>
        </p:nvSpPr>
        <p:spPr bwMode="auto">
          <a:xfrm>
            <a:off x="8582026" y="2097089"/>
            <a:ext cx="2968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sz="2000" i="1">
                <a:solidFill>
                  <a:srgbClr val="FFFF00"/>
                </a:solidFill>
                <a:latin typeface="Times New Roman" charset="0"/>
              </a:rPr>
              <a:t>y</a:t>
            </a:r>
            <a:endParaRPr lang="es-ES" sz="2000" i="1">
              <a:solidFill>
                <a:srgbClr val="FFFF00"/>
              </a:solidFill>
              <a:latin typeface="Times New Roman" charset="0"/>
            </a:endParaRPr>
          </a:p>
        </p:txBody>
      </p:sp>
      <p:sp>
        <p:nvSpPr>
          <p:cNvPr id="5145" name="Rectangle 24"/>
          <p:cNvSpPr>
            <a:spLocks noChangeArrowheads="1"/>
          </p:cNvSpPr>
          <p:nvPr/>
        </p:nvSpPr>
        <p:spPr bwMode="auto">
          <a:xfrm>
            <a:off x="8234363" y="3859214"/>
            <a:ext cx="296862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sz="2000" i="1">
                <a:solidFill>
                  <a:srgbClr val="FFFF00"/>
                </a:solidFill>
                <a:latin typeface="Times New Roman" charset="0"/>
              </a:rPr>
              <a:t>x</a:t>
            </a:r>
            <a:endParaRPr lang="es-ES" sz="2000" i="1">
              <a:solidFill>
                <a:srgbClr val="FFFF00"/>
              </a:solidFill>
              <a:latin typeface="Times New Roman" charset="0"/>
            </a:endParaRPr>
          </a:p>
        </p:txBody>
      </p:sp>
      <p:sp>
        <p:nvSpPr>
          <p:cNvPr id="5146" name="Line 25"/>
          <p:cNvSpPr>
            <a:spLocks noChangeShapeType="1"/>
          </p:cNvSpPr>
          <p:nvPr/>
        </p:nvSpPr>
        <p:spPr bwMode="auto">
          <a:xfrm>
            <a:off x="3448051" y="1752600"/>
            <a:ext cx="5865813" cy="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 type="triangle" w="med" len="med"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grpSp>
        <p:nvGrpSpPr>
          <p:cNvPr id="2" name="Group 26"/>
          <p:cNvGrpSpPr>
            <a:grpSpLocks/>
          </p:cNvGrpSpPr>
          <p:nvPr/>
        </p:nvGrpSpPr>
        <p:grpSpPr bwMode="auto">
          <a:xfrm>
            <a:off x="4813301" y="2571750"/>
            <a:ext cx="2733675" cy="1963738"/>
            <a:chOff x="2072" y="1620"/>
            <a:chExt cx="1722" cy="1237"/>
          </a:xfrm>
        </p:grpSpPr>
        <p:sp>
          <p:nvSpPr>
            <p:cNvPr id="5156" name="Text Box 27"/>
            <p:cNvSpPr txBox="1">
              <a:spLocks noChangeArrowheads="1"/>
            </p:cNvSpPr>
            <p:nvPr/>
          </p:nvSpPr>
          <p:spPr bwMode="auto">
            <a:xfrm>
              <a:off x="3060" y="2047"/>
              <a:ext cx="734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s-ES_tradnl" sz="2000" i="1" dirty="0">
                  <a:solidFill>
                    <a:srgbClr val="FFFF00"/>
                  </a:solidFill>
                  <a:latin typeface="Times New Roman" charset="0"/>
                </a:rPr>
                <a:t>(X',Y',Z')</a:t>
              </a:r>
            </a:p>
          </p:txBody>
        </p:sp>
        <p:sp>
          <p:nvSpPr>
            <p:cNvPr id="5157" name="Line 28"/>
            <p:cNvSpPr>
              <a:spLocks noChangeShapeType="1"/>
            </p:cNvSpPr>
            <p:nvPr/>
          </p:nvSpPr>
          <p:spPr bwMode="auto">
            <a:xfrm flipH="1" flipV="1">
              <a:off x="2292" y="1984"/>
              <a:ext cx="336" cy="44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prstDash val="dash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  <p:sp>
          <p:nvSpPr>
            <p:cNvPr id="5158" name="Line 29"/>
            <p:cNvSpPr>
              <a:spLocks noChangeShapeType="1"/>
            </p:cNvSpPr>
            <p:nvPr/>
          </p:nvSpPr>
          <p:spPr bwMode="auto">
            <a:xfrm flipV="1">
              <a:off x="2636" y="2072"/>
              <a:ext cx="400" cy="36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prstDash val="dash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  <p:sp>
          <p:nvSpPr>
            <p:cNvPr id="5159" name="Line 30"/>
            <p:cNvSpPr>
              <a:spLocks noChangeShapeType="1"/>
            </p:cNvSpPr>
            <p:nvPr/>
          </p:nvSpPr>
          <p:spPr bwMode="auto">
            <a:xfrm>
              <a:off x="2636" y="2440"/>
              <a:ext cx="0" cy="336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prstDash val="dash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  <p:sp>
          <p:nvSpPr>
            <p:cNvPr id="5160" name="Line 31"/>
            <p:cNvSpPr>
              <a:spLocks noChangeShapeType="1"/>
            </p:cNvSpPr>
            <p:nvPr/>
          </p:nvSpPr>
          <p:spPr bwMode="auto">
            <a:xfrm flipH="1" flipV="1">
              <a:off x="2684" y="1628"/>
              <a:ext cx="336" cy="44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prstDash val="dash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  <p:sp>
          <p:nvSpPr>
            <p:cNvPr id="5161" name="Line 32"/>
            <p:cNvSpPr>
              <a:spLocks noChangeShapeType="1"/>
            </p:cNvSpPr>
            <p:nvPr/>
          </p:nvSpPr>
          <p:spPr bwMode="auto">
            <a:xfrm flipV="1">
              <a:off x="2292" y="1620"/>
              <a:ext cx="400" cy="36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prstDash val="dash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  <p:sp>
          <p:nvSpPr>
            <p:cNvPr id="5162" name="Line 33"/>
            <p:cNvSpPr>
              <a:spLocks noChangeShapeType="1"/>
            </p:cNvSpPr>
            <p:nvPr/>
          </p:nvSpPr>
          <p:spPr bwMode="auto">
            <a:xfrm>
              <a:off x="3020" y="2072"/>
              <a:ext cx="0" cy="336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prstDash val="dash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  <p:sp>
          <p:nvSpPr>
            <p:cNvPr id="5163" name="Line 34"/>
            <p:cNvSpPr>
              <a:spLocks noChangeShapeType="1"/>
            </p:cNvSpPr>
            <p:nvPr/>
          </p:nvSpPr>
          <p:spPr bwMode="auto">
            <a:xfrm flipH="1" flipV="1">
              <a:off x="2288" y="2324"/>
              <a:ext cx="336" cy="44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prstDash val="dash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  <p:sp>
          <p:nvSpPr>
            <p:cNvPr id="5164" name="Line 35"/>
            <p:cNvSpPr>
              <a:spLocks noChangeShapeType="1"/>
            </p:cNvSpPr>
            <p:nvPr/>
          </p:nvSpPr>
          <p:spPr bwMode="auto">
            <a:xfrm flipV="1">
              <a:off x="2636" y="2396"/>
              <a:ext cx="400" cy="36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prstDash val="dash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  <p:sp>
          <p:nvSpPr>
            <p:cNvPr id="5165" name="Line 36"/>
            <p:cNvSpPr>
              <a:spLocks noChangeShapeType="1"/>
            </p:cNvSpPr>
            <p:nvPr/>
          </p:nvSpPr>
          <p:spPr bwMode="auto">
            <a:xfrm>
              <a:off x="2296" y="1988"/>
              <a:ext cx="0" cy="336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prstDash val="dash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  <p:sp>
          <p:nvSpPr>
            <p:cNvPr id="5166" name="Line 37"/>
            <p:cNvSpPr>
              <a:spLocks noChangeShapeType="1"/>
            </p:cNvSpPr>
            <p:nvPr/>
          </p:nvSpPr>
          <p:spPr bwMode="auto">
            <a:xfrm flipH="1" flipV="1">
              <a:off x="2676" y="1968"/>
              <a:ext cx="336" cy="44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prstDash val="dash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  <p:sp>
          <p:nvSpPr>
            <p:cNvPr id="5167" name="Line 38"/>
            <p:cNvSpPr>
              <a:spLocks noChangeShapeType="1"/>
            </p:cNvSpPr>
            <p:nvPr/>
          </p:nvSpPr>
          <p:spPr bwMode="auto">
            <a:xfrm flipV="1">
              <a:off x="2304" y="1964"/>
              <a:ext cx="400" cy="36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prstDash val="dash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  <p:sp>
          <p:nvSpPr>
            <p:cNvPr id="5168" name="Line 39"/>
            <p:cNvSpPr>
              <a:spLocks noChangeShapeType="1"/>
            </p:cNvSpPr>
            <p:nvPr/>
          </p:nvSpPr>
          <p:spPr bwMode="auto">
            <a:xfrm>
              <a:off x="2680" y="1652"/>
              <a:ext cx="0" cy="336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prstDash val="dash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  <p:sp>
          <p:nvSpPr>
            <p:cNvPr id="5169" name="Line 40"/>
            <p:cNvSpPr>
              <a:spLocks noChangeShapeType="1"/>
            </p:cNvSpPr>
            <p:nvPr/>
          </p:nvSpPr>
          <p:spPr bwMode="auto">
            <a:xfrm flipV="1">
              <a:off x="2292" y="1872"/>
              <a:ext cx="504" cy="460"/>
            </a:xfrm>
            <a:prstGeom prst="line">
              <a:avLst/>
            </a:prstGeom>
            <a:noFill/>
            <a:ln w="19050">
              <a:solidFill>
                <a:srgbClr val="00FF00"/>
              </a:solidFill>
              <a:round/>
              <a:headEnd/>
              <a:tailEnd type="triangle" w="med" len="med"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  <p:sp>
          <p:nvSpPr>
            <p:cNvPr id="5170" name="Line 41"/>
            <p:cNvSpPr>
              <a:spLocks noChangeShapeType="1"/>
            </p:cNvSpPr>
            <p:nvPr/>
          </p:nvSpPr>
          <p:spPr bwMode="auto">
            <a:xfrm flipH="1" flipV="1">
              <a:off x="2292" y="2328"/>
              <a:ext cx="336" cy="440"/>
            </a:xfrm>
            <a:prstGeom prst="line">
              <a:avLst/>
            </a:prstGeom>
            <a:noFill/>
            <a:ln w="19050">
              <a:solidFill>
                <a:srgbClr val="00FF00"/>
              </a:solidFill>
              <a:round/>
              <a:headEnd type="triangle" w="med" len="med"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  <p:sp>
          <p:nvSpPr>
            <p:cNvPr id="5171" name="Line 42"/>
            <p:cNvSpPr>
              <a:spLocks noChangeShapeType="1"/>
            </p:cNvSpPr>
            <p:nvPr/>
          </p:nvSpPr>
          <p:spPr bwMode="auto">
            <a:xfrm rot="10800000">
              <a:off x="2292" y="1860"/>
              <a:ext cx="0" cy="464"/>
            </a:xfrm>
            <a:prstGeom prst="line">
              <a:avLst/>
            </a:prstGeom>
            <a:noFill/>
            <a:ln w="19050">
              <a:solidFill>
                <a:srgbClr val="00FF00"/>
              </a:solidFill>
              <a:round/>
              <a:headEnd/>
              <a:tailEnd type="triangle" w="med" len="med"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  <p:sp>
          <p:nvSpPr>
            <p:cNvPr id="5172" name="Text Box 43"/>
            <p:cNvSpPr txBox="1">
              <a:spLocks noChangeArrowheads="1"/>
            </p:cNvSpPr>
            <p:nvPr/>
          </p:nvSpPr>
          <p:spPr bwMode="auto">
            <a:xfrm>
              <a:off x="2484" y="1839"/>
              <a:ext cx="24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s-ES_tradnl" sz="2000" i="1">
                  <a:solidFill>
                    <a:srgbClr val="FFFF00"/>
                  </a:solidFill>
                  <a:latin typeface="Times New Roman" charset="0"/>
                </a:rPr>
                <a:t>Y'</a:t>
              </a:r>
            </a:p>
          </p:txBody>
        </p:sp>
        <p:sp>
          <p:nvSpPr>
            <p:cNvPr id="5173" name="Text Box 44"/>
            <p:cNvSpPr txBox="1">
              <a:spLocks noChangeArrowheads="1"/>
            </p:cNvSpPr>
            <p:nvPr/>
          </p:nvSpPr>
          <p:spPr bwMode="auto">
            <a:xfrm>
              <a:off x="2072" y="1751"/>
              <a:ext cx="270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s-ES_tradnl" sz="2000" i="1">
                  <a:solidFill>
                    <a:srgbClr val="FFFF00"/>
                  </a:solidFill>
                  <a:latin typeface="Times New Roman" charset="0"/>
                </a:rPr>
                <a:t>Z'</a:t>
              </a:r>
            </a:p>
          </p:txBody>
        </p:sp>
        <p:sp>
          <p:nvSpPr>
            <p:cNvPr id="5174" name="Text Box 45"/>
            <p:cNvSpPr txBox="1">
              <a:spLocks noChangeArrowheads="1"/>
            </p:cNvSpPr>
            <p:nvPr/>
          </p:nvSpPr>
          <p:spPr bwMode="auto">
            <a:xfrm>
              <a:off x="2308" y="2607"/>
              <a:ext cx="278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s-ES_tradnl" sz="2000" i="1">
                  <a:solidFill>
                    <a:srgbClr val="FFFF00"/>
                  </a:solidFill>
                  <a:latin typeface="Times New Roman" charset="0"/>
                </a:rPr>
                <a:t>X'</a:t>
              </a:r>
            </a:p>
          </p:txBody>
        </p:sp>
      </p:grpSp>
      <p:grpSp>
        <p:nvGrpSpPr>
          <p:cNvPr id="3" name="Group 46"/>
          <p:cNvGrpSpPr>
            <a:grpSpLocks/>
          </p:cNvGrpSpPr>
          <p:nvPr/>
        </p:nvGrpSpPr>
        <p:grpSpPr bwMode="auto">
          <a:xfrm>
            <a:off x="2228850" y="5754688"/>
            <a:ext cx="6524636" cy="538162"/>
            <a:chOff x="444" y="3625"/>
            <a:chExt cx="4110" cy="339"/>
          </a:xfrm>
        </p:grpSpPr>
        <p:grpSp>
          <p:nvGrpSpPr>
            <p:cNvPr id="5153" name="Group 47"/>
            <p:cNvGrpSpPr>
              <a:grpSpLocks/>
            </p:cNvGrpSpPr>
            <p:nvPr/>
          </p:nvGrpSpPr>
          <p:grpSpPr bwMode="auto">
            <a:xfrm>
              <a:off x="444" y="3625"/>
              <a:ext cx="813" cy="339"/>
              <a:chOff x="2136" y="3459"/>
              <a:chExt cx="1245" cy="525"/>
            </a:xfrm>
          </p:grpSpPr>
          <p:sp>
            <p:nvSpPr>
              <p:cNvPr id="5155" name="Rectangle 48"/>
              <p:cNvSpPr>
                <a:spLocks noChangeArrowheads="1"/>
              </p:cNvSpPr>
              <p:nvPr/>
            </p:nvSpPr>
            <p:spPr bwMode="auto">
              <a:xfrm>
                <a:off x="2136" y="3462"/>
                <a:ext cx="1242" cy="522"/>
              </a:xfrm>
              <a:prstGeom prst="rect">
                <a:avLst/>
              </a:prstGeom>
              <a:solidFill>
                <a:srgbClr val="777777"/>
              </a:soli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777777"/>
                </a:extrusionClr>
              </a:sp3d>
            </p:spPr>
            <p:txBody>
              <a:bodyPr wrap="none" anchor="ctr">
                <a:prstTxWarp prst="textNoShape">
                  <a:avLst/>
                </a:prstTxWarp>
                <a:flatTx/>
              </a:bodyPr>
              <a:lstStyle/>
              <a:p>
                <a:endParaRPr lang="es-CL" dirty="0">
                  <a:latin typeface="Gill Sans MT" panose="020B0502020104020203" pitchFamily="34" charset="77"/>
                </a:endParaRPr>
              </a:p>
            </p:txBody>
          </p:sp>
          <p:graphicFrame>
            <p:nvGraphicFramePr>
              <p:cNvPr id="5123" name="Object 49"/>
              <p:cNvGraphicFramePr>
                <a:graphicFrameLocks noChangeAspect="1"/>
              </p:cNvGraphicFramePr>
              <p:nvPr/>
            </p:nvGraphicFramePr>
            <p:xfrm>
              <a:off x="2139" y="3459"/>
              <a:ext cx="1242" cy="52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Fotografía de Photo Editor" r:id="rId3" imgW="1971950" imgH="828791" progId="">
                      <p:embed/>
                    </p:oleObj>
                  </mc:Choice>
                  <mc:Fallback>
                    <p:oleObj name="Fotografía de Photo Editor" r:id="rId3" imgW="1971950" imgH="828791" progId="">
                      <p:embed/>
                      <p:pic>
                        <p:nvPicPr>
                          <p:cNvPr id="5123" name="Object 4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139" y="3459"/>
                            <a:ext cx="1242" cy="52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=""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=""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=""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5154" name="Text Box 50"/>
            <p:cNvSpPr txBox="1">
              <a:spLocks noChangeArrowheads="1"/>
            </p:cNvSpPr>
            <p:nvPr/>
          </p:nvSpPr>
          <p:spPr bwMode="auto">
            <a:xfrm>
              <a:off x="1606" y="3695"/>
              <a:ext cx="2948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s-ES" sz="1600" dirty="0" err="1">
                  <a:solidFill>
                    <a:srgbClr val="FFFF00"/>
                  </a:solidFill>
                  <a:latin typeface="Gill Sans MT" panose="020B0502020104020203" pitchFamily="34" charset="77"/>
                  <a:cs typeface="Trebuchet MS"/>
                </a:rPr>
                <a:t>However</a:t>
              </a:r>
              <a:r>
                <a:rPr lang="es-ES" sz="1600" dirty="0">
                  <a:solidFill>
                    <a:srgbClr val="FFFF00"/>
                  </a:solidFill>
                  <a:latin typeface="Gill Sans MT" panose="020B0502020104020203" pitchFamily="34" charset="77"/>
                  <a:cs typeface="Trebuchet MS"/>
                </a:rPr>
                <a:t>, </a:t>
              </a:r>
              <a:r>
                <a:rPr lang="es-ES" sz="1600" b="1" dirty="0">
                  <a:solidFill>
                    <a:srgbClr val="FFFF00"/>
                  </a:solidFill>
                  <a:latin typeface="Times New Roman" charset="0"/>
                </a:rPr>
                <a:t>M</a:t>
              </a:r>
              <a:r>
                <a:rPr lang="es-ES" sz="1600" dirty="0">
                  <a:solidFill>
                    <a:srgbClr val="FFFF00"/>
                  </a:solidFill>
                  <a:latin typeface="Gill Sans MT" panose="020B0502020104020203" pitchFamily="34" charset="77"/>
                </a:rPr>
                <a:t> </a:t>
              </a:r>
              <a:r>
                <a:rPr lang="es-ES" sz="1600" dirty="0" err="1">
                  <a:solidFill>
                    <a:srgbClr val="FFFF00"/>
                  </a:solidFill>
                  <a:latin typeface="Gill Sans MT" panose="020B0502020104020203" pitchFamily="34" charset="77"/>
                </a:rPr>
                <a:t>was</a:t>
              </a:r>
              <a:r>
                <a:rPr lang="es-ES" sz="1600" dirty="0">
                  <a:solidFill>
                    <a:srgbClr val="FFFF00"/>
                  </a:solidFill>
                  <a:latin typeface="Gill Sans MT" panose="020B0502020104020203" pitchFamily="34" charset="77"/>
                </a:rPr>
                <a:t> </a:t>
              </a:r>
              <a:r>
                <a:rPr lang="es-ES" sz="1600" dirty="0" err="1">
                  <a:solidFill>
                    <a:srgbClr val="FFFF00"/>
                  </a:solidFill>
                  <a:latin typeface="Gill Sans MT" panose="020B0502020104020203" pitchFamily="34" charset="77"/>
                </a:rPr>
                <a:t>given</a:t>
              </a:r>
              <a:r>
                <a:rPr lang="es-ES" sz="1600" dirty="0">
                  <a:solidFill>
                    <a:srgbClr val="FFFF00"/>
                  </a:solidFill>
                  <a:latin typeface="Gill Sans MT" panose="020B0502020104020203" pitchFamily="34" charset="77"/>
                </a:rPr>
                <a:t> in  </a:t>
              </a:r>
              <a:r>
                <a:rPr lang="es-ES" sz="1600" dirty="0">
                  <a:solidFill>
                    <a:srgbClr val="FFFF00"/>
                  </a:solidFill>
                  <a:latin typeface="Times New Roman" charset="0"/>
                </a:rPr>
                <a:t>(</a:t>
              </a:r>
              <a:r>
                <a:rPr lang="es-ES" sz="1600" i="1" dirty="0">
                  <a:solidFill>
                    <a:srgbClr val="FFFF00"/>
                  </a:solidFill>
                  <a:latin typeface="Times New Roman" charset="0"/>
                </a:rPr>
                <a:t>X</a:t>
              </a:r>
              <a:r>
                <a:rPr lang="es-ES" sz="1600" dirty="0">
                  <a:solidFill>
                    <a:srgbClr val="FFFF00"/>
                  </a:solidFill>
                  <a:latin typeface="Times New Roman" charset="0"/>
                </a:rPr>
                <a:t>,</a:t>
              </a:r>
              <a:r>
                <a:rPr lang="es-ES" sz="1600" i="1" dirty="0">
                  <a:solidFill>
                    <a:srgbClr val="FFFF00"/>
                  </a:solidFill>
                  <a:latin typeface="Times New Roman" charset="0"/>
                </a:rPr>
                <a:t>Y</a:t>
              </a:r>
              <a:r>
                <a:rPr lang="es-ES" sz="1600" dirty="0">
                  <a:solidFill>
                    <a:srgbClr val="FFFF00"/>
                  </a:solidFill>
                  <a:latin typeface="Times New Roman" charset="0"/>
                </a:rPr>
                <a:t>,</a:t>
              </a:r>
              <a:r>
                <a:rPr lang="es-ES" sz="1600" i="1" dirty="0">
                  <a:solidFill>
                    <a:srgbClr val="FFFF00"/>
                  </a:solidFill>
                  <a:latin typeface="Times New Roman" charset="0"/>
                </a:rPr>
                <a:t>Z</a:t>
              </a:r>
              <a:r>
                <a:rPr lang="es-ES" sz="1600" dirty="0">
                  <a:solidFill>
                    <a:srgbClr val="FFFF00"/>
                  </a:solidFill>
                  <a:latin typeface="Times New Roman" charset="0"/>
                </a:rPr>
                <a:t>) </a:t>
              </a:r>
              <a:r>
                <a:rPr lang="es-ES" sz="1600" dirty="0" err="1">
                  <a:solidFill>
                    <a:srgbClr val="FFFF00"/>
                  </a:solidFill>
                  <a:latin typeface="Times New Roman" charset="0"/>
                </a:rPr>
                <a:t>coordinate</a:t>
              </a:r>
              <a:r>
                <a:rPr lang="es-ES" sz="1600" dirty="0">
                  <a:solidFill>
                    <a:srgbClr val="FFFF00"/>
                  </a:solidFill>
                  <a:latin typeface="Times New Roman" charset="0"/>
                </a:rPr>
                <a:t> </a:t>
              </a:r>
              <a:r>
                <a:rPr lang="es-ES" sz="1600" dirty="0" err="1">
                  <a:solidFill>
                    <a:srgbClr val="FFFF00"/>
                  </a:solidFill>
                  <a:latin typeface="Times New Roman" charset="0"/>
                </a:rPr>
                <a:t>system</a:t>
              </a:r>
              <a:endParaRPr lang="es-ES" sz="1600" dirty="0">
                <a:solidFill>
                  <a:srgbClr val="FFFF00"/>
                </a:solidFill>
                <a:latin typeface="Times New Roman" charset="0"/>
              </a:endParaRPr>
            </a:p>
          </p:txBody>
        </p:sp>
      </p:grpSp>
      <p:grpSp>
        <p:nvGrpSpPr>
          <p:cNvPr id="5149" name="Group 51"/>
          <p:cNvGrpSpPr>
            <a:grpSpLocks/>
          </p:cNvGrpSpPr>
          <p:nvPr/>
        </p:nvGrpSpPr>
        <p:grpSpPr bwMode="auto">
          <a:xfrm>
            <a:off x="6242051" y="2836863"/>
            <a:ext cx="409575" cy="506412"/>
            <a:chOff x="2972" y="1795"/>
            <a:chExt cx="258" cy="319"/>
          </a:xfrm>
        </p:grpSpPr>
        <p:sp>
          <p:nvSpPr>
            <p:cNvPr id="5151" name="Text Box 52"/>
            <p:cNvSpPr txBox="1">
              <a:spLocks noChangeArrowheads="1"/>
            </p:cNvSpPr>
            <p:nvPr/>
          </p:nvSpPr>
          <p:spPr bwMode="auto">
            <a:xfrm>
              <a:off x="2972" y="1795"/>
              <a:ext cx="258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s-ES_tradnl" sz="2000" i="1">
                  <a:solidFill>
                    <a:srgbClr val="FFFF00"/>
                  </a:solidFill>
                  <a:latin typeface="Times New Roman" charset="0"/>
                </a:rPr>
                <a:t>M</a:t>
              </a:r>
            </a:p>
          </p:txBody>
        </p:sp>
        <p:sp>
          <p:nvSpPr>
            <p:cNvPr id="5152" name="Oval 53"/>
            <p:cNvSpPr>
              <a:spLocks noChangeArrowheads="1"/>
            </p:cNvSpPr>
            <p:nvPr/>
          </p:nvSpPr>
          <p:spPr bwMode="auto">
            <a:xfrm>
              <a:off x="2994" y="2058"/>
              <a:ext cx="56" cy="5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aphicFrame>
        <p:nvGraphicFramePr>
          <p:cNvPr id="5122" name="Object 54"/>
          <p:cNvGraphicFramePr>
            <a:graphicFrameLocks noChangeAspect="1"/>
          </p:cNvGraphicFramePr>
          <p:nvPr/>
        </p:nvGraphicFramePr>
        <p:xfrm>
          <a:off x="5041900" y="4838700"/>
          <a:ext cx="19812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5" imgW="660240" imgH="177480" progId="Equation.3">
                  <p:embed/>
                </p:oleObj>
              </mc:Choice>
              <mc:Fallback>
                <p:oleObj name="Ecuación" r:id="rId5" imgW="660240" imgH="177480" progId="Equation.3">
                  <p:embed/>
                  <p:pic>
                    <p:nvPicPr>
                      <p:cNvPr id="5122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41900" y="4838700"/>
                        <a:ext cx="1981200" cy="5334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" name="Rectangle 71"/>
          <p:cNvSpPr>
            <a:spLocks noChangeArrowheads="1"/>
          </p:cNvSpPr>
          <p:nvPr/>
        </p:nvSpPr>
        <p:spPr bwMode="auto">
          <a:xfrm>
            <a:off x="1639900" y="459352"/>
            <a:ext cx="690849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" sz="2400" dirty="0" err="1">
                <a:solidFill>
                  <a:schemeClr val="bg1"/>
                </a:solidFill>
                <a:latin typeface="Gill Sans MT" panose="020B0502020104020203" pitchFamily="34" charset="77"/>
              </a:rPr>
              <a:t>Now</a:t>
            </a:r>
            <a:r>
              <a:rPr lang="es-ES" sz="2400" dirty="0">
                <a:solidFill>
                  <a:schemeClr val="bg1"/>
                </a:solidFill>
                <a:latin typeface="Gill Sans MT" panose="020B0502020104020203" pitchFamily="34" charset="77"/>
              </a:rPr>
              <a:t>, </a:t>
            </a:r>
            <a:r>
              <a:rPr lang="es-ES" sz="2400" i="1" dirty="0">
                <a:solidFill>
                  <a:schemeClr val="bg1"/>
                </a:solidFill>
                <a:latin typeface="Times New Roman"/>
                <a:cs typeface="Times New Roman"/>
              </a:rPr>
              <a:t>M</a:t>
            </a:r>
            <a:r>
              <a:rPr lang="es-ES" sz="2400" dirty="0">
                <a:solidFill>
                  <a:schemeClr val="bg1"/>
                </a:solidFill>
                <a:latin typeface="Gill Sans MT" panose="020B0502020104020203" pitchFamily="34" charset="77"/>
              </a:rPr>
              <a:t> </a:t>
            </a:r>
            <a:r>
              <a:rPr lang="es-ES" sz="2400" dirty="0" err="1">
                <a:solidFill>
                  <a:schemeClr val="bg1"/>
                </a:solidFill>
                <a:latin typeface="Gill Sans MT" panose="020B0502020104020203" pitchFamily="34" charset="77"/>
              </a:rPr>
              <a:t>is</a:t>
            </a:r>
            <a:r>
              <a:rPr lang="es-ES" sz="2400" dirty="0">
                <a:solidFill>
                  <a:schemeClr val="bg1"/>
                </a:solidFill>
                <a:latin typeface="Gill Sans MT" panose="020B0502020104020203" pitchFamily="34" charset="77"/>
              </a:rPr>
              <a:t> </a:t>
            </a:r>
            <a:r>
              <a:rPr lang="es-ES" sz="2400" dirty="0" err="1">
                <a:solidFill>
                  <a:schemeClr val="bg1"/>
                </a:solidFill>
                <a:latin typeface="Gill Sans MT" panose="020B0502020104020203" pitchFamily="34" charset="77"/>
              </a:rPr>
              <a:t>given</a:t>
            </a:r>
            <a:r>
              <a:rPr lang="es-ES" sz="2400" dirty="0">
                <a:solidFill>
                  <a:schemeClr val="bg1"/>
                </a:solidFill>
                <a:latin typeface="Gill Sans MT" panose="020B0502020104020203" pitchFamily="34" charset="77"/>
              </a:rPr>
              <a:t> in a new </a:t>
            </a:r>
            <a:r>
              <a:rPr lang="es-ES" sz="2400" dirty="0" err="1">
                <a:solidFill>
                  <a:schemeClr val="bg1"/>
                </a:solidFill>
                <a:latin typeface="Gill Sans MT" panose="020B0502020104020203" pitchFamily="34" charset="77"/>
              </a:rPr>
              <a:t>coordinate</a:t>
            </a:r>
            <a:r>
              <a:rPr lang="es-ES" sz="2400" dirty="0">
                <a:solidFill>
                  <a:schemeClr val="bg1"/>
                </a:solidFill>
                <a:latin typeface="Gill Sans MT" panose="020B0502020104020203" pitchFamily="34" charset="77"/>
              </a:rPr>
              <a:t> </a:t>
            </a:r>
            <a:r>
              <a:rPr lang="es-ES" sz="2400" dirty="0" err="1">
                <a:solidFill>
                  <a:schemeClr val="bg1"/>
                </a:solidFill>
                <a:latin typeface="Gill Sans MT" panose="020B0502020104020203" pitchFamily="34" charset="77"/>
              </a:rPr>
              <a:t>system</a:t>
            </a:r>
            <a:r>
              <a:rPr lang="es-ES" sz="2400" dirty="0">
                <a:solidFill>
                  <a:schemeClr val="bg1"/>
                </a:solidFill>
                <a:latin typeface="Gill Sans MT" panose="020B0502020104020203" pitchFamily="34" charset="77"/>
              </a:rPr>
              <a:t>: </a:t>
            </a:r>
            <a:r>
              <a:rPr lang="es-ES_tradnl" sz="2400" i="1" dirty="0">
                <a:solidFill>
                  <a:schemeClr val="bg1"/>
                </a:solidFill>
                <a:latin typeface="Times New Roman" charset="0"/>
              </a:rPr>
              <a:t>(X',Y',Z’)</a:t>
            </a:r>
          </a:p>
        </p:txBody>
      </p:sp>
      <p:sp>
        <p:nvSpPr>
          <p:cNvPr id="55" name="Rectangle 71"/>
          <p:cNvSpPr>
            <a:spLocks noChangeArrowheads="1"/>
          </p:cNvSpPr>
          <p:nvPr/>
        </p:nvSpPr>
        <p:spPr bwMode="auto">
          <a:xfrm>
            <a:off x="1524000" y="1"/>
            <a:ext cx="336752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" sz="2400" dirty="0">
                <a:solidFill>
                  <a:schemeClr val="bg1"/>
                </a:solidFill>
                <a:latin typeface="Gill Sans MT" panose="020B0502020104020203" pitchFamily="34" charset="77"/>
              </a:rPr>
              <a:t>[ </a:t>
            </a:r>
            <a:r>
              <a:rPr lang="es-ES" sz="2400" dirty="0" err="1">
                <a:solidFill>
                  <a:schemeClr val="bg1"/>
                </a:solidFill>
                <a:latin typeface="Gill Sans MT" panose="020B0502020104020203" pitchFamily="34" charset="77"/>
              </a:rPr>
              <a:t>Perspective</a:t>
            </a:r>
            <a:r>
              <a:rPr lang="es-ES" sz="2400" dirty="0">
                <a:solidFill>
                  <a:schemeClr val="bg1"/>
                </a:solidFill>
                <a:latin typeface="Gill Sans MT" panose="020B0502020104020203" pitchFamily="34" charset="77"/>
              </a:rPr>
              <a:t> </a:t>
            </a:r>
            <a:r>
              <a:rPr lang="es-ES" sz="2400" dirty="0" err="1">
                <a:solidFill>
                  <a:schemeClr val="bg1"/>
                </a:solidFill>
                <a:latin typeface="Gill Sans MT" panose="020B0502020104020203" pitchFamily="34" charset="77"/>
              </a:rPr>
              <a:t>Projection</a:t>
            </a:r>
            <a:r>
              <a:rPr lang="es-ES" sz="2400" dirty="0">
                <a:solidFill>
                  <a:schemeClr val="bg1"/>
                </a:solidFill>
                <a:latin typeface="Gill Sans MT" panose="020B0502020104020203" pitchFamily="34" charset="77"/>
              </a:rPr>
              <a:t> 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8EE47A-125A-88B1-F24E-5196C22A6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CV02C</a:t>
            </a:r>
            <a:endParaRPr lang="en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8BBF53-D5FC-EBB1-AF6B-949C902F6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21</a:t>
            </a:fld>
            <a:endParaRPr lang="en-CL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96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524001" y="76200"/>
            <a:ext cx="4022725" cy="527050"/>
          </a:xfrm>
          <a:solidFill>
            <a:srgbClr val="FFFFFF"/>
          </a:solidFill>
          <a:ln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algn="l"/>
            <a:r>
              <a:rPr lang="es-ES_tradnl" sz="2000" b="1" dirty="0">
                <a:solidFill>
                  <a:srgbClr val="99CCFF"/>
                </a:solidFill>
              </a:rPr>
              <a:t>[ 3D </a:t>
            </a:r>
            <a:r>
              <a:rPr lang="es-ES_tradnl" sz="2000" b="1" dirty="0" err="1">
                <a:solidFill>
                  <a:srgbClr val="99CCFF"/>
                </a:solidFill>
              </a:rPr>
              <a:t>Transformation</a:t>
            </a:r>
            <a:r>
              <a:rPr lang="es-ES_tradnl" sz="2000" b="1" dirty="0">
                <a:solidFill>
                  <a:srgbClr val="99CCFF"/>
                </a:solidFill>
              </a:rPr>
              <a:t> ]</a:t>
            </a:r>
            <a:endParaRPr sz="2000" b="1" noProof="1">
              <a:solidFill>
                <a:srgbClr val="99CCFF"/>
              </a:solidFill>
            </a:endParaRPr>
          </a:p>
        </p:txBody>
      </p:sp>
      <p:sp>
        <p:nvSpPr>
          <p:cNvPr id="1179678" name="Text Box 30"/>
          <p:cNvSpPr txBox="1">
            <a:spLocks noChangeArrowheads="1"/>
          </p:cNvSpPr>
          <p:nvPr/>
        </p:nvSpPr>
        <p:spPr bwMode="auto">
          <a:xfrm>
            <a:off x="5695951" y="4256088"/>
            <a:ext cx="37306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i="1">
                <a:latin typeface="Times New Roman" charset="0"/>
              </a:rPr>
              <a:t>X'</a:t>
            </a:r>
          </a:p>
        </p:txBody>
      </p:sp>
      <p:sp>
        <p:nvSpPr>
          <p:cNvPr id="1179679" name="Text Box 31"/>
          <p:cNvSpPr txBox="1">
            <a:spLocks noChangeArrowheads="1"/>
          </p:cNvSpPr>
          <p:nvPr/>
        </p:nvSpPr>
        <p:spPr bwMode="auto">
          <a:xfrm>
            <a:off x="5772151" y="1727201"/>
            <a:ext cx="36036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i="1">
                <a:latin typeface="Times New Roman" charset="0"/>
              </a:rPr>
              <a:t>Z'</a:t>
            </a:r>
          </a:p>
        </p:txBody>
      </p:sp>
      <p:sp>
        <p:nvSpPr>
          <p:cNvPr id="1179680" name="Text Box 32"/>
          <p:cNvSpPr txBox="1">
            <a:spLocks noChangeArrowheads="1"/>
          </p:cNvSpPr>
          <p:nvPr/>
        </p:nvSpPr>
        <p:spPr bwMode="auto">
          <a:xfrm>
            <a:off x="7505700" y="2717801"/>
            <a:ext cx="3683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i="1">
                <a:latin typeface="Times New Roman" charset="0"/>
              </a:rPr>
              <a:t>Y'</a:t>
            </a:r>
          </a:p>
        </p:txBody>
      </p:sp>
      <p:sp>
        <p:nvSpPr>
          <p:cNvPr id="1179684" name="Line 36"/>
          <p:cNvSpPr>
            <a:spLocks noChangeShapeType="1"/>
          </p:cNvSpPr>
          <p:nvPr/>
        </p:nvSpPr>
        <p:spPr bwMode="auto">
          <a:xfrm rot="19851013" flipV="1">
            <a:off x="6007100" y="1800225"/>
            <a:ext cx="0" cy="160020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179685" name="Line 37"/>
          <p:cNvSpPr>
            <a:spLocks noChangeShapeType="1"/>
          </p:cNvSpPr>
          <p:nvPr/>
        </p:nvSpPr>
        <p:spPr bwMode="auto">
          <a:xfrm rot="19851013" flipH="1">
            <a:off x="5778500" y="3459163"/>
            <a:ext cx="838200" cy="68580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179686" name="Line 38"/>
          <p:cNvSpPr>
            <a:spLocks noChangeShapeType="1"/>
          </p:cNvSpPr>
          <p:nvPr/>
        </p:nvSpPr>
        <p:spPr bwMode="auto">
          <a:xfrm rot="-1748987">
            <a:off x="6299200" y="2927350"/>
            <a:ext cx="1524000" cy="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179687" name="Line 39"/>
          <p:cNvSpPr>
            <a:spLocks noChangeShapeType="1"/>
          </p:cNvSpPr>
          <p:nvPr/>
        </p:nvSpPr>
        <p:spPr bwMode="auto">
          <a:xfrm flipV="1">
            <a:off x="5486400" y="2279650"/>
            <a:ext cx="0" cy="16002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179688" name="Line 40"/>
          <p:cNvSpPr>
            <a:spLocks noChangeShapeType="1"/>
          </p:cNvSpPr>
          <p:nvPr/>
        </p:nvSpPr>
        <p:spPr bwMode="auto">
          <a:xfrm>
            <a:off x="5486400" y="3879850"/>
            <a:ext cx="15240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179689" name="Line 41"/>
          <p:cNvSpPr>
            <a:spLocks noChangeShapeType="1"/>
          </p:cNvSpPr>
          <p:nvPr/>
        </p:nvSpPr>
        <p:spPr bwMode="auto">
          <a:xfrm flipH="1">
            <a:off x="4733926" y="3879851"/>
            <a:ext cx="752475" cy="75247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179690" name="Text Box 42"/>
          <p:cNvSpPr txBox="1">
            <a:spLocks noChangeArrowheads="1"/>
          </p:cNvSpPr>
          <p:nvPr/>
        </p:nvSpPr>
        <p:spPr bwMode="auto">
          <a:xfrm>
            <a:off x="4419601" y="4503738"/>
            <a:ext cx="46672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i="1">
                <a:latin typeface="Times New Roman" charset="0"/>
              </a:rPr>
              <a:t>X</a:t>
            </a:r>
          </a:p>
        </p:txBody>
      </p:sp>
      <p:sp>
        <p:nvSpPr>
          <p:cNvPr id="1179691" name="Text Box 43"/>
          <p:cNvSpPr txBox="1">
            <a:spLocks noChangeArrowheads="1"/>
          </p:cNvSpPr>
          <p:nvPr/>
        </p:nvSpPr>
        <p:spPr bwMode="auto">
          <a:xfrm>
            <a:off x="7010401" y="3727451"/>
            <a:ext cx="3968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i="1">
                <a:latin typeface="Times New Roman" charset="0"/>
              </a:rPr>
              <a:t>Y</a:t>
            </a:r>
          </a:p>
        </p:txBody>
      </p:sp>
      <p:sp>
        <p:nvSpPr>
          <p:cNvPr id="1179692" name="Text Box 44"/>
          <p:cNvSpPr txBox="1">
            <a:spLocks noChangeArrowheads="1"/>
          </p:cNvSpPr>
          <p:nvPr/>
        </p:nvSpPr>
        <p:spPr bwMode="auto">
          <a:xfrm>
            <a:off x="5105401" y="2279651"/>
            <a:ext cx="39846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i="1">
                <a:latin typeface="Times New Roman" charset="0"/>
              </a:rPr>
              <a:t>Z</a:t>
            </a:r>
          </a:p>
        </p:txBody>
      </p:sp>
      <p:sp>
        <p:nvSpPr>
          <p:cNvPr id="1179693" name="Arco 45"/>
          <p:cNvSpPr>
            <a:spLocks/>
          </p:cNvSpPr>
          <p:nvPr/>
        </p:nvSpPr>
        <p:spPr bwMode="auto">
          <a:xfrm rot="8938271" flipV="1">
            <a:off x="6015038" y="3665539"/>
            <a:ext cx="482600" cy="434975"/>
          </a:xfrm>
          <a:custGeom>
            <a:avLst/>
            <a:gdLst>
              <a:gd name="G0" fmla="+- 21600 0 0"/>
              <a:gd name="G1" fmla="+- 21600 0 0"/>
              <a:gd name="G2" fmla="+- 21600 0 0"/>
              <a:gd name="T0" fmla="*/ 28847 w 43200"/>
              <a:gd name="T1" fmla="*/ 41948 h 43200"/>
              <a:gd name="T2" fmla="*/ 43200 w 43200"/>
              <a:gd name="T3" fmla="*/ 21599 h 43200"/>
              <a:gd name="T4" fmla="*/ 21600 w 43200"/>
              <a:gd name="T5" fmla="*/ 21600 h 43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3200" h="43200" fill="none" extrusionOk="0">
                <a:moveTo>
                  <a:pt x="28846" y="41947"/>
                </a:moveTo>
                <a:cubicBezTo>
                  <a:pt x="26520" y="42776"/>
                  <a:pt x="24069" y="43199"/>
                  <a:pt x="21600" y="43199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8" y="0"/>
                  <a:pt x="43199" y="9670"/>
                  <a:pt x="43199" y="21599"/>
                </a:cubicBezTo>
              </a:path>
              <a:path w="43200" h="43200" stroke="0" extrusionOk="0">
                <a:moveTo>
                  <a:pt x="28846" y="41947"/>
                </a:moveTo>
                <a:cubicBezTo>
                  <a:pt x="26520" y="42776"/>
                  <a:pt x="24069" y="43199"/>
                  <a:pt x="21600" y="43199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8" y="0"/>
                  <a:pt x="43199" y="9670"/>
                  <a:pt x="43199" y="21599"/>
                </a:cubicBezTo>
                <a:lnTo>
                  <a:pt x="21600" y="21600"/>
                </a:lnTo>
                <a:close/>
              </a:path>
            </a:pathLst>
          </a:custGeom>
          <a:noFill/>
          <a:ln w="57150">
            <a:solidFill>
              <a:srgbClr val="FF9900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179694" name="Text Box 46"/>
          <p:cNvSpPr txBox="1">
            <a:spLocks noChangeArrowheads="1"/>
          </p:cNvSpPr>
          <p:nvPr/>
        </p:nvSpPr>
        <p:spPr bwMode="auto">
          <a:xfrm rot="-1861729">
            <a:off x="6470651" y="3644900"/>
            <a:ext cx="5175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sz="2400">
                <a:latin typeface="Times New Roman" charset="0"/>
                <a:sym typeface="Symbol" charset="2"/>
              </a:rPr>
              <a:t></a:t>
            </a:r>
            <a:r>
              <a:rPr lang="es-ES_tradnl" sz="2400" i="1" baseline="-25000">
                <a:latin typeface="Times New Roman" charset="0"/>
                <a:sym typeface="Symbol" charset="2"/>
              </a:rPr>
              <a:t>X</a:t>
            </a:r>
            <a:endParaRPr lang="es-ES_tradnl" sz="2400">
              <a:latin typeface="Times New Roman" charset="0"/>
            </a:endParaRPr>
          </a:p>
        </p:txBody>
      </p:sp>
      <p:sp>
        <p:nvSpPr>
          <p:cNvPr id="1179695" name="Text Box 47"/>
          <p:cNvSpPr txBox="1">
            <a:spLocks noChangeArrowheads="1"/>
          </p:cNvSpPr>
          <p:nvPr/>
        </p:nvSpPr>
        <p:spPr bwMode="auto">
          <a:xfrm rot="-1861729">
            <a:off x="7208839" y="1990725"/>
            <a:ext cx="5175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sz="2400">
                <a:latin typeface="Times New Roman" charset="0"/>
                <a:sym typeface="Symbol" charset="2"/>
              </a:rPr>
              <a:t></a:t>
            </a:r>
            <a:r>
              <a:rPr lang="es-ES_tradnl" sz="2400" i="1" baseline="-25000">
                <a:latin typeface="Times New Roman" charset="0"/>
                <a:sym typeface="Symbol" charset="2"/>
              </a:rPr>
              <a:t>Y</a:t>
            </a:r>
            <a:endParaRPr lang="es-ES_tradnl" sz="2400">
              <a:latin typeface="Times New Roman" charset="0"/>
            </a:endParaRPr>
          </a:p>
        </p:txBody>
      </p:sp>
      <p:sp>
        <p:nvSpPr>
          <p:cNvPr id="1179696" name="Text Box 48"/>
          <p:cNvSpPr txBox="1">
            <a:spLocks noChangeArrowheads="1"/>
          </p:cNvSpPr>
          <p:nvPr/>
        </p:nvSpPr>
        <p:spPr bwMode="auto">
          <a:xfrm rot="-1861729">
            <a:off x="5337176" y="2427288"/>
            <a:ext cx="5175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sz="2400">
                <a:latin typeface="Times New Roman" charset="0"/>
                <a:sym typeface="Symbol" charset="2"/>
              </a:rPr>
              <a:t></a:t>
            </a:r>
            <a:r>
              <a:rPr lang="es-ES_tradnl" sz="2400" i="1" baseline="-25000">
                <a:latin typeface="Times New Roman" charset="0"/>
                <a:sym typeface="Symbol" charset="2"/>
              </a:rPr>
              <a:t>Z</a:t>
            </a:r>
            <a:endParaRPr lang="es-ES_tradnl" sz="2400">
              <a:latin typeface="Times New Roman" charset="0"/>
            </a:endParaRPr>
          </a:p>
        </p:txBody>
      </p:sp>
      <p:sp>
        <p:nvSpPr>
          <p:cNvPr id="1179697" name="Arco 49"/>
          <p:cNvSpPr>
            <a:spLocks/>
          </p:cNvSpPr>
          <p:nvPr/>
        </p:nvSpPr>
        <p:spPr bwMode="auto">
          <a:xfrm rot="8938271" flipH="1" flipV="1">
            <a:off x="7300913" y="2463801"/>
            <a:ext cx="315912" cy="434975"/>
          </a:xfrm>
          <a:custGeom>
            <a:avLst/>
            <a:gdLst>
              <a:gd name="G0" fmla="+- 21600 0 0"/>
              <a:gd name="G1" fmla="+- 21600 0 0"/>
              <a:gd name="G2" fmla="+- 21600 0 0"/>
              <a:gd name="T0" fmla="*/ 31373 w 31373"/>
              <a:gd name="T1" fmla="*/ 40863 h 43200"/>
              <a:gd name="T2" fmla="*/ 27875 w 31373"/>
              <a:gd name="T3" fmla="*/ 932 h 43200"/>
              <a:gd name="T4" fmla="*/ 21600 w 31373"/>
              <a:gd name="T5" fmla="*/ 21600 h 43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1373" h="43200" fill="none" extrusionOk="0">
                <a:moveTo>
                  <a:pt x="31372" y="40862"/>
                </a:moveTo>
                <a:cubicBezTo>
                  <a:pt x="28344" y="42399"/>
                  <a:pt x="24996" y="43199"/>
                  <a:pt x="21600" y="43199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23726" y="0"/>
                  <a:pt x="25840" y="313"/>
                  <a:pt x="27875" y="931"/>
                </a:cubicBezTo>
              </a:path>
              <a:path w="31373" h="43200" stroke="0" extrusionOk="0">
                <a:moveTo>
                  <a:pt x="31372" y="40862"/>
                </a:moveTo>
                <a:cubicBezTo>
                  <a:pt x="28344" y="42399"/>
                  <a:pt x="24996" y="43199"/>
                  <a:pt x="21600" y="43199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23726" y="0"/>
                  <a:pt x="25840" y="313"/>
                  <a:pt x="27875" y="931"/>
                </a:cubicBezTo>
                <a:lnTo>
                  <a:pt x="21600" y="21600"/>
                </a:lnTo>
                <a:close/>
              </a:path>
            </a:pathLst>
          </a:custGeom>
          <a:noFill/>
          <a:ln w="57150">
            <a:solidFill>
              <a:srgbClr val="FF9900"/>
            </a:solidFill>
            <a:round/>
            <a:headEnd type="triangle" w="med" len="med"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179698" name="Arco 50"/>
          <p:cNvSpPr>
            <a:spLocks/>
          </p:cNvSpPr>
          <p:nvPr/>
        </p:nvSpPr>
        <p:spPr bwMode="auto">
          <a:xfrm rot="8938271">
            <a:off x="5562600" y="2112963"/>
            <a:ext cx="482600" cy="368300"/>
          </a:xfrm>
          <a:custGeom>
            <a:avLst/>
            <a:gdLst>
              <a:gd name="G0" fmla="+- 21600 0 0"/>
              <a:gd name="G1" fmla="+- 21600 0 0"/>
              <a:gd name="G2" fmla="+- 21600 0 0"/>
              <a:gd name="T0" fmla="*/ 15228 w 43190"/>
              <a:gd name="T1" fmla="*/ 42239 h 42239"/>
              <a:gd name="T2" fmla="*/ 43190 w 43190"/>
              <a:gd name="T3" fmla="*/ 20930 h 42239"/>
              <a:gd name="T4" fmla="*/ 21600 w 43190"/>
              <a:gd name="T5" fmla="*/ 21600 h 422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3190" h="42239" fill="none" extrusionOk="0">
                <a:moveTo>
                  <a:pt x="15228" y="42238"/>
                </a:moveTo>
                <a:cubicBezTo>
                  <a:pt x="6174" y="39443"/>
                  <a:pt x="0" y="31074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268" y="0"/>
                  <a:pt x="42827" y="9267"/>
                  <a:pt x="43189" y="20930"/>
                </a:cubicBezTo>
              </a:path>
              <a:path w="43190" h="42239" stroke="0" extrusionOk="0">
                <a:moveTo>
                  <a:pt x="15228" y="42238"/>
                </a:moveTo>
                <a:cubicBezTo>
                  <a:pt x="6174" y="39443"/>
                  <a:pt x="0" y="31074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268" y="0"/>
                  <a:pt x="42827" y="9267"/>
                  <a:pt x="43189" y="20930"/>
                </a:cubicBezTo>
                <a:lnTo>
                  <a:pt x="21600" y="21600"/>
                </a:lnTo>
                <a:close/>
              </a:path>
            </a:pathLst>
          </a:custGeom>
          <a:noFill/>
          <a:ln w="57150">
            <a:solidFill>
              <a:srgbClr val="FF9900"/>
            </a:solidFill>
            <a:round/>
            <a:headEnd type="triangle" w="med" len="med"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179699" name="Text Box 51"/>
          <p:cNvSpPr txBox="1">
            <a:spLocks noChangeArrowheads="1"/>
          </p:cNvSpPr>
          <p:nvPr/>
        </p:nvSpPr>
        <p:spPr bwMode="auto">
          <a:xfrm>
            <a:off x="6496051" y="1884364"/>
            <a:ext cx="4095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sz="2000" i="1">
                <a:latin typeface="Times New Roman" charset="0"/>
              </a:rPr>
              <a:t>M</a:t>
            </a:r>
          </a:p>
        </p:txBody>
      </p:sp>
      <p:sp>
        <p:nvSpPr>
          <p:cNvPr id="1179700" name="Oval 52"/>
          <p:cNvSpPr>
            <a:spLocks noChangeArrowheads="1"/>
          </p:cNvSpPr>
          <p:nvPr/>
        </p:nvSpPr>
        <p:spPr bwMode="auto">
          <a:xfrm>
            <a:off x="6530975" y="2301875"/>
            <a:ext cx="88900" cy="889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179701" name="Rectangle 53"/>
          <p:cNvSpPr>
            <a:spLocks noChangeArrowheads="1"/>
          </p:cNvSpPr>
          <p:nvPr/>
        </p:nvSpPr>
        <p:spPr bwMode="auto">
          <a:xfrm>
            <a:off x="1676401" y="901701"/>
            <a:ext cx="187032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" sz="2400" dirty="0">
                <a:latin typeface="Gill Sans MT" panose="020B0502020104020203" pitchFamily="34" charset="77"/>
              </a:rPr>
              <a:t>3D </a:t>
            </a:r>
            <a:r>
              <a:rPr lang="es-ES" sz="2400" dirty="0" err="1">
                <a:latin typeface="Gill Sans MT" panose="020B0502020104020203" pitchFamily="34" charset="77"/>
              </a:rPr>
              <a:t>Rotation</a:t>
            </a:r>
            <a:r>
              <a:rPr lang="es-ES" sz="2400" dirty="0">
                <a:latin typeface="Gill Sans MT" panose="020B0502020104020203" pitchFamily="34" charset="77"/>
              </a:rPr>
              <a:t>:</a:t>
            </a:r>
          </a:p>
        </p:txBody>
      </p:sp>
      <p:grpSp>
        <p:nvGrpSpPr>
          <p:cNvPr id="1179703" name="Group 55"/>
          <p:cNvGrpSpPr>
            <a:grpSpLocks/>
          </p:cNvGrpSpPr>
          <p:nvPr/>
        </p:nvGrpSpPr>
        <p:grpSpPr bwMode="auto">
          <a:xfrm>
            <a:off x="5324475" y="3279775"/>
            <a:ext cx="1085850" cy="762000"/>
            <a:chOff x="2202" y="1762"/>
            <a:chExt cx="684" cy="480"/>
          </a:xfrm>
        </p:grpSpPr>
        <p:sp>
          <p:nvSpPr>
            <p:cNvPr id="1179704" name="Rectangle 56"/>
            <p:cNvSpPr>
              <a:spLocks noChangeArrowheads="1"/>
            </p:cNvSpPr>
            <p:nvPr/>
          </p:nvSpPr>
          <p:spPr bwMode="auto">
            <a:xfrm>
              <a:off x="2202" y="1762"/>
              <a:ext cx="684" cy="480"/>
            </a:xfrm>
            <a:prstGeom prst="rect">
              <a:avLst/>
            </a:prstGeom>
            <a:solidFill>
              <a:schemeClr val="accent1"/>
            </a:solidFill>
            <a:ln w="9525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430200" prstMaterial="legacyWireframe">
              <a:bevelT w="13500" h="13500" prst="angle"/>
              <a:bevelB w="13500" h="13500" prst="angle"/>
              <a:extrusionClr>
                <a:schemeClr val="accent1"/>
              </a:extrusionClr>
            </a:sp3d>
          </p:spPr>
          <p:txBody>
            <a:bodyPr wrap="none" anchor="ctr">
              <a:prstTxWarp prst="textNoShape">
                <a:avLst/>
              </a:prstTxWarp>
              <a:flatTx/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  <p:sp>
          <p:nvSpPr>
            <p:cNvPr id="1179705" name="Line 57"/>
            <p:cNvSpPr>
              <a:spLocks noChangeShapeType="1"/>
            </p:cNvSpPr>
            <p:nvPr/>
          </p:nvSpPr>
          <p:spPr bwMode="auto">
            <a:xfrm flipV="1">
              <a:off x="2328" y="1768"/>
              <a:ext cx="540" cy="354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  <p:sp>
          <p:nvSpPr>
            <p:cNvPr id="1179706" name="Text Box 58"/>
            <p:cNvSpPr txBox="1">
              <a:spLocks noChangeArrowheads="1"/>
            </p:cNvSpPr>
            <p:nvPr/>
          </p:nvSpPr>
          <p:spPr bwMode="auto">
            <a:xfrm>
              <a:off x="2460" y="1780"/>
              <a:ext cx="23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s-ES_tradnl" b="1">
                  <a:latin typeface="Times New Roman" charset="0"/>
                </a:rPr>
                <a:t>t</a:t>
              </a:r>
              <a:endParaRPr lang="es-ES_tradnl" i="1">
                <a:latin typeface="Times New Roman" charset="0"/>
              </a:endParaRPr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8BC328-2804-E17F-82DB-090A0A49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CV02C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EBC081D-1348-0ED5-6351-326716580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22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6549309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69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524001" y="76200"/>
            <a:ext cx="4022725" cy="527050"/>
          </a:xfrm>
          <a:solidFill>
            <a:srgbClr val="FFFFFF"/>
          </a:solidFill>
          <a:ln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algn="l"/>
            <a:r>
              <a:rPr lang="es-ES_tradnl" sz="2000" b="1" dirty="0">
                <a:solidFill>
                  <a:srgbClr val="99CCFF"/>
                </a:solidFill>
              </a:rPr>
              <a:t>[ 3D </a:t>
            </a:r>
            <a:r>
              <a:rPr lang="es-ES_tradnl" sz="2000" b="1" dirty="0" err="1">
                <a:solidFill>
                  <a:srgbClr val="99CCFF"/>
                </a:solidFill>
              </a:rPr>
              <a:t>Transformation</a:t>
            </a:r>
            <a:r>
              <a:rPr lang="es-ES_tradnl" sz="2000" b="1" dirty="0">
                <a:solidFill>
                  <a:srgbClr val="99CCFF"/>
                </a:solidFill>
              </a:rPr>
              <a:t> ]</a:t>
            </a:r>
            <a:endParaRPr sz="2000" b="1" noProof="1">
              <a:solidFill>
                <a:srgbClr val="99CCFF"/>
              </a:solidFill>
            </a:endParaRPr>
          </a:p>
        </p:txBody>
      </p:sp>
      <p:grpSp>
        <p:nvGrpSpPr>
          <p:cNvPr id="1181699" name="Group 3"/>
          <p:cNvGrpSpPr>
            <a:grpSpLocks/>
          </p:cNvGrpSpPr>
          <p:nvPr/>
        </p:nvGrpSpPr>
        <p:grpSpPr bwMode="auto">
          <a:xfrm>
            <a:off x="4370389" y="1225551"/>
            <a:ext cx="3278187" cy="2105025"/>
            <a:chOff x="145" y="580"/>
            <a:chExt cx="2065" cy="1326"/>
          </a:xfrm>
        </p:grpSpPr>
        <p:sp>
          <p:nvSpPr>
            <p:cNvPr id="1181700" name="Line 4"/>
            <p:cNvSpPr>
              <a:spLocks noChangeShapeType="1"/>
            </p:cNvSpPr>
            <p:nvPr/>
          </p:nvSpPr>
          <p:spPr bwMode="auto">
            <a:xfrm>
              <a:off x="762" y="1708"/>
              <a:ext cx="1200" cy="0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  <p:sp>
          <p:nvSpPr>
            <p:cNvPr id="1181701" name="Line 5"/>
            <p:cNvSpPr>
              <a:spLocks noChangeShapeType="1"/>
            </p:cNvSpPr>
            <p:nvPr/>
          </p:nvSpPr>
          <p:spPr bwMode="auto">
            <a:xfrm rot="16200000" flipV="1">
              <a:off x="258" y="1204"/>
              <a:ext cx="1200" cy="0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  <p:sp>
          <p:nvSpPr>
            <p:cNvPr id="1181702" name="Line 6"/>
            <p:cNvSpPr>
              <a:spLocks noChangeShapeType="1"/>
            </p:cNvSpPr>
            <p:nvPr/>
          </p:nvSpPr>
          <p:spPr bwMode="auto">
            <a:xfrm rot="-1718229">
              <a:off x="703" y="1466"/>
              <a:ext cx="1200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  <p:sp>
          <p:nvSpPr>
            <p:cNvPr id="1181703" name="Line 7"/>
            <p:cNvSpPr>
              <a:spLocks noChangeShapeType="1"/>
            </p:cNvSpPr>
            <p:nvPr/>
          </p:nvSpPr>
          <p:spPr bwMode="auto">
            <a:xfrm rot="14481771" flipV="1">
              <a:off x="19" y="1265"/>
              <a:ext cx="1200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  <p:sp>
          <p:nvSpPr>
            <p:cNvPr id="1181704" name="Oval 8"/>
            <p:cNvSpPr>
              <a:spLocks noChangeArrowheads="1"/>
            </p:cNvSpPr>
            <p:nvPr/>
          </p:nvSpPr>
          <p:spPr bwMode="auto">
            <a:xfrm>
              <a:off x="780" y="1618"/>
              <a:ext cx="162" cy="16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  <p:sp>
          <p:nvSpPr>
            <p:cNvPr id="1181705" name="Text Box 9"/>
            <p:cNvSpPr txBox="1">
              <a:spLocks noChangeArrowheads="1"/>
            </p:cNvSpPr>
            <p:nvPr/>
          </p:nvSpPr>
          <p:spPr bwMode="auto">
            <a:xfrm>
              <a:off x="782" y="1497"/>
              <a:ext cx="16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s-ES_tradnl" sz="2400">
                  <a:latin typeface="Times New Roman" charset="0"/>
                </a:rPr>
                <a:t>.</a:t>
              </a:r>
              <a:endParaRPr lang="es-ES_tradnl" sz="2400" u="sng">
                <a:latin typeface="Times New Roman" charset="0"/>
              </a:endParaRPr>
            </a:p>
          </p:txBody>
        </p:sp>
        <p:sp>
          <p:nvSpPr>
            <p:cNvPr id="1181706" name="Text Box 10"/>
            <p:cNvSpPr txBox="1">
              <a:spLocks noChangeArrowheads="1"/>
            </p:cNvSpPr>
            <p:nvPr/>
          </p:nvSpPr>
          <p:spPr bwMode="auto">
            <a:xfrm>
              <a:off x="1813" y="1027"/>
              <a:ext cx="29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s-ES_tradnl" i="1">
                  <a:latin typeface="Times New Roman" charset="0"/>
                </a:rPr>
                <a:t>X</a:t>
              </a:r>
            </a:p>
          </p:txBody>
        </p:sp>
        <p:sp>
          <p:nvSpPr>
            <p:cNvPr id="1181707" name="Text Box 11"/>
            <p:cNvSpPr txBox="1">
              <a:spLocks noChangeArrowheads="1"/>
            </p:cNvSpPr>
            <p:nvPr/>
          </p:nvSpPr>
          <p:spPr bwMode="auto">
            <a:xfrm>
              <a:off x="145" y="793"/>
              <a:ext cx="25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s-ES_tradnl" i="1">
                  <a:latin typeface="Times New Roman" charset="0"/>
                </a:rPr>
                <a:t>Y</a:t>
              </a:r>
            </a:p>
          </p:txBody>
        </p:sp>
        <p:sp>
          <p:nvSpPr>
            <p:cNvPr id="1181708" name="Text Box 12"/>
            <p:cNvSpPr txBox="1">
              <a:spLocks noChangeArrowheads="1"/>
            </p:cNvSpPr>
            <p:nvPr/>
          </p:nvSpPr>
          <p:spPr bwMode="auto">
            <a:xfrm>
              <a:off x="563" y="1645"/>
              <a:ext cx="251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s-ES_tradnl" i="1">
                  <a:latin typeface="Times New Roman" charset="0"/>
                </a:rPr>
                <a:t>Z'</a:t>
              </a:r>
            </a:p>
          </p:txBody>
        </p:sp>
        <p:sp>
          <p:nvSpPr>
            <p:cNvPr id="1181709" name="Text Box 13"/>
            <p:cNvSpPr txBox="1">
              <a:spLocks noChangeArrowheads="1"/>
            </p:cNvSpPr>
            <p:nvPr/>
          </p:nvSpPr>
          <p:spPr bwMode="auto">
            <a:xfrm>
              <a:off x="1958" y="1603"/>
              <a:ext cx="25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s-ES_tradnl" i="1">
                  <a:latin typeface="Times New Roman" charset="0"/>
                </a:rPr>
                <a:t>X’</a:t>
              </a:r>
            </a:p>
          </p:txBody>
        </p:sp>
        <p:sp>
          <p:nvSpPr>
            <p:cNvPr id="1181710" name="Text Box 14"/>
            <p:cNvSpPr txBox="1">
              <a:spLocks noChangeArrowheads="1"/>
            </p:cNvSpPr>
            <p:nvPr/>
          </p:nvSpPr>
          <p:spPr bwMode="auto">
            <a:xfrm>
              <a:off x="888" y="1675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s-ES_tradnl" i="1">
                  <a:latin typeface="Times New Roman" charset="0"/>
                </a:rPr>
                <a:t>Z</a:t>
              </a:r>
            </a:p>
          </p:txBody>
        </p:sp>
        <p:sp>
          <p:nvSpPr>
            <p:cNvPr id="1181711" name="Text Box 15"/>
            <p:cNvSpPr txBox="1">
              <a:spLocks noChangeArrowheads="1"/>
            </p:cNvSpPr>
            <p:nvPr/>
          </p:nvSpPr>
          <p:spPr bwMode="auto">
            <a:xfrm>
              <a:off x="889" y="580"/>
              <a:ext cx="23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s-ES_tradnl" i="1">
                  <a:latin typeface="Times New Roman" charset="0"/>
                </a:rPr>
                <a:t>Y'</a:t>
              </a:r>
            </a:p>
          </p:txBody>
        </p:sp>
        <p:sp>
          <p:nvSpPr>
            <p:cNvPr id="1181712" name="Arco 16"/>
            <p:cNvSpPr>
              <a:spLocks/>
            </p:cNvSpPr>
            <p:nvPr/>
          </p:nvSpPr>
          <p:spPr bwMode="auto">
            <a:xfrm rot="10800000" flipV="1">
              <a:off x="1246" y="1517"/>
              <a:ext cx="147" cy="187"/>
            </a:xfrm>
            <a:custGeom>
              <a:avLst/>
              <a:gdLst>
                <a:gd name="G0" fmla="+- 21600 0 0"/>
                <a:gd name="G1" fmla="+- 21600 0 0"/>
                <a:gd name="G2" fmla="+- 21600 0 0"/>
                <a:gd name="T0" fmla="*/ 612 w 24723"/>
                <a:gd name="T1" fmla="*/ 26706 h 26706"/>
                <a:gd name="T2" fmla="*/ 24723 w 24723"/>
                <a:gd name="T3" fmla="*/ 227 h 26706"/>
                <a:gd name="T4" fmla="*/ 21600 w 24723"/>
                <a:gd name="T5" fmla="*/ 21600 h 26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723" h="26706" fill="none" extrusionOk="0">
                  <a:moveTo>
                    <a:pt x="612" y="26705"/>
                  </a:moveTo>
                  <a:cubicBezTo>
                    <a:pt x="205" y="25034"/>
                    <a:pt x="0" y="23320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2645" y="0"/>
                    <a:pt x="23688" y="75"/>
                    <a:pt x="24723" y="226"/>
                  </a:cubicBezTo>
                </a:path>
                <a:path w="24723" h="26706" stroke="0" extrusionOk="0">
                  <a:moveTo>
                    <a:pt x="612" y="26705"/>
                  </a:moveTo>
                  <a:cubicBezTo>
                    <a:pt x="205" y="25034"/>
                    <a:pt x="0" y="23320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2645" y="0"/>
                    <a:pt x="23688" y="75"/>
                    <a:pt x="24723" y="226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38100">
              <a:solidFill>
                <a:srgbClr val="FF99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  <p:sp>
          <p:nvSpPr>
            <p:cNvPr id="1181713" name="Text Box 17"/>
            <p:cNvSpPr txBox="1">
              <a:spLocks noChangeArrowheads="1"/>
            </p:cNvSpPr>
            <p:nvPr/>
          </p:nvSpPr>
          <p:spPr bwMode="auto">
            <a:xfrm>
              <a:off x="1354" y="1380"/>
              <a:ext cx="32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s-ES_tradnl" sz="2400">
                  <a:latin typeface="Times New Roman" charset="0"/>
                  <a:sym typeface="Symbol" charset="2"/>
                </a:rPr>
                <a:t></a:t>
              </a:r>
              <a:r>
                <a:rPr lang="es-ES_tradnl" sz="2400" i="1" baseline="-25000">
                  <a:latin typeface="Times New Roman" charset="0"/>
                  <a:sym typeface="Symbol" charset="2"/>
                </a:rPr>
                <a:t>Z</a:t>
              </a:r>
              <a:endParaRPr lang="es-ES_tradnl" sz="2400">
                <a:latin typeface="Times New Roman" charset="0"/>
              </a:endParaRPr>
            </a:p>
          </p:txBody>
        </p:sp>
      </p:grpSp>
      <p:pic>
        <p:nvPicPr>
          <p:cNvPr id="1181745" name="Picture 49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58141" y="3862389"/>
            <a:ext cx="5741988" cy="1093787"/>
          </a:xfrm>
          <a:prstGeom prst="rect">
            <a:avLst/>
          </a:prstGeom>
          <a:noFill/>
        </p:spPr>
      </p:pic>
      <p:sp>
        <p:nvSpPr>
          <p:cNvPr id="1181746" name="Rectangle 50"/>
          <p:cNvSpPr>
            <a:spLocks noChangeArrowheads="1"/>
          </p:cNvSpPr>
          <p:nvPr/>
        </p:nvSpPr>
        <p:spPr bwMode="auto">
          <a:xfrm>
            <a:off x="1524001" y="749301"/>
            <a:ext cx="231435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" sz="2400" dirty="0">
                <a:latin typeface="Gill Sans MT" panose="020B0502020104020203" pitchFamily="34" charset="77"/>
              </a:rPr>
              <a:t>Axis Z </a:t>
            </a:r>
            <a:r>
              <a:rPr lang="es-ES" sz="2400" dirty="0" err="1">
                <a:latin typeface="Gill Sans MT" panose="020B0502020104020203" pitchFamily="34" charset="77"/>
              </a:rPr>
              <a:t>Rotation</a:t>
            </a:r>
            <a:r>
              <a:rPr lang="es-ES" sz="2400" dirty="0">
                <a:latin typeface="Gill Sans MT" panose="020B0502020104020203" pitchFamily="34" charset="77"/>
              </a:rPr>
              <a:t>:</a:t>
            </a:r>
          </a:p>
        </p:txBody>
      </p:sp>
      <p:sp>
        <p:nvSpPr>
          <p:cNvPr id="2" name="Rectangle 1"/>
          <p:cNvSpPr/>
          <p:nvPr/>
        </p:nvSpPr>
        <p:spPr>
          <a:xfrm>
            <a:off x="3170156" y="3731818"/>
            <a:ext cx="1473701" cy="134847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EBE7DE-2C57-75F9-998C-DF8C21767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CV02C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589CDC-5A6C-4C04-9167-D516329CA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23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8265408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74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524001" y="76200"/>
            <a:ext cx="4022725" cy="527050"/>
          </a:xfrm>
          <a:solidFill>
            <a:srgbClr val="FFFFFF"/>
          </a:solidFill>
          <a:ln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algn="l"/>
            <a:r>
              <a:rPr lang="es-ES_tradnl" sz="2000" b="1" dirty="0">
                <a:solidFill>
                  <a:srgbClr val="99CCFF"/>
                </a:solidFill>
              </a:rPr>
              <a:t>[ 3D </a:t>
            </a:r>
            <a:r>
              <a:rPr lang="es-ES_tradnl" sz="2000" b="1" dirty="0" err="1">
                <a:solidFill>
                  <a:srgbClr val="99CCFF"/>
                </a:solidFill>
              </a:rPr>
              <a:t>Transformation</a:t>
            </a:r>
            <a:r>
              <a:rPr lang="es-ES_tradnl" sz="2000" b="1" dirty="0">
                <a:solidFill>
                  <a:srgbClr val="99CCFF"/>
                </a:solidFill>
              </a:rPr>
              <a:t> ]</a:t>
            </a:r>
            <a:endParaRPr sz="2000" b="1" noProof="1">
              <a:solidFill>
                <a:srgbClr val="99CCFF"/>
              </a:solidFill>
            </a:endParaRPr>
          </a:p>
        </p:txBody>
      </p:sp>
      <p:grpSp>
        <p:nvGrpSpPr>
          <p:cNvPr id="1183762" name="Group 18"/>
          <p:cNvGrpSpPr>
            <a:grpSpLocks/>
          </p:cNvGrpSpPr>
          <p:nvPr/>
        </p:nvGrpSpPr>
        <p:grpSpPr bwMode="auto">
          <a:xfrm>
            <a:off x="4760913" y="1073151"/>
            <a:ext cx="3238500" cy="2105025"/>
            <a:chOff x="1943" y="580"/>
            <a:chExt cx="2040" cy="1326"/>
          </a:xfrm>
        </p:grpSpPr>
        <p:sp>
          <p:nvSpPr>
            <p:cNvPr id="1183763" name="Line 19"/>
            <p:cNvSpPr>
              <a:spLocks noChangeShapeType="1"/>
            </p:cNvSpPr>
            <p:nvPr/>
          </p:nvSpPr>
          <p:spPr bwMode="auto">
            <a:xfrm>
              <a:off x="2560" y="1708"/>
              <a:ext cx="1200" cy="0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  <p:sp>
          <p:nvSpPr>
            <p:cNvPr id="1183764" name="Line 20"/>
            <p:cNvSpPr>
              <a:spLocks noChangeShapeType="1"/>
            </p:cNvSpPr>
            <p:nvPr/>
          </p:nvSpPr>
          <p:spPr bwMode="auto">
            <a:xfrm rot="16200000" flipV="1">
              <a:off x="2056" y="1204"/>
              <a:ext cx="1200" cy="0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  <p:sp>
          <p:nvSpPr>
            <p:cNvPr id="1183765" name="Line 21"/>
            <p:cNvSpPr>
              <a:spLocks noChangeShapeType="1"/>
            </p:cNvSpPr>
            <p:nvPr/>
          </p:nvSpPr>
          <p:spPr bwMode="auto">
            <a:xfrm rot="-1718229">
              <a:off x="2501" y="1466"/>
              <a:ext cx="1200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  <p:sp>
          <p:nvSpPr>
            <p:cNvPr id="1183766" name="Line 22"/>
            <p:cNvSpPr>
              <a:spLocks noChangeShapeType="1"/>
            </p:cNvSpPr>
            <p:nvPr/>
          </p:nvSpPr>
          <p:spPr bwMode="auto">
            <a:xfrm rot="14481771" flipV="1">
              <a:off x="1817" y="1265"/>
              <a:ext cx="1200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  <p:sp>
          <p:nvSpPr>
            <p:cNvPr id="1183767" name="Oval 23"/>
            <p:cNvSpPr>
              <a:spLocks noChangeArrowheads="1"/>
            </p:cNvSpPr>
            <p:nvPr/>
          </p:nvSpPr>
          <p:spPr bwMode="auto">
            <a:xfrm>
              <a:off x="2578" y="1618"/>
              <a:ext cx="162" cy="16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  <p:sp>
          <p:nvSpPr>
            <p:cNvPr id="1183768" name="Text Box 24"/>
            <p:cNvSpPr txBox="1">
              <a:spLocks noChangeArrowheads="1"/>
            </p:cNvSpPr>
            <p:nvPr/>
          </p:nvSpPr>
          <p:spPr bwMode="auto">
            <a:xfrm>
              <a:off x="2580" y="1497"/>
              <a:ext cx="16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s-ES_tradnl" sz="2400">
                  <a:latin typeface="Times New Roman" charset="0"/>
                </a:rPr>
                <a:t>.</a:t>
              </a:r>
              <a:endParaRPr lang="es-ES_tradnl" sz="2400" u="sng">
                <a:latin typeface="Times New Roman" charset="0"/>
              </a:endParaRPr>
            </a:p>
          </p:txBody>
        </p:sp>
        <p:sp>
          <p:nvSpPr>
            <p:cNvPr id="1183769" name="Text Box 25"/>
            <p:cNvSpPr txBox="1">
              <a:spLocks noChangeArrowheads="1"/>
            </p:cNvSpPr>
            <p:nvPr/>
          </p:nvSpPr>
          <p:spPr bwMode="auto">
            <a:xfrm>
              <a:off x="3611" y="1027"/>
              <a:ext cx="29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s-ES_tradnl" i="1">
                  <a:latin typeface="Times New Roman" charset="0"/>
                </a:rPr>
                <a:t>Z</a:t>
              </a:r>
            </a:p>
          </p:txBody>
        </p:sp>
        <p:sp>
          <p:nvSpPr>
            <p:cNvPr id="1183770" name="Text Box 26"/>
            <p:cNvSpPr txBox="1">
              <a:spLocks noChangeArrowheads="1"/>
            </p:cNvSpPr>
            <p:nvPr/>
          </p:nvSpPr>
          <p:spPr bwMode="auto">
            <a:xfrm>
              <a:off x="1943" y="793"/>
              <a:ext cx="25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s-ES_tradnl" i="1">
                  <a:latin typeface="Times New Roman" charset="0"/>
                </a:rPr>
                <a:t>X</a:t>
              </a:r>
            </a:p>
          </p:txBody>
        </p:sp>
        <p:sp>
          <p:nvSpPr>
            <p:cNvPr id="1183771" name="Text Box 27"/>
            <p:cNvSpPr txBox="1">
              <a:spLocks noChangeArrowheads="1"/>
            </p:cNvSpPr>
            <p:nvPr/>
          </p:nvSpPr>
          <p:spPr bwMode="auto">
            <a:xfrm>
              <a:off x="2361" y="1645"/>
              <a:ext cx="251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s-ES_tradnl" i="1">
                  <a:latin typeface="Times New Roman" charset="0"/>
                </a:rPr>
                <a:t>Y'</a:t>
              </a:r>
            </a:p>
          </p:txBody>
        </p:sp>
        <p:sp>
          <p:nvSpPr>
            <p:cNvPr id="1183772" name="Text Box 28"/>
            <p:cNvSpPr txBox="1">
              <a:spLocks noChangeArrowheads="1"/>
            </p:cNvSpPr>
            <p:nvPr/>
          </p:nvSpPr>
          <p:spPr bwMode="auto">
            <a:xfrm>
              <a:off x="3756" y="1603"/>
              <a:ext cx="227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s-ES_tradnl" i="1">
                  <a:latin typeface="Times New Roman" charset="0"/>
                </a:rPr>
                <a:t>Z'</a:t>
              </a:r>
            </a:p>
          </p:txBody>
        </p:sp>
        <p:sp>
          <p:nvSpPr>
            <p:cNvPr id="1183773" name="Text Box 29"/>
            <p:cNvSpPr txBox="1">
              <a:spLocks noChangeArrowheads="1"/>
            </p:cNvSpPr>
            <p:nvPr/>
          </p:nvSpPr>
          <p:spPr bwMode="auto">
            <a:xfrm>
              <a:off x="2686" y="1675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s-ES_tradnl" i="1">
                  <a:latin typeface="Times New Roman" charset="0"/>
                </a:rPr>
                <a:t>Y</a:t>
              </a:r>
            </a:p>
          </p:txBody>
        </p:sp>
        <p:sp>
          <p:nvSpPr>
            <p:cNvPr id="1183774" name="Text Box 30"/>
            <p:cNvSpPr txBox="1">
              <a:spLocks noChangeArrowheads="1"/>
            </p:cNvSpPr>
            <p:nvPr/>
          </p:nvSpPr>
          <p:spPr bwMode="auto">
            <a:xfrm>
              <a:off x="2687" y="580"/>
              <a:ext cx="33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s-ES_tradnl" i="1">
                  <a:latin typeface="Times New Roman" charset="0"/>
                </a:rPr>
                <a:t>X'</a:t>
              </a:r>
            </a:p>
          </p:txBody>
        </p:sp>
        <p:sp>
          <p:nvSpPr>
            <p:cNvPr id="1183775" name="Arco 31"/>
            <p:cNvSpPr>
              <a:spLocks/>
            </p:cNvSpPr>
            <p:nvPr/>
          </p:nvSpPr>
          <p:spPr bwMode="auto">
            <a:xfrm rot="10800000" flipV="1">
              <a:off x="3044" y="1517"/>
              <a:ext cx="147" cy="187"/>
            </a:xfrm>
            <a:custGeom>
              <a:avLst/>
              <a:gdLst>
                <a:gd name="G0" fmla="+- 21600 0 0"/>
                <a:gd name="G1" fmla="+- 21600 0 0"/>
                <a:gd name="G2" fmla="+- 21600 0 0"/>
                <a:gd name="T0" fmla="*/ 612 w 24723"/>
                <a:gd name="T1" fmla="*/ 26706 h 26706"/>
                <a:gd name="T2" fmla="*/ 24723 w 24723"/>
                <a:gd name="T3" fmla="*/ 227 h 26706"/>
                <a:gd name="T4" fmla="*/ 21600 w 24723"/>
                <a:gd name="T5" fmla="*/ 21600 h 26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723" h="26706" fill="none" extrusionOk="0">
                  <a:moveTo>
                    <a:pt x="612" y="26705"/>
                  </a:moveTo>
                  <a:cubicBezTo>
                    <a:pt x="205" y="25034"/>
                    <a:pt x="0" y="23320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2645" y="0"/>
                    <a:pt x="23688" y="75"/>
                    <a:pt x="24723" y="226"/>
                  </a:cubicBezTo>
                </a:path>
                <a:path w="24723" h="26706" stroke="0" extrusionOk="0">
                  <a:moveTo>
                    <a:pt x="612" y="26705"/>
                  </a:moveTo>
                  <a:cubicBezTo>
                    <a:pt x="205" y="25034"/>
                    <a:pt x="0" y="23320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2645" y="0"/>
                    <a:pt x="23688" y="75"/>
                    <a:pt x="24723" y="226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38100">
              <a:solidFill>
                <a:srgbClr val="FF99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  <p:sp>
          <p:nvSpPr>
            <p:cNvPr id="1183776" name="Text Box 32"/>
            <p:cNvSpPr txBox="1">
              <a:spLocks noChangeArrowheads="1"/>
            </p:cNvSpPr>
            <p:nvPr/>
          </p:nvSpPr>
          <p:spPr bwMode="auto">
            <a:xfrm>
              <a:off x="3152" y="1380"/>
              <a:ext cx="32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s-ES_tradnl" sz="2400">
                  <a:latin typeface="Times New Roman" charset="0"/>
                  <a:sym typeface="Symbol" charset="2"/>
                </a:rPr>
                <a:t></a:t>
              </a:r>
              <a:r>
                <a:rPr lang="es-ES_tradnl" sz="2400" i="1" baseline="-25000">
                  <a:latin typeface="Times New Roman" charset="0"/>
                  <a:sym typeface="Symbol" charset="2"/>
                </a:rPr>
                <a:t>Y</a:t>
              </a:r>
              <a:endParaRPr lang="es-ES_tradnl" sz="2400">
                <a:latin typeface="Times New Roman" charset="0"/>
              </a:endParaRPr>
            </a:p>
          </p:txBody>
        </p:sp>
      </p:grpSp>
      <p:pic>
        <p:nvPicPr>
          <p:cNvPr id="1183793" name="Picture 49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379359" y="4022725"/>
            <a:ext cx="5221288" cy="1009650"/>
          </a:xfrm>
          <a:prstGeom prst="rect">
            <a:avLst/>
          </a:prstGeom>
          <a:noFill/>
        </p:spPr>
      </p:pic>
      <p:sp>
        <p:nvSpPr>
          <p:cNvPr id="1183794" name="Rectangle 50"/>
          <p:cNvSpPr>
            <a:spLocks noChangeArrowheads="1"/>
          </p:cNvSpPr>
          <p:nvPr/>
        </p:nvSpPr>
        <p:spPr bwMode="auto">
          <a:xfrm>
            <a:off x="1524000" y="749301"/>
            <a:ext cx="229813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" sz="2400" dirty="0">
                <a:latin typeface="Gill Sans MT" panose="020B0502020104020203" pitchFamily="34" charset="77"/>
              </a:rPr>
              <a:t> Axis Y </a:t>
            </a:r>
            <a:r>
              <a:rPr lang="es-ES" sz="2400" dirty="0" err="1">
                <a:latin typeface="Gill Sans MT" panose="020B0502020104020203" pitchFamily="34" charset="77"/>
              </a:rPr>
              <a:t>Rotation</a:t>
            </a:r>
            <a:r>
              <a:rPr lang="es-ES" sz="2400" dirty="0">
                <a:latin typeface="Gill Sans MT" panose="020B0502020104020203" pitchFamily="34" charset="77"/>
              </a:rPr>
              <a:t>: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70156" y="3731818"/>
            <a:ext cx="1473701" cy="134847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C530A8-7007-6894-EB7D-B34B50F05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CV02C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AF1E883-948C-83FE-2503-F714D3F1E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24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3675790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79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524001" y="76200"/>
            <a:ext cx="4022725" cy="527050"/>
          </a:xfrm>
          <a:solidFill>
            <a:srgbClr val="FFFFFF"/>
          </a:solidFill>
          <a:ln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algn="l"/>
            <a:r>
              <a:rPr lang="es-ES_tradnl" sz="2000" b="1" dirty="0">
                <a:solidFill>
                  <a:srgbClr val="99CCFF"/>
                </a:solidFill>
              </a:rPr>
              <a:t>[ 3D </a:t>
            </a:r>
            <a:r>
              <a:rPr lang="es-ES_tradnl" sz="2000" b="1" dirty="0" err="1">
                <a:solidFill>
                  <a:srgbClr val="99CCFF"/>
                </a:solidFill>
              </a:rPr>
              <a:t>Transformation</a:t>
            </a:r>
            <a:r>
              <a:rPr lang="es-ES_tradnl" sz="2000" b="1" dirty="0">
                <a:solidFill>
                  <a:srgbClr val="99CCFF"/>
                </a:solidFill>
              </a:rPr>
              <a:t> ]</a:t>
            </a:r>
            <a:endParaRPr sz="2000" b="1" noProof="1">
              <a:solidFill>
                <a:srgbClr val="99CCFF"/>
              </a:solidFill>
            </a:endParaRPr>
          </a:p>
        </p:txBody>
      </p:sp>
      <p:grpSp>
        <p:nvGrpSpPr>
          <p:cNvPr id="1185825" name="Group 33"/>
          <p:cNvGrpSpPr>
            <a:grpSpLocks/>
          </p:cNvGrpSpPr>
          <p:nvPr/>
        </p:nvGrpSpPr>
        <p:grpSpPr bwMode="auto">
          <a:xfrm>
            <a:off x="4430713" y="1035051"/>
            <a:ext cx="3238500" cy="2105025"/>
            <a:chOff x="3751" y="580"/>
            <a:chExt cx="2040" cy="1326"/>
          </a:xfrm>
        </p:grpSpPr>
        <p:sp>
          <p:nvSpPr>
            <p:cNvPr id="1185826" name="Line 34"/>
            <p:cNvSpPr>
              <a:spLocks noChangeShapeType="1"/>
            </p:cNvSpPr>
            <p:nvPr/>
          </p:nvSpPr>
          <p:spPr bwMode="auto">
            <a:xfrm>
              <a:off x="4368" y="1708"/>
              <a:ext cx="1200" cy="0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  <p:sp>
          <p:nvSpPr>
            <p:cNvPr id="1185827" name="Line 35"/>
            <p:cNvSpPr>
              <a:spLocks noChangeShapeType="1"/>
            </p:cNvSpPr>
            <p:nvPr/>
          </p:nvSpPr>
          <p:spPr bwMode="auto">
            <a:xfrm rot="16200000" flipV="1">
              <a:off x="3864" y="1204"/>
              <a:ext cx="1200" cy="0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  <p:sp>
          <p:nvSpPr>
            <p:cNvPr id="1185828" name="Line 36"/>
            <p:cNvSpPr>
              <a:spLocks noChangeShapeType="1"/>
            </p:cNvSpPr>
            <p:nvPr/>
          </p:nvSpPr>
          <p:spPr bwMode="auto">
            <a:xfrm rot="-1718229">
              <a:off x="4309" y="1466"/>
              <a:ext cx="1200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  <p:sp>
          <p:nvSpPr>
            <p:cNvPr id="1185829" name="Line 37"/>
            <p:cNvSpPr>
              <a:spLocks noChangeShapeType="1"/>
            </p:cNvSpPr>
            <p:nvPr/>
          </p:nvSpPr>
          <p:spPr bwMode="auto">
            <a:xfrm rot="14481771" flipV="1">
              <a:off x="3625" y="1265"/>
              <a:ext cx="1200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  <p:sp>
          <p:nvSpPr>
            <p:cNvPr id="1185830" name="Oval 38"/>
            <p:cNvSpPr>
              <a:spLocks noChangeArrowheads="1"/>
            </p:cNvSpPr>
            <p:nvPr/>
          </p:nvSpPr>
          <p:spPr bwMode="auto">
            <a:xfrm>
              <a:off x="4386" y="1618"/>
              <a:ext cx="162" cy="16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  <p:sp>
          <p:nvSpPr>
            <p:cNvPr id="1185831" name="Text Box 39"/>
            <p:cNvSpPr txBox="1">
              <a:spLocks noChangeArrowheads="1"/>
            </p:cNvSpPr>
            <p:nvPr/>
          </p:nvSpPr>
          <p:spPr bwMode="auto">
            <a:xfrm>
              <a:off x="4388" y="1497"/>
              <a:ext cx="16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s-ES_tradnl" sz="2400">
                  <a:latin typeface="Times New Roman" charset="0"/>
                </a:rPr>
                <a:t>.</a:t>
              </a:r>
              <a:endParaRPr lang="es-ES_tradnl" sz="2400" u="sng">
                <a:latin typeface="Times New Roman" charset="0"/>
              </a:endParaRPr>
            </a:p>
          </p:txBody>
        </p:sp>
        <p:sp>
          <p:nvSpPr>
            <p:cNvPr id="1185832" name="Text Box 40"/>
            <p:cNvSpPr txBox="1">
              <a:spLocks noChangeArrowheads="1"/>
            </p:cNvSpPr>
            <p:nvPr/>
          </p:nvSpPr>
          <p:spPr bwMode="auto">
            <a:xfrm>
              <a:off x="5419" y="1027"/>
              <a:ext cx="29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s-ES_tradnl" i="1">
                  <a:latin typeface="Times New Roman" charset="0"/>
                </a:rPr>
                <a:t>Y</a:t>
              </a:r>
            </a:p>
          </p:txBody>
        </p:sp>
        <p:sp>
          <p:nvSpPr>
            <p:cNvPr id="1185833" name="Text Box 41"/>
            <p:cNvSpPr txBox="1">
              <a:spLocks noChangeArrowheads="1"/>
            </p:cNvSpPr>
            <p:nvPr/>
          </p:nvSpPr>
          <p:spPr bwMode="auto">
            <a:xfrm>
              <a:off x="3751" y="793"/>
              <a:ext cx="25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s-ES_tradnl" i="1">
                  <a:latin typeface="Times New Roman" charset="0"/>
                </a:rPr>
                <a:t>Z</a:t>
              </a:r>
            </a:p>
          </p:txBody>
        </p:sp>
        <p:sp>
          <p:nvSpPr>
            <p:cNvPr id="1185834" name="Text Box 42"/>
            <p:cNvSpPr txBox="1">
              <a:spLocks noChangeArrowheads="1"/>
            </p:cNvSpPr>
            <p:nvPr/>
          </p:nvSpPr>
          <p:spPr bwMode="auto">
            <a:xfrm>
              <a:off x="4169" y="1645"/>
              <a:ext cx="251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s-ES_tradnl" i="1">
                  <a:latin typeface="Times New Roman" charset="0"/>
                </a:rPr>
                <a:t>X'</a:t>
              </a:r>
            </a:p>
          </p:txBody>
        </p:sp>
        <p:sp>
          <p:nvSpPr>
            <p:cNvPr id="1185835" name="Text Box 43"/>
            <p:cNvSpPr txBox="1">
              <a:spLocks noChangeArrowheads="1"/>
            </p:cNvSpPr>
            <p:nvPr/>
          </p:nvSpPr>
          <p:spPr bwMode="auto">
            <a:xfrm>
              <a:off x="5564" y="1603"/>
              <a:ext cx="227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s-ES_tradnl" i="1">
                  <a:latin typeface="Times New Roman" charset="0"/>
                </a:rPr>
                <a:t>Y'</a:t>
              </a:r>
            </a:p>
          </p:txBody>
        </p:sp>
        <p:sp>
          <p:nvSpPr>
            <p:cNvPr id="1185836" name="Text Box 44"/>
            <p:cNvSpPr txBox="1">
              <a:spLocks noChangeArrowheads="1"/>
            </p:cNvSpPr>
            <p:nvPr/>
          </p:nvSpPr>
          <p:spPr bwMode="auto">
            <a:xfrm>
              <a:off x="4494" y="1675"/>
              <a:ext cx="20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s-ES_tradnl" i="1">
                  <a:latin typeface="Times New Roman" charset="0"/>
                </a:rPr>
                <a:t>X</a:t>
              </a:r>
            </a:p>
          </p:txBody>
        </p:sp>
        <p:sp>
          <p:nvSpPr>
            <p:cNvPr id="1185837" name="Text Box 45"/>
            <p:cNvSpPr txBox="1">
              <a:spLocks noChangeArrowheads="1"/>
            </p:cNvSpPr>
            <p:nvPr/>
          </p:nvSpPr>
          <p:spPr bwMode="auto">
            <a:xfrm>
              <a:off x="4495" y="580"/>
              <a:ext cx="23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s-ES_tradnl" i="1">
                  <a:latin typeface="Times New Roman" charset="0"/>
                </a:rPr>
                <a:t>Z'</a:t>
              </a:r>
            </a:p>
          </p:txBody>
        </p:sp>
        <p:sp>
          <p:nvSpPr>
            <p:cNvPr id="1185838" name="Arco 46"/>
            <p:cNvSpPr>
              <a:spLocks/>
            </p:cNvSpPr>
            <p:nvPr/>
          </p:nvSpPr>
          <p:spPr bwMode="auto">
            <a:xfrm rot="10800000" flipV="1">
              <a:off x="4852" y="1517"/>
              <a:ext cx="147" cy="187"/>
            </a:xfrm>
            <a:custGeom>
              <a:avLst/>
              <a:gdLst>
                <a:gd name="G0" fmla="+- 21600 0 0"/>
                <a:gd name="G1" fmla="+- 21600 0 0"/>
                <a:gd name="G2" fmla="+- 21600 0 0"/>
                <a:gd name="T0" fmla="*/ 612 w 24723"/>
                <a:gd name="T1" fmla="*/ 26706 h 26706"/>
                <a:gd name="T2" fmla="*/ 24723 w 24723"/>
                <a:gd name="T3" fmla="*/ 227 h 26706"/>
                <a:gd name="T4" fmla="*/ 21600 w 24723"/>
                <a:gd name="T5" fmla="*/ 21600 h 26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723" h="26706" fill="none" extrusionOk="0">
                  <a:moveTo>
                    <a:pt x="612" y="26705"/>
                  </a:moveTo>
                  <a:cubicBezTo>
                    <a:pt x="205" y="25034"/>
                    <a:pt x="0" y="23320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2645" y="0"/>
                    <a:pt x="23688" y="75"/>
                    <a:pt x="24723" y="226"/>
                  </a:cubicBezTo>
                </a:path>
                <a:path w="24723" h="26706" stroke="0" extrusionOk="0">
                  <a:moveTo>
                    <a:pt x="612" y="26705"/>
                  </a:moveTo>
                  <a:cubicBezTo>
                    <a:pt x="205" y="25034"/>
                    <a:pt x="0" y="23320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2645" y="0"/>
                    <a:pt x="23688" y="75"/>
                    <a:pt x="24723" y="226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38100">
              <a:solidFill>
                <a:srgbClr val="FF99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  <p:sp>
          <p:nvSpPr>
            <p:cNvPr id="1185839" name="Text Box 47"/>
            <p:cNvSpPr txBox="1">
              <a:spLocks noChangeArrowheads="1"/>
            </p:cNvSpPr>
            <p:nvPr/>
          </p:nvSpPr>
          <p:spPr bwMode="auto">
            <a:xfrm>
              <a:off x="4960" y="1380"/>
              <a:ext cx="32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s-ES_tradnl" sz="2400">
                  <a:latin typeface="Times New Roman" charset="0"/>
                  <a:sym typeface="Symbol" charset="2"/>
                </a:rPr>
                <a:t></a:t>
              </a:r>
              <a:r>
                <a:rPr lang="es-ES_tradnl" sz="2400" i="1" baseline="-25000">
                  <a:latin typeface="Times New Roman" charset="0"/>
                  <a:sym typeface="Symbol" charset="2"/>
                </a:rPr>
                <a:t>X</a:t>
              </a:r>
              <a:endParaRPr lang="es-ES_tradnl" sz="2400">
                <a:latin typeface="Times New Roman" charset="0"/>
              </a:endParaRPr>
            </a:p>
          </p:txBody>
        </p:sp>
      </p:grpSp>
      <p:pic>
        <p:nvPicPr>
          <p:cNvPr id="1185841" name="Picture 49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324411" y="4038600"/>
            <a:ext cx="5365750" cy="1041400"/>
          </a:xfrm>
          <a:prstGeom prst="rect">
            <a:avLst/>
          </a:prstGeom>
          <a:noFill/>
        </p:spPr>
      </p:pic>
      <p:sp>
        <p:nvSpPr>
          <p:cNvPr id="1185842" name="Rectangle 50"/>
          <p:cNvSpPr>
            <a:spLocks noChangeArrowheads="1"/>
          </p:cNvSpPr>
          <p:nvPr/>
        </p:nvSpPr>
        <p:spPr bwMode="auto">
          <a:xfrm>
            <a:off x="1524000" y="749301"/>
            <a:ext cx="245028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" sz="2400" dirty="0">
                <a:latin typeface="Gill Sans MT" panose="020B0502020104020203" pitchFamily="34" charset="77"/>
              </a:rPr>
              <a:t> Axis X </a:t>
            </a:r>
            <a:r>
              <a:rPr lang="es-ES" sz="2400" dirty="0" err="1">
                <a:latin typeface="Gill Sans MT" panose="020B0502020104020203" pitchFamily="34" charset="77"/>
              </a:rPr>
              <a:t>Rotation</a:t>
            </a:r>
            <a:r>
              <a:rPr lang="es-ES" sz="2400" dirty="0">
                <a:latin typeface="Gill Sans MT" panose="020B0502020104020203" pitchFamily="34" charset="77"/>
              </a:rPr>
              <a:t> :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70156" y="3731818"/>
            <a:ext cx="1473701" cy="134847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8BC38E-F017-7F26-2F02-2CD5C7323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CV02C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DDDE4C2-D4A0-C396-A040-2A1CFA50F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25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0783940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4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524001" y="76200"/>
            <a:ext cx="4022725" cy="527050"/>
          </a:xfrm>
          <a:solidFill>
            <a:srgbClr val="FFFFFF"/>
          </a:solidFill>
          <a:ln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algn="l"/>
            <a:r>
              <a:rPr lang="es-ES_tradnl" sz="2000" b="1" dirty="0">
                <a:solidFill>
                  <a:srgbClr val="99CCFF"/>
                </a:solidFill>
              </a:rPr>
              <a:t>[ 3D </a:t>
            </a:r>
            <a:r>
              <a:rPr lang="es-ES_tradnl" sz="2000" b="1" dirty="0" err="1">
                <a:solidFill>
                  <a:srgbClr val="99CCFF"/>
                </a:solidFill>
              </a:rPr>
              <a:t>Transformation</a:t>
            </a:r>
            <a:r>
              <a:rPr lang="es-ES_tradnl" sz="2000" b="1" dirty="0">
                <a:solidFill>
                  <a:srgbClr val="99CCFF"/>
                </a:solidFill>
              </a:rPr>
              <a:t> ]</a:t>
            </a:r>
            <a:endParaRPr sz="2000" b="1" noProof="1">
              <a:solidFill>
                <a:srgbClr val="99CCFF"/>
              </a:solidFill>
            </a:endParaRPr>
          </a:p>
        </p:txBody>
      </p:sp>
      <p:grpSp>
        <p:nvGrpSpPr>
          <p:cNvPr id="1187843" name="Group 3"/>
          <p:cNvGrpSpPr>
            <a:grpSpLocks/>
          </p:cNvGrpSpPr>
          <p:nvPr/>
        </p:nvGrpSpPr>
        <p:grpSpPr bwMode="auto">
          <a:xfrm>
            <a:off x="1766889" y="1073151"/>
            <a:ext cx="3278187" cy="2105025"/>
            <a:chOff x="145" y="580"/>
            <a:chExt cx="2065" cy="1326"/>
          </a:xfrm>
        </p:grpSpPr>
        <p:sp>
          <p:nvSpPr>
            <p:cNvPr id="1187844" name="Line 4"/>
            <p:cNvSpPr>
              <a:spLocks noChangeShapeType="1"/>
            </p:cNvSpPr>
            <p:nvPr/>
          </p:nvSpPr>
          <p:spPr bwMode="auto">
            <a:xfrm>
              <a:off x="762" y="1708"/>
              <a:ext cx="1200" cy="0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  <p:sp>
          <p:nvSpPr>
            <p:cNvPr id="1187845" name="Line 5"/>
            <p:cNvSpPr>
              <a:spLocks noChangeShapeType="1"/>
            </p:cNvSpPr>
            <p:nvPr/>
          </p:nvSpPr>
          <p:spPr bwMode="auto">
            <a:xfrm rot="16200000" flipV="1">
              <a:off x="258" y="1204"/>
              <a:ext cx="1200" cy="0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  <p:sp>
          <p:nvSpPr>
            <p:cNvPr id="1187846" name="Line 6"/>
            <p:cNvSpPr>
              <a:spLocks noChangeShapeType="1"/>
            </p:cNvSpPr>
            <p:nvPr/>
          </p:nvSpPr>
          <p:spPr bwMode="auto">
            <a:xfrm rot="-1718229">
              <a:off x="703" y="1466"/>
              <a:ext cx="1200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  <p:sp>
          <p:nvSpPr>
            <p:cNvPr id="1187847" name="Line 7"/>
            <p:cNvSpPr>
              <a:spLocks noChangeShapeType="1"/>
            </p:cNvSpPr>
            <p:nvPr/>
          </p:nvSpPr>
          <p:spPr bwMode="auto">
            <a:xfrm rot="14481771" flipV="1">
              <a:off x="19" y="1265"/>
              <a:ext cx="1200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  <p:sp>
          <p:nvSpPr>
            <p:cNvPr id="1187848" name="Oval 8"/>
            <p:cNvSpPr>
              <a:spLocks noChangeArrowheads="1"/>
            </p:cNvSpPr>
            <p:nvPr/>
          </p:nvSpPr>
          <p:spPr bwMode="auto">
            <a:xfrm>
              <a:off x="780" y="1618"/>
              <a:ext cx="162" cy="16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  <p:sp>
          <p:nvSpPr>
            <p:cNvPr id="1187849" name="Text Box 9"/>
            <p:cNvSpPr txBox="1">
              <a:spLocks noChangeArrowheads="1"/>
            </p:cNvSpPr>
            <p:nvPr/>
          </p:nvSpPr>
          <p:spPr bwMode="auto">
            <a:xfrm>
              <a:off x="782" y="1497"/>
              <a:ext cx="16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s-ES_tradnl" sz="2400">
                  <a:latin typeface="Times New Roman" charset="0"/>
                </a:rPr>
                <a:t>.</a:t>
              </a:r>
              <a:endParaRPr lang="es-ES_tradnl" sz="2400" u="sng">
                <a:latin typeface="Times New Roman" charset="0"/>
              </a:endParaRPr>
            </a:p>
          </p:txBody>
        </p:sp>
        <p:sp>
          <p:nvSpPr>
            <p:cNvPr id="1187850" name="Text Box 10"/>
            <p:cNvSpPr txBox="1">
              <a:spLocks noChangeArrowheads="1"/>
            </p:cNvSpPr>
            <p:nvPr/>
          </p:nvSpPr>
          <p:spPr bwMode="auto">
            <a:xfrm>
              <a:off x="1813" y="1027"/>
              <a:ext cx="29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s-ES_tradnl" i="1">
                  <a:latin typeface="Times New Roman" charset="0"/>
                </a:rPr>
                <a:t>X</a:t>
              </a:r>
            </a:p>
          </p:txBody>
        </p:sp>
        <p:sp>
          <p:nvSpPr>
            <p:cNvPr id="1187851" name="Text Box 11"/>
            <p:cNvSpPr txBox="1">
              <a:spLocks noChangeArrowheads="1"/>
            </p:cNvSpPr>
            <p:nvPr/>
          </p:nvSpPr>
          <p:spPr bwMode="auto">
            <a:xfrm>
              <a:off x="145" y="793"/>
              <a:ext cx="25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s-ES_tradnl" i="1">
                  <a:latin typeface="Times New Roman" charset="0"/>
                </a:rPr>
                <a:t>Y</a:t>
              </a:r>
            </a:p>
          </p:txBody>
        </p:sp>
        <p:sp>
          <p:nvSpPr>
            <p:cNvPr id="1187852" name="Text Box 12"/>
            <p:cNvSpPr txBox="1">
              <a:spLocks noChangeArrowheads="1"/>
            </p:cNvSpPr>
            <p:nvPr/>
          </p:nvSpPr>
          <p:spPr bwMode="auto">
            <a:xfrm>
              <a:off x="563" y="1645"/>
              <a:ext cx="251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s-ES_tradnl" i="1">
                  <a:latin typeface="Times New Roman" charset="0"/>
                </a:rPr>
                <a:t>Z'</a:t>
              </a:r>
            </a:p>
          </p:txBody>
        </p:sp>
        <p:sp>
          <p:nvSpPr>
            <p:cNvPr id="1187853" name="Text Box 13"/>
            <p:cNvSpPr txBox="1">
              <a:spLocks noChangeArrowheads="1"/>
            </p:cNvSpPr>
            <p:nvPr/>
          </p:nvSpPr>
          <p:spPr bwMode="auto">
            <a:xfrm>
              <a:off x="1958" y="1603"/>
              <a:ext cx="25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s-ES_tradnl" i="1">
                  <a:latin typeface="Times New Roman" charset="0"/>
                </a:rPr>
                <a:t>X’</a:t>
              </a:r>
            </a:p>
          </p:txBody>
        </p:sp>
        <p:sp>
          <p:nvSpPr>
            <p:cNvPr id="1187854" name="Text Box 14"/>
            <p:cNvSpPr txBox="1">
              <a:spLocks noChangeArrowheads="1"/>
            </p:cNvSpPr>
            <p:nvPr/>
          </p:nvSpPr>
          <p:spPr bwMode="auto">
            <a:xfrm>
              <a:off x="888" y="1675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s-ES_tradnl" i="1">
                  <a:latin typeface="Times New Roman" charset="0"/>
                </a:rPr>
                <a:t>Z</a:t>
              </a:r>
            </a:p>
          </p:txBody>
        </p:sp>
        <p:sp>
          <p:nvSpPr>
            <p:cNvPr id="1187855" name="Text Box 15"/>
            <p:cNvSpPr txBox="1">
              <a:spLocks noChangeArrowheads="1"/>
            </p:cNvSpPr>
            <p:nvPr/>
          </p:nvSpPr>
          <p:spPr bwMode="auto">
            <a:xfrm>
              <a:off x="889" y="580"/>
              <a:ext cx="23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s-ES_tradnl" i="1">
                  <a:latin typeface="Times New Roman" charset="0"/>
                </a:rPr>
                <a:t>Y'</a:t>
              </a:r>
            </a:p>
          </p:txBody>
        </p:sp>
        <p:sp>
          <p:nvSpPr>
            <p:cNvPr id="1187856" name="Arco 16"/>
            <p:cNvSpPr>
              <a:spLocks/>
            </p:cNvSpPr>
            <p:nvPr/>
          </p:nvSpPr>
          <p:spPr bwMode="auto">
            <a:xfrm rot="10800000" flipV="1">
              <a:off x="1246" y="1517"/>
              <a:ext cx="147" cy="187"/>
            </a:xfrm>
            <a:custGeom>
              <a:avLst/>
              <a:gdLst>
                <a:gd name="G0" fmla="+- 21600 0 0"/>
                <a:gd name="G1" fmla="+- 21600 0 0"/>
                <a:gd name="G2" fmla="+- 21600 0 0"/>
                <a:gd name="T0" fmla="*/ 612 w 24723"/>
                <a:gd name="T1" fmla="*/ 26706 h 26706"/>
                <a:gd name="T2" fmla="*/ 24723 w 24723"/>
                <a:gd name="T3" fmla="*/ 227 h 26706"/>
                <a:gd name="T4" fmla="*/ 21600 w 24723"/>
                <a:gd name="T5" fmla="*/ 21600 h 26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723" h="26706" fill="none" extrusionOk="0">
                  <a:moveTo>
                    <a:pt x="612" y="26705"/>
                  </a:moveTo>
                  <a:cubicBezTo>
                    <a:pt x="205" y="25034"/>
                    <a:pt x="0" y="23320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2645" y="0"/>
                    <a:pt x="23688" y="75"/>
                    <a:pt x="24723" y="226"/>
                  </a:cubicBezTo>
                </a:path>
                <a:path w="24723" h="26706" stroke="0" extrusionOk="0">
                  <a:moveTo>
                    <a:pt x="612" y="26705"/>
                  </a:moveTo>
                  <a:cubicBezTo>
                    <a:pt x="205" y="25034"/>
                    <a:pt x="0" y="23320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2645" y="0"/>
                    <a:pt x="23688" y="75"/>
                    <a:pt x="24723" y="226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38100">
              <a:solidFill>
                <a:srgbClr val="FF99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  <p:sp>
          <p:nvSpPr>
            <p:cNvPr id="1187857" name="Text Box 17"/>
            <p:cNvSpPr txBox="1">
              <a:spLocks noChangeArrowheads="1"/>
            </p:cNvSpPr>
            <p:nvPr/>
          </p:nvSpPr>
          <p:spPr bwMode="auto">
            <a:xfrm>
              <a:off x="1354" y="1380"/>
              <a:ext cx="32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s-ES_tradnl" sz="2400">
                  <a:latin typeface="Times New Roman" charset="0"/>
                  <a:sym typeface="Symbol" charset="2"/>
                </a:rPr>
                <a:t></a:t>
              </a:r>
              <a:r>
                <a:rPr lang="es-ES_tradnl" sz="2400" i="1" baseline="-25000">
                  <a:latin typeface="Times New Roman" charset="0"/>
                  <a:sym typeface="Symbol" charset="2"/>
                </a:rPr>
                <a:t>Z</a:t>
              </a:r>
              <a:endParaRPr lang="es-ES_tradnl" sz="2400">
                <a:latin typeface="Times New Roman" charset="0"/>
              </a:endParaRPr>
            </a:p>
          </p:txBody>
        </p:sp>
      </p:grpSp>
      <p:grpSp>
        <p:nvGrpSpPr>
          <p:cNvPr id="1187858" name="Group 18"/>
          <p:cNvGrpSpPr>
            <a:grpSpLocks/>
          </p:cNvGrpSpPr>
          <p:nvPr/>
        </p:nvGrpSpPr>
        <p:grpSpPr bwMode="auto">
          <a:xfrm>
            <a:off x="4621213" y="1073151"/>
            <a:ext cx="3238500" cy="2105025"/>
            <a:chOff x="1943" y="580"/>
            <a:chExt cx="2040" cy="1326"/>
          </a:xfrm>
        </p:grpSpPr>
        <p:sp>
          <p:nvSpPr>
            <p:cNvPr id="1187859" name="Line 19"/>
            <p:cNvSpPr>
              <a:spLocks noChangeShapeType="1"/>
            </p:cNvSpPr>
            <p:nvPr/>
          </p:nvSpPr>
          <p:spPr bwMode="auto">
            <a:xfrm>
              <a:off x="2560" y="1708"/>
              <a:ext cx="1200" cy="0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  <p:sp>
          <p:nvSpPr>
            <p:cNvPr id="1187860" name="Line 20"/>
            <p:cNvSpPr>
              <a:spLocks noChangeShapeType="1"/>
            </p:cNvSpPr>
            <p:nvPr/>
          </p:nvSpPr>
          <p:spPr bwMode="auto">
            <a:xfrm rot="16200000" flipV="1">
              <a:off x="2056" y="1204"/>
              <a:ext cx="1200" cy="0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  <p:sp>
          <p:nvSpPr>
            <p:cNvPr id="1187861" name="Line 21"/>
            <p:cNvSpPr>
              <a:spLocks noChangeShapeType="1"/>
            </p:cNvSpPr>
            <p:nvPr/>
          </p:nvSpPr>
          <p:spPr bwMode="auto">
            <a:xfrm rot="-1718229">
              <a:off x="2501" y="1466"/>
              <a:ext cx="1200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  <p:sp>
          <p:nvSpPr>
            <p:cNvPr id="1187862" name="Line 22"/>
            <p:cNvSpPr>
              <a:spLocks noChangeShapeType="1"/>
            </p:cNvSpPr>
            <p:nvPr/>
          </p:nvSpPr>
          <p:spPr bwMode="auto">
            <a:xfrm rot="14481771" flipV="1">
              <a:off x="1817" y="1265"/>
              <a:ext cx="1200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  <p:sp>
          <p:nvSpPr>
            <p:cNvPr id="1187863" name="Oval 23"/>
            <p:cNvSpPr>
              <a:spLocks noChangeArrowheads="1"/>
            </p:cNvSpPr>
            <p:nvPr/>
          </p:nvSpPr>
          <p:spPr bwMode="auto">
            <a:xfrm>
              <a:off x="2578" y="1618"/>
              <a:ext cx="162" cy="16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  <p:sp>
          <p:nvSpPr>
            <p:cNvPr id="1187864" name="Text Box 24"/>
            <p:cNvSpPr txBox="1">
              <a:spLocks noChangeArrowheads="1"/>
            </p:cNvSpPr>
            <p:nvPr/>
          </p:nvSpPr>
          <p:spPr bwMode="auto">
            <a:xfrm>
              <a:off x="2580" y="1497"/>
              <a:ext cx="16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s-ES_tradnl" sz="2400">
                  <a:latin typeface="Times New Roman" charset="0"/>
                </a:rPr>
                <a:t>.</a:t>
              </a:r>
              <a:endParaRPr lang="es-ES_tradnl" sz="2400" u="sng">
                <a:latin typeface="Times New Roman" charset="0"/>
              </a:endParaRPr>
            </a:p>
          </p:txBody>
        </p:sp>
        <p:sp>
          <p:nvSpPr>
            <p:cNvPr id="1187865" name="Text Box 25"/>
            <p:cNvSpPr txBox="1">
              <a:spLocks noChangeArrowheads="1"/>
            </p:cNvSpPr>
            <p:nvPr/>
          </p:nvSpPr>
          <p:spPr bwMode="auto">
            <a:xfrm>
              <a:off x="3611" y="1027"/>
              <a:ext cx="29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s-ES_tradnl" i="1">
                  <a:latin typeface="Times New Roman" charset="0"/>
                </a:rPr>
                <a:t>Z</a:t>
              </a:r>
            </a:p>
          </p:txBody>
        </p:sp>
        <p:sp>
          <p:nvSpPr>
            <p:cNvPr id="1187866" name="Text Box 26"/>
            <p:cNvSpPr txBox="1">
              <a:spLocks noChangeArrowheads="1"/>
            </p:cNvSpPr>
            <p:nvPr/>
          </p:nvSpPr>
          <p:spPr bwMode="auto">
            <a:xfrm>
              <a:off x="1943" y="793"/>
              <a:ext cx="25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s-ES_tradnl" i="1">
                  <a:latin typeface="Times New Roman" charset="0"/>
                </a:rPr>
                <a:t>X</a:t>
              </a:r>
            </a:p>
          </p:txBody>
        </p:sp>
        <p:sp>
          <p:nvSpPr>
            <p:cNvPr id="1187867" name="Text Box 27"/>
            <p:cNvSpPr txBox="1">
              <a:spLocks noChangeArrowheads="1"/>
            </p:cNvSpPr>
            <p:nvPr/>
          </p:nvSpPr>
          <p:spPr bwMode="auto">
            <a:xfrm>
              <a:off x="2361" y="1645"/>
              <a:ext cx="251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s-ES_tradnl" i="1">
                  <a:latin typeface="Times New Roman" charset="0"/>
                </a:rPr>
                <a:t>Y'</a:t>
              </a:r>
            </a:p>
          </p:txBody>
        </p:sp>
        <p:sp>
          <p:nvSpPr>
            <p:cNvPr id="1187868" name="Text Box 28"/>
            <p:cNvSpPr txBox="1">
              <a:spLocks noChangeArrowheads="1"/>
            </p:cNvSpPr>
            <p:nvPr/>
          </p:nvSpPr>
          <p:spPr bwMode="auto">
            <a:xfrm>
              <a:off x="3756" y="1603"/>
              <a:ext cx="227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s-ES_tradnl" i="1">
                  <a:latin typeface="Times New Roman" charset="0"/>
                </a:rPr>
                <a:t>Z'</a:t>
              </a:r>
            </a:p>
          </p:txBody>
        </p:sp>
        <p:sp>
          <p:nvSpPr>
            <p:cNvPr id="1187869" name="Text Box 29"/>
            <p:cNvSpPr txBox="1">
              <a:spLocks noChangeArrowheads="1"/>
            </p:cNvSpPr>
            <p:nvPr/>
          </p:nvSpPr>
          <p:spPr bwMode="auto">
            <a:xfrm>
              <a:off x="2686" y="1675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s-ES_tradnl" i="1">
                  <a:latin typeface="Times New Roman" charset="0"/>
                </a:rPr>
                <a:t>Y</a:t>
              </a:r>
            </a:p>
          </p:txBody>
        </p:sp>
        <p:sp>
          <p:nvSpPr>
            <p:cNvPr id="1187870" name="Text Box 30"/>
            <p:cNvSpPr txBox="1">
              <a:spLocks noChangeArrowheads="1"/>
            </p:cNvSpPr>
            <p:nvPr/>
          </p:nvSpPr>
          <p:spPr bwMode="auto">
            <a:xfrm>
              <a:off x="2687" y="580"/>
              <a:ext cx="33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s-ES_tradnl" i="1">
                  <a:latin typeface="Times New Roman" charset="0"/>
                </a:rPr>
                <a:t>X'</a:t>
              </a:r>
            </a:p>
          </p:txBody>
        </p:sp>
        <p:sp>
          <p:nvSpPr>
            <p:cNvPr id="1187871" name="Arco 31"/>
            <p:cNvSpPr>
              <a:spLocks/>
            </p:cNvSpPr>
            <p:nvPr/>
          </p:nvSpPr>
          <p:spPr bwMode="auto">
            <a:xfrm rot="10800000" flipV="1">
              <a:off x="3044" y="1517"/>
              <a:ext cx="147" cy="187"/>
            </a:xfrm>
            <a:custGeom>
              <a:avLst/>
              <a:gdLst>
                <a:gd name="G0" fmla="+- 21600 0 0"/>
                <a:gd name="G1" fmla="+- 21600 0 0"/>
                <a:gd name="G2" fmla="+- 21600 0 0"/>
                <a:gd name="T0" fmla="*/ 612 w 24723"/>
                <a:gd name="T1" fmla="*/ 26706 h 26706"/>
                <a:gd name="T2" fmla="*/ 24723 w 24723"/>
                <a:gd name="T3" fmla="*/ 227 h 26706"/>
                <a:gd name="T4" fmla="*/ 21600 w 24723"/>
                <a:gd name="T5" fmla="*/ 21600 h 26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723" h="26706" fill="none" extrusionOk="0">
                  <a:moveTo>
                    <a:pt x="612" y="26705"/>
                  </a:moveTo>
                  <a:cubicBezTo>
                    <a:pt x="205" y="25034"/>
                    <a:pt x="0" y="23320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2645" y="0"/>
                    <a:pt x="23688" y="75"/>
                    <a:pt x="24723" y="226"/>
                  </a:cubicBezTo>
                </a:path>
                <a:path w="24723" h="26706" stroke="0" extrusionOk="0">
                  <a:moveTo>
                    <a:pt x="612" y="26705"/>
                  </a:moveTo>
                  <a:cubicBezTo>
                    <a:pt x="205" y="25034"/>
                    <a:pt x="0" y="23320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2645" y="0"/>
                    <a:pt x="23688" y="75"/>
                    <a:pt x="24723" y="226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38100">
              <a:solidFill>
                <a:srgbClr val="FF99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  <p:sp>
          <p:nvSpPr>
            <p:cNvPr id="1187872" name="Text Box 32"/>
            <p:cNvSpPr txBox="1">
              <a:spLocks noChangeArrowheads="1"/>
            </p:cNvSpPr>
            <p:nvPr/>
          </p:nvSpPr>
          <p:spPr bwMode="auto">
            <a:xfrm>
              <a:off x="3152" y="1380"/>
              <a:ext cx="32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s-ES_tradnl" sz="2400">
                  <a:latin typeface="Times New Roman" charset="0"/>
                  <a:sym typeface="Symbol" charset="2"/>
                </a:rPr>
                <a:t></a:t>
              </a:r>
              <a:r>
                <a:rPr lang="es-ES_tradnl" sz="2400" i="1" baseline="-25000">
                  <a:latin typeface="Times New Roman" charset="0"/>
                  <a:sym typeface="Symbol" charset="2"/>
                </a:rPr>
                <a:t>Y</a:t>
              </a:r>
              <a:endParaRPr lang="es-ES_tradnl" sz="2400">
                <a:latin typeface="Times New Roman" charset="0"/>
              </a:endParaRPr>
            </a:p>
          </p:txBody>
        </p:sp>
      </p:grpSp>
      <p:grpSp>
        <p:nvGrpSpPr>
          <p:cNvPr id="1187873" name="Group 33"/>
          <p:cNvGrpSpPr>
            <a:grpSpLocks/>
          </p:cNvGrpSpPr>
          <p:nvPr/>
        </p:nvGrpSpPr>
        <p:grpSpPr bwMode="auto">
          <a:xfrm>
            <a:off x="7491413" y="1073151"/>
            <a:ext cx="3238500" cy="2105025"/>
            <a:chOff x="3751" y="580"/>
            <a:chExt cx="2040" cy="1326"/>
          </a:xfrm>
        </p:grpSpPr>
        <p:sp>
          <p:nvSpPr>
            <p:cNvPr id="1187874" name="Line 34"/>
            <p:cNvSpPr>
              <a:spLocks noChangeShapeType="1"/>
            </p:cNvSpPr>
            <p:nvPr/>
          </p:nvSpPr>
          <p:spPr bwMode="auto">
            <a:xfrm>
              <a:off x="4368" y="1708"/>
              <a:ext cx="1200" cy="0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  <p:sp>
          <p:nvSpPr>
            <p:cNvPr id="1187875" name="Line 35"/>
            <p:cNvSpPr>
              <a:spLocks noChangeShapeType="1"/>
            </p:cNvSpPr>
            <p:nvPr/>
          </p:nvSpPr>
          <p:spPr bwMode="auto">
            <a:xfrm rot="16200000" flipV="1">
              <a:off x="3864" y="1204"/>
              <a:ext cx="1200" cy="0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  <p:sp>
          <p:nvSpPr>
            <p:cNvPr id="1187876" name="Line 36"/>
            <p:cNvSpPr>
              <a:spLocks noChangeShapeType="1"/>
            </p:cNvSpPr>
            <p:nvPr/>
          </p:nvSpPr>
          <p:spPr bwMode="auto">
            <a:xfrm rot="-1718229">
              <a:off x="4309" y="1466"/>
              <a:ext cx="1200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  <p:sp>
          <p:nvSpPr>
            <p:cNvPr id="1187877" name="Line 37"/>
            <p:cNvSpPr>
              <a:spLocks noChangeShapeType="1"/>
            </p:cNvSpPr>
            <p:nvPr/>
          </p:nvSpPr>
          <p:spPr bwMode="auto">
            <a:xfrm rot="14481771" flipV="1">
              <a:off x="3625" y="1265"/>
              <a:ext cx="1200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  <p:sp>
          <p:nvSpPr>
            <p:cNvPr id="1187878" name="Oval 38"/>
            <p:cNvSpPr>
              <a:spLocks noChangeArrowheads="1"/>
            </p:cNvSpPr>
            <p:nvPr/>
          </p:nvSpPr>
          <p:spPr bwMode="auto">
            <a:xfrm>
              <a:off x="4386" y="1618"/>
              <a:ext cx="162" cy="16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  <p:sp>
          <p:nvSpPr>
            <p:cNvPr id="1187879" name="Text Box 39"/>
            <p:cNvSpPr txBox="1">
              <a:spLocks noChangeArrowheads="1"/>
            </p:cNvSpPr>
            <p:nvPr/>
          </p:nvSpPr>
          <p:spPr bwMode="auto">
            <a:xfrm>
              <a:off x="4388" y="1497"/>
              <a:ext cx="16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s-ES_tradnl" sz="2400">
                  <a:latin typeface="Times New Roman" charset="0"/>
                </a:rPr>
                <a:t>.</a:t>
              </a:r>
              <a:endParaRPr lang="es-ES_tradnl" sz="2400" u="sng">
                <a:latin typeface="Times New Roman" charset="0"/>
              </a:endParaRPr>
            </a:p>
          </p:txBody>
        </p:sp>
        <p:sp>
          <p:nvSpPr>
            <p:cNvPr id="1187880" name="Text Box 40"/>
            <p:cNvSpPr txBox="1">
              <a:spLocks noChangeArrowheads="1"/>
            </p:cNvSpPr>
            <p:nvPr/>
          </p:nvSpPr>
          <p:spPr bwMode="auto">
            <a:xfrm>
              <a:off x="5419" y="1027"/>
              <a:ext cx="29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s-ES_tradnl" i="1">
                  <a:latin typeface="Times New Roman" charset="0"/>
                </a:rPr>
                <a:t>Y</a:t>
              </a:r>
            </a:p>
          </p:txBody>
        </p:sp>
        <p:sp>
          <p:nvSpPr>
            <p:cNvPr id="1187881" name="Text Box 41"/>
            <p:cNvSpPr txBox="1">
              <a:spLocks noChangeArrowheads="1"/>
            </p:cNvSpPr>
            <p:nvPr/>
          </p:nvSpPr>
          <p:spPr bwMode="auto">
            <a:xfrm>
              <a:off x="3751" y="793"/>
              <a:ext cx="25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s-ES_tradnl" i="1">
                  <a:latin typeface="Times New Roman" charset="0"/>
                </a:rPr>
                <a:t>Z</a:t>
              </a:r>
            </a:p>
          </p:txBody>
        </p:sp>
        <p:sp>
          <p:nvSpPr>
            <p:cNvPr id="1187882" name="Text Box 42"/>
            <p:cNvSpPr txBox="1">
              <a:spLocks noChangeArrowheads="1"/>
            </p:cNvSpPr>
            <p:nvPr/>
          </p:nvSpPr>
          <p:spPr bwMode="auto">
            <a:xfrm>
              <a:off x="4169" y="1645"/>
              <a:ext cx="251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s-ES_tradnl" i="1">
                  <a:latin typeface="Times New Roman" charset="0"/>
                </a:rPr>
                <a:t>X'</a:t>
              </a:r>
            </a:p>
          </p:txBody>
        </p:sp>
        <p:sp>
          <p:nvSpPr>
            <p:cNvPr id="1187883" name="Text Box 43"/>
            <p:cNvSpPr txBox="1">
              <a:spLocks noChangeArrowheads="1"/>
            </p:cNvSpPr>
            <p:nvPr/>
          </p:nvSpPr>
          <p:spPr bwMode="auto">
            <a:xfrm>
              <a:off x="5564" y="1603"/>
              <a:ext cx="227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s-ES_tradnl" i="1">
                  <a:latin typeface="Times New Roman" charset="0"/>
                </a:rPr>
                <a:t>Y'</a:t>
              </a:r>
            </a:p>
          </p:txBody>
        </p:sp>
        <p:sp>
          <p:nvSpPr>
            <p:cNvPr id="1187884" name="Text Box 44"/>
            <p:cNvSpPr txBox="1">
              <a:spLocks noChangeArrowheads="1"/>
            </p:cNvSpPr>
            <p:nvPr/>
          </p:nvSpPr>
          <p:spPr bwMode="auto">
            <a:xfrm>
              <a:off x="4494" y="1675"/>
              <a:ext cx="20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s-ES_tradnl" i="1">
                  <a:latin typeface="Times New Roman" charset="0"/>
                </a:rPr>
                <a:t>X</a:t>
              </a:r>
            </a:p>
          </p:txBody>
        </p:sp>
        <p:sp>
          <p:nvSpPr>
            <p:cNvPr id="1187885" name="Text Box 45"/>
            <p:cNvSpPr txBox="1">
              <a:spLocks noChangeArrowheads="1"/>
            </p:cNvSpPr>
            <p:nvPr/>
          </p:nvSpPr>
          <p:spPr bwMode="auto">
            <a:xfrm>
              <a:off x="4495" y="580"/>
              <a:ext cx="23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s-ES_tradnl" i="1">
                  <a:latin typeface="Times New Roman" charset="0"/>
                </a:rPr>
                <a:t>Z'</a:t>
              </a:r>
            </a:p>
          </p:txBody>
        </p:sp>
        <p:sp>
          <p:nvSpPr>
            <p:cNvPr id="1187886" name="Arco 46"/>
            <p:cNvSpPr>
              <a:spLocks/>
            </p:cNvSpPr>
            <p:nvPr/>
          </p:nvSpPr>
          <p:spPr bwMode="auto">
            <a:xfrm rot="10800000" flipV="1">
              <a:off x="4852" y="1517"/>
              <a:ext cx="147" cy="187"/>
            </a:xfrm>
            <a:custGeom>
              <a:avLst/>
              <a:gdLst>
                <a:gd name="G0" fmla="+- 21600 0 0"/>
                <a:gd name="G1" fmla="+- 21600 0 0"/>
                <a:gd name="G2" fmla="+- 21600 0 0"/>
                <a:gd name="T0" fmla="*/ 612 w 24723"/>
                <a:gd name="T1" fmla="*/ 26706 h 26706"/>
                <a:gd name="T2" fmla="*/ 24723 w 24723"/>
                <a:gd name="T3" fmla="*/ 227 h 26706"/>
                <a:gd name="T4" fmla="*/ 21600 w 24723"/>
                <a:gd name="T5" fmla="*/ 21600 h 26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723" h="26706" fill="none" extrusionOk="0">
                  <a:moveTo>
                    <a:pt x="612" y="26705"/>
                  </a:moveTo>
                  <a:cubicBezTo>
                    <a:pt x="205" y="25034"/>
                    <a:pt x="0" y="23320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2645" y="0"/>
                    <a:pt x="23688" y="75"/>
                    <a:pt x="24723" y="226"/>
                  </a:cubicBezTo>
                </a:path>
                <a:path w="24723" h="26706" stroke="0" extrusionOk="0">
                  <a:moveTo>
                    <a:pt x="612" y="26705"/>
                  </a:moveTo>
                  <a:cubicBezTo>
                    <a:pt x="205" y="25034"/>
                    <a:pt x="0" y="23320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2645" y="0"/>
                    <a:pt x="23688" y="75"/>
                    <a:pt x="24723" y="226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38100">
              <a:solidFill>
                <a:srgbClr val="FF99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  <p:sp>
          <p:nvSpPr>
            <p:cNvPr id="1187887" name="Text Box 47"/>
            <p:cNvSpPr txBox="1">
              <a:spLocks noChangeArrowheads="1"/>
            </p:cNvSpPr>
            <p:nvPr/>
          </p:nvSpPr>
          <p:spPr bwMode="auto">
            <a:xfrm>
              <a:off x="4960" y="1380"/>
              <a:ext cx="32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s-ES_tradnl" sz="2400">
                  <a:latin typeface="Times New Roman" charset="0"/>
                  <a:sym typeface="Symbol" charset="2"/>
                </a:rPr>
                <a:t></a:t>
              </a:r>
              <a:r>
                <a:rPr lang="es-ES_tradnl" sz="2400" i="1" baseline="-25000">
                  <a:latin typeface="Times New Roman" charset="0"/>
                  <a:sym typeface="Symbol" charset="2"/>
                </a:rPr>
                <a:t>X</a:t>
              </a:r>
              <a:endParaRPr lang="es-ES_tradnl" sz="2400">
                <a:latin typeface="Times New Roman" charset="0"/>
              </a:endParaRPr>
            </a:p>
          </p:txBody>
        </p:sp>
      </p:grpSp>
      <p:graphicFrame>
        <p:nvGraphicFramePr>
          <p:cNvPr id="1187888" name="Object 48"/>
          <p:cNvGraphicFramePr>
            <a:graphicFrameLocks noChangeAspect="1"/>
          </p:cNvGraphicFramePr>
          <p:nvPr/>
        </p:nvGraphicFramePr>
        <p:xfrm>
          <a:off x="3693487" y="3552825"/>
          <a:ext cx="4357688" cy="283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tografía de Photo Editor" r:id="rId3" imgW="3715269" imgH="2419048" progId="">
                  <p:embed/>
                </p:oleObj>
              </mc:Choice>
              <mc:Fallback>
                <p:oleObj name="Fotografía de Photo Editor" r:id="rId3" imgW="3715269" imgH="2419048" progId="">
                  <p:embed/>
                  <p:pic>
                    <p:nvPicPr>
                      <p:cNvPr id="1187888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93487" y="3552825"/>
                        <a:ext cx="4357688" cy="2838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" name="Rectangle 48"/>
          <p:cNvSpPr/>
          <p:nvPr/>
        </p:nvSpPr>
        <p:spPr>
          <a:xfrm>
            <a:off x="3373970" y="3731818"/>
            <a:ext cx="1473701" cy="275966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3526370" y="3554938"/>
            <a:ext cx="5068259" cy="49047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A8D3E4-EEF9-F17B-6CBD-4892F2E59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CV02C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B91A7E9-D8CB-2544-517A-F3674EE3B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26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1689140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989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524001" y="76200"/>
            <a:ext cx="4022725" cy="527050"/>
          </a:xfrm>
          <a:solidFill>
            <a:srgbClr val="FFFFFF"/>
          </a:solidFill>
          <a:ln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algn="l"/>
            <a:r>
              <a:rPr lang="es-ES_tradnl" sz="2000" b="1" dirty="0">
                <a:solidFill>
                  <a:srgbClr val="99CCFF"/>
                </a:solidFill>
              </a:rPr>
              <a:t>[ 3D </a:t>
            </a:r>
            <a:r>
              <a:rPr lang="es-ES_tradnl" sz="2000" b="1" dirty="0" err="1">
                <a:solidFill>
                  <a:srgbClr val="99CCFF"/>
                </a:solidFill>
              </a:rPr>
              <a:t>Transformation</a:t>
            </a:r>
            <a:r>
              <a:rPr lang="es-ES_tradnl" sz="2000" b="1" dirty="0">
                <a:solidFill>
                  <a:srgbClr val="99CCFF"/>
                </a:solidFill>
              </a:rPr>
              <a:t> ]</a:t>
            </a:r>
            <a:endParaRPr sz="2000" b="1" noProof="1">
              <a:solidFill>
                <a:srgbClr val="99CCFF"/>
              </a:solidFill>
            </a:endParaRPr>
          </a:p>
        </p:txBody>
      </p:sp>
      <p:graphicFrame>
        <p:nvGraphicFramePr>
          <p:cNvPr id="1189937" name="Object 49"/>
          <p:cNvGraphicFramePr>
            <a:graphicFrameLocks noChangeAspect="1"/>
          </p:cNvGraphicFramePr>
          <p:nvPr/>
        </p:nvGraphicFramePr>
        <p:xfrm>
          <a:off x="2541589" y="1404939"/>
          <a:ext cx="6689725" cy="974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tografía de Photo Editor" r:id="rId3" imgW="4772691" imgH="695238" progId="">
                  <p:embed/>
                </p:oleObj>
              </mc:Choice>
              <mc:Fallback>
                <p:oleObj name="Fotografía de Photo Editor" r:id="rId3" imgW="4772691" imgH="695238" progId="">
                  <p:embed/>
                  <p:pic>
                    <p:nvPicPr>
                      <p:cNvPr id="1189937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1589" y="1404939"/>
                        <a:ext cx="6689725" cy="974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89938" name="Object 50"/>
          <p:cNvGraphicFramePr>
            <a:graphicFrameLocks noChangeAspect="1"/>
          </p:cNvGraphicFramePr>
          <p:nvPr/>
        </p:nvGraphicFramePr>
        <p:xfrm>
          <a:off x="2908301" y="2965450"/>
          <a:ext cx="6124575" cy="294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tografía de Photo Editor" r:id="rId5" imgW="4038095" imgH="1943371" progId="">
                  <p:embed/>
                </p:oleObj>
              </mc:Choice>
              <mc:Fallback>
                <p:oleObj name="Fotografía de Photo Editor" r:id="rId5" imgW="4038095" imgH="1943371" progId="">
                  <p:embed/>
                  <p:pic>
                    <p:nvPicPr>
                      <p:cNvPr id="1189938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8301" y="2965450"/>
                        <a:ext cx="6124575" cy="294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CE27C0-E147-04D1-FC87-1DD04F937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CV02C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C19552C-A677-4FAD-7ED8-A00C8D3D5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27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0033546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93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981200" y="122238"/>
            <a:ext cx="4038600" cy="495300"/>
          </a:xfrm>
          <a:solidFill>
            <a:srgbClr val="FFFFFF"/>
          </a:solidFill>
          <a:ln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algn="l"/>
            <a:r>
              <a:rPr lang="es-ES_tradnl" sz="2000" b="1" dirty="0">
                <a:solidFill>
                  <a:srgbClr val="99CCFF"/>
                </a:solidFill>
              </a:rPr>
              <a:t>[ 3D </a:t>
            </a:r>
            <a:r>
              <a:rPr lang="es-ES_tradnl" sz="2000" b="1" dirty="0" err="1">
                <a:solidFill>
                  <a:srgbClr val="99CCFF"/>
                </a:solidFill>
              </a:rPr>
              <a:t>Transformation</a:t>
            </a:r>
            <a:r>
              <a:rPr lang="es-ES_tradnl" sz="2000" b="1" dirty="0">
                <a:solidFill>
                  <a:srgbClr val="99CCFF"/>
                </a:solidFill>
              </a:rPr>
              <a:t> ]</a:t>
            </a:r>
            <a:endParaRPr sz="2000" b="1" noProof="1">
              <a:solidFill>
                <a:srgbClr val="99CCFF"/>
              </a:solidFill>
            </a:endParaRPr>
          </a:p>
        </p:txBody>
      </p:sp>
      <p:graphicFrame>
        <p:nvGraphicFramePr>
          <p:cNvPr id="1191941" name="Object 5"/>
          <p:cNvGraphicFramePr>
            <a:graphicFrameLocks noGrp="1" noChangeAspect="1"/>
          </p:cNvGraphicFramePr>
          <p:nvPr>
            <p:ph idx="1"/>
          </p:nvPr>
        </p:nvGraphicFramePr>
        <p:xfrm>
          <a:off x="4122739" y="2560638"/>
          <a:ext cx="3754437" cy="173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tografía de Photo Editor" r:id="rId3" imgW="2219635" imgH="1028844" progId="">
                  <p:embed/>
                </p:oleObj>
              </mc:Choice>
              <mc:Fallback>
                <p:oleObj name="Fotografía de Photo Editor" r:id="rId3" imgW="2219635" imgH="1028844" progId="">
                  <p:embed/>
                  <p:pic>
                    <p:nvPicPr>
                      <p:cNvPr id="1191941" name="Object 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2739" y="2560638"/>
                        <a:ext cx="3754437" cy="173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  <a:ext uri="{FAA26D3D-D897-4be2-8F04-BA451C77F1D7}">
                          <ma14:placeholderFlag xmlns="" xmlns:ma14="http://schemas.microsoft.com/office/mac/drawingml/2011/main" val="1"/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A4798B-77A5-8DE1-A284-D6B8514CE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CV02C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28324D7-C0BA-649B-D21B-F13B6796C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28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6781170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114" name="Freeform 2"/>
          <p:cNvSpPr>
            <a:spLocks/>
          </p:cNvSpPr>
          <p:nvPr/>
        </p:nvSpPr>
        <p:spPr bwMode="auto">
          <a:xfrm>
            <a:off x="6781800" y="2971800"/>
            <a:ext cx="2286000" cy="1905000"/>
          </a:xfrm>
          <a:custGeom>
            <a:avLst/>
            <a:gdLst>
              <a:gd name="T0" fmla="*/ 1440 w 1440"/>
              <a:gd name="T1" fmla="*/ 0 h 1200"/>
              <a:gd name="T2" fmla="*/ 1440 w 1440"/>
              <a:gd name="T3" fmla="*/ 336 h 1200"/>
              <a:gd name="T4" fmla="*/ 0 w 1440"/>
              <a:gd name="T5" fmla="*/ 336 h 1200"/>
              <a:gd name="T6" fmla="*/ 0 w 1440"/>
              <a:gd name="T7" fmla="*/ 1200 h 1200"/>
              <a:gd name="T8" fmla="*/ 0 60000 65536"/>
              <a:gd name="T9" fmla="*/ 0 60000 65536"/>
              <a:gd name="T10" fmla="*/ 0 60000 65536"/>
              <a:gd name="T11" fmla="*/ 0 60000 65536"/>
              <a:gd name="T12" fmla="*/ 0 w 1440"/>
              <a:gd name="T13" fmla="*/ 0 h 1200"/>
              <a:gd name="T14" fmla="*/ 1440 w 1440"/>
              <a:gd name="T15" fmla="*/ 1200 h 12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440" h="1200">
                <a:moveTo>
                  <a:pt x="1440" y="0"/>
                </a:moveTo>
                <a:lnTo>
                  <a:pt x="1440" y="336"/>
                </a:lnTo>
                <a:lnTo>
                  <a:pt x="0" y="336"/>
                </a:lnTo>
                <a:lnTo>
                  <a:pt x="0" y="1200"/>
                </a:ln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aphicFrame>
        <p:nvGraphicFramePr>
          <p:cNvPr id="9218" name="Object 5"/>
          <p:cNvGraphicFramePr>
            <a:graphicFrameLocks noChangeAspect="1"/>
          </p:cNvGraphicFramePr>
          <p:nvPr/>
        </p:nvGraphicFramePr>
        <p:xfrm>
          <a:off x="2395538" y="1454150"/>
          <a:ext cx="3835400" cy="177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tografía de Photo Editor" r:id="rId3" imgW="2219635" imgH="1028844" progId="">
                  <p:embed/>
                </p:oleObj>
              </mc:Choice>
              <mc:Fallback>
                <p:oleObj name="Fotografía de Photo Editor" r:id="rId3" imgW="2219635" imgH="1028844" progId="">
                  <p:embed/>
                  <p:pic>
                    <p:nvPicPr>
                      <p:cNvPr id="9218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5538" y="1454150"/>
                        <a:ext cx="3835400" cy="177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3" name="Rectangle 6"/>
          <p:cNvSpPr>
            <a:spLocks noChangeArrowheads="1"/>
          </p:cNvSpPr>
          <p:nvPr/>
        </p:nvSpPr>
        <p:spPr bwMode="auto">
          <a:xfrm>
            <a:off x="4229100" y="1955800"/>
            <a:ext cx="114300" cy="2032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9224" name="Rectangle 7"/>
          <p:cNvSpPr>
            <a:spLocks noChangeArrowheads="1"/>
          </p:cNvSpPr>
          <p:nvPr/>
        </p:nvSpPr>
        <p:spPr bwMode="auto">
          <a:xfrm>
            <a:off x="4660900" y="1943100"/>
            <a:ext cx="114300" cy="2032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aphicFrame>
        <p:nvGraphicFramePr>
          <p:cNvPr id="1114120" name="Object 8"/>
          <p:cNvGraphicFramePr>
            <a:graphicFrameLocks noChangeAspect="1"/>
          </p:cNvGraphicFramePr>
          <p:nvPr/>
        </p:nvGraphicFramePr>
        <p:xfrm>
          <a:off x="5092700" y="3987800"/>
          <a:ext cx="19812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5" imgW="660240" imgH="177480" progId="Equation.3">
                  <p:embed/>
                </p:oleObj>
              </mc:Choice>
              <mc:Fallback>
                <p:oleObj name="Ecuación" r:id="rId5" imgW="660240" imgH="177480" progId="Equation.3">
                  <p:embed/>
                  <p:pic>
                    <p:nvPicPr>
                      <p:cNvPr id="111412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92700" y="3987800"/>
                        <a:ext cx="1981200" cy="5334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4121" name="Object 9"/>
          <p:cNvGraphicFramePr>
            <a:graphicFrameLocks noChangeAspect="1"/>
          </p:cNvGraphicFramePr>
          <p:nvPr/>
        </p:nvGraphicFramePr>
        <p:xfrm>
          <a:off x="7683500" y="2184400"/>
          <a:ext cx="18288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Ûn" r:id="rId7" imgW="609600" imgH="127000" progId="Equation.3">
                  <p:embed/>
                </p:oleObj>
              </mc:Choice>
              <mc:Fallback>
                <p:oleObj name="EcuaciÛn" r:id="rId7" imgW="609600" imgH="127000" progId="Equation.3">
                  <p:embed/>
                  <p:pic>
                    <p:nvPicPr>
                      <p:cNvPr id="1114121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83500" y="2184400"/>
                        <a:ext cx="1828800" cy="3810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14122" name="Line 10"/>
          <p:cNvSpPr>
            <a:spLocks noChangeShapeType="1"/>
          </p:cNvSpPr>
          <p:nvPr/>
        </p:nvSpPr>
        <p:spPr bwMode="auto">
          <a:xfrm>
            <a:off x="6337300" y="2374900"/>
            <a:ext cx="1028700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114123" name="AutoShape 11"/>
          <p:cNvSpPr>
            <a:spLocks/>
          </p:cNvSpPr>
          <p:nvPr/>
        </p:nvSpPr>
        <p:spPr bwMode="auto">
          <a:xfrm rot="16200000">
            <a:off x="8978900" y="2387600"/>
            <a:ext cx="165100" cy="800100"/>
          </a:xfrm>
          <a:prstGeom prst="leftBrace">
            <a:avLst>
              <a:gd name="adj1" fmla="val 40385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4959350" y="4940300"/>
            <a:ext cx="2324100" cy="692150"/>
            <a:chOff x="2164" y="3112"/>
            <a:chExt cx="1464" cy="436"/>
          </a:xfrm>
        </p:grpSpPr>
        <p:graphicFrame>
          <p:nvGraphicFramePr>
            <p:cNvPr id="9221" name="Object 13"/>
            <p:cNvGraphicFramePr>
              <a:graphicFrameLocks noChangeAspect="1"/>
            </p:cNvGraphicFramePr>
            <p:nvPr/>
          </p:nvGraphicFramePr>
          <p:xfrm>
            <a:off x="2164" y="3284"/>
            <a:ext cx="1464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Ûn" r:id="rId9" imgW="774700" imgH="139700" progId="Equation.3">
                    <p:embed/>
                  </p:oleObj>
                </mc:Choice>
                <mc:Fallback>
                  <p:oleObj name="EcuaciÛn" r:id="rId9" imgW="774700" imgH="139700" progId="Equation.3">
                    <p:embed/>
                    <p:pic>
                      <p:nvPicPr>
                        <p:cNvPr id="9221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64" y="3284"/>
                          <a:ext cx="1464" cy="264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29" name="AutoShape 14"/>
            <p:cNvSpPr>
              <a:spLocks/>
            </p:cNvSpPr>
            <p:nvPr/>
          </p:nvSpPr>
          <p:spPr bwMode="auto">
            <a:xfrm rot="5400000">
              <a:off x="3256" y="2952"/>
              <a:ext cx="112" cy="432"/>
            </a:xfrm>
            <a:prstGeom prst="leftBrace">
              <a:avLst>
                <a:gd name="adj1" fmla="val 32143"/>
                <a:gd name="adj2" fmla="val 50000"/>
              </a:avLst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4" name="CuadroTexto 13"/>
          <p:cNvSpPr txBox="1"/>
          <p:nvPr/>
        </p:nvSpPr>
        <p:spPr>
          <a:xfrm>
            <a:off x="4127500" y="1915583"/>
            <a:ext cx="2327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'</a:t>
            </a:r>
          </a:p>
        </p:txBody>
      </p:sp>
      <p:sp>
        <p:nvSpPr>
          <p:cNvPr id="15" name="CuadroTexto 14"/>
          <p:cNvSpPr txBox="1"/>
          <p:nvPr/>
        </p:nvSpPr>
        <p:spPr>
          <a:xfrm>
            <a:off x="4565641" y="1930404"/>
            <a:ext cx="2327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'</a:t>
            </a:r>
          </a:p>
        </p:txBody>
      </p:sp>
      <p:sp>
        <p:nvSpPr>
          <p:cNvPr id="16" name="Rectangle 71"/>
          <p:cNvSpPr>
            <a:spLocks noChangeArrowheads="1"/>
          </p:cNvSpPr>
          <p:nvPr/>
        </p:nvSpPr>
        <p:spPr bwMode="auto">
          <a:xfrm>
            <a:off x="1524000" y="1"/>
            <a:ext cx="336752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" sz="2400" dirty="0">
                <a:latin typeface="Gill Sans MT" panose="020B0502020104020203" pitchFamily="34" charset="77"/>
              </a:rPr>
              <a:t>[ </a:t>
            </a:r>
            <a:r>
              <a:rPr lang="es-ES" sz="2400" dirty="0" err="1">
                <a:latin typeface="Gill Sans MT" panose="020B0502020104020203" pitchFamily="34" charset="77"/>
              </a:rPr>
              <a:t>Perspective</a:t>
            </a:r>
            <a:r>
              <a:rPr lang="es-ES" sz="2400" dirty="0">
                <a:latin typeface="Gill Sans MT" panose="020B0502020104020203" pitchFamily="34" charset="77"/>
              </a:rPr>
              <a:t> </a:t>
            </a:r>
            <a:r>
              <a:rPr lang="es-ES" sz="2400" dirty="0" err="1">
                <a:latin typeface="Gill Sans MT" panose="020B0502020104020203" pitchFamily="34" charset="77"/>
              </a:rPr>
              <a:t>Projection</a:t>
            </a:r>
            <a:r>
              <a:rPr lang="es-ES" sz="2400" dirty="0">
                <a:latin typeface="Gill Sans MT" panose="020B0502020104020203" pitchFamily="34" charset="77"/>
              </a:rPr>
              <a:t> ]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780E51-3940-B1C1-4D20-3281D0C6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CV02C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BBEF5F-8F00-2665-3319-CDCBC486E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29</a:t>
            </a:fld>
            <a:endParaRPr lang="en-CL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114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4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4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4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500"/>
                                        <p:tgtEl>
                                          <p:spTgt spid="1114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4114" grpId="0" animBg="1"/>
      <p:bldP spid="1114122" grpId="0" animBg="1"/>
      <p:bldP spid="111412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65000"/>
            <a:lumOff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Line 4"/>
          <p:cNvSpPr>
            <a:spLocks noChangeShapeType="1"/>
          </p:cNvSpPr>
          <p:nvPr/>
        </p:nvSpPr>
        <p:spPr bwMode="auto">
          <a:xfrm flipH="1" flipV="1">
            <a:off x="9299576" y="862014"/>
            <a:ext cx="9525" cy="2941637"/>
          </a:xfrm>
          <a:prstGeom prst="line">
            <a:avLst/>
          </a:prstGeom>
          <a:noFill/>
          <a:ln w="19050">
            <a:solidFill>
              <a:srgbClr val="FFCC66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245" name="Line 5"/>
          <p:cNvSpPr>
            <a:spLocks noChangeShapeType="1"/>
          </p:cNvSpPr>
          <p:nvPr/>
        </p:nvSpPr>
        <p:spPr bwMode="auto">
          <a:xfrm flipH="1">
            <a:off x="7632701" y="3829050"/>
            <a:ext cx="1654175" cy="1606550"/>
          </a:xfrm>
          <a:prstGeom prst="line">
            <a:avLst/>
          </a:prstGeom>
          <a:noFill/>
          <a:ln w="28575">
            <a:solidFill>
              <a:srgbClr val="FFCC66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246" name="Text Box 6"/>
          <p:cNvSpPr txBox="1">
            <a:spLocks noChangeArrowheads="1"/>
          </p:cNvSpPr>
          <p:nvPr/>
        </p:nvSpPr>
        <p:spPr bwMode="auto">
          <a:xfrm>
            <a:off x="7612064" y="5365751"/>
            <a:ext cx="3968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sz="2000" i="1">
                <a:solidFill>
                  <a:srgbClr val="FFFF00"/>
                </a:solidFill>
                <a:latin typeface="Times New Roman" charset="0"/>
              </a:rPr>
              <a:t>y</a:t>
            </a:r>
          </a:p>
        </p:txBody>
      </p:sp>
      <p:sp>
        <p:nvSpPr>
          <p:cNvPr id="10247" name="Text Box 7"/>
          <p:cNvSpPr txBox="1">
            <a:spLocks noChangeArrowheads="1"/>
          </p:cNvSpPr>
          <p:nvPr/>
        </p:nvSpPr>
        <p:spPr bwMode="auto">
          <a:xfrm>
            <a:off x="9332914" y="912814"/>
            <a:ext cx="3968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sz="2000" i="1" dirty="0" err="1">
                <a:solidFill>
                  <a:srgbClr val="FFFF00"/>
                </a:solidFill>
                <a:latin typeface="Times New Roman" charset="0"/>
              </a:rPr>
              <a:t>x</a:t>
            </a:r>
            <a:endParaRPr lang="es-ES_tradnl" sz="2000" i="1" dirty="0">
              <a:solidFill>
                <a:srgbClr val="FFFF00"/>
              </a:solidFill>
              <a:latin typeface="Times New Roman" charset="0"/>
            </a:endParaRPr>
          </a:p>
        </p:txBody>
      </p:sp>
      <p:sp>
        <p:nvSpPr>
          <p:cNvPr id="10248" name="Line 8"/>
          <p:cNvSpPr>
            <a:spLocks noChangeShapeType="1"/>
          </p:cNvSpPr>
          <p:nvPr/>
        </p:nvSpPr>
        <p:spPr bwMode="auto">
          <a:xfrm flipV="1">
            <a:off x="3457575" y="2943226"/>
            <a:ext cx="4781550" cy="866775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249" name="AutoShape 9"/>
          <p:cNvSpPr>
            <a:spLocks noChangeArrowheads="1"/>
          </p:cNvSpPr>
          <p:nvPr/>
        </p:nvSpPr>
        <p:spPr bwMode="auto">
          <a:xfrm rot="5400000" flipH="1">
            <a:off x="7270750" y="2851150"/>
            <a:ext cx="2971800" cy="1079500"/>
          </a:xfrm>
          <a:prstGeom prst="parallelogram">
            <a:avLst>
              <a:gd name="adj" fmla="val 97054"/>
            </a:avLst>
          </a:prstGeom>
          <a:noFill/>
          <a:ln w="9525">
            <a:solidFill>
              <a:srgbClr val="FFFF00"/>
            </a:solidFill>
            <a:prstDash val="dash"/>
            <a:miter lim="800000"/>
            <a:headEnd/>
            <a:tailEnd/>
          </a:ln>
        </p:spPr>
        <p:txBody>
          <a:bodyPr rot="10800000" vert="eaVert" wrap="none" anchor="ctr">
            <a:prstTxWarp prst="textNoShape">
              <a:avLst/>
            </a:prstTxWarp>
          </a:bodyPr>
          <a:lstStyle/>
          <a:p>
            <a:pPr algn="ctr" eaLnBrk="0" hangingPunct="0"/>
            <a:endParaRPr lang="es-ES" sz="2400" dirty="0">
              <a:latin typeface="Gill Sans MT" panose="020B0502020104020203" pitchFamily="34" charset="77"/>
            </a:endParaRPr>
          </a:p>
        </p:txBody>
      </p:sp>
      <p:sp>
        <p:nvSpPr>
          <p:cNvPr id="10250" name="Line 10"/>
          <p:cNvSpPr>
            <a:spLocks noChangeShapeType="1"/>
          </p:cNvSpPr>
          <p:nvPr/>
        </p:nvSpPr>
        <p:spPr bwMode="auto">
          <a:xfrm flipV="1">
            <a:off x="3448050" y="1447800"/>
            <a:ext cx="0" cy="251460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251" name="Line 11"/>
          <p:cNvSpPr>
            <a:spLocks noChangeShapeType="1"/>
          </p:cNvSpPr>
          <p:nvPr/>
        </p:nvSpPr>
        <p:spPr bwMode="auto">
          <a:xfrm>
            <a:off x="3295650" y="3810000"/>
            <a:ext cx="7067550" cy="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252" name="Line 12"/>
          <p:cNvSpPr>
            <a:spLocks noChangeShapeType="1"/>
          </p:cNvSpPr>
          <p:nvPr/>
        </p:nvSpPr>
        <p:spPr bwMode="auto">
          <a:xfrm flipH="1">
            <a:off x="2584450" y="3562350"/>
            <a:ext cx="1111250" cy="113030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253" name="Text Box 13"/>
          <p:cNvSpPr txBox="1">
            <a:spLocks noChangeArrowheads="1"/>
          </p:cNvSpPr>
          <p:nvPr/>
        </p:nvSpPr>
        <p:spPr bwMode="auto">
          <a:xfrm>
            <a:off x="2162176" y="4557714"/>
            <a:ext cx="3968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sz="2000" i="1">
                <a:solidFill>
                  <a:srgbClr val="FFFF00"/>
                </a:solidFill>
                <a:latin typeface="Times New Roman" charset="0"/>
              </a:rPr>
              <a:t>Y</a:t>
            </a:r>
          </a:p>
        </p:txBody>
      </p:sp>
      <p:sp>
        <p:nvSpPr>
          <p:cNvPr id="10254" name="Text Box 14"/>
          <p:cNvSpPr txBox="1">
            <a:spLocks noChangeArrowheads="1"/>
          </p:cNvSpPr>
          <p:nvPr/>
        </p:nvSpPr>
        <p:spPr bwMode="auto">
          <a:xfrm>
            <a:off x="3471864" y="1238251"/>
            <a:ext cx="3968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sz="2000" i="1">
                <a:solidFill>
                  <a:srgbClr val="FFFF00"/>
                </a:solidFill>
                <a:latin typeface="Times New Roman" charset="0"/>
              </a:rPr>
              <a:t>X</a:t>
            </a:r>
          </a:p>
        </p:txBody>
      </p:sp>
      <p:sp>
        <p:nvSpPr>
          <p:cNvPr id="10255" name="Text Box 15"/>
          <p:cNvSpPr txBox="1">
            <a:spLocks noChangeArrowheads="1"/>
          </p:cNvSpPr>
          <p:nvPr/>
        </p:nvSpPr>
        <p:spPr bwMode="auto">
          <a:xfrm>
            <a:off x="10066339" y="3417889"/>
            <a:ext cx="3968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sz="2000" i="1">
                <a:solidFill>
                  <a:srgbClr val="FFFF00"/>
                </a:solidFill>
                <a:latin typeface="Times New Roman" charset="0"/>
              </a:rPr>
              <a:t>Z</a:t>
            </a:r>
          </a:p>
        </p:txBody>
      </p:sp>
      <p:sp>
        <p:nvSpPr>
          <p:cNvPr id="1116176" name="Text Box 16"/>
          <p:cNvSpPr txBox="1">
            <a:spLocks noChangeArrowheads="1"/>
          </p:cNvSpPr>
          <p:nvPr/>
        </p:nvSpPr>
        <p:spPr bwMode="auto">
          <a:xfrm>
            <a:off x="8186739" y="2951164"/>
            <a:ext cx="8540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sz="2000" i="1" dirty="0">
                <a:solidFill>
                  <a:srgbClr val="FFFF00"/>
                </a:solidFill>
                <a:latin typeface="Times New Roman" charset="0"/>
              </a:rPr>
              <a:t>(</a:t>
            </a:r>
            <a:r>
              <a:rPr lang="es-ES_tradnl" sz="2000" i="1" dirty="0" err="1">
                <a:solidFill>
                  <a:srgbClr val="FFFF00"/>
                </a:solidFill>
                <a:latin typeface="Times New Roman" charset="0"/>
              </a:rPr>
              <a:t>u,v</a:t>
            </a:r>
            <a:r>
              <a:rPr lang="es-ES_tradnl" sz="2000" i="1" dirty="0">
                <a:solidFill>
                  <a:srgbClr val="FFFF00"/>
                </a:solidFill>
                <a:latin typeface="Times New Roman" charset="0"/>
              </a:rPr>
              <a:t>)</a:t>
            </a:r>
          </a:p>
        </p:txBody>
      </p:sp>
      <p:sp>
        <p:nvSpPr>
          <p:cNvPr id="10257" name="Text Box 17"/>
          <p:cNvSpPr txBox="1">
            <a:spLocks noChangeArrowheads="1"/>
          </p:cNvSpPr>
          <p:nvPr/>
        </p:nvSpPr>
        <p:spPr bwMode="auto">
          <a:xfrm>
            <a:off x="6088063" y="1362076"/>
            <a:ext cx="2540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sz="2000" i="1">
                <a:solidFill>
                  <a:srgbClr val="FFFF00"/>
                </a:solidFill>
                <a:latin typeface="Times New Roman" charset="0"/>
              </a:rPr>
              <a:t>f</a:t>
            </a:r>
          </a:p>
        </p:txBody>
      </p:sp>
      <p:sp>
        <p:nvSpPr>
          <p:cNvPr id="10258" name="AutoShape 18"/>
          <p:cNvSpPr>
            <a:spLocks noChangeArrowheads="1"/>
          </p:cNvSpPr>
          <p:nvPr/>
        </p:nvSpPr>
        <p:spPr bwMode="auto">
          <a:xfrm rot="5400000" flipH="1">
            <a:off x="6578600" y="2527300"/>
            <a:ext cx="3975100" cy="1460500"/>
          </a:xfrm>
          <a:prstGeom prst="parallelogram">
            <a:avLst>
              <a:gd name="adj" fmla="val 95954"/>
            </a:avLst>
          </a:prstGeom>
          <a:noFill/>
          <a:ln w="28575">
            <a:solidFill>
              <a:srgbClr val="FFCC66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0259" name="Oval 19"/>
          <p:cNvSpPr>
            <a:spLocks noChangeArrowheads="1"/>
          </p:cNvSpPr>
          <p:nvPr/>
        </p:nvSpPr>
        <p:spPr bwMode="auto">
          <a:xfrm>
            <a:off x="3400425" y="3768725"/>
            <a:ext cx="88900" cy="889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0260" name="Text Box 20"/>
          <p:cNvSpPr txBox="1">
            <a:spLocks noChangeArrowheads="1"/>
          </p:cNvSpPr>
          <p:nvPr/>
        </p:nvSpPr>
        <p:spPr bwMode="auto">
          <a:xfrm>
            <a:off x="3403601" y="3851276"/>
            <a:ext cx="3968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sz="2000" i="1">
                <a:solidFill>
                  <a:srgbClr val="FFFF00"/>
                </a:solidFill>
                <a:latin typeface="Times New Roman" charset="0"/>
              </a:rPr>
              <a:t>C</a:t>
            </a:r>
          </a:p>
        </p:txBody>
      </p:sp>
      <p:sp>
        <p:nvSpPr>
          <p:cNvPr id="10261" name="Rectangle 21"/>
          <p:cNvSpPr>
            <a:spLocks noChangeArrowheads="1"/>
          </p:cNvSpPr>
          <p:nvPr/>
        </p:nvSpPr>
        <p:spPr bwMode="auto">
          <a:xfrm>
            <a:off x="8582026" y="2097089"/>
            <a:ext cx="2968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sz="2000" i="1">
                <a:solidFill>
                  <a:srgbClr val="FFFF00"/>
                </a:solidFill>
                <a:latin typeface="Times New Roman" charset="0"/>
              </a:rPr>
              <a:t>y</a:t>
            </a:r>
            <a:endParaRPr lang="es-ES" sz="2000" i="1">
              <a:solidFill>
                <a:srgbClr val="FFFF00"/>
              </a:solidFill>
              <a:latin typeface="Times New Roman" charset="0"/>
            </a:endParaRPr>
          </a:p>
        </p:txBody>
      </p:sp>
      <p:sp>
        <p:nvSpPr>
          <p:cNvPr id="10262" name="Rectangle 22"/>
          <p:cNvSpPr>
            <a:spLocks noChangeArrowheads="1"/>
          </p:cNvSpPr>
          <p:nvPr/>
        </p:nvSpPr>
        <p:spPr bwMode="auto">
          <a:xfrm>
            <a:off x="8234363" y="3859214"/>
            <a:ext cx="296862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sz="2000" i="1">
                <a:solidFill>
                  <a:srgbClr val="FFFF00"/>
                </a:solidFill>
                <a:latin typeface="Times New Roman" charset="0"/>
              </a:rPr>
              <a:t>x</a:t>
            </a:r>
            <a:endParaRPr lang="es-ES" sz="2000" i="1">
              <a:solidFill>
                <a:srgbClr val="FFFF00"/>
              </a:solidFill>
              <a:latin typeface="Times New Roman" charset="0"/>
            </a:endParaRPr>
          </a:p>
        </p:txBody>
      </p:sp>
      <p:sp>
        <p:nvSpPr>
          <p:cNvPr id="10263" name="Line 23"/>
          <p:cNvSpPr>
            <a:spLocks noChangeShapeType="1"/>
          </p:cNvSpPr>
          <p:nvPr/>
        </p:nvSpPr>
        <p:spPr bwMode="auto">
          <a:xfrm>
            <a:off x="3448051" y="1752600"/>
            <a:ext cx="5865813" cy="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 type="triangle" w="med" len="med"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264" name="Text Box 24"/>
          <p:cNvSpPr txBox="1">
            <a:spLocks noChangeArrowheads="1"/>
          </p:cNvSpPr>
          <p:nvPr/>
        </p:nvSpPr>
        <p:spPr bwMode="auto">
          <a:xfrm>
            <a:off x="6242051" y="2849564"/>
            <a:ext cx="4095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sz="2000" i="1">
                <a:solidFill>
                  <a:srgbClr val="FFFF00"/>
                </a:solidFill>
                <a:latin typeface="Times New Roman" charset="0"/>
              </a:rPr>
              <a:t>M</a:t>
            </a:r>
          </a:p>
        </p:txBody>
      </p:sp>
      <p:sp>
        <p:nvSpPr>
          <p:cNvPr id="10265" name="Oval 25"/>
          <p:cNvSpPr>
            <a:spLocks noChangeArrowheads="1"/>
          </p:cNvSpPr>
          <p:nvPr/>
        </p:nvSpPr>
        <p:spPr bwMode="auto">
          <a:xfrm>
            <a:off x="6276975" y="3267075"/>
            <a:ext cx="88900" cy="889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0266" name="Text Box 26"/>
          <p:cNvSpPr txBox="1">
            <a:spLocks noChangeArrowheads="1"/>
          </p:cNvSpPr>
          <p:nvPr/>
        </p:nvSpPr>
        <p:spPr bwMode="auto">
          <a:xfrm>
            <a:off x="6381751" y="3249614"/>
            <a:ext cx="11652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sz="2000" i="1">
                <a:solidFill>
                  <a:srgbClr val="FFFF00"/>
                </a:solidFill>
                <a:latin typeface="Times New Roman" charset="0"/>
              </a:rPr>
              <a:t>(X',Y',Z')</a:t>
            </a:r>
          </a:p>
        </p:txBody>
      </p:sp>
      <p:sp>
        <p:nvSpPr>
          <p:cNvPr id="10267" name="Line 27"/>
          <p:cNvSpPr>
            <a:spLocks noChangeShapeType="1"/>
          </p:cNvSpPr>
          <p:nvPr/>
        </p:nvSpPr>
        <p:spPr bwMode="auto">
          <a:xfrm flipH="1" flipV="1">
            <a:off x="5162550" y="3149600"/>
            <a:ext cx="533400" cy="698500"/>
          </a:xfrm>
          <a:prstGeom prst="line">
            <a:avLst/>
          </a:prstGeom>
          <a:noFill/>
          <a:ln w="12700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268" name="Line 28"/>
          <p:cNvSpPr>
            <a:spLocks noChangeShapeType="1"/>
          </p:cNvSpPr>
          <p:nvPr/>
        </p:nvSpPr>
        <p:spPr bwMode="auto">
          <a:xfrm flipV="1">
            <a:off x="5708650" y="3289300"/>
            <a:ext cx="635000" cy="571500"/>
          </a:xfrm>
          <a:prstGeom prst="line">
            <a:avLst/>
          </a:prstGeom>
          <a:noFill/>
          <a:ln w="12700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269" name="Line 29"/>
          <p:cNvSpPr>
            <a:spLocks noChangeShapeType="1"/>
          </p:cNvSpPr>
          <p:nvPr/>
        </p:nvSpPr>
        <p:spPr bwMode="auto">
          <a:xfrm>
            <a:off x="5708650" y="3873500"/>
            <a:ext cx="0" cy="533400"/>
          </a:xfrm>
          <a:prstGeom prst="line">
            <a:avLst/>
          </a:prstGeom>
          <a:noFill/>
          <a:ln w="12700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270" name="Line 30"/>
          <p:cNvSpPr>
            <a:spLocks noChangeShapeType="1"/>
          </p:cNvSpPr>
          <p:nvPr/>
        </p:nvSpPr>
        <p:spPr bwMode="auto">
          <a:xfrm flipH="1" flipV="1">
            <a:off x="5784850" y="2584450"/>
            <a:ext cx="533400" cy="698500"/>
          </a:xfrm>
          <a:prstGeom prst="line">
            <a:avLst/>
          </a:prstGeom>
          <a:noFill/>
          <a:ln w="12700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271" name="Line 31"/>
          <p:cNvSpPr>
            <a:spLocks noChangeShapeType="1"/>
          </p:cNvSpPr>
          <p:nvPr/>
        </p:nvSpPr>
        <p:spPr bwMode="auto">
          <a:xfrm flipV="1">
            <a:off x="5162550" y="2571750"/>
            <a:ext cx="635000" cy="571500"/>
          </a:xfrm>
          <a:prstGeom prst="line">
            <a:avLst/>
          </a:prstGeom>
          <a:noFill/>
          <a:ln w="12700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272" name="Line 32"/>
          <p:cNvSpPr>
            <a:spLocks noChangeShapeType="1"/>
          </p:cNvSpPr>
          <p:nvPr/>
        </p:nvSpPr>
        <p:spPr bwMode="auto">
          <a:xfrm>
            <a:off x="6318250" y="3289300"/>
            <a:ext cx="0" cy="533400"/>
          </a:xfrm>
          <a:prstGeom prst="line">
            <a:avLst/>
          </a:prstGeom>
          <a:noFill/>
          <a:ln w="12700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273" name="Line 33"/>
          <p:cNvSpPr>
            <a:spLocks noChangeShapeType="1"/>
          </p:cNvSpPr>
          <p:nvPr/>
        </p:nvSpPr>
        <p:spPr bwMode="auto">
          <a:xfrm flipH="1" flipV="1">
            <a:off x="5156200" y="3689350"/>
            <a:ext cx="533400" cy="698500"/>
          </a:xfrm>
          <a:prstGeom prst="line">
            <a:avLst/>
          </a:prstGeom>
          <a:noFill/>
          <a:ln w="12700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274" name="Line 34"/>
          <p:cNvSpPr>
            <a:spLocks noChangeShapeType="1"/>
          </p:cNvSpPr>
          <p:nvPr/>
        </p:nvSpPr>
        <p:spPr bwMode="auto">
          <a:xfrm flipV="1">
            <a:off x="5708650" y="3803650"/>
            <a:ext cx="635000" cy="571500"/>
          </a:xfrm>
          <a:prstGeom prst="line">
            <a:avLst/>
          </a:prstGeom>
          <a:noFill/>
          <a:ln w="12700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275" name="Line 35"/>
          <p:cNvSpPr>
            <a:spLocks noChangeShapeType="1"/>
          </p:cNvSpPr>
          <p:nvPr/>
        </p:nvSpPr>
        <p:spPr bwMode="auto">
          <a:xfrm>
            <a:off x="5168900" y="3155950"/>
            <a:ext cx="0" cy="533400"/>
          </a:xfrm>
          <a:prstGeom prst="line">
            <a:avLst/>
          </a:prstGeom>
          <a:noFill/>
          <a:ln w="12700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276" name="Line 36"/>
          <p:cNvSpPr>
            <a:spLocks noChangeShapeType="1"/>
          </p:cNvSpPr>
          <p:nvPr/>
        </p:nvSpPr>
        <p:spPr bwMode="auto">
          <a:xfrm flipH="1" flipV="1">
            <a:off x="5772150" y="3124200"/>
            <a:ext cx="533400" cy="698500"/>
          </a:xfrm>
          <a:prstGeom prst="line">
            <a:avLst/>
          </a:prstGeom>
          <a:noFill/>
          <a:ln w="12700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277" name="Line 37"/>
          <p:cNvSpPr>
            <a:spLocks noChangeShapeType="1"/>
          </p:cNvSpPr>
          <p:nvPr/>
        </p:nvSpPr>
        <p:spPr bwMode="auto">
          <a:xfrm flipV="1">
            <a:off x="5181600" y="3117850"/>
            <a:ext cx="635000" cy="571500"/>
          </a:xfrm>
          <a:prstGeom prst="line">
            <a:avLst/>
          </a:prstGeom>
          <a:noFill/>
          <a:ln w="12700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278" name="Line 38"/>
          <p:cNvSpPr>
            <a:spLocks noChangeShapeType="1"/>
          </p:cNvSpPr>
          <p:nvPr/>
        </p:nvSpPr>
        <p:spPr bwMode="auto">
          <a:xfrm>
            <a:off x="5778500" y="2622550"/>
            <a:ext cx="0" cy="533400"/>
          </a:xfrm>
          <a:prstGeom prst="line">
            <a:avLst/>
          </a:prstGeom>
          <a:noFill/>
          <a:ln w="12700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279" name="Line 39"/>
          <p:cNvSpPr>
            <a:spLocks noChangeShapeType="1"/>
          </p:cNvSpPr>
          <p:nvPr/>
        </p:nvSpPr>
        <p:spPr bwMode="auto">
          <a:xfrm flipV="1">
            <a:off x="5162550" y="2971800"/>
            <a:ext cx="800100" cy="730250"/>
          </a:xfrm>
          <a:prstGeom prst="line">
            <a:avLst/>
          </a:prstGeom>
          <a:noFill/>
          <a:ln w="19050">
            <a:solidFill>
              <a:srgbClr val="00FF00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280" name="Line 40"/>
          <p:cNvSpPr>
            <a:spLocks noChangeShapeType="1"/>
          </p:cNvSpPr>
          <p:nvPr/>
        </p:nvSpPr>
        <p:spPr bwMode="auto">
          <a:xfrm flipH="1" flipV="1">
            <a:off x="5162550" y="3695700"/>
            <a:ext cx="533400" cy="698500"/>
          </a:xfrm>
          <a:prstGeom prst="line">
            <a:avLst/>
          </a:prstGeom>
          <a:noFill/>
          <a:ln w="19050">
            <a:solidFill>
              <a:srgbClr val="00FF00"/>
            </a:solidFill>
            <a:round/>
            <a:headEnd type="triangle" w="med" len="med"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281" name="Line 41"/>
          <p:cNvSpPr>
            <a:spLocks noChangeShapeType="1"/>
          </p:cNvSpPr>
          <p:nvPr/>
        </p:nvSpPr>
        <p:spPr bwMode="auto">
          <a:xfrm rot="10800000">
            <a:off x="5162550" y="2952750"/>
            <a:ext cx="0" cy="736600"/>
          </a:xfrm>
          <a:prstGeom prst="line">
            <a:avLst/>
          </a:prstGeom>
          <a:noFill/>
          <a:ln w="19050">
            <a:solidFill>
              <a:srgbClr val="00FF00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282" name="Text Box 42"/>
          <p:cNvSpPr txBox="1">
            <a:spLocks noChangeArrowheads="1"/>
          </p:cNvSpPr>
          <p:nvPr/>
        </p:nvSpPr>
        <p:spPr bwMode="auto">
          <a:xfrm>
            <a:off x="5467351" y="2919414"/>
            <a:ext cx="3905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sz="2000" i="1">
                <a:solidFill>
                  <a:srgbClr val="FFFF00"/>
                </a:solidFill>
                <a:latin typeface="Times New Roman" charset="0"/>
              </a:rPr>
              <a:t>Y'</a:t>
            </a:r>
          </a:p>
        </p:txBody>
      </p:sp>
      <p:sp>
        <p:nvSpPr>
          <p:cNvPr id="10283" name="Text Box 43"/>
          <p:cNvSpPr txBox="1">
            <a:spLocks noChangeArrowheads="1"/>
          </p:cNvSpPr>
          <p:nvPr/>
        </p:nvSpPr>
        <p:spPr bwMode="auto">
          <a:xfrm>
            <a:off x="4813301" y="2779714"/>
            <a:ext cx="4286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sz="2000" i="1">
                <a:solidFill>
                  <a:srgbClr val="FFFF00"/>
                </a:solidFill>
                <a:latin typeface="Times New Roman" charset="0"/>
              </a:rPr>
              <a:t>Z'</a:t>
            </a:r>
          </a:p>
        </p:txBody>
      </p:sp>
      <p:sp>
        <p:nvSpPr>
          <p:cNvPr id="10284" name="Text Box 44"/>
          <p:cNvSpPr txBox="1">
            <a:spLocks noChangeArrowheads="1"/>
          </p:cNvSpPr>
          <p:nvPr/>
        </p:nvSpPr>
        <p:spPr bwMode="auto">
          <a:xfrm>
            <a:off x="5187951" y="4138614"/>
            <a:ext cx="4413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sz="2000" i="1">
                <a:solidFill>
                  <a:srgbClr val="FFFF00"/>
                </a:solidFill>
                <a:latin typeface="Times New Roman" charset="0"/>
              </a:rPr>
              <a:t>X'</a:t>
            </a:r>
          </a:p>
        </p:txBody>
      </p:sp>
      <p:graphicFrame>
        <p:nvGraphicFramePr>
          <p:cNvPr id="10242" name="Object 45"/>
          <p:cNvGraphicFramePr>
            <a:graphicFrameLocks noChangeAspect="1"/>
          </p:cNvGraphicFramePr>
          <p:nvPr/>
        </p:nvGraphicFramePr>
        <p:xfrm>
          <a:off x="4248150" y="4870450"/>
          <a:ext cx="23241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Ûn" r:id="rId3" imgW="774700" imgH="139700" progId="Equation.3">
                  <p:embed/>
                </p:oleObj>
              </mc:Choice>
              <mc:Fallback>
                <p:oleObj name="EcuaciÛn" r:id="rId3" imgW="774700" imgH="139700" progId="Equation.3">
                  <p:embed/>
                  <p:pic>
                    <p:nvPicPr>
                      <p:cNvPr id="10242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8150" y="4870450"/>
                        <a:ext cx="2324100" cy="4191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6"/>
          <p:cNvGrpSpPr>
            <a:grpSpLocks/>
          </p:cNvGrpSpPr>
          <p:nvPr/>
        </p:nvGrpSpPr>
        <p:grpSpPr bwMode="auto">
          <a:xfrm>
            <a:off x="7881113" y="2454341"/>
            <a:ext cx="285751" cy="815975"/>
            <a:chOff x="4030" y="1512"/>
            <a:chExt cx="180" cy="514"/>
          </a:xfrm>
        </p:grpSpPr>
        <p:sp>
          <p:nvSpPr>
            <p:cNvPr id="10299" name="Line 47"/>
            <p:cNvSpPr>
              <a:spLocks noChangeShapeType="1"/>
            </p:cNvSpPr>
            <p:nvPr/>
          </p:nvSpPr>
          <p:spPr bwMode="auto">
            <a:xfrm rot="16200000">
              <a:off x="4038" y="1865"/>
              <a:ext cx="153" cy="170"/>
            </a:xfrm>
            <a:prstGeom prst="line">
              <a:avLst/>
            </a:prstGeom>
            <a:noFill/>
            <a:ln w="3175">
              <a:solidFill>
                <a:srgbClr val="00FFCC"/>
              </a:solidFill>
              <a:prstDash val="dash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  <p:sp>
          <p:nvSpPr>
            <p:cNvPr id="10300" name="Line 48"/>
            <p:cNvSpPr>
              <a:spLocks noChangeShapeType="1"/>
            </p:cNvSpPr>
            <p:nvPr/>
          </p:nvSpPr>
          <p:spPr bwMode="auto">
            <a:xfrm flipH="1">
              <a:off x="4210" y="1512"/>
              <a:ext cx="0" cy="356"/>
            </a:xfrm>
            <a:prstGeom prst="line">
              <a:avLst/>
            </a:prstGeom>
            <a:noFill/>
            <a:ln w="3175">
              <a:solidFill>
                <a:srgbClr val="00FFCC"/>
              </a:solidFill>
              <a:prstDash val="dash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0286" name="Oval 49"/>
          <p:cNvSpPr>
            <a:spLocks noChangeArrowheads="1"/>
          </p:cNvSpPr>
          <p:nvPr/>
        </p:nvSpPr>
        <p:spPr bwMode="auto">
          <a:xfrm>
            <a:off x="8172450" y="2911475"/>
            <a:ext cx="88900" cy="889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0287" name="Text Box 50"/>
          <p:cNvSpPr txBox="1">
            <a:spLocks noChangeArrowheads="1"/>
          </p:cNvSpPr>
          <p:nvPr/>
        </p:nvSpPr>
        <p:spPr bwMode="auto">
          <a:xfrm>
            <a:off x="8013701" y="2527301"/>
            <a:ext cx="3968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sz="2000" i="1" dirty="0">
                <a:solidFill>
                  <a:srgbClr val="FFFF00"/>
                </a:solidFill>
                <a:latin typeface="Times New Roman" charset="0"/>
              </a:rPr>
              <a:t>m</a:t>
            </a:r>
          </a:p>
        </p:txBody>
      </p:sp>
      <p:grpSp>
        <p:nvGrpSpPr>
          <p:cNvPr id="3" name="Group 51"/>
          <p:cNvGrpSpPr>
            <a:grpSpLocks/>
          </p:cNvGrpSpPr>
          <p:nvPr/>
        </p:nvGrpSpPr>
        <p:grpSpPr bwMode="auto">
          <a:xfrm rot="10322964">
            <a:off x="7676123" y="1887532"/>
            <a:ext cx="1219208" cy="2241551"/>
            <a:chOff x="4061" y="1363"/>
            <a:chExt cx="768" cy="1412"/>
          </a:xfrm>
        </p:grpSpPr>
        <p:sp>
          <p:nvSpPr>
            <p:cNvPr id="10295" name="Line 52"/>
            <p:cNvSpPr>
              <a:spLocks noChangeShapeType="1"/>
            </p:cNvSpPr>
            <p:nvPr/>
          </p:nvSpPr>
          <p:spPr bwMode="auto">
            <a:xfrm rot="16200000" flipH="1" flipV="1">
              <a:off x="4153" y="2238"/>
              <a:ext cx="445" cy="629"/>
            </a:xfrm>
            <a:prstGeom prst="line">
              <a:avLst/>
            </a:prstGeom>
            <a:noFill/>
            <a:ln w="38100">
              <a:solidFill>
                <a:srgbClr val="00FFCC"/>
              </a:solidFill>
              <a:round/>
              <a:headEnd/>
              <a:tailEnd type="triangle" w="med" len="med"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  <p:sp>
          <p:nvSpPr>
            <p:cNvPr id="10296" name="Line 53"/>
            <p:cNvSpPr>
              <a:spLocks noChangeShapeType="1"/>
            </p:cNvSpPr>
            <p:nvPr/>
          </p:nvSpPr>
          <p:spPr bwMode="auto">
            <a:xfrm flipV="1">
              <a:off x="4693" y="1363"/>
              <a:ext cx="136" cy="952"/>
            </a:xfrm>
            <a:prstGeom prst="line">
              <a:avLst/>
            </a:prstGeom>
            <a:noFill/>
            <a:ln w="38100">
              <a:solidFill>
                <a:srgbClr val="00FFCC"/>
              </a:solidFill>
              <a:round/>
              <a:headEnd/>
              <a:tailEnd type="triangle" w="med" len="med"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116216" name="Oval 56"/>
          <p:cNvSpPr>
            <a:spLocks noChangeArrowheads="1"/>
          </p:cNvSpPr>
          <p:nvPr/>
        </p:nvSpPr>
        <p:spPr bwMode="auto">
          <a:xfrm>
            <a:off x="8102600" y="2971800"/>
            <a:ext cx="889000" cy="419100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4" name="Group 57"/>
          <p:cNvGrpSpPr>
            <a:grpSpLocks/>
          </p:cNvGrpSpPr>
          <p:nvPr/>
        </p:nvGrpSpPr>
        <p:grpSpPr bwMode="auto">
          <a:xfrm>
            <a:off x="4495800" y="3352802"/>
            <a:ext cx="3873500" cy="2498726"/>
            <a:chOff x="1872" y="2112"/>
            <a:chExt cx="2440" cy="1574"/>
          </a:xfrm>
        </p:grpSpPr>
        <p:sp>
          <p:nvSpPr>
            <p:cNvPr id="10292" name="Oval 58"/>
            <p:cNvSpPr>
              <a:spLocks noChangeArrowheads="1"/>
            </p:cNvSpPr>
            <p:nvPr/>
          </p:nvSpPr>
          <p:spPr bwMode="auto">
            <a:xfrm>
              <a:off x="1872" y="3096"/>
              <a:ext cx="344" cy="264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prstDash val="dash"/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10293" name="Line 59"/>
            <p:cNvSpPr>
              <a:spLocks noChangeShapeType="1"/>
            </p:cNvSpPr>
            <p:nvPr/>
          </p:nvSpPr>
          <p:spPr bwMode="auto">
            <a:xfrm flipH="1">
              <a:off x="2112" y="2112"/>
              <a:ext cx="2200" cy="97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  <p:sp>
          <p:nvSpPr>
            <p:cNvPr id="10294" name="Text Box 60"/>
            <p:cNvSpPr txBox="1">
              <a:spLocks noChangeArrowheads="1"/>
            </p:cNvSpPr>
            <p:nvPr/>
          </p:nvSpPr>
          <p:spPr bwMode="auto">
            <a:xfrm>
              <a:off x="1958" y="3395"/>
              <a:ext cx="181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s-ES" sz="2400" dirty="0">
                  <a:solidFill>
                    <a:srgbClr val="FF0000"/>
                  </a:solidFill>
                  <a:latin typeface="Gill Sans MT" panose="020B0502020104020203" pitchFamily="34" charset="77"/>
                </a:rPr>
                <a:t>?</a:t>
              </a:r>
            </a:p>
          </p:txBody>
        </p:sp>
      </p:grpSp>
      <p:sp>
        <p:nvSpPr>
          <p:cNvPr id="61" name="Rectangle 71"/>
          <p:cNvSpPr>
            <a:spLocks noChangeArrowheads="1"/>
          </p:cNvSpPr>
          <p:nvPr/>
        </p:nvSpPr>
        <p:spPr bwMode="auto">
          <a:xfrm>
            <a:off x="1524000" y="1"/>
            <a:ext cx="336752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" sz="2400" dirty="0">
                <a:solidFill>
                  <a:schemeClr val="bg1"/>
                </a:solidFill>
                <a:latin typeface="Gill Sans MT" panose="020B0502020104020203" pitchFamily="34" charset="77"/>
              </a:rPr>
              <a:t>[ </a:t>
            </a:r>
            <a:r>
              <a:rPr lang="es-ES" sz="2400" dirty="0" err="1">
                <a:solidFill>
                  <a:schemeClr val="bg1"/>
                </a:solidFill>
                <a:latin typeface="Gill Sans MT" panose="020B0502020104020203" pitchFamily="34" charset="77"/>
              </a:rPr>
              <a:t>Perspective</a:t>
            </a:r>
            <a:r>
              <a:rPr lang="es-ES" sz="2400" dirty="0">
                <a:solidFill>
                  <a:schemeClr val="bg1"/>
                </a:solidFill>
                <a:latin typeface="Gill Sans MT" panose="020B0502020104020203" pitchFamily="34" charset="77"/>
              </a:rPr>
              <a:t> </a:t>
            </a:r>
            <a:r>
              <a:rPr lang="es-ES" sz="2400" dirty="0" err="1">
                <a:solidFill>
                  <a:schemeClr val="bg1"/>
                </a:solidFill>
                <a:latin typeface="Gill Sans MT" panose="020B0502020104020203" pitchFamily="34" charset="77"/>
              </a:rPr>
              <a:t>Projection</a:t>
            </a:r>
            <a:r>
              <a:rPr lang="es-ES" sz="2400" dirty="0">
                <a:solidFill>
                  <a:schemeClr val="bg1"/>
                </a:solidFill>
                <a:latin typeface="Gill Sans MT" panose="020B0502020104020203" pitchFamily="34" charset="77"/>
              </a:rPr>
              <a:t> ]</a:t>
            </a:r>
          </a:p>
        </p:txBody>
      </p:sp>
      <p:sp>
        <p:nvSpPr>
          <p:cNvPr id="62" name="Rectangle 71"/>
          <p:cNvSpPr>
            <a:spLocks noChangeArrowheads="1"/>
          </p:cNvSpPr>
          <p:nvPr/>
        </p:nvSpPr>
        <p:spPr bwMode="auto">
          <a:xfrm>
            <a:off x="1639900" y="459352"/>
            <a:ext cx="632339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" sz="2400" dirty="0" err="1">
                <a:solidFill>
                  <a:schemeClr val="bg1"/>
                </a:solidFill>
                <a:latin typeface="Gill Sans MT" panose="020B0502020104020203" pitchFamily="34" charset="77"/>
              </a:rPr>
              <a:t>Now</a:t>
            </a:r>
            <a:r>
              <a:rPr lang="es-ES" sz="2400" dirty="0">
                <a:solidFill>
                  <a:schemeClr val="bg1"/>
                </a:solidFill>
                <a:latin typeface="Gill Sans MT" panose="020B0502020104020203" pitchFamily="34" charset="77"/>
              </a:rPr>
              <a:t>, </a:t>
            </a:r>
            <a:r>
              <a:rPr lang="es-ES" sz="2400" i="1" dirty="0">
                <a:solidFill>
                  <a:schemeClr val="bg1"/>
                </a:solidFill>
                <a:latin typeface="Times New Roman"/>
                <a:cs typeface="Times New Roman"/>
              </a:rPr>
              <a:t>m</a:t>
            </a:r>
            <a:r>
              <a:rPr lang="es-ES" sz="2400" dirty="0">
                <a:solidFill>
                  <a:schemeClr val="bg1"/>
                </a:solidFill>
                <a:latin typeface="Gill Sans MT" panose="020B0502020104020203" pitchFamily="34" charset="77"/>
              </a:rPr>
              <a:t> </a:t>
            </a:r>
            <a:r>
              <a:rPr lang="es-ES" sz="2400" dirty="0" err="1">
                <a:solidFill>
                  <a:schemeClr val="bg1"/>
                </a:solidFill>
                <a:latin typeface="Gill Sans MT" panose="020B0502020104020203" pitchFamily="34" charset="77"/>
              </a:rPr>
              <a:t>is</a:t>
            </a:r>
            <a:r>
              <a:rPr lang="es-ES" sz="2400" dirty="0">
                <a:solidFill>
                  <a:schemeClr val="bg1"/>
                </a:solidFill>
                <a:latin typeface="Gill Sans MT" panose="020B0502020104020203" pitchFamily="34" charset="77"/>
              </a:rPr>
              <a:t> </a:t>
            </a:r>
            <a:r>
              <a:rPr lang="es-ES" sz="2400" dirty="0" err="1">
                <a:solidFill>
                  <a:schemeClr val="bg1"/>
                </a:solidFill>
                <a:latin typeface="Gill Sans MT" panose="020B0502020104020203" pitchFamily="34" charset="77"/>
              </a:rPr>
              <a:t>given</a:t>
            </a:r>
            <a:r>
              <a:rPr lang="es-ES" sz="2400" dirty="0">
                <a:solidFill>
                  <a:schemeClr val="bg1"/>
                </a:solidFill>
                <a:latin typeface="Gill Sans MT" panose="020B0502020104020203" pitchFamily="34" charset="77"/>
              </a:rPr>
              <a:t> in a new </a:t>
            </a:r>
            <a:r>
              <a:rPr lang="es-ES" sz="2400" dirty="0" err="1">
                <a:solidFill>
                  <a:schemeClr val="bg1"/>
                </a:solidFill>
                <a:latin typeface="Gill Sans MT" panose="020B0502020104020203" pitchFamily="34" charset="77"/>
              </a:rPr>
              <a:t>coordinate</a:t>
            </a:r>
            <a:r>
              <a:rPr lang="es-ES" sz="2400" dirty="0">
                <a:solidFill>
                  <a:schemeClr val="bg1"/>
                </a:solidFill>
                <a:latin typeface="Gill Sans MT" panose="020B0502020104020203" pitchFamily="34" charset="77"/>
              </a:rPr>
              <a:t> </a:t>
            </a:r>
            <a:r>
              <a:rPr lang="es-ES" sz="2400" dirty="0" err="1">
                <a:solidFill>
                  <a:schemeClr val="bg1"/>
                </a:solidFill>
                <a:latin typeface="Gill Sans MT" panose="020B0502020104020203" pitchFamily="34" charset="77"/>
              </a:rPr>
              <a:t>system</a:t>
            </a:r>
            <a:r>
              <a:rPr lang="es-ES" sz="2400" dirty="0">
                <a:solidFill>
                  <a:schemeClr val="bg1"/>
                </a:solidFill>
                <a:latin typeface="Gill Sans MT" panose="020B0502020104020203" pitchFamily="34" charset="77"/>
              </a:rPr>
              <a:t>: </a:t>
            </a:r>
            <a:r>
              <a:rPr lang="es-ES_tradnl" sz="2400" i="1" dirty="0">
                <a:solidFill>
                  <a:schemeClr val="bg1"/>
                </a:solidFill>
                <a:latin typeface="Times New Roman" charset="0"/>
              </a:rPr>
              <a:t>(</a:t>
            </a:r>
            <a:r>
              <a:rPr lang="es-ES_tradnl" sz="2400" i="1" dirty="0" err="1">
                <a:solidFill>
                  <a:schemeClr val="bg1"/>
                </a:solidFill>
                <a:latin typeface="Times New Roman" charset="0"/>
              </a:rPr>
              <a:t>u,v</a:t>
            </a:r>
            <a:r>
              <a:rPr lang="es-ES_tradnl" sz="2400" i="1" dirty="0">
                <a:solidFill>
                  <a:schemeClr val="bg1"/>
                </a:solidFill>
                <a:latin typeface="Times New Roman" charset="0"/>
              </a:rPr>
              <a:t>)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7504991" y="1816064"/>
            <a:ext cx="872042" cy="2365022"/>
            <a:chOff x="5980991" y="1816064"/>
            <a:chExt cx="872042" cy="2365022"/>
          </a:xfrm>
        </p:grpSpPr>
        <p:sp>
          <p:nvSpPr>
            <p:cNvPr id="5" name="Rectangle 4"/>
            <p:cNvSpPr/>
            <p:nvPr/>
          </p:nvSpPr>
          <p:spPr>
            <a:xfrm>
              <a:off x="5980991" y="3811754"/>
              <a:ext cx="30008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ES_tradnl" i="1" dirty="0">
                  <a:solidFill>
                    <a:srgbClr val="FFFF00"/>
                  </a:solidFill>
                  <a:latin typeface="Times New Roman" charset="0"/>
                </a:rPr>
                <a:t>u</a:t>
              </a:r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63" name="Rectangle 62"/>
            <p:cNvSpPr/>
            <p:nvPr/>
          </p:nvSpPr>
          <p:spPr>
            <a:xfrm>
              <a:off x="6565775" y="1816064"/>
              <a:ext cx="28725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ES_tradnl" i="1" dirty="0">
                  <a:solidFill>
                    <a:srgbClr val="FFFF00"/>
                  </a:solidFill>
                  <a:latin typeface="Times New Roman" charset="0"/>
                </a:rPr>
                <a:t>v</a:t>
              </a:r>
              <a:endParaRPr lang="en-US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AF502F5-276C-0294-4747-B54D0B28C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CV02C</a:t>
            </a:r>
            <a:endParaRPr lang="en-CL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DED3CF0-B06B-CACF-0342-0BA043948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30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613512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6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3" presetClass="entr" presetSubtype="1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116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6176" grpId="0" autoUpdateAnimBg="0"/>
      <p:bldP spid="1116216" grpId="0" animBg="1"/>
      <p:bldP spid="6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65000"/>
            <a:lumOff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Line 4"/>
          <p:cNvSpPr>
            <a:spLocks noChangeShapeType="1"/>
          </p:cNvSpPr>
          <p:nvPr/>
        </p:nvSpPr>
        <p:spPr bwMode="auto">
          <a:xfrm flipH="1" flipV="1">
            <a:off x="9299576" y="862014"/>
            <a:ext cx="9525" cy="2941637"/>
          </a:xfrm>
          <a:prstGeom prst="line">
            <a:avLst/>
          </a:prstGeom>
          <a:noFill/>
          <a:ln w="19050">
            <a:solidFill>
              <a:srgbClr val="FFCC66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245" name="Line 5"/>
          <p:cNvSpPr>
            <a:spLocks noChangeShapeType="1"/>
          </p:cNvSpPr>
          <p:nvPr/>
        </p:nvSpPr>
        <p:spPr bwMode="auto">
          <a:xfrm flipH="1">
            <a:off x="7632701" y="3829050"/>
            <a:ext cx="1654175" cy="1606550"/>
          </a:xfrm>
          <a:prstGeom prst="line">
            <a:avLst/>
          </a:prstGeom>
          <a:noFill/>
          <a:ln w="28575">
            <a:solidFill>
              <a:srgbClr val="FFCC66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246" name="Text Box 6"/>
          <p:cNvSpPr txBox="1">
            <a:spLocks noChangeArrowheads="1"/>
          </p:cNvSpPr>
          <p:nvPr/>
        </p:nvSpPr>
        <p:spPr bwMode="auto">
          <a:xfrm>
            <a:off x="7612064" y="5365751"/>
            <a:ext cx="3968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sz="2000" i="1">
                <a:solidFill>
                  <a:srgbClr val="FFFF00"/>
                </a:solidFill>
                <a:latin typeface="Times New Roman" charset="0"/>
              </a:rPr>
              <a:t>y</a:t>
            </a:r>
          </a:p>
        </p:txBody>
      </p:sp>
      <p:sp>
        <p:nvSpPr>
          <p:cNvPr id="10247" name="Text Box 7"/>
          <p:cNvSpPr txBox="1">
            <a:spLocks noChangeArrowheads="1"/>
          </p:cNvSpPr>
          <p:nvPr/>
        </p:nvSpPr>
        <p:spPr bwMode="auto">
          <a:xfrm>
            <a:off x="9332914" y="912814"/>
            <a:ext cx="3968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sz="2000" i="1" dirty="0" err="1">
                <a:solidFill>
                  <a:srgbClr val="FFFF00"/>
                </a:solidFill>
                <a:latin typeface="Times New Roman" charset="0"/>
              </a:rPr>
              <a:t>x</a:t>
            </a:r>
            <a:endParaRPr lang="es-ES_tradnl" sz="2000" i="1" dirty="0">
              <a:solidFill>
                <a:srgbClr val="FFFF00"/>
              </a:solidFill>
              <a:latin typeface="Times New Roman" charset="0"/>
            </a:endParaRPr>
          </a:p>
        </p:txBody>
      </p:sp>
      <p:sp>
        <p:nvSpPr>
          <p:cNvPr id="10248" name="Line 8"/>
          <p:cNvSpPr>
            <a:spLocks noChangeShapeType="1"/>
          </p:cNvSpPr>
          <p:nvPr/>
        </p:nvSpPr>
        <p:spPr bwMode="auto">
          <a:xfrm flipV="1">
            <a:off x="3457575" y="2943226"/>
            <a:ext cx="4781550" cy="866775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249" name="AutoShape 9"/>
          <p:cNvSpPr>
            <a:spLocks noChangeArrowheads="1"/>
          </p:cNvSpPr>
          <p:nvPr/>
        </p:nvSpPr>
        <p:spPr bwMode="auto">
          <a:xfrm rot="5400000" flipH="1">
            <a:off x="7270750" y="2851150"/>
            <a:ext cx="2971800" cy="1079500"/>
          </a:xfrm>
          <a:prstGeom prst="parallelogram">
            <a:avLst>
              <a:gd name="adj" fmla="val 97054"/>
            </a:avLst>
          </a:prstGeom>
          <a:noFill/>
          <a:ln w="9525">
            <a:solidFill>
              <a:srgbClr val="FFFF00"/>
            </a:solidFill>
            <a:prstDash val="dash"/>
            <a:miter lim="800000"/>
            <a:headEnd/>
            <a:tailEnd/>
          </a:ln>
        </p:spPr>
        <p:txBody>
          <a:bodyPr rot="10800000" vert="eaVert" wrap="none" anchor="ctr">
            <a:prstTxWarp prst="textNoShape">
              <a:avLst/>
            </a:prstTxWarp>
          </a:bodyPr>
          <a:lstStyle/>
          <a:p>
            <a:pPr algn="ctr" eaLnBrk="0" hangingPunct="0"/>
            <a:endParaRPr lang="es-ES" sz="2400" dirty="0">
              <a:latin typeface="Gill Sans MT" panose="020B0502020104020203" pitchFamily="34" charset="77"/>
            </a:endParaRPr>
          </a:p>
        </p:txBody>
      </p:sp>
      <p:sp>
        <p:nvSpPr>
          <p:cNvPr id="10250" name="Line 10"/>
          <p:cNvSpPr>
            <a:spLocks noChangeShapeType="1"/>
          </p:cNvSpPr>
          <p:nvPr/>
        </p:nvSpPr>
        <p:spPr bwMode="auto">
          <a:xfrm flipV="1">
            <a:off x="3448050" y="1447800"/>
            <a:ext cx="0" cy="251460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251" name="Line 11"/>
          <p:cNvSpPr>
            <a:spLocks noChangeShapeType="1"/>
          </p:cNvSpPr>
          <p:nvPr/>
        </p:nvSpPr>
        <p:spPr bwMode="auto">
          <a:xfrm>
            <a:off x="3295650" y="3810000"/>
            <a:ext cx="7067550" cy="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252" name="Line 12"/>
          <p:cNvSpPr>
            <a:spLocks noChangeShapeType="1"/>
          </p:cNvSpPr>
          <p:nvPr/>
        </p:nvSpPr>
        <p:spPr bwMode="auto">
          <a:xfrm flipH="1">
            <a:off x="2584450" y="3562350"/>
            <a:ext cx="1111250" cy="113030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253" name="Text Box 13"/>
          <p:cNvSpPr txBox="1">
            <a:spLocks noChangeArrowheads="1"/>
          </p:cNvSpPr>
          <p:nvPr/>
        </p:nvSpPr>
        <p:spPr bwMode="auto">
          <a:xfrm>
            <a:off x="2162176" y="4557714"/>
            <a:ext cx="3968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sz="2000" i="1">
                <a:solidFill>
                  <a:srgbClr val="FFFF00"/>
                </a:solidFill>
                <a:latin typeface="Times New Roman" charset="0"/>
              </a:rPr>
              <a:t>Y</a:t>
            </a:r>
          </a:p>
        </p:txBody>
      </p:sp>
      <p:sp>
        <p:nvSpPr>
          <p:cNvPr id="10254" name="Text Box 14"/>
          <p:cNvSpPr txBox="1">
            <a:spLocks noChangeArrowheads="1"/>
          </p:cNvSpPr>
          <p:nvPr/>
        </p:nvSpPr>
        <p:spPr bwMode="auto">
          <a:xfrm>
            <a:off x="3471864" y="1238251"/>
            <a:ext cx="3968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sz="2000" i="1">
                <a:solidFill>
                  <a:srgbClr val="FFFF00"/>
                </a:solidFill>
                <a:latin typeface="Times New Roman" charset="0"/>
              </a:rPr>
              <a:t>X</a:t>
            </a:r>
          </a:p>
        </p:txBody>
      </p:sp>
      <p:sp>
        <p:nvSpPr>
          <p:cNvPr id="10255" name="Text Box 15"/>
          <p:cNvSpPr txBox="1">
            <a:spLocks noChangeArrowheads="1"/>
          </p:cNvSpPr>
          <p:nvPr/>
        </p:nvSpPr>
        <p:spPr bwMode="auto">
          <a:xfrm>
            <a:off x="10066339" y="3417889"/>
            <a:ext cx="3968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sz="2000" i="1">
                <a:solidFill>
                  <a:srgbClr val="FFFF00"/>
                </a:solidFill>
                <a:latin typeface="Times New Roman" charset="0"/>
              </a:rPr>
              <a:t>Z</a:t>
            </a:r>
          </a:p>
        </p:txBody>
      </p:sp>
      <p:sp>
        <p:nvSpPr>
          <p:cNvPr id="10257" name="Text Box 17"/>
          <p:cNvSpPr txBox="1">
            <a:spLocks noChangeArrowheads="1"/>
          </p:cNvSpPr>
          <p:nvPr/>
        </p:nvSpPr>
        <p:spPr bwMode="auto">
          <a:xfrm>
            <a:off x="6088063" y="1362076"/>
            <a:ext cx="2540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sz="2000" i="1">
                <a:solidFill>
                  <a:srgbClr val="FFFF00"/>
                </a:solidFill>
                <a:latin typeface="Times New Roman" charset="0"/>
              </a:rPr>
              <a:t>f</a:t>
            </a:r>
          </a:p>
        </p:txBody>
      </p:sp>
      <p:sp>
        <p:nvSpPr>
          <p:cNvPr id="10258" name="AutoShape 18"/>
          <p:cNvSpPr>
            <a:spLocks noChangeArrowheads="1"/>
          </p:cNvSpPr>
          <p:nvPr/>
        </p:nvSpPr>
        <p:spPr bwMode="auto">
          <a:xfrm rot="5400000" flipH="1">
            <a:off x="6578600" y="2527300"/>
            <a:ext cx="3975100" cy="1460500"/>
          </a:xfrm>
          <a:prstGeom prst="parallelogram">
            <a:avLst>
              <a:gd name="adj" fmla="val 95954"/>
            </a:avLst>
          </a:prstGeom>
          <a:noFill/>
          <a:ln w="28575">
            <a:solidFill>
              <a:srgbClr val="FFCC66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0259" name="Oval 19"/>
          <p:cNvSpPr>
            <a:spLocks noChangeArrowheads="1"/>
          </p:cNvSpPr>
          <p:nvPr/>
        </p:nvSpPr>
        <p:spPr bwMode="auto">
          <a:xfrm>
            <a:off x="3400425" y="3768725"/>
            <a:ext cx="88900" cy="889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0260" name="Text Box 20"/>
          <p:cNvSpPr txBox="1">
            <a:spLocks noChangeArrowheads="1"/>
          </p:cNvSpPr>
          <p:nvPr/>
        </p:nvSpPr>
        <p:spPr bwMode="auto">
          <a:xfrm>
            <a:off x="3403601" y="3851276"/>
            <a:ext cx="3968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sz="2000" i="1">
                <a:solidFill>
                  <a:srgbClr val="FFFF00"/>
                </a:solidFill>
                <a:latin typeface="Times New Roman" charset="0"/>
              </a:rPr>
              <a:t>C</a:t>
            </a:r>
          </a:p>
        </p:txBody>
      </p:sp>
      <p:sp>
        <p:nvSpPr>
          <p:cNvPr id="10261" name="Rectangle 21"/>
          <p:cNvSpPr>
            <a:spLocks noChangeArrowheads="1"/>
          </p:cNvSpPr>
          <p:nvPr/>
        </p:nvSpPr>
        <p:spPr bwMode="auto">
          <a:xfrm>
            <a:off x="8582026" y="2097089"/>
            <a:ext cx="2968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sz="2000" i="1">
                <a:solidFill>
                  <a:srgbClr val="FFFF00"/>
                </a:solidFill>
                <a:latin typeface="Times New Roman" charset="0"/>
              </a:rPr>
              <a:t>y</a:t>
            </a:r>
            <a:endParaRPr lang="es-ES" sz="2000" i="1">
              <a:solidFill>
                <a:srgbClr val="FFFF00"/>
              </a:solidFill>
              <a:latin typeface="Times New Roman" charset="0"/>
            </a:endParaRPr>
          </a:p>
        </p:txBody>
      </p:sp>
      <p:sp>
        <p:nvSpPr>
          <p:cNvPr id="10262" name="Rectangle 22"/>
          <p:cNvSpPr>
            <a:spLocks noChangeArrowheads="1"/>
          </p:cNvSpPr>
          <p:nvPr/>
        </p:nvSpPr>
        <p:spPr bwMode="auto">
          <a:xfrm>
            <a:off x="8234363" y="3859214"/>
            <a:ext cx="296862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sz="2000" i="1">
                <a:solidFill>
                  <a:srgbClr val="FFFF00"/>
                </a:solidFill>
                <a:latin typeface="Times New Roman" charset="0"/>
              </a:rPr>
              <a:t>x</a:t>
            </a:r>
            <a:endParaRPr lang="es-ES" sz="2000" i="1">
              <a:solidFill>
                <a:srgbClr val="FFFF00"/>
              </a:solidFill>
              <a:latin typeface="Times New Roman" charset="0"/>
            </a:endParaRPr>
          </a:p>
        </p:txBody>
      </p:sp>
      <p:sp>
        <p:nvSpPr>
          <p:cNvPr id="10263" name="Line 23"/>
          <p:cNvSpPr>
            <a:spLocks noChangeShapeType="1"/>
          </p:cNvSpPr>
          <p:nvPr/>
        </p:nvSpPr>
        <p:spPr bwMode="auto">
          <a:xfrm>
            <a:off x="3448051" y="1752600"/>
            <a:ext cx="5865813" cy="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 type="triangle" w="med" len="med"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264" name="Text Box 24"/>
          <p:cNvSpPr txBox="1">
            <a:spLocks noChangeArrowheads="1"/>
          </p:cNvSpPr>
          <p:nvPr/>
        </p:nvSpPr>
        <p:spPr bwMode="auto">
          <a:xfrm>
            <a:off x="6242051" y="2849564"/>
            <a:ext cx="4095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sz="2000" i="1">
                <a:solidFill>
                  <a:srgbClr val="FFFF00"/>
                </a:solidFill>
                <a:latin typeface="Times New Roman" charset="0"/>
              </a:rPr>
              <a:t>M</a:t>
            </a:r>
          </a:p>
        </p:txBody>
      </p:sp>
      <p:sp>
        <p:nvSpPr>
          <p:cNvPr id="10265" name="Oval 25"/>
          <p:cNvSpPr>
            <a:spLocks noChangeArrowheads="1"/>
          </p:cNvSpPr>
          <p:nvPr/>
        </p:nvSpPr>
        <p:spPr bwMode="auto">
          <a:xfrm>
            <a:off x="6276975" y="3267075"/>
            <a:ext cx="88900" cy="889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0266" name="Text Box 26"/>
          <p:cNvSpPr txBox="1">
            <a:spLocks noChangeArrowheads="1"/>
          </p:cNvSpPr>
          <p:nvPr/>
        </p:nvSpPr>
        <p:spPr bwMode="auto">
          <a:xfrm>
            <a:off x="6381751" y="3249614"/>
            <a:ext cx="11652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sz="2000" i="1">
                <a:solidFill>
                  <a:srgbClr val="FFFF00"/>
                </a:solidFill>
                <a:latin typeface="Times New Roman" charset="0"/>
              </a:rPr>
              <a:t>(X',Y',Z')</a:t>
            </a:r>
          </a:p>
        </p:txBody>
      </p:sp>
      <p:sp>
        <p:nvSpPr>
          <p:cNvPr id="10267" name="Line 27"/>
          <p:cNvSpPr>
            <a:spLocks noChangeShapeType="1"/>
          </p:cNvSpPr>
          <p:nvPr/>
        </p:nvSpPr>
        <p:spPr bwMode="auto">
          <a:xfrm flipH="1" flipV="1">
            <a:off x="5162550" y="3149600"/>
            <a:ext cx="533400" cy="698500"/>
          </a:xfrm>
          <a:prstGeom prst="line">
            <a:avLst/>
          </a:prstGeom>
          <a:noFill/>
          <a:ln w="12700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268" name="Line 28"/>
          <p:cNvSpPr>
            <a:spLocks noChangeShapeType="1"/>
          </p:cNvSpPr>
          <p:nvPr/>
        </p:nvSpPr>
        <p:spPr bwMode="auto">
          <a:xfrm flipV="1">
            <a:off x="5708650" y="3289300"/>
            <a:ext cx="635000" cy="571500"/>
          </a:xfrm>
          <a:prstGeom prst="line">
            <a:avLst/>
          </a:prstGeom>
          <a:noFill/>
          <a:ln w="12700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269" name="Line 29"/>
          <p:cNvSpPr>
            <a:spLocks noChangeShapeType="1"/>
          </p:cNvSpPr>
          <p:nvPr/>
        </p:nvSpPr>
        <p:spPr bwMode="auto">
          <a:xfrm>
            <a:off x="5708650" y="3873500"/>
            <a:ext cx="0" cy="533400"/>
          </a:xfrm>
          <a:prstGeom prst="line">
            <a:avLst/>
          </a:prstGeom>
          <a:noFill/>
          <a:ln w="12700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270" name="Line 30"/>
          <p:cNvSpPr>
            <a:spLocks noChangeShapeType="1"/>
          </p:cNvSpPr>
          <p:nvPr/>
        </p:nvSpPr>
        <p:spPr bwMode="auto">
          <a:xfrm flipH="1" flipV="1">
            <a:off x="5784850" y="2584450"/>
            <a:ext cx="533400" cy="698500"/>
          </a:xfrm>
          <a:prstGeom prst="line">
            <a:avLst/>
          </a:prstGeom>
          <a:noFill/>
          <a:ln w="12700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271" name="Line 31"/>
          <p:cNvSpPr>
            <a:spLocks noChangeShapeType="1"/>
          </p:cNvSpPr>
          <p:nvPr/>
        </p:nvSpPr>
        <p:spPr bwMode="auto">
          <a:xfrm flipV="1">
            <a:off x="5162550" y="2571750"/>
            <a:ext cx="635000" cy="571500"/>
          </a:xfrm>
          <a:prstGeom prst="line">
            <a:avLst/>
          </a:prstGeom>
          <a:noFill/>
          <a:ln w="12700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272" name="Line 32"/>
          <p:cNvSpPr>
            <a:spLocks noChangeShapeType="1"/>
          </p:cNvSpPr>
          <p:nvPr/>
        </p:nvSpPr>
        <p:spPr bwMode="auto">
          <a:xfrm>
            <a:off x="6318250" y="3289300"/>
            <a:ext cx="0" cy="533400"/>
          </a:xfrm>
          <a:prstGeom prst="line">
            <a:avLst/>
          </a:prstGeom>
          <a:noFill/>
          <a:ln w="12700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273" name="Line 33"/>
          <p:cNvSpPr>
            <a:spLocks noChangeShapeType="1"/>
          </p:cNvSpPr>
          <p:nvPr/>
        </p:nvSpPr>
        <p:spPr bwMode="auto">
          <a:xfrm flipH="1" flipV="1">
            <a:off x="5156200" y="3689350"/>
            <a:ext cx="533400" cy="698500"/>
          </a:xfrm>
          <a:prstGeom prst="line">
            <a:avLst/>
          </a:prstGeom>
          <a:noFill/>
          <a:ln w="12700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274" name="Line 34"/>
          <p:cNvSpPr>
            <a:spLocks noChangeShapeType="1"/>
          </p:cNvSpPr>
          <p:nvPr/>
        </p:nvSpPr>
        <p:spPr bwMode="auto">
          <a:xfrm flipV="1">
            <a:off x="5708650" y="3803650"/>
            <a:ext cx="635000" cy="571500"/>
          </a:xfrm>
          <a:prstGeom prst="line">
            <a:avLst/>
          </a:prstGeom>
          <a:noFill/>
          <a:ln w="12700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275" name="Line 35"/>
          <p:cNvSpPr>
            <a:spLocks noChangeShapeType="1"/>
          </p:cNvSpPr>
          <p:nvPr/>
        </p:nvSpPr>
        <p:spPr bwMode="auto">
          <a:xfrm>
            <a:off x="5168900" y="3155950"/>
            <a:ext cx="0" cy="533400"/>
          </a:xfrm>
          <a:prstGeom prst="line">
            <a:avLst/>
          </a:prstGeom>
          <a:noFill/>
          <a:ln w="12700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276" name="Line 36"/>
          <p:cNvSpPr>
            <a:spLocks noChangeShapeType="1"/>
          </p:cNvSpPr>
          <p:nvPr/>
        </p:nvSpPr>
        <p:spPr bwMode="auto">
          <a:xfrm flipH="1" flipV="1">
            <a:off x="5772150" y="3124200"/>
            <a:ext cx="533400" cy="698500"/>
          </a:xfrm>
          <a:prstGeom prst="line">
            <a:avLst/>
          </a:prstGeom>
          <a:noFill/>
          <a:ln w="12700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277" name="Line 37"/>
          <p:cNvSpPr>
            <a:spLocks noChangeShapeType="1"/>
          </p:cNvSpPr>
          <p:nvPr/>
        </p:nvSpPr>
        <p:spPr bwMode="auto">
          <a:xfrm flipV="1">
            <a:off x="5181600" y="3117850"/>
            <a:ext cx="635000" cy="571500"/>
          </a:xfrm>
          <a:prstGeom prst="line">
            <a:avLst/>
          </a:prstGeom>
          <a:noFill/>
          <a:ln w="12700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278" name="Line 38"/>
          <p:cNvSpPr>
            <a:spLocks noChangeShapeType="1"/>
          </p:cNvSpPr>
          <p:nvPr/>
        </p:nvSpPr>
        <p:spPr bwMode="auto">
          <a:xfrm>
            <a:off x="5778500" y="2622550"/>
            <a:ext cx="0" cy="533400"/>
          </a:xfrm>
          <a:prstGeom prst="line">
            <a:avLst/>
          </a:prstGeom>
          <a:noFill/>
          <a:ln w="12700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279" name="Line 39"/>
          <p:cNvSpPr>
            <a:spLocks noChangeShapeType="1"/>
          </p:cNvSpPr>
          <p:nvPr/>
        </p:nvSpPr>
        <p:spPr bwMode="auto">
          <a:xfrm flipV="1">
            <a:off x="5162550" y="2971800"/>
            <a:ext cx="800100" cy="730250"/>
          </a:xfrm>
          <a:prstGeom prst="line">
            <a:avLst/>
          </a:prstGeom>
          <a:noFill/>
          <a:ln w="19050">
            <a:solidFill>
              <a:srgbClr val="00FF00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280" name="Line 40"/>
          <p:cNvSpPr>
            <a:spLocks noChangeShapeType="1"/>
          </p:cNvSpPr>
          <p:nvPr/>
        </p:nvSpPr>
        <p:spPr bwMode="auto">
          <a:xfrm flipH="1" flipV="1">
            <a:off x="5162550" y="3695700"/>
            <a:ext cx="533400" cy="698500"/>
          </a:xfrm>
          <a:prstGeom prst="line">
            <a:avLst/>
          </a:prstGeom>
          <a:noFill/>
          <a:ln w="19050">
            <a:solidFill>
              <a:srgbClr val="00FF00"/>
            </a:solidFill>
            <a:round/>
            <a:headEnd type="triangle" w="med" len="med"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281" name="Line 41"/>
          <p:cNvSpPr>
            <a:spLocks noChangeShapeType="1"/>
          </p:cNvSpPr>
          <p:nvPr/>
        </p:nvSpPr>
        <p:spPr bwMode="auto">
          <a:xfrm rot="10800000">
            <a:off x="5162550" y="2952750"/>
            <a:ext cx="0" cy="736600"/>
          </a:xfrm>
          <a:prstGeom prst="line">
            <a:avLst/>
          </a:prstGeom>
          <a:noFill/>
          <a:ln w="19050">
            <a:solidFill>
              <a:srgbClr val="00FF00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282" name="Text Box 42"/>
          <p:cNvSpPr txBox="1">
            <a:spLocks noChangeArrowheads="1"/>
          </p:cNvSpPr>
          <p:nvPr/>
        </p:nvSpPr>
        <p:spPr bwMode="auto">
          <a:xfrm>
            <a:off x="5467351" y="2919414"/>
            <a:ext cx="3905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sz="2000" i="1">
                <a:solidFill>
                  <a:srgbClr val="FFFF00"/>
                </a:solidFill>
                <a:latin typeface="Times New Roman" charset="0"/>
              </a:rPr>
              <a:t>Y'</a:t>
            </a:r>
          </a:p>
        </p:txBody>
      </p:sp>
      <p:sp>
        <p:nvSpPr>
          <p:cNvPr id="10283" name="Text Box 43"/>
          <p:cNvSpPr txBox="1">
            <a:spLocks noChangeArrowheads="1"/>
          </p:cNvSpPr>
          <p:nvPr/>
        </p:nvSpPr>
        <p:spPr bwMode="auto">
          <a:xfrm>
            <a:off x="4813301" y="2779714"/>
            <a:ext cx="4286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sz="2000" i="1">
                <a:solidFill>
                  <a:srgbClr val="FFFF00"/>
                </a:solidFill>
                <a:latin typeface="Times New Roman" charset="0"/>
              </a:rPr>
              <a:t>Z'</a:t>
            </a:r>
          </a:p>
        </p:txBody>
      </p:sp>
      <p:sp>
        <p:nvSpPr>
          <p:cNvPr id="10284" name="Text Box 44"/>
          <p:cNvSpPr txBox="1">
            <a:spLocks noChangeArrowheads="1"/>
          </p:cNvSpPr>
          <p:nvPr/>
        </p:nvSpPr>
        <p:spPr bwMode="auto">
          <a:xfrm>
            <a:off x="5187951" y="4138614"/>
            <a:ext cx="4413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sz="2000" i="1">
                <a:solidFill>
                  <a:srgbClr val="FFFF00"/>
                </a:solidFill>
                <a:latin typeface="Times New Roman" charset="0"/>
              </a:rPr>
              <a:t>X'</a:t>
            </a:r>
          </a:p>
        </p:txBody>
      </p:sp>
      <p:grpSp>
        <p:nvGrpSpPr>
          <p:cNvPr id="2" name="Group 46"/>
          <p:cNvGrpSpPr>
            <a:grpSpLocks/>
          </p:cNvGrpSpPr>
          <p:nvPr/>
        </p:nvGrpSpPr>
        <p:grpSpPr bwMode="auto">
          <a:xfrm>
            <a:off x="7881113" y="2454341"/>
            <a:ext cx="285751" cy="815975"/>
            <a:chOff x="4030" y="1512"/>
            <a:chExt cx="180" cy="514"/>
          </a:xfrm>
        </p:grpSpPr>
        <p:sp>
          <p:nvSpPr>
            <p:cNvPr id="10299" name="Line 47"/>
            <p:cNvSpPr>
              <a:spLocks noChangeShapeType="1"/>
            </p:cNvSpPr>
            <p:nvPr/>
          </p:nvSpPr>
          <p:spPr bwMode="auto">
            <a:xfrm rot="16200000">
              <a:off x="4038" y="1865"/>
              <a:ext cx="153" cy="170"/>
            </a:xfrm>
            <a:prstGeom prst="line">
              <a:avLst/>
            </a:prstGeom>
            <a:noFill/>
            <a:ln w="3175">
              <a:solidFill>
                <a:srgbClr val="00FFCC"/>
              </a:solidFill>
              <a:prstDash val="dash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  <p:sp>
          <p:nvSpPr>
            <p:cNvPr id="10300" name="Line 48"/>
            <p:cNvSpPr>
              <a:spLocks noChangeShapeType="1"/>
            </p:cNvSpPr>
            <p:nvPr/>
          </p:nvSpPr>
          <p:spPr bwMode="auto">
            <a:xfrm flipH="1">
              <a:off x="4210" y="1512"/>
              <a:ext cx="0" cy="356"/>
            </a:xfrm>
            <a:prstGeom prst="line">
              <a:avLst/>
            </a:prstGeom>
            <a:noFill/>
            <a:ln w="3175">
              <a:solidFill>
                <a:srgbClr val="00FFCC"/>
              </a:solidFill>
              <a:prstDash val="dash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0286" name="Oval 49"/>
          <p:cNvSpPr>
            <a:spLocks noChangeArrowheads="1"/>
          </p:cNvSpPr>
          <p:nvPr/>
        </p:nvSpPr>
        <p:spPr bwMode="auto">
          <a:xfrm>
            <a:off x="8172450" y="2911475"/>
            <a:ext cx="88900" cy="889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0287" name="Text Box 50"/>
          <p:cNvSpPr txBox="1">
            <a:spLocks noChangeArrowheads="1"/>
          </p:cNvSpPr>
          <p:nvPr/>
        </p:nvSpPr>
        <p:spPr bwMode="auto">
          <a:xfrm>
            <a:off x="8013701" y="2527301"/>
            <a:ext cx="3968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sz="2000" i="1" dirty="0">
                <a:solidFill>
                  <a:srgbClr val="FFFF00"/>
                </a:solidFill>
                <a:latin typeface="Times New Roman" charset="0"/>
              </a:rPr>
              <a:t>m</a:t>
            </a:r>
          </a:p>
        </p:txBody>
      </p:sp>
      <p:grpSp>
        <p:nvGrpSpPr>
          <p:cNvPr id="3" name="Group 51"/>
          <p:cNvGrpSpPr>
            <a:grpSpLocks/>
          </p:cNvGrpSpPr>
          <p:nvPr/>
        </p:nvGrpSpPr>
        <p:grpSpPr bwMode="auto">
          <a:xfrm rot="10322964">
            <a:off x="7676123" y="1887532"/>
            <a:ext cx="1219208" cy="2241551"/>
            <a:chOff x="4061" y="1363"/>
            <a:chExt cx="768" cy="1412"/>
          </a:xfrm>
        </p:grpSpPr>
        <p:sp>
          <p:nvSpPr>
            <p:cNvPr id="10295" name="Line 52"/>
            <p:cNvSpPr>
              <a:spLocks noChangeShapeType="1"/>
            </p:cNvSpPr>
            <p:nvPr/>
          </p:nvSpPr>
          <p:spPr bwMode="auto">
            <a:xfrm rot="16200000" flipH="1" flipV="1">
              <a:off x="4153" y="2238"/>
              <a:ext cx="445" cy="629"/>
            </a:xfrm>
            <a:prstGeom prst="line">
              <a:avLst/>
            </a:prstGeom>
            <a:noFill/>
            <a:ln w="38100">
              <a:solidFill>
                <a:srgbClr val="00FFCC"/>
              </a:solidFill>
              <a:round/>
              <a:headEnd/>
              <a:tailEnd type="triangle" w="med" len="med"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  <p:sp>
          <p:nvSpPr>
            <p:cNvPr id="10296" name="Line 53"/>
            <p:cNvSpPr>
              <a:spLocks noChangeShapeType="1"/>
            </p:cNvSpPr>
            <p:nvPr/>
          </p:nvSpPr>
          <p:spPr bwMode="auto">
            <a:xfrm flipV="1">
              <a:off x="4693" y="1363"/>
              <a:ext cx="136" cy="952"/>
            </a:xfrm>
            <a:prstGeom prst="line">
              <a:avLst/>
            </a:prstGeom>
            <a:noFill/>
            <a:ln w="38100">
              <a:solidFill>
                <a:srgbClr val="00FFCC"/>
              </a:solidFill>
              <a:round/>
              <a:headEnd/>
              <a:tailEnd type="triangle" w="med" len="med"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61" name="Rectangle 71"/>
          <p:cNvSpPr>
            <a:spLocks noChangeArrowheads="1"/>
          </p:cNvSpPr>
          <p:nvPr/>
        </p:nvSpPr>
        <p:spPr bwMode="auto">
          <a:xfrm>
            <a:off x="1524000" y="1"/>
            <a:ext cx="336752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" sz="2400" dirty="0">
                <a:solidFill>
                  <a:schemeClr val="bg1"/>
                </a:solidFill>
                <a:latin typeface="Gill Sans MT" panose="020B0502020104020203" pitchFamily="34" charset="77"/>
              </a:rPr>
              <a:t>[ </a:t>
            </a:r>
            <a:r>
              <a:rPr lang="es-ES" sz="2400" dirty="0" err="1">
                <a:solidFill>
                  <a:schemeClr val="bg1"/>
                </a:solidFill>
                <a:latin typeface="Gill Sans MT" panose="020B0502020104020203" pitchFamily="34" charset="77"/>
              </a:rPr>
              <a:t>Perspective</a:t>
            </a:r>
            <a:r>
              <a:rPr lang="es-ES" sz="2400" dirty="0">
                <a:solidFill>
                  <a:schemeClr val="bg1"/>
                </a:solidFill>
                <a:latin typeface="Gill Sans MT" panose="020B0502020104020203" pitchFamily="34" charset="77"/>
              </a:rPr>
              <a:t> </a:t>
            </a:r>
            <a:r>
              <a:rPr lang="es-ES" sz="2400" dirty="0" err="1">
                <a:solidFill>
                  <a:schemeClr val="bg1"/>
                </a:solidFill>
                <a:latin typeface="Gill Sans MT" panose="020B0502020104020203" pitchFamily="34" charset="77"/>
              </a:rPr>
              <a:t>Projection</a:t>
            </a:r>
            <a:r>
              <a:rPr lang="es-ES" sz="2400" dirty="0">
                <a:solidFill>
                  <a:schemeClr val="bg1"/>
                </a:solidFill>
                <a:latin typeface="Gill Sans MT" panose="020B0502020104020203" pitchFamily="34" charset="77"/>
              </a:rPr>
              <a:t> ]</a:t>
            </a:r>
          </a:p>
        </p:txBody>
      </p:sp>
      <p:sp>
        <p:nvSpPr>
          <p:cNvPr id="62" name="Rectangle 71"/>
          <p:cNvSpPr>
            <a:spLocks noChangeArrowheads="1"/>
          </p:cNvSpPr>
          <p:nvPr/>
        </p:nvSpPr>
        <p:spPr bwMode="auto">
          <a:xfrm>
            <a:off x="1639900" y="459352"/>
            <a:ext cx="632339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" sz="2400" dirty="0" err="1">
                <a:solidFill>
                  <a:schemeClr val="bg1"/>
                </a:solidFill>
                <a:latin typeface="Gill Sans MT" panose="020B0502020104020203" pitchFamily="34" charset="77"/>
              </a:rPr>
              <a:t>Now</a:t>
            </a:r>
            <a:r>
              <a:rPr lang="es-ES" sz="2400" dirty="0">
                <a:solidFill>
                  <a:schemeClr val="bg1"/>
                </a:solidFill>
                <a:latin typeface="Gill Sans MT" panose="020B0502020104020203" pitchFamily="34" charset="77"/>
              </a:rPr>
              <a:t>, </a:t>
            </a:r>
            <a:r>
              <a:rPr lang="es-ES" sz="2400" i="1" dirty="0">
                <a:solidFill>
                  <a:schemeClr val="bg1"/>
                </a:solidFill>
                <a:latin typeface="Times New Roman"/>
                <a:cs typeface="Times New Roman"/>
              </a:rPr>
              <a:t>m</a:t>
            </a:r>
            <a:r>
              <a:rPr lang="es-ES" sz="2400" dirty="0">
                <a:solidFill>
                  <a:schemeClr val="bg1"/>
                </a:solidFill>
                <a:latin typeface="Gill Sans MT" panose="020B0502020104020203" pitchFamily="34" charset="77"/>
              </a:rPr>
              <a:t> </a:t>
            </a:r>
            <a:r>
              <a:rPr lang="es-ES" sz="2400" dirty="0" err="1">
                <a:solidFill>
                  <a:schemeClr val="bg1"/>
                </a:solidFill>
                <a:latin typeface="Gill Sans MT" panose="020B0502020104020203" pitchFamily="34" charset="77"/>
              </a:rPr>
              <a:t>is</a:t>
            </a:r>
            <a:r>
              <a:rPr lang="es-ES" sz="2400" dirty="0">
                <a:solidFill>
                  <a:schemeClr val="bg1"/>
                </a:solidFill>
                <a:latin typeface="Gill Sans MT" panose="020B0502020104020203" pitchFamily="34" charset="77"/>
              </a:rPr>
              <a:t> </a:t>
            </a:r>
            <a:r>
              <a:rPr lang="es-ES" sz="2400" dirty="0" err="1">
                <a:solidFill>
                  <a:schemeClr val="bg1"/>
                </a:solidFill>
                <a:latin typeface="Gill Sans MT" panose="020B0502020104020203" pitchFamily="34" charset="77"/>
              </a:rPr>
              <a:t>given</a:t>
            </a:r>
            <a:r>
              <a:rPr lang="es-ES" sz="2400" dirty="0">
                <a:solidFill>
                  <a:schemeClr val="bg1"/>
                </a:solidFill>
                <a:latin typeface="Gill Sans MT" panose="020B0502020104020203" pitchFamily="34" charset="77"/>
              </a:rPr>
              <a:t> in a new </a:t>
            </a:r>
            <a:r>
              <a:rPr lang="es-ES" sz="2400" dirty="0" err="1">
                <a:solidFill>
                  <a:schemeClr val="bg1"/>
                </a:solidFill>
                <a:latin typeface="Gill Sans MT" panose="020B0502020104020203" pitchFamily="34" charset="77"/>
              </a:rPr>
              <a:t>coordinate</a:t>
            </a:r>
            <a:r>
              <a:rPr lang="es-ES" sz="2400" dirty="0">
                <a:solidFill>
                  <a:schemeClr val="bg1"/>
                </a:solidFill>
                <a:latin typeface="Gill Sans MT" panose="020B0502020104020203" pitchFamily="34" charset="77"/>
              </a:rPr>
              <a:t> </a:t>
            </a:r>
            <a:r>
              <a:rPr lang="es-ES" sz="2400" dirty="0" err="1">
                <a:solidFill>
                  <a:schemeClr val="bg1"/>
                </a:solidFill>
                <a:latin typeface="Gill Sans MT" panose="020B0502020104020203" pitchFamily="34" charset="77"/>
              </a:rPr>
              <a:t>system</a:t>
            </a:r>
            <a:r>
              <a:rPr lang="es-ES" sz="2400" dirty="0">
                <a:solidFill>
                  <a:schemeClr val="bg1"/>
                </a:solidFill>
                <a:latin typeface="Gill Sans MT" panose="020B0502020104020203" pitchFamily="34" charset="77"/>
              </a:rPr>
              <a:t>: </a:t>
            </a:r>
            <a:r>
              <a:rPr lang="es-ES_tradnl" sz="2400" i="1" dirty="0">
                <a:solidFill>
                  <a:schemeClr val="bg1"/>
                </a:solidFill>
                <a:latin typeface="Times New Roman" charset="0"/>
              </a:rPr>
              <a:t>(</a:t>
            </a:r>
            <a:r>
              <a:rPr lang="es-ES_tradnl" sz="2400" i="1" dirty="0" err="1">
                <a:solidFill>
                  <a:schemeClr val="bg1"/>
                </a:solidFill>
                <a:latin typeface="Times New Roman" charset="0"/>
              </a:rPr>
              <a:t>u,v</a:t>
            </a:r>
            <a:r>
              <a:rPr lang="es-ES_tradnl" sz="2400" i="1" dirty="0">
                <a:solidFill>
                  <a:schemeClr val="bg1"/>
                </a:solidFill>
                <a:latin typeface="Times New Roman" charset="0"/>
              </a:rPr>
              <a:t>)</a:t>
            </a:r>
          </a:p>
        </p:txBody>
      </p:sp>
      <p:sp>
        <p:nvSpPr>
          <p:cNvPr id="5" name="Rectangle 4"/>
          <p:cNvSpPr/>
          <p:nvPr/>
        </p:nvSpPr>
        <p:spPr>
          <a:xfrm>
            <a:off x="7504991" y="3811754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i="1" dirty="0">
                <a:solidFill>
                  <a:srgbClr val="FFFF00"/>
                </a:solidFill>
                <a:latin typeface="Times New Roman" charset="0"/>
              </a:rPr>
              <a:t>u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8089775" y="1816064"/>
            <a:ext cx="2872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i="1" dirty="0">
                <a:solidFill>
                  <a:srgbClr val="FFFF00"/>
                </a:solidFill>
                <a:latin typeface="Times New Roman" charset="0"/>
              </a:rPr>
              <a:t>v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738B62-F85B-9313-5AB2-084BD67A5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CV02C</a:t>
            </a:r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EA6572-21AF-324F-990B-6B7F9499C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31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7677006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65000"/>
            <a:lumOff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Line 4"/>
          <p:cNvSpPr>
            <a:spLocks noChangeShapeType="1"/>
          </p:cNvSpPr>
          <p:nvPr/>
        </p:nvSpPr>
        <p:spPr bwMode="auto">
          <a:xfrm flipH="1">
            <a:off x="9306703" y="3803649"/>
            <a:ext cx="2397" cy="1113980"/>
          </a:xfrm>
          <a:prstGeom prst="line">
            <a:avLst/>
          </a:prstGeom>
          <a:noFill/>
          <a:ln w="19050">
            <a:solidFill>
              <a:srgbClr val="FFCC66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245" name="Line 5"/>
          <p:cNvSpPr>
            <a:spLocks noChangeShapeType="1"/>
          </p:cNvSpPr>
          <p:nvPr/>
        </p:nvSpPr>
        <p:spPr bwMode="auto">
          <a:xfrm flipV="1">
            <a:off x="9286875" y="3228884"/>
            <a:ext cx="654875" cy="600166"/>
          </a:xfrm>
          <a:prstGeom prst="line">
            <a:avLst/>
          </a:prstGeom>
          <a:noFill/>
          <a:ln w="28575">
            <a:solidFill>
              <a:srgbClr val="FFCC66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246" name="Text Box 6"/>
          <p:cNvSpPr txBox="1">
            <a:spLocks noChangeArrowheads="1"/>
          </p:cNvSpPr>
          <p:nvPr/>
        </p:nvSpPr>
        <p:spPr bwMode="auto">
          <a:xfrm>
            <a:off x="9976600" y="2947466"/>
            <a:ext cx="3968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sz="2000" i="1" dirty="0">
                <a:solidFill>
                  <a:srgbClr val="FFFF00"/>
                </a:solidFill>
                <a:latin typeface="Times New Roman" charset="0"/>
              </a:rPr>
              <a:t>y</a:t>
            </a:r>
          </a:p>
        </p:txBody>
      </p:sp>
      <p:sp>
        <p:nvSpPr>
          <p:cNvPr id="10247" name="Text Box 7"/>
          <p:cNvSpPr txBox="1">
            <a:spLocks noChangeArrowheads="1"/>
          </p:cNvSpPr>
          <p:nvPr/>
        </p:nvSpPr>
        <p:spPr bwMode="auto">
          <a:xfrm>
            <a:off x="9386960" y="4668586"/>
            <a:ext cx="3968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sz="2000" i="1" dirty="0" err="1">
                <a:solidFill>
                  <a:srgbClr val="FFFF00"/>
                </a:solidFill>
                <a:latin typeface="Times New Roman" charset="0"/>
              </a:rPr>
              <a:t>x</a:t>
            </a:r>
            <a:endParaRPr lang="es-ES_tradnl" sz="2000" i="1" dirty="0">
              <a:solidFill>
                <a:srgbClr val="FFFF00"/>
              </a:solidFill>
              <a:latin typeface="Times New Roman" charset="0"/>
            </a:endParaRPr>
          </a:p>
        </p:txBody>
      </p:sp>
      <p:sp>
        <p:nvSpPr>
          <p:cNvPr id="10248" name="Line 8"/>
          <p:cNvSpPr>
            <a:spLocks noChangeShapeType="1"/>
          </p:cNvSpPr>
          <p:nvPr/>
        </p:nvSpPr>
        <p:spPr bwMode="auto">
          <a:xfrm flipV="1">
            <a:off x="3457575" y="2943226"/>
            <a:ext cx="4781550" cy="866775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250" name="Line 10"/>
          <p:cNvSpPr>
            <a:spLocks noChangeShapeType="1"/>
          </p:cNvSpPr>
          <p:nvPr/>
        </p:nvSpPr>
        <p:spPr bwMode="auto">
          <a:xfrm flipV="1">
            <a:off x="3448050" y="1447800"/>
            <a:ext cx="0" cy="2514600"/>
          </a:xfrm>
          <a:prstGeom prst="line">
            <a:avLst/>
          </a:prstGeom>
          <a:noFill/>
          <a:ln w="9525">
            <a:solidFill>
              <a:srgbClr val="FFFF00"/>
            </a:solidFill>
            <a:prstDash val="dot"/>
            <a:round/>
            <a:headEnd type="none"/>
            <a:tailEnd type="non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251" name="Line 11"/>
          <p:cNvSpPr>
            <a:spLocks noChangeShapeType="1"/>
          </p:cNvSpPr>
          <p:nvPr/>
        </p:nvSpPr>
        <p:spPr bwMode="auto">
          <a:xfrm>
            <a:off x="3295650" y="3810000"/>
            <a:ext cx="7067550" cy="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252" name="Line 12"/>
          <p:cNvSpPr>
            <a:spLocks noChangeShapeType="1"/>
          </p:cNvSpPr>
          <p:nvPr/>
        </p:nvSpPr>
        <p:spPr bwMode="auto">
          <a:xfrm flipH="1">
            <a:off x="2584450" y="3562350"/>
            <a:ext cx="1111250" cy="1130300"/>
          </a:xfrm>
          <a:prstGeom prst="line">
            <a:avLst/>
          </a:prstGeom>
          <a:noFill/>
          <a:ln w="3175" cmpd="sng">
            <a:solidFill>
              <a:srgbClr val="FFFF00"/>
            </a:solidFill>
            <a:prstDash val="dot"/>
            <a:round/>
            <a:headEnd type="none"/>
            <a:tailEnd type="non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253" name="Text Box 13"/>
          <p:cNvSpPr txBox="1">
            <a:spLocks noChangeArrowheads="1"/>
          </p:cNvSpPr>
          <p:nvPr/>
        </p:nvSpPr>
        <p:spPr bwMode="auto">
          <a:xfrm>
            <a:off x="3878153" y="2774397"/>
            <a:ext cx="3968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sz="2000" i="1" dirty="0">
                <a:solidFill>
                  <a:srgbClr val="FFFF00"/>
                </a:solidFill>
                <a:latin typeface="Times New Roman" charset="0"/>
              </a:rPr>
              <a:t>Y</a:t>
            </a:r>
          </a:p>
        </p:txBody>
      </p:sp>
      <p:sp>
        <p:nvSpPr>
          <p:cNvPr id="10254" name="Text Box 14"/>
          <p:cNvSpPr txBox="1">
            <a:spLocks noChangeArrowheads="1"/>
          </p:cNvSpPr>
          <p:nvPr/>
        </p:nvSpPr>
        <p:spPr bwMode="auto">
          <a:xfrm>
            <a:off x="3512399" y="4926473"/>
            <a:ext cx="3968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sz="2000" i="1" dirty="0">
                <a:solidFill>
                  <a:srgbClr val="FFFF00"/>
                </a:solidFill>
                <a:latin typeface="Times New Roman" charset="0"/>
              </a:rPr>
              <a:t>X</a:t>
            </a:r>
          </a:p>
        </p:txBody>
      </p:sp>
      <p:sp>
        <p:nvSpPr>
          <p:cNvPr id="10255" name="Text Box 15"/>
          <p:cNvSpPr txBox="1">
            <a:spLocks noChangeArrowheads="1"/>
          </p:cNvSpPr>
          <p:nvPr/>
        </p:nvSpPr>
        <p:spPr bwMode="auto">
          <a:xfrm>
            <a:off x="10066339" y="3417889"/>
            <a:ext cx="3968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sz="2000" i="1">
                <a:solidFill>
                  <a:srgbClr val="FFFF00"/>
                </a:solidFill>
                <a:latin typeface="Times New Roman" charset="0"/>
              </a:rPr>
              <a:t>Z</a:t>
            </a:r>
          </a:p>
        </p:txBody>
      </p:sp>
      <p:sp>
        <p:nvSpPr>
          <p:cNvPr id="1116176" name="Text Box 16"/>
          <p:cNvSpPr txBox="1">
            <a:spLocks noChangeArrowheads="1"/>
          </p:cNvSpPr>
          <p:nvPr/>
        </p:nvSpPr>
        <p:spPr bwMode="auto">
          <a:xfrm>
            <a:off x="8186739" y="2951164"/>
            <a:ext cx="8540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sz="2000" i="1" dirty="0">
                <a:solidFill>
                  <a:srgbClr val="FFFF00"/>
                </a:solidFill>
                <a:latin typeface="Times New Roman" charset="0"/>
              </a:rPr>
              <a:t>(</a:t>
            </a:r>
            <a:r>
              <a:rPr lang="es-ES_tradnl" sz="2000" i="1" dirty="0" err="1">
                <a:solidFill>
                  <a:srgbClr val="FFFF00"/>
                </a:solidFill>
                <a:latin typeface="Times New Roman" charset="0"/>
              </a:rPr>
              <a:t>u,v</a:t>
            </a:r>
            <a:r>
              <a:rPr lang="es-ES_tradnl" sz="2000" i="1" dirty="0">
                <a:solidFill>
                  <a:srgbClr val="FFFF00"/>
                </a:solidFill>
                <a:latin typeface="Times New Roman" charset="0"/>
              </a:rPr>
              <a:t>)</a:t>
            </a:r>
          </a:p>
        </p:txBody>
      </p:sp>
      <p:sp>
        <p:nvSpPr>
          <p:cNvPr id="10257" name="Text Box 17"/>
          <p:cNvSpPr txBox="1">
            <a:spLocks noChangeArrowheads="1"/>
          </p:cNvSpPr>
          <p:nvPr/>
        </p:nvSpPr>
        <p:spPr bwMode="auto">
          <a:xfrm>
            <a:off x="6088063" y="1362076"/>
            <a:ext cx="2540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sz="2000" i="1">
                <a:solidFill>
                  <a:srgbClr val="FFFF00"/>
                </a:solidFill>
                <a:latin typeface="Times New Roman" charset="0"/>
              </a:rPr>
              <a:t>f</a:t>
            </a:r>
          </a:p>
        </p:txBody>
      </p:sp>
      <p:sp>
        <p:nvSpPr>
          <p:cNvPr id="10258" name="AutoShape 18"/>
          <p:cNvSpPr>
            <a:spLocks noChangeArrowheads="1"/>
          </p:cNvSpPr>
          <p:nvPr/>
        </p:nvSpPr>
        <p:spPr bwMode="auto">
          <a:xfrm rot="5400000" flipH="1">
            <a:off x="6578600" y="2527300"/>
            <a:ext cx="3975100" cy="1460500"/>
          </a:xfrm>
          <a:prstGeom prst="parallelogram">
            <a:avLst>
              <a:gd name="adj" fmla="val 95954"/>
            </a:avLst>
          </a:prstGeom>
          <a:noFill/>
          <a:ln w="6350" cmpd="sng">
            <a:solidFill>
              <a:srgbClr val="FFCC66"/>
            </a:solidFill>
            <a:prstDash val="sysDash"/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0259" name="Oval 19"/>
          <p:cNvSpPr>
            <a:spLocks noChangeArrowheads="1"/>
          </p:cNvSpPr>
          <p:nvPr/>
        </p:nvSpPr>
        <p:spPr bwMode="auto">
          <a:xfrm>
            <a:off x="3400425" y="3768725"/>
            <a:ext cx="88900" cy="889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0260" name="Text Box 20"/>
          <p:cNvSpPr txBox="1">
            <a:spLocks noChangeArrowheads="1"/>
          </p:cNvSpPr>
          <p:nvPr/>
        </p:nvSpPr>
        <p:spPr bwMode="auto">
          <a:xfrm>
            <a:off x="3403601" y="3851276"/>
            <a:ext cx="3968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sz="2000" i="1">
                <a:solidFill>
                  <a:srgbClr val="FFFF00"/>
                </a:solidFill>
                <a:latin typeface="Times New Roman" charset="0"/>
              </a:rPr>
              <a:t>C</a:t>
            </a:r>
          </a:p>
        </p:txBody>
      </p:sp>
      <p:sp>
        <p:nvSpPr>
          <p:cNvPr id="10263" name="Line 23"/>
          <p:cNvSpPr>
            <a:spLocks noChangeShapeType="1"/>
          </p:cNvSpPr>
          <p:nvPr/>
        </p:nvSpPr>
        <p:spPr bwMode="auto">
          <a:xfrm>
            <a:off x="3448051" y="1752600"/>
            <a:ext cx="5865813" cy="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 type="triangle" w="med" len="med"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264" name="Text Box 24"/>
          <p:cNvSpPr txBox="1">
            <a:spLocks noChangeArrowheads="1"/>
          </p:cNvSpPr>
          <p:nvPr/>
        </p:nvSpPr>
        <p:spPr bwMode="auto">
          <a:xfrm>
            <a:off x="6242051" y="2849564"/>
            <a:ext cx="4095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sz="2000" i="1">
                <a:solidFill>
                  <a:srgbClr val="FFFF00"/>
                </a:solidFill>
                <a:latin typeface="Times New Roman" charset="0"/>
              </a:rPr>
              <a:t>M</a:t>
            </a:r>
          </a:p>
        </p:txBody>
      </p:sp>
      <p:sp>
        <p:nvSpPr>
          <p:cNvPr id="10265" name="Oval 25"/>
          <p:cNvSpPr>
            <a:spLocks noChangeArrowheads="1"/>
          </p:cNvSpPr>
          <p:nvPr/>
        </p:nvSpPr>
        <p:spPr bwMode="auto">
          <a:xfrm>
            <a:off x="6276975" y="3267075"/>
            <a:ext cx="88900" cy="889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0266" name="Text Box 26"/>
          <p:cNvSpPr txBox="1">
            <a:spLocks noChangeArrowheads="1"/>
          </p:cNvSpPr>
          <p:nvPr/>
        </p:nvSpPr>
        <p:spPr bwMode="auto">
          <a:xfrm>
            <a:off x="6381751" y="3249614"/>
            <a:ext cx="11652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sz="2000" i="1">
                <a:solidFill>
                  <a:srgbClr val="FFFF00"/>
                </a:solidFill>
                <a:latin typeface="Times New Roman" charset="0"/>
              </a:rPr>
              <a:t>(X',Y',Z')</a:t>
            </a:r>
          </a:p>
        </p:txBody>
      </p:sp>
      <p:sp>
        <p:nvSpPr>
          <p:cNvPr id="10267" name="Line 27"/>
          <p:cNvSpPr>
            <a:spLocks noChangeShapeType="1"/>
          </p:cNvSpPr>
          <p:nvPr/>
        </p:nvSpPr>
        <p:spPr bwMode="auto">
          <a:xfrm flipH="1" flipV="1">
            <a:off x="5162550" y="3149600"/>
            <a:ext cx="533400" cy="698500"/>
          </a:xfrm>
          <a:prstGeom prst="line">
            <a:avLst/>
          </a:prstGeom>
          <a:noFill/>
          <a:ln w="12700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268" name="Line 28"/>
          <p:cNvSpPr>
            <a:spLocks noChangeShapeType="1"/>
          </p:cNvSpPr>
          <p:nvPr/>
        </p:nvSpPr>
        <p:spPr bwMode="auto">
          <a:xfrm flipV="1">
            <a:off x="5708650" y="3289300"/>
            <a:ext cx="635000" cy="571500"/>
          </a:xfrm>
          <a:prstGeom prst="line">
            <a:avLst/>
          </a:prstGeom>
          <a:noFill/>
          <a:ln w="12700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269" name="Line 29"/>
          <p:cNvSpPr>
            <a:spLocks noChangeShapeType="1"/>
          </p:cNvSpPr>
          <p:nvPr/>
        </p:nvSpPr>
        <p:spPr bwMode="auto">
          <a:xfrm>
            <a:off x="5708650" y="3873500"/>
            <a:ext cx="0" cy="533400"/>
          </a:xfrm>
          <a:prstGeom prst="line">
            <a:avLst/>
          </a:prstGeom>
          <a:noFill/>
          <a:ln w="12700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270" name="Line 30"/>
          <p:cNvSpPr>
            <a:spLocks noChangeShapeType="1"/>
          </p:cNvSpPr>
          <p:nvPr/>
        </p:nvSpPr>
        <p:spPr bwMode="auto">
          <a:xfrm flipH="1" flipV="1">
            <a:off x="5784850" y="2584450"/>
            <a:ext cx="533400" cy="698500"/>
          </a:xfrm>
          <a:prstGeom prst="line">
            <a:avLst/>
          </a:prstGeom>
          <a:noFill/>
          <a:ln w="12700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271" name="Line 31"/>
          <p:cNvSpPr>
            <a:spLocks noChangeShapeType="1"/>
          </p:cNvSpPr>
          <p:nvPr/>
        </p:nvSpPr>
        <p:spPr bwMode="auto">
          <a:xfrm flipV="1">
            <a:off x="5162550" y="2571750"/>
            <a:ext cx="635000" cy="571500"/>
          </a:xfrm>
          <a:prstGeom prst="line">
            <a:avLst/>
          </a:prstGeom>
          <a:noFill/>
          <a:ln w="12700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272" name="Line 32"/>
          <p:cNvSpPr>
            <a:spLocks noChangeShapeType="1"/>
          </p:cNvSpPr>
          <p:nvPr/>
        </p:nvSpPr>
        <p:spPr bwMode="auto">
          <a:xfrm>
            <a:off x="6318250" y="3289300"/>
            <a:ext cx="0" cy="533400"/>
          </a:xfrm>
          <a:prstGeom prst="line">
            <a:avLst/>
          </a:prstGeom>
          <a:noFill/>
          <a:ln w="12700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273" name="Line 33"/>
          <p:cNvSpPr>
            <a:spLocks noChangeShapeType="1"/>
          </p:cNvSpPr>
          <p:nvPr/>
        </p:nvSpPr>
        <p:spPr bwMode="auto">
          <a:xfrm flipH="1" flipV="1">
            <a:off x="5156200" y="3689350"/>
            <a:ext cx="533400" cy="698500"/>
          </a:xfrm>
          <a:prstGeom prst="line">
            <a:avLst/>
          </a:prstGeom>
          <a:noFill/>
          <a:ln w="12700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274" name="Line 34"/>
          <p:cNvSpPr>
            <a:spLocks noChangeShapeType="1"/>
          </p:cNvSpPr>
          <p:nvPr/>
        </p:nvSpPr>
        <p:spPr bwMode="auto">
          <a:xfrm flipV="1">
            <a:off x="5708650" y="3803650"/>
            <a:ext cx="635000" cy="571500"/>
          </a:xfrm>
          <a:prstGeom prst="line">
            <a:avLst/>
          </a:prstGeom>
          <a:noFill/>
          <a:ln w="12700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275" name="Line 35"/>
          <p:cNvSpPr>
            <a:spLocks noChangeShapeType="1"/>
          </p:cNvSpPr>
          <p:nvPr/>
        </p:nvSpPr>
        <p:spPr bwMode="auto">
          <a:xfrm>
            <a:off x="5168900" y="3155950"/>
            <a:ext cx="0" cy="533400"/>
          </a:xfrm>
          <a:prstGeom prst="line">
            <a:avLst/>
          </a:prstGeom>
          <a:noFill/>
          <a:ln w="12700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276" name="Line 36"/>
          <p:cNvSpPr>
            <a:spLocks noChangeShapeType="1"/>
          </p:cNvSpPr>
          <p:nvPr/>
        </p:nvSpPr>
        <p:spPr bwMode="auto">
          <a:xfrm flipH="1" flipV="1">
            <a:off x="5772150" y="3124200"/>
            <a:ext cx="533400" cy="698500"/>
          </a:xfrm>
          <a:prstGeom prst="line">
            <a:avLst/>
          </a:prstGeom>
          <a:noFill/>
          <a:ln w="12700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277" name="Line 37"/>
          <p:cNvSpPr>
            <a:spLocks noChangeShapeType="1"/>
          </p:cNvSpPr>
          <p:nvPr/>
        </p:nvSpPr>
        <p:spPr bwMode="auto">
          <a:xfrm flipV="1">
            <a:off x="5181600" y="3117850"/>
            <a:ext cx="635000" cy="571500"/>
          </a:xfrm>
          <a:prstGeom prst="line">
            <a:avLst/>
          </a:prstGeom>
          <a:noFill/>
          <a:ln w="12700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278" name="Line 38"/>
          <p:cNvSpPr>
            <a:spLocks noChangeShapeType="1"/>
          </p:cNvSpPr>
          <p:nvPr/>
        </p:nvSpPr>
        <p:spPr bwMode="auto">
          <a:xfrm>
            <a:off x="5778500" y="2622550"/>
            <a:ext cx="0" cy="533400"/>
          </a:xfrm>
          <a:prstGeom prst="line">
            <a:avLst/>
          </a:prstGeom>
          <a:noFill/>
          <a:ln w="12700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279" name="Line 39"/>
          <p:cNvSpPr>
            <a:spLocks noChangeShapeType="1"/>
          </p:cNvSpPr>
          <p:nvPr/>
        </p:nvSpPr>
        <p:spPr bwMode="auto">
          <a:xfrm flipV="1">
            <a:off x="5162550" y="2971800"/>
            <a:ext cx="800100" cy="730250"/>
          </a:xfrm>
          <a:prstGeom prst="line">
            <a:avLst/>
          </a:prstGeom>
          <a:noFill/>
          <a:ln w="19050">
            <a:solidFill>
              <a:srgbClr val="00FF00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280" name="Line 40"/>
          <p:cNvSpPr>
            <a:spLocks noChangeShapeType="1"/>
          </p:cNvSpPr>
          <p:nvPr/>
        </p:nvSpPr>
        <p:spPr bwMode="auto">
          <a:xfrm flipH="1" flipV="1">
            <a:off x="5162550" y="3695700"/>
            <a:ext cx="533400" cy="698500"/>
          </a:xfrm>
          <a:prstGeom prst="line">
            <a:avLst/>
          </a:prstGeom>
          <a:noFill/>
          <a:ln w="19050">
            <a:solidFill>
              <a:srgbClr val="00FF00"/>
            </a:solidFill>
            <a:round/>
            <a:headEnd type="triangle" w="med" len="med"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281" name="Line 41"/>
          <p:cNvSpPr>
            <a:spLocks noChangeShapeType="1"/>
          </p:cNvSpPr>
          <p:nvPr/>
        </p:nvSpPr>
        <p:spPr bwMode="auto">
          <a:xfrm rot="10800000">
            <a:off x="5162550" y="2952750"/>
            <a:ext cx="0" cy="736600"/>
          </a:xfrm>
          <a:prstGeom prst="line">
            <a:avLst/>
          </a:prstGeom>
          <a:noFill/>
          <a:ln w="19050">
            <a:solidFill>
              <a:srgbClr val="00FF00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282" name="Text Box 42"/>
          <p:cNvSpPr txBox="1">
            <a:spLocks noChangeArrowheads="1"/>
          </p:cNvSpPr>
          <p:nvPr/>
        </p:nvSpPr>
        <p:spPr bwMode="auto">
          <a:xfrm>
            <a:off x="5467351" y="2919414"/>
            <a:ext cx="3905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sz="2000" i="1">
                <a:solidFill>
                  <a:srgbClr val="FFFF00"/>
                </a:solidFill>
                <a:latin typeface="Times New Roman" charset="0"/>
              </a:rPr>
              <a:t>Y'</a:t>
            </a:r>
          </a:p>
        </p:txBody>
      </p:sp>
      <p:sp>
        <p:nvSpPr>
          <p:cNvPr id="10283" name="Text Box 43"/>
          <p:cNvSpPr txBox="1">
            <a:spLocks noChangeArrowheads="1"/>
          </p:cNvSpPr>
          <p:nvPr/>
        </p:nvSpPr>
        <p:spPr bwMode="auto">
          <a:xfrm>
            <a:off x="4813301" y="2779714"/>
            <a:ext cx="4286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sz="2000" i="1">
                <a:solidFill>
                  <a:srgbClr val="FFFF00"/>
                </a:solidFill>
                <a:latin typeface="Times New Roman" charset="0"/>
              </a:rPr>
              <a:t>Z'</a:t>
            </a:r>
          </a:p>
        </p:txBody>
      </p:sp>
      <p:sp>
        <p:nvSpPr>
          <p:cNvPr id="10284" name="Text Box 44"/>
          <p:cNvSpPr txBox="1">
            <a:spLocks noChangeArrowheads="1"/>
          </p:cNvSpPr>
          <p:nvPr/>
        </p:nvSpPr>
        <p:spPr bwMode="auto">
          <a:xfrm>
            <a:off x="5187951" y="4138614"/>
            <a:ext cx="4413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sz="2000" i="1">
                <a:solidFill>
                  <a:srgbClr val="FFFF00"/>
                </a:solidFill>
                <a:latin typeface="Times New Roman" charset="0"/>
              </a:rPr>
              <a:t>X'</a:t>
            </a:r>
          </a:p>
        </p:txBody>
      </p:sp>
      <p:sp>
        <p:nvSpPr>
          <p:cNvPr id="10286" name="Oval 49"/>
          <p:cNvSpPr>
            <a:spLocks noChangeArrowheads="1"/>
          </p:cNvSpPr>
          <p:nvPr/>
        </p:nvSpPr>
        <p:spPr bwMode="auto">
          <a:xfrm>
            <a:off x="8172450" y="2911475"/>
            <a:ext cx="88900" cy="889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0287" name="Text Box 50"/>
          <p:cNvSpPr txBox="1">
            <a:spLocks noChangeArrowheads="1"/>
          </p:cNvSpPr>
          <p:nvPr/>
        </p:nvSpPr>
        <p:spPr bwMode="auto">
          <a:xfrm>
            <a:off x="8013701" y="2527301"/>
            <a:ext cx="3968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sz="2000" i="1" dirty="0">
                <a:solidFill>
                  <a:srgbClr val="FFFF00"/>
                </a:solidFill>
                <a:latin typeface="Times New Roman" charset="0"/>
              </a:rPr>
              <a:t>m</a:t>
            </a:r>
          </a:p>
        </p:txBody>
      </p:sp>
      <p:grpSp>
        <p:nvGrpSpPr>
          <p:cNvPr id="3" name="Group 51"/>
          <p:cNvGrpSpPr>
            <a:grpSpLocks/>
          </p:cNvGrpSpPr>
          <p:nvPr/>
        </p:nvGrpSpPr>
        <p:grpSpPr bwMode="auto">
          <a:xfrm rot="10322964">
            <a:off x="7676123" y="1887532"/>
            <a:ext cx="1219208" cy="2241551"/>
            <a:chOff x="4061" y="1363"/>
            <a:chExt cx="768" cy="1412"/>
          </a:xfrm>
        </p:grpSpPr>
        <p:sp>
          <p:nvSpPr>
            <p:cNvPr id="10295" name="Line 52"/>
            <p:cNvSpPr>
              <a:spLocks noChangeShapeType="1"/>
            </p:cNvSpPr>
            <p:nvPr/>
          </p:nvSpPr>
          <p:spPr bwMode="auto">
            <a:xfrm rot="16200000" flipH="1" flipV="1">
              <a:off x="4153" y="2238"/>
              <a:ext cx="445" cy="629"/>
            </a:xfrm>
            <a:prstGeom prst="line">
              <a:avLst/>
            </a:prstGeom>
            <a:noFill/>
            <a:ln w="38100">
              <a:solidFill>
                <a:srgbClr val="00FFCC"/>
              </a:solidFill>
              <a:round/>
              <a:headEnd/>
              <a:tailEnd type="triangle" w="med" len="med"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  <p:sp>
          <p:nvSpPr>
            <p:cNvPr id="10296" name="Line 53"/>
            <p:cNvSpPr>
              <a:spLocks noChangeShapeType="1"/>
            </p:cNvSpPr>
            <p:nvPr/>
          </p:nvSpPr>
          <p:spPr bwMode="auto">
            <a:xfrm flipV="1">
              <a:off x="4693" y="1363"/>
              <a:ext cx="136" cy="952"/>
            </a:xfrm>
            <a:prstGeom prst="line">
              <a:avLst/>
            </a:prstGeom>
            <a:noFill/>
            <a:ln w="38100">
              <a:solidFill>
                <a:srgbClr val="00FFCC"/>
              </a:solidFill>
              <a:round/>
              <a:headEnd/>
              <a:tailEnd type="triangle" w="med" len="med"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61" name="Rectangle 71"/>
          <p:cNvSpPr>
            <a:spLocks noChangeArrowheads="1"/>
          </p:cNvSpPr>
          <p:nvPr/>
        </p:nvSpPr>
        <p:spPr bwMode="auto">
          <a:xfrm>
            <a:off x="1524000" y="1"/>
            <a:ext cx="336752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" sz="2400" dirty="0">
                <a:solidFill>
                  <a:schemeClr val="bg1"/>
                </a:solidFill>
                <a:latin typeface="Gill Sans MT" panose="020B0502020104020203" pitchFamily="34" charset="77"/>
              </a:rPr>
              <a:t>[ </a:t>
            </a:r>
            <a:r>
              <a:rPr lang="es-ES" sz="2400" dirty="0" err="1">
                <a:solidFill>
                  <a:schemeClr val="bg1"/>
                </a:solidFill>
                <a:latin typeface="Gill Sans MT" panose="020B0502020104020203" pitchFamily="34" charset="77"/>
              </a:rPr>
              <a:t>Perspective</a:t>
            </a:r>
            <a:r>
              <a:rPr lang="es-ES" sz="2400" dirty="0">
                <a:solidFill>
                  <a:schemeClr val="bg1"/>
                </a:solidFill>
                <a:latin typeface="Gill Sans MT" panose="020B0502020104020203" pitchFamily="34" charset="77"/>
              </a:rPr>
              <a:t> </a:t>
            </a:r>
            <a:r>
              <a:rPr lang="es-ES" sz="2400" dirty="0" err="1">
                <a:solidFill>
                  <a:schemeClr val="bg1"/>
                </a:solidFill>
                <a:latin typeface="Gill Sans MT" panose="020B0502020104020203" pitchFamily="34" charset="77"/>
              </a:rPr>
              <a:t>Projection</a:t>
            </a:r>
            <a:r>
              <a:rPr lang="es-ES" sz="2400" dirty="0">
                <a:solidFill>
                  <a:schemeClr val="bg1"/>
                </a:solidFill>
                <a:latin typeface="Gill Sans MT" panose="020B0502020104020203" pitchFamily="34" charset="77"/>
              </a:rPr>
              <a:t> ]</a:t>
            </a:r>
          </a:p>
        </p:txBody>
      </p:sp>
      <p:sp>
        <p:nvSpPr>
          <p:cNvPr id="62" name="Rectangle 71"/>
          <p:cNvSpPr>
            <a:spLocks noChangeArrowheads="1"/>
          </p:cNvSpPr>
          <p:nvPr/>
        </p:nvSpPr>
        <p:spPr bwMode="auto">
          <a:xfrm>
            <a:off x="1639900" y="459352"/>
            <a:ext cx="632339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" sz="2400" dirty="0" err="1">
                <a:solidFill>
                  <a:schemeClr val="bg1"/>
                </a:solidFill>
                <a:latin typeface="Gill Sans MT" panose="020B0502020104020203" pitchFamily="34" charset="77"/>
              </a:rPr>
              <a:t>Now</a:t>
            </a:r>
            <a:r>
              <a:rPr lang="es-ES" sz="2400" dirty="0">
                <a:solidFill>
                  <a:schemeClr val="bg1"/>
                </a:solidFill>
                <a:latin typeface="Gill Sans MT" panose="020B0502020104020203" pitchFamily="34" charset="77"/>
              </a:rPr>
              <a:t>, </a:t>
            </a:r>
            <a:r>
              <a:rPr lang="es-ES" sz="2400" i="1" dirty="0">
                <a:solidFill>
                  <a:schemeClr val="bg1"/>
                </a:solidFill>
                <a:latin typeface="Times New Roman"/>
                <a:cs typeface="Times New Roman"/>
              </a:rPr>
              <a:t>m</a:t>
            </a:r>
            <a:r>
              <a:rPr lang="es-ES" sz="2400" dirty="0">
                <a:solidFill>
                  <a:schemeClr val="bg1"/>
                </a:solidFill>
                <a:latin typeface="Gill Sans MT" panose="020B0502020104020203" pitchFamily="34" charset="77"/>
              </a:rPr>
              <a:t> </a:t>
            </a:r>
            <a:r>
              <a:rPr lang="es-ES" sz="2400" dirty="0" err="1">
                <a:solidFill>
                  <a:schemeClr val="bg1"/>
                </a:solidFill>
                <a:latin typeface="Gill Sans MT" panose="020B0502020104020203" pitchFamily="34" charset="77"/>
              </a:rPr>
              <a:t>is</a:t>
            </a:r>
            <a:r>
              <a:rPr lang="es-ES" sz="2400" dirty="0">
                <a:solidFill>
                  <a:schemeClr val="bg1"/>
                </a:solidFill>
                <a:latin typeface="Gill Sans MT" panose="020B0502020104020203" pitchFamily="34" charset="77"/>
              </a:rPr>
              <a:t> </a:t>
            </a:r>
            <a:r>
              <a:rPr lang="es-ES" sz="2400" dirty="0" err="1">
                <a:solidFill>
                  <a:schemeClr val="bg1"/>
                </a:solidFill>
                <a:latin typeface="Gill Sans MT" panose="020B0502020104020203" pitchFamily="34" charset="77"/>
              </a:rPr>
              <a:t>given</a:t>
            </a:r>
            <a:r>
              <a:rPr lang="es-ES" sz="2400" dirty="0">
                <a:solidFill>
                  <a:schemeClr val="bg1"/>
                </a:solidFill>
                <a:latin typeface="Gill Sans MT" panose="020B0502020104020203" pitchFamily="34" charset="77"/>
              </a:rPr>
              <a:t> in a new </a:t>
            </a:r>
            <a:r>
              <a:rPr lang="es-ES" sz="2400" dirty="0" err="1">
                <a:solidFill>
                  <a:schemeClr val="bg1"/>
                </a:solidFill>
                <a:latin typeface="Gill Sans MT" panose="020B0502020104020203" pitchFamily="34" charset="77"/>
              </a:rPr>
              <a:t>coordinate</a:t>
            </a:r>
            <a:r>
              <a:rPr lang="es-ES" sz="2400" dirty="0">
                <a:solidFill>
                  <a:schemeClr val="bg1"/>
                </a:solidFill>
                <a:latin typeface="Gill Sans MT" panose="020B0502020104020203" pitchFamily="34" charset="77"/>
              </a:rPr>
              <a:t> </a:t>
            </a:r>
            <a:r>
              <a:rPr lang="es-ES" sz="2400" dirty="0" err="1">
                <a:solidFill>
                  <a:schemeClr val="bg1"/>
                </a:solidFill>
                <a:latin typeface="Gill Sans MT" panose="020B0502020104020203" pitchFamily="34" charset="77"/>
              </a:rPr>
              <a:t>system</a:t>
            </a:r>
            <a:r>
              <a:rPr lang="es-ES" sz="2400" dirty="0">
                <a:solidFill>
                  <a:schemeClr val="bg1"/>
                </a:solidFill>
                <a:latin typeface="Gill Sans MT" panose="020B0502020104020203" pitchFamily="34" charset="77"/>
              </a:rPr>
              <a:t>: </a:t>
            </a:r>
            <a:r>
              <a:rPr lang="es-ES_tradnl" sz="2400" i="1" dirty="0">
                <a:solidFill>
                  <a:schemeClr val="bg1"/>
                </a:solidFill>
                <a:latin typeface="Times New Roman" charset="0"/>
              </a:rPr>
              <a:t>(</a:t>
            </a:r>
            <a:r>
              <a:rPr lang="es-ES_tradnl" sz="2400" i="1" dirty="0" err="1">
                <a:solidFill>
                  <a:schemeClr val="bg1"/>
                </a:solidFill>
                <a:latin typeface="Times New Roman" charset="0"/>
              </a:rPr>
              <a:t>u,v</a:t>
            </a:r>
            <a:r>
              <a:rPr lang="es-ES_tradnl" sz="2400" i="1" dirty="0">
                <a:solidFill>
                  <a:schemeClr val="bg1"/>
                </a:solidFill>
                <a:latin typeface="Times New Roman" charset="0"/>
              </a:rPr>
              <a:t>)</a:t>
            </a:r>
          </a:p>
        </p:txBody>
      </p:sp>
      <p:sp>
        <p:nvSpPr>
          <p:cNvPr id="5" name="Rectangle 4"/>
          <p:cNvSpPr/>
          <p:nvPr/>
        </p:nvSpPr>
        <p:spPr>
          <a:xfrm>
            <a:off x="7504991" y="3811754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i="1" dirty="0">
                <a:solidFill>
                  <a:srgbClr val="FFFF00"/>
                </a:solidFill>
                <a:latin typeface="Times New Roman" charset="0"/>
              </a:rPr>
              <a:t>u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8089775" y="1816064"/>
            <a:ext cx="2872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i="1" dirty="0">
                <a:solidFill>
                  <a:srgbClr val="FFFF00"/>
                </a:solidFill>
                <a:latin typeface="Times New Roman" charset="0"/>
              </a:rPr>
              <a:t>v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4" name="Line 10"/>
          <p:cNvSpPr>
            <a:spLocks noChangeShapeType="1"/>
          </p:cNvSpPr>
          <p:nvPr/>
        </p:nvSpPr>
        <p:spPr bwMode="auto">
          <a:xfrm>
            <a:off x="3469676" y="3782792"/>
            <a:ext cx="0" cy="1526627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65" name="Line 12"/>
          <p:cNvSpPr>
            <a:spLocks noChangeShapeType="1"/>
          </p:cNvSpPr>
          <p:nvPr/>
        </p:nvSpPr>
        <p:spPr bwMode="auto">
          <a:xfrm flipV="1">
            <a:off x="3442652" y="2877624"/>
            <a:ext cx="918792" cy="932187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69A9C5-7207-D09D-2531-AFFE22144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CV02C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0F10CC-464B-D265-DADE-8C543D74D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32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2173555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71"/>
          <p:cNvSpPr>
            <a:spLocks noChangeArrowheads="1"/>
          </p:cNvSpPr>
          <p:nvPr/>
        </p:nvSpPr>
        <p:spPr bwMode="auto">
          <a:xfrm>
            <a:off x="1524000" y="1"/>
            <a:ext cx="336752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" sz="2400" dirty="0">
                <a:latin typeface="Gill Sans MT" panose="020B0502020104020203" pitchFamily="34" charset="77"/>
              </a:rPr>
              <a:t>[ </a:t>
            </a:r>
            <a:r>
              <a:rPr lang="es-ES" sz="2400" dirty="0" err="1">
                <a:latin typeface="Gill Sans MT" panose="020B0502020104020203" pitchFamily="34" charset="77"/>
              </a:rPr>
              <a:t>Perspective</a:t>
            </a:r>
            <a:r>
              <a:rPr lang="es-ES" sz="2400" dirty="0">
                <a:latin typeface="Gill Sans MT" panose="020B0502020104020203" pitchFamily="34" charset="77"/>
              </a:rPr>
              <a:t> </a:t>
            </a:r>
            <a:r>
              <a:rPr lang="es-ES" sz="2400" dirty="0" err="1">
                <a:latin typeface="Gill Sans MT" panose="020B0502020104020203" pitchFamily="34" charset="77"/>
              </a:rPr>
              <a:t>Projection</a:t>
            </a:r>
            <a:r>
              <a:rPr lang="es-ES" sz="2400" dirty="0">
                <a:latin typeface="Gill Sans MT" panose="020B0502020104020203" pitchFamily="34" charset="77"/>
              </a:rPr>
              <a:t> ]</a:t>
            </a:r>
          </a:p>
        </p:txBody>
      </p:sp>
      <p:cxnSp>
        <p:nvCxnSpPr>
          <p:cNvPr id="4" name="Straight Arrow Connector 3"/>
          <p:cNvCxnSpPr/>
          <p:nvPr/>
        </p:nvCxnSpPr>
        <p:spPr>
          <a:xfrm flipV="1">
            <a:off x="2186043" y="1486097"/>
            <a:ext cx="3121188" cy="0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V="1">
            <a:off x="3189677" y="2242656"/>
            <a:ext cx="2090531" cy="0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3301541" y="2111347"/>
            <a:ext cx="0" cy="1955155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>
            <a:off x="2305452" y="1385599"/>
            <a:ext cx="0" cy="2074027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 Box 6"/>
          <p:cNvSpPr txBox="1">
            <a:spLocks noChangeArrowheads="1"/>
          </p:cNvSpPr>
          <p:nvPr/>
        </p:nvSpPr>
        <p:spPr bwMode="auto">
          <a:xfrm>
            <a:off x="5206965" y="2353027"/>
            <a:ext cx="3968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sz="2000" i="1" dirty="0">
                <a:latin typeface="Times New Roman" charset="0"/>
              </a:rPr>
              <a:t>y</a:t>
            </a:r>
          </a:p>
        </p:txBody>
      </p:sp>
      <p:sp>
        <p:nvSpPr>
          <p:cNvPr id="41" name="Text Box 7"/>
          <p:cNvSpPr txBox="1">
            <a:spLocks noChangeArrowheads="1"/>
          </p:cNvSpPr>
          <p:nvPr/>
        </p:nvSpPr>
        <p:spPr bwMode="auto">
          <a:xfrm>
            <a:off x="3185091" y="4155207"/>
            <a:ext cx="3968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sz="2000" i="1" dirty="0" err="1">
                <a:latin typeface="Times New Roman" charset="0"/>
              </a:rPr>
              <a:t>x</a:t>
            </a:r>
            <a:endParaRPr lang="es-ES_tradnl" sz="2000" i="1" dirty="0">
              <a:latin typeface="Times New Roman" charset="0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2127332" y="3555065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i="1" dirty="0">
                <a:latin typeface="Times New Roman" charset="0"/>
              </a:rPr>
              <a:t>u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5346886" y="1316195"/>
            <a:ext cx="2872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i="1" dirty="0">
                <a:latin typeface="Times New Roman" charset="0"/>
              </a:rPr>
              <a:t>v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8" name="Oval 7"/>
          <p:cNvSpPr/>
          <p:nvPr/>
        </p:nvSpPr>
        <p:spPr>
          <a:xfrm>
            <a:off x="4374929" y="2864115"/>
            <a:ext cx="38488" cy="39292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01771" y="2985703"/>
            <a:ext cx="45317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Between (</a:t>
            </a:r>
            <a:r>
              <a:rPr lang="en-US" sz="2400" i="1" dirty="0" err="1">
                <a:latin typeface="Times"/>
                <a:cs typeface="Times"/>
              </a:rPr>
              <a:t>x,y</a:t>
            </a:r>
            <a:r>
              <a:rPr lang="en-US" dirty="0">
                <a:latin typeface="Gill Sans MT" panose="020B0502020104020203" pitchFamily="34" charset="77"/>
              </a:rPr>
              <a:t>) and (</a:t>
            </a:r>
            <a:r>
              <a:rPr lang="en-US" sz="2400" i="1" dirty="0" err="1">
                <a:latin typeface="Times"/>
                <a:cs typeface="Times"/>
              </a:rPr>
              <a:t>u,v</a:t>
            </a:r>
            <a:r>
              <a:rPr lang="en-US" dirty="0">
                <a:latin typeface="Gill Sans MT" panose="020B0502020104020203" pitchFamily="34" charset="77"/>
              </a:rPr>
              <a:t>) there is no rotation.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8885" y="3758213"/>
            <a:ext cx="3657035" cy="1320596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5905539" y="5380762"/>
            <a:ext cx="1228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Is this OK?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09306" y="5938463"/>
            <a:ext cx="47586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No, because in a camera system (</a:t>
            </a:r>
            <a:r>
              <a:rPr lang="en-US" sz="2400" i="1" dirty="0" err="1">
                <a:latin typeface="Times"/>
                <a:cs typeface="Times"/>
              </a:rPr>
              <a:t>x,y</a:t>
            </a:r>
            <a:r>
              <a:rPr lang="en-US" dirty="0">
                <a:latin typeface="Gill Sans MT" panose="020B0502020104020203" pitchFamily="34" charset="77"/>
              </a:rPr>
              <a:t>) is given in mm or inches and (</a:t>
            </a:r>
            <a:r>
              <a:rPr lang="en-US" sz="2400" i="1" dirty="0" err="1">
                <a:latin typeface="Times"/>
                <a:cs typeface="Times"/>
              </a:rPr>
              <a:t>u,v</a:t>
            </a:r>
            <a:r>
              <a:rPr lang="en-US" dirty="0">
                <a:latin typeface="Gill Sans MT" panose="020B0502020104020203" pitchFamily="34" charset="77"/>
              </a:rPr>
              <a:t>) in pixels.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49A251-9DE1-0069-46C8-A1620C172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CV02C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D555C2D-32D7-90E1-CB37-80BD0F580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33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190170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47" grpId="0"/>
      <p:bldP spid="48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71"/>
          <p:cNvSpPr>
            <a:spLocks noChangeArrowheads="1"/>
          </p:cNvSpPr>
          <p:nvPr/>
        </p:nvSpPr>
        <p:spPr bwMode="auto">
          <a:xfrm>
            <a:off x="1524000" y="1"/>
            <a:ext cx="336752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" sz="2400" dirty="0">
                <a:latin typeface="Gill Sans MT" panose="020B0502020104020203" pitchFamily="34" charset="77"/>
              </a:rPr>
              <a:t>[ </a:t>
            </a:r>
            <a:r>
              <a:rPr lang="es-ES" sz="2400" dirty="0" err="1">
                <a:latin typeface="Gill Sans MT" panose="020B0502020104020203" pitchFamily="34" charset="77"/>
              </a:rPr>
              <a:t>Perspective</a:t>
            </a:r>
            <a:r>
              <a:rPr lang="es-ES" sz="2400" dirty="0">
                <a:latin typeface="Gill Sans MT" panose="020B0502020104020203" pitchFamily="34" charset="77"/>
              </a:rPr>
              <a:t> </a:t>
            </a:r>
            <a:r>
              <a:rPr lang="es-ES" sz="2400" dirty="0" err="1">
                <a:latin typeface="Gill Sans MT" panose="020B0502020104020203" pitchFamily="34" charset="77"/>
              </a:rPr>
              <a:t>Projection</a:t>
            </a:r>
            <a:r>
              <a:rPr lang="es-ES" sz="2400" dirty="0">
                <a:latin typeface="Gill Sans MT" panose="020B0502020104020203" pitchFamily="34" charset="77"/>
              </a:rPr>
              <a:t> ]</a:t>
            </a:r>
          </a:p>
        </p:txBody>
      </p:sp>
      <p:cxnSp>
        <p:nvCxnSpPr>
          <p:cNvPr id="4" name="Straight Arrow Connector 3"/>
          <p:cNvCxnSpPr/>
          <p:nvPr/>
        </p:nvCxnSpPr>
        <p:spPr>
          <a:xfrm flipV="1">
            <a:off x="2186043" y="1486097"/>
            <a:ext cx="3121188" cy="0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V="1">
            <a:off x="3189677" y="2242656"/>
            <a:ext cx="2090531" cy="0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3301541" y="2111347"/>
            <a:ext cx="0" cy="1955155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>
            <a:off x="2305452" y="1385599"/>
            <a:ext cx="0" cy="2074027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 Box 6"/>
          <p:cNvSpPr txBox="1">
            <a:spLocks noChangeArrowheads="1"/>
          </p:cNvSpPr>
          <p:nvPr/>
        </p:nvSpPr>
        <p:spPr bwMode="auto">
          <a:xfrm>
            <a:off x="5206965" y="2353027"/>
            <a:ext cx="3968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sz="2000" i="1" dirty="0">
                <a:latin typeface="Times New Roman" charset="0"/>
              </a:rPr>
              <a:t>y</a:t>
            </a:r>
          </a:p>
        </p:txBody>
      </p:sp>
      <p:sp>
        <p:nvSpPr>
          <p:cNvPr id="41" name="Text Box 7"/>
          <p:cNvSpPr txBox="1">
            <a:spLocks noChangeArrowheads="1"/>
          </p:cNvSpPr>
          <p:nvPr/>
        </p:nvSpPr>
        <p:spPr bwMode="auto">
          <a:xfrm>
            <a:off x="3185091" y="4155207"/>
            <a:ext cx="3968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sz="2000" i="1" dirty="0" err="1">
                <a:latin typeface="Times New Roman" charset="0"/>
              </a:rPr>
              <a:t>x</a:t>
            </a:r>
            <a:endParaRPr lang="es-ES_tradnl" sz="2000" i="1" dirty="0">
              <a:latin typeface="Times New Roman" charset="0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2127332" y="3555065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i="1" dirty="0">
                <a:latin typeface="Times New Roman" charset="0"/>
              </a:rPr>
              <a:t>u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5346886" y="1316195"/>
            <a:ext cx="2872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i="1" dirty="0">
                <a:latin typeface="Times New Roman" charset="0"/>
              </a:rPr>
              <a:t>v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8" name="Oval 7"/>
          <p:cNvSpPr/>
          <p:nvPr/>
        </p:nvSpPr>
        <p:spPr>
          <a:xfrm>
            <a:off x="4374929" y="2864115"/>
            <a:ext cx="38488" cy="39292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01771" y="2499342"/>
            <a:ext cx="453175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Between (</a:t>
            </a:r>
            <a:r>
              <a:rPr lang="en-US" sz="2400" i="1" dirty="0" err="1">
                <a:latin typeface="Times"/>
                <a:cs typeface="Times"/>
              </a:rPr>
              <a:t>x,y</a:t>
            </a:r>
            <a:r>
              <a:rPr lang="en-US" dirty="0">
                <a:latin typeface="Gill Sans MT" panose="020B0502020104020203" pitchFamily="34" charset="77"/>
              </a:rPr>
              <a:t>) and (</a:t>
            </a:r>
            <a:r>
              <a:rPr lang="en-US" sz="2400" i="1" dirty="0" err="1">
                <a:latin typeface="Times"/>
                <a:cs typeface="Times"/>
              </a:rPr>
              <a:t>u,v</a:t>
            </a:r>
            <a:r>
              <a:rPr lang="en-US" dirty="0">
                <a:latin typeface="Gill Sans MT" panose="020B0502020104020203" pitchFamily="34" charset="77"/>
              </a:rPr>
              <a:t>) there is no rotation.</a:t>
            </a:r>
          </a:p>
          <a:p>
            <a:r>
              <a:rPr lang="en-US" dirty="0">
                <a:latin typeface="Gill Sans MT" panose="020B0502020104020203" pitchFamily="34" charset="77"/>
              </a:rPr>
              <a:t>There is a scale factor in each direction.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05539" y="5043012"/>
            <a:ext cx="1228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Is this OK?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09306" y="5627733"/>
            <a:ext cx="47586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No, because sometimes the angle between </a:t>
            </a:r>
            <a:r>
              <a:rPr lang="en-US" sz="2400" i="1" dirty="0">
                <a:latin typeface="Times"/>
                <a:cs typeface="Times"/>
              </a:rPr>
              <a:t>u</a:t>
            </a:r>
            <a:r>
              <a:rPr lang="en-US" i="1" dirty="0">
                <a:latin typeface="Times"/>
                <a:cs typeface="Times"/>
              </a:rPr>
              <a:t> </a:t>
            </a:r>
            <a:r>
              <a:rPr lang="en-US" dirty="0">
                <a:latin typeface="Gill Sans MT" panose="020B0502020104020203" pitchFamily="34" charset="77"/>
              </a:rPr>
              <a:t>and </a:t>
            </a:r>
            <a:r>
              <a:rPr lang="en-US" sz="2400" i="1" dirty="0">
                <a:latin typeface="Times"/>
                <a:cs typeface="Times"/>
              </a:rPr>
              <a:t>v</a:t>
            </a:r>
            <a:r>
              <a:rPr lang="en-US" dirty="0">
                <a:latin typeface="Gill Sans MT" panose="020B0502020104020203" pitchFamily="34" charset="77"/>
              </a:rPr>
              <a:t> is not 90, it could be for example 89.99.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1171" y="3404744"/>
            <a:ext cx="3957545" cy="1270323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0BA273-9EB6-5B66-811C-BB15F2E20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CV02C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FEBD704-CF5C-067E-CAE8-92C0B39BE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34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521410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48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71"/>
          <p:cNvSpPr>
            <a:spLocks noChangeArrowheads="1"/>
          </p:cNvSpPr>
          <p:nvPr/>
        </p:nvSpPr>
        <p:spPr bwMode="auto">
          <a:xfrm>
            <a:off x="1524000" y="1"/>
            <a:ext cx="336752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" sz="2400" dirty="0">
                <a:latin typeface="Gill Sans MT" panose="020B0502020104020203" pitchFamily="34" charset="77"/>
              </a:rPr>
              <a:t>[ </a:t>
            </a:r>
            <a:r>
              <a:rPr lang="es-ES" sz="2400" dirty="0" err="1">
                <a:latin typeface="Gill Sans MT" panose="020B0502020104020203" pitchFamily="34" charset="77"/>
              </a:rPr>
              <a:t>Perspective</a:t>
            </a:r>
            <a:r>
              <a:rPr lang="es-ES" sz="2400" dirty="0">
                <a:latin typeface="Gill Sans MT" panose="020B0502020104020203" pitchFamily="34" charset="77"/>
              </a:rPr>
              <a:t> </a:t>
            </a:r>
            <a:r>
              <a:rPr lang="es-ES" sz="2400" dirty="0" err="1">
                <a:latin typeface="Gill Sans MT" panose="020B0502020104020203" pitchFamily="34" charset="77"/>
              </a:rPr>
              <a:t>Projection</a:t>
            </a:r>
            <a:r>
              <a:rPr lang="es-ES" sz="2400" dirty="0">
                <a:latin typeface="Gill Sans MT" panose="020B0502020104020203" pitchFamily="34" charset="77"/>
              </a:rPr>
              <a:t> ]</a:t>
            </a:r>
          </a:p>
        </p:txBody>
      </p:sp>
      <p:cxnSp>
        <p:nvCxnSpPr>
          <p:cNvPr id="4" name="Straight Arrow Connector 3"/>
          <p:cNvCxnSpPr/>
          <p:nvPr/>
        </p:nvCxnSpPr>
        <p:spPr>
          <a:xfrm flipV="1">
            <a:off x="2186043" y="1486097"/>
            <a:ext cx="3121188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V="1">
            <a:off x="3189677" y="2242656"/>
            <a:ext cx="2090531" cy="0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3301541" y="2111347"/>
            <a:ext cx="0" cy="1955155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>
            <a:off x="2305452" y="1385599"/>
            <a:ext cx="0" cy="2074027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 Box 6"/>
          <p:cNvSpPr txBox="1">
            <a:spLocks noChangeArrowheads="1"/>
          </p:cNvSpPr>
          <p:nvPr/>
        </p:nvSpPr>
        <p:spPr bwMode="auto">
          <a:xfrm>
            <a:off x="5206965" y="2353027"/>
            <a:ext cx="3968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sz="2000" i="1" dirty="0">
                <a:latin typeface="Times New Roman" charset="0"/>
              </a:rPr>
              <a:t>y</a:t>
            </a:r>
          </a:p>
        </p:txBody>
      </p:sp>
      <p:sp>
        <p:nvSpPr>
          <p:cNvPr id="41" name="Text Box 7"/>
          <p:cNvSpPr txBox="1">
            <a:spLocks noChangeArrowheads="1"/>
          </p:cNvSpPr>
          <p:nvPr/>
        </p:nvSpPr>
        <p:spPr bwMode="auto">
          <a:xfrm>
            <a:off x="3185091" y="4155207"/>
            <a:ext cx="3968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sz="2000" i="1" dirty="0" err="1">
                <a:latin typeface="Times New Roman" charset="0"/>
              </a:rPr>
              <a:t>x</a:t>
            </a:r>
            <a:endParaRPr lang="es-ES_tradnl" sz="2000" i="1" dirty="0">
              <a:latin typeface="Times New Roman" charset="0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2127332" y="3555065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i="1" dirty="0">
                <a:latin typeface="Times New Roman" charset="0"/>
              </a:rPr>
              <a:t>u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5306350" y="1518845"/>
            <a:ext cx="2872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i="1" dirty="0">
                <a:latin typeface="Times New Roman" charset="0"/>
              </a:rPr>
              <a:t>v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8" name="Oval 7"/>
          <p:cNvSpPr/>
          <p:nvPr/>
        </p:nvSpPr>
        <p:spPr>
          <a:xfrm>
            <a:off x="4374929" y="2864115"/>
            <a:ext cx="38488" cy="39292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01771" y="2499342"/>
            <a:ext cx="453175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Between (</a:t>
            </a:r>
            <a:r>
              <a:rPr lang="en-US" sz="2400" i="1" dirty="0" err="1">
                <a:latin typeface="Times"/>
                <a:cs typeface="Times"/>
              </a:rPr>
              <a:t>x,y</a:t>
            </a:r>
            <a:r>
              <a:rPr lang="en-US" dirty="0">
                <a:latin typeface="Gill Sans MT" panose="020B0502020104020203" pitchFamily="34" charset="77"/>
              </a:rPr>
              <a:t>) and (</a:t>
            </a:r>
            <a:r>
              <a:rPr lang="en-US" sz="2400" i="1" dirty="0" err="1">
                <a:latin typeface="Times"/>
                <a:cs typeface="Times"/>
              </a:rPr>
              <a:t>u,v</a:t>
            </a:r>
            <a:r>
              <a:rPr lang="en-US" dirty="0">
                <a:latin typeface="Gill Sans MT" panose="020B0502020104020203" pitchFamily="34" charset="77"/>
              </a:rPr>
              <a:t>) there is no rotation.</a:t>
            </a:r>
          </a:p>
          <a:p>
            <a:r>
              <a:rPr lang="en-US" dirty="0">
                <a:latin typeface="Gill Sans MT" panose="020B0502020104020203" pitchFamily="34" charset="77"/>
              </a:rPr>
              <a:t>There is a scale factor in each direction.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05539" y="5043012"/>
            <a:ext cx="1228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Is this OK?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09306" y="5627733"/>
            <a:ext cx="47586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No, because sometimes the angle between </a:t>
            </a:r>
            <a:r>
              <a:rPr lang="en-US" sz="2400" i="1" dirty="0">
                <a:latin typeface="Times"/>
                <a:cs typeface="Times"/>
              </a:rPr>
              <a:t>u</a:t>
            </a:r>
            <a:r>
              <a:rPr lang="en-US" i="1" dirty="0">
                <a:latin typeface="Times"/>
                <a:cs typeface="Times"/>
              </a:rPr>
              <a:t> </a:t>
            </a:r>
            <a:r>
              <a:rPr lang="en-US" dirty="0">
                <a:latin typeface="Gill Sans MT" panose="020B0502020104020203" pitchFamily="34" charset="77"/>
              </a:rPr>
              <a:t>and </a:t>
            </a:r>
            <a:r>
              <a:rPr lang="en-US" sz="2400" i="1" dirty="0">
                <a:latin typeface="Times"/>
                <a:cs typeface="Times"/>
              </a:rPr>
              <a:t>v</a:t>
            </a:r>
            <a:r>
              <a:rPr lang="en-US" dirty="0">
                <a:latin typeface="Gill Sans MT" panose="020B0502020104020203" pitchFamily="34" charset="77"/>
              </a:rPr>
              <a:t> is not 90, it could be for example 89.99.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>
            <a:off x="2294164" y="1486097"/>
            <a:ext cx="2945537" cy="202650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1171" y="3404744"/>
            <a:ext cx="3957545" cy="1270323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ED69E6-1EC4-534B-9EC5-F44BA6E1D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CV02C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E413EB5-9666-8F68-1557-72BA2BB46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35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75434655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71"/>
          <p:cNvSpPr>
            <a:spLocks noChangeArrowheads="1"/>
          </p:cNvSpPr>
          <p:nvPr/>
        </p:nvSpPr>
        <p:spPr bwMode="auto">
          <a:xfrm>
            <a:off x="1524000" y="1"/>
            <a:ext cx="336752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" sz="2400" dirty="0">
                <a:latin typeface="Gill Sans MT" panose="020B0502020104020203" pitchFamily="34" charset="77"/>
              </a:rPr>
              <a:t>[ </a:t>
            </a:r>
            <a:r>
              <a:rPr lang="es-ES" sz="2400" dirty="0" err="1">
                <a:latin typeface="Gill Sans MT" panose="020B0502020104020203" pitchFamily="34" charset="77"/>
              </a:rPr>
              <a:t>Perspective</a:t>
            </a:r>
            <a:r>
              <a:rPr lang="es-ES" sz="2400" dirty="0">
                <a:latin typeface="Gill Sans MT" panose="020B0502020104020203" pitchFamily="34" charset="77"/>
              </a:rPr>
              <a:t> </a:t>
            </a:r>
            <a:r>
              <a:rPr lang="es-ES" sz="2400" dirty="0" err="1">
                <a:latin typeface="Gill Sans MT" panose="020B0502020104020203" pitchFamily="34" charset="77"/>
              </a:rPr>
              <a:t>Projection</a:t>
            </a:r>
            <a:r>
              <a:rPr lang="es-ES" sz="2400" dirty="0">
                <a:latin typeface="Gill Sans MT" panose="020B0502020104020203" pitchFamily="34" charset="77"/>
              </a:rPr>
              <a:t> ]</a:t>
            </a:r>
          </a:p>
        </p:txBody>
      </p:sp>
      <p:cxnSp>
        <p:nvCxnSpPr>
          <p:cNvPr id="35" name="Straight Arrow Connector 34"/>
          <p:cNvCxnSpPr/>
          <p:nvPr/>
        </p:nvCxnSpPr>
        <p:spPr>
          <a:xfrm flipV="1">
            <a:off x="3189677" y="2242656"/>
            <a:ext cx="2090531" cy="0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3301541" y="2111347"/>
            <a:ext cx="0" cy="1955155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>
            <a:off x="2305452" y="1385599"/>
            <a:ext cx="0" cy="2074027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 Box 6"/>
          <p:cNvSpPr txBox="1">
            <a:spLocks noChangeArrowheads="1"/>
          </p:cNvSpPr>
          <p:nvPr/>
        </p:nvSpPr>
        <p:spPr bwMode="auto">
          <a:xfrm>
            <a:off x="5206965" y="2353027"/>
            <a:ext cx="3968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sz="2000" i="1" dirty="0">
                <a:latin typeface="Times New Roman" charset="0"/>
              </a:rPr>
              <a:t>y</a:t>
            </a:r>
          </a:p>
        </p:txBody>
      </p:sp>
      <p:sp>
        <p:nvSpPr>
          <p:cNvPr id="41" name="Text Box 7"/>
          <p:cNvSpPr txBox="1">
            <a:spLocks noChangeArrowheads="1"/>
          </p:cNvSpPr>
          <p:nvPr/>
        </p:nvSpPr>
        <p:spPr bwMode="auto">
          <a:xfrm>
            <a:off x="3185091" y="4155207"/>
            <a:ext cx="3968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sz="2000" i="1" dirty="0" err="1">
                <a:latin typeface="Times New Roman" charset="0"/>
              </a:rPr>
              <a:t>x</a:t>
            </a:r>
            <a:endParaRPr lang="es-ES_tradnl" sz="2000" i="1" dirty="0">
              <a:latin typeface="Times New Roman" charset="0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2127332" y="3555065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i="1" dirty="0">
                <a:latin typeface="Times New Roman" charset="0"/>
              </a:rPr>
              <a:t>u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5333374" y="1491825"/>
            <a:ext cx="2872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i="1" dirty="0">
                <a:latin typeface="Times New Roman" charset="0"/>
              </a:rPr>
              <a:t>v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8" name="Oval 7"/>
          <p:cNvSpPr/>
          <p:nvPr/>
        </p:nvSpPr>
        <p:spPr>
          <a:xfrm>
            <a:off x="4374929" y="2864115"/>
            <a:ext cx="38488" cy="39292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01771" y="2499343"/>
            <a:ext cx="453175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Between (</a:t>
            </a:r>
            <a:r>
              <a:rPr lang="en-US" sz="2400" i="1" dirty="0" err="1">
                <a:latin typeface="Times"/>
                <a:cs typeface="Times"/>
              </a:rPr>
              <a:t>x,y</a:t>
            </a:r>
            <a:r>
              <a:rPr lang="en-US" dirty="0">
                <a:latin typeface="Gill Sans MT" panose="020B0502020104020203" pitchFamily="34" charset="77"/>
              </a:rPr>
              <a:t>) and (</a:t>
            </a:r>
            <a:r>
              <a:rPr lang="en-US" sz="2400" i="1" dirty="0" err="1">
                <a:latin typeface="Times"/>
                <a:cs typeface="Times"/>
              </a:rPr>
              <a:t>u,v</a:t>
            </a:r>
            <a:r>
              <a:rPr lang="en-US" dirty="0">
                <a:latin typeface="Gill Sans MT" panose="020B0502020104020203" pitchFamily="34" charset="77"/>
              </a:rPr>
              <a:t>) there is no rotation.</a:t>
            </a:r>
          </a:p>
          <a:p>
            <a:r>
              <a:rPr lang="en-US" dirty="0">
                <a:latin typeface="Gill Sans MT" panose="020B0502020104020203" pitchFamily="34" charset="77"/>
              </a:rPr>
              <a:t>There is a scale factor in each direction.</a:t>
            </a:r>
          </a:p>
          <a:p>
            <a:r>
              <a:rPr lang="en-US" dirty="0">
                <a:latin typeface="Gill Sans MT" panose="020B0502020104020203" pitchFamily="34" charset="77"/>
              </a:rPr>
              <a:t>There is a skew factor.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05539" y="5043012"/>
            <a:ext cx="1228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Is this OK?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76656" y="5073823"/>
            <a:ext cx="4758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Yes!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2787652" y="5372633"/>
            <a:ext cx="5870492" cy="1048254"/>
            <a:chOff x="1263652" y="5372633"/>
            <a:chExt cx="5870492" cy="1048254"/>
          </a:xfrm>
        </p:grpSpPr>
        <p:pic>
          <p:nvPicPr>
            <p:cNvPr id="5" name="Picture 4" descr="Screen Shot 2014-11-14 at 9.20.40 AM.png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47081" y="5752425"/>
              <a:ext cx="1587063" cy="612551"/>
            </a:xfrm>
            <a:prstGeom prst="rect">
              <a:avLst/>
            </a:prstGeom>
          </p:spPr>
        </p:pic>
        <p:pic>
          <p:nvPicPr>
            <p:cNvPr id="6" name="Picture 5" descr="Screen Shot 2014-11-14 at 9.20.52 AM.png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92295" y="5372633"/>
              <a:ext cx="1747823" cy="500409"/>
            </a:xfrm>
            <a:prstGeom prst="rect">
              <a:avLst/>
            </a:prstGeom>
          </p:spPr>
        </p:pic>
        <p:pic>
          <p:nvPicPr>
            <p:cNvPr id="7" name="Picture 6" descr="Screen Shot 2014-11-14 at 9.21.00 AM.png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63652" y="5971408"/>
              <a:ext cx="1836651" cy="449479"/>
            </a:xfrm>
            <a:prstGeom prst="rect">
              <a:avLst/>
            </a:prstGeom>
          </p:spPr>
        </p:pic>
      </p:grpSp>
      <p:cxnSp>
        <p:nvCxnSpPr>
          <p:cNvPr id="21" name="Straight Arrow Connector 20"/>
          <p:cNvCxnSpPr/>
          <p:nvPr/>
        </p:nvCxnSpPr>
        <p:spPr>
          <a:xfrm>
            <a:off x="2294164" y="1486097"/>
            <a:ext cx="2945537" cy="202650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22740" y="3644328"/>
            <a:ext cx="3844854" cy="1234151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8DF298-2CFF-776E-7118-2D33E3119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CV02C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C4248EA-3B03-433F-E019-F30C8CB88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36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623674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48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65000"/>
            <a:lumOff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Line 4"/>
          <p:cNvSpPr>
            <a:spLocks noChangeShapeType="1"/>
          </p:cNvSpPr>
          <p:nvPr/>
        </p:nvSpPr>
        <p:spPr bwMode="auto">
          <a:xfrm flipH="1">
            <a:off x="9306703" y="3803649"/>
            <a:ext cx="2397" cy="1113980"/>
          </a:xfrm>
          <a:prstGeom prst="line">
            <a:avLst/>
          </a:prstGeom>
          <a:noFill/>
          <a:ln w="19050">
            <a:solidFill>
              <a:srgbClr val="FFCC66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245" name="Line 5"/>
          <p:cNvSpPr>
            <a:spLocks noChangeShapeType="1"/>
          </p:cNvSpPr>
          <p:nvPr/>
        </p:nvSpPr>
        <p:spPr bwMode="auto">
          <a:xfrm flipV="1">
            <a:off x="9286875" y="3228884"/>
            <a:ext cx="654875" cy="600166"/>
          </a:xfrm>
          <a:prstGeom prst="line">
            <a:avLst/>
          </a:prstGeom>
          <a:noFill/>
          <a:ln w="28575">
            <a:solidFill>
              <a:srgbClr val="FFCC66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246" name="Text Box 6"/>
          <p:cNvSpPr txBox="1">
            <a:spLocks noChangeArrowheads="1"/>
          </p:cNvSpPr>
          <p:nvPr/>
        </p:nvSpPr>
        <p:spPr bwMode="auto">
          <a:xfrm>
            <a:off x="9976600" y="2947466"/>
            <a:ext cx="3968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sz="2000" i="1" dirty="0">
                <a:solidFill>
                  <a:srgbClr val="FFFF00"/>
                </a:solidFill>
                <a:latin typeface="Times New Roman" charset="0"/>
              </a:rPr>
              <a:t>y</a:t>
            </a:r>
          </a:p>
        </p:txBody>
      </p:sp>
      <p:sp>
        <p:nvSpPr>
          <p:cNvPr id="10247" name="Text Box 7"/>
          <p:cNvSpPr txBox="1">
            <a:spLocks noChangeArrowheads="1"/>
          </p:cNvSpPr>
          <p:nvPr/>
        </p:nvSpPr>
        <p:spPr bwMode="auto">
          <a:xfrm>
            <a:off x="9386960" y="4668586"/>
            <a:ext cx="3968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sz="2000" i="1" dirty="0" err="1">
                <a:solidFill>
                  <a:srgbClr val="FFFF00"/>
                </a:solidFill>
                <a:latin typeface="Times New Roman" charset="0"/>
              </a:rPr>
              <a:t>x</a:t>
            </a:r>
            <a:endParaRPr lang="es-ES_tradnl" sz="2000" i="1" dirty="0">
              <a:solidFill>
                <a:srgbClr val="FFFF00"/>
              </a:solidFill>
              <a:latin typeface="Times New Roman" charset="0"/>
            </a:endParaRPr>
          </a:p>
        </p:txBody>
      </p:sp>
      <p:sp>
        <p:nvSpPr>
          <p:cNvPr id="10248" name="Line 8"/>
          <p:cNvSpPr>
            <a:spLocks noChangeShapeType="1"/>
          </p:cNvSpPr>
          <p:nvPr/>
        </p:nvSpPr>
        <p:spPr bwMode="auto">
          <a:xfrm flipV="1">
            <a:off x="3457575" y="2943226"/>
            <a:ext cx="4781550" cy="866775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250" name="Line 10"/>
          <p:cNvSpPr>
            <a:spLocks noChangeShapeType="1"/>
          </p:cNvSpPr>
          <p:nvPr/>
        </p:nvSpPr>
        <p:spPr bwMode="auto">
          <a:xfrm flipV="1">
            <a:off x="3448050" y="1447800"/>
            <a:ext cx="0" cy="2514600"/>
          </a:xfrm>
          <a:prstGeom prst="line">
            <a:avLst/>
          </a:prstGeom>
          <a:noFill/>
          <a:ln w="9525">
            <a:solidFill>
              <a:srgbClr val="FFFF00"/>
            </a:solidFill>
            <a:prstDash val="dot"/>
            <a:round/>
            <a:headEnd type="none"/>
            <a:tailEnd type="non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251" name="Line 11"/>
          <p:cNvSpPr>
            <a:spLocks noChangeShapeType="1"/>
          </p:cNvSpPr>
          <p:nvPr/>
        </p:nvSpPr>
        <p:spPr bwMode="auto">
          <a:xfrm>
            <a:off x="3295650" y="3810000"/>
            <a:ext cx="7067550" cy="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252" name="Line 12"/>
          <p:cNvSpPr>
            <a:spLocks noChangeShapeType="1"/>
          </p:cNvSpPr>
          <p:nvPr/>
        </p:nvSpPr>
        <p:spPr bwMode="auto">
          <a:xfrm flipH="1">
            <a:off x="2584450" y="3562350"/>
            <a:ext cx="1111250" cy="1130300"/>
          </a:xfrm>
          <a:prstGeom prst="line">
            <a:avLst/>
          </a:prstGeom>
          <a:noFill/>
          <a:ln w="3175" cmpd="sng">
            <a:solidFill>
              <a:srgbClr val="FFFF00"/>
            </a:solidFill>
            <a:prstDash val="dot"/>
            <a:round/>
            <a:headEnd type="none"/>
            <a:tailEnd type="non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253" name="Text Box 13"/>
          <p:cNvSpPr txBox="1">
            <a:spLocks noChangeArrowheads="1"/>
          </p:cNvSpPr>
          <p:nvPr/>
        </p:nvSpPr>
        <p:spPr bwMode="auto">
          <a:xfrm>
            <a:off x="3878153" y="2774397"/>
            <a:ext cx="3968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sz="2000" i="1" dirty="0">
                <a:solidFill>
                  <a:srgbClr val="FFFF00"/>
                </a:solidFill>
                <a:latin typeface="Times New Roman" charset="0"/>
              </a:rPr>
              <a:t>Y</a:t>
            </a:r>
          </a:p>
        </p:txBody>
      </p:sp>
      <p:sp>
        <p:nvSpPr>
          <p:cNvPr id="10254" name="Text Box 14"/>
          <p:cNvSpPr txBox="1">
            <a:spLocks noChangeArrowheads="1"/>
          </p:cNvSpPr>
          <p:nvPr/>
        </p:nvSpPr>
        <p:spPr bwMode="auto">
          <a:xfrm>
            <a:off x="3512399" y="4926473"/>
            <a:ext cx="3968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sz="2000" i="1" dirty="0">
                <a:solidFill>
                  <a:srgbClr val="FFFF00"/>
                </a:solidFill>
                <a:latin typeface="Times New Roman" charset="0"/>
              </a:rPr>
              <a:t>X</a:t>
            </a:r>
          </a:p>
        </p:txBody>
      </p:sp>
      <p:sp>
        <p:nvSpPr>
          <p:cNvPr id="10255" name="Text Box 15"/>
          <p:cNvSpPr txBox="1">
            <a:spLocks noChangeArrowheads="1"/>
          </p:cNvSpPr>
          <p:nvPr/>
        </p:nvSpPr>
        <p:spPr bwMode="auto">
          <a:xfrm>
            <a:off x="10066339" y="3417889"/>
            <a:ext cx="3968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sz="2000" i="1">
                <a:solidFill>
                  <a:srgbClr val="FFFF00"/>
                </a:solidFill>
                <a:latin typeface="Times New Roman" charset="0"/>
              </a:rPr>
              <a:t>Z</a:t>
            </a:r>
          </a:p>
        </p:txBody>
      </p:sp>
      <p:sp>
        <p:nvSpPr>
          <p:cNvPr id="1116176" name="Text Box 16"/>
          <p:cNvSpPr txBox="1">
            <a:spLocks noChangeArrowheads="1"/>
          </p:cNvSpPr>
          <p:nvPr/>
        </p:nvSpPr>
        <p:spPr bwMode="auto">
          <a:xfrm>
            <a:off x="8186739" y="2951164"/>
            <a:ext cx="8540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sz="2000" i="1" dirty="0">
                <a:solidFill>
                  <a:srgbClr val="FFFF00"/>
                </a:solidFill>
                <a:latin typeface="Times New Roman" charset="0"/>
              </a:rPr>
              <a:t>(</a:t>
            </a:r>
            <a:r>
              <a:rPr lang="es-ES_tradnl" sz="2000" i="1" dirty="0" err="1">
                <a:solidFill>
                  <a:srgbClr val="FFFF00"/>
                </a:solidFill>
                <a:latin typeface="Times New Roman" charset="0"/>
              </a:rPr>
              <a:t>u,v</a:t>
            </a:r>
            <a:r>
              <a:rPr lang="es-ES_tradnl" sz="2000" i="1" dirty="0">
                <a:solidFill>
                  <a:srgbClr val="FFFF00"/>
                </a:solidFill>
                <a:latin typeface="Times New Roman" charset="0"/>
              </a:rPr>
              <a:t>)</a:t>
            </a:r>
          </a:p>
        </p:txBody>
      </p:sp>
      <p:sp>
        <p:nvSpPr>
          <p:cNvPr id="10257" name="Text Box 17"/>
          <p:cNvSpPr txBox="1">
            <a:spLocks noChangeArrowheads="1"/>
          </p:cNvSpPr>
          <p:nvPr/>
        </p:nvSpPr>
        <p:spPr bwMode="auto">
          <a:xfrm>
            <a:off x="6088063" y="1362076"/>
            <a:ext cx="2540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sz="2000" i="1">
                <a:solidFill>
                  <a:srgbClr val="FFFF00"/>
                </a:solidFill>
                <a:latin typeface="Times New Roman" charset="0"/>
              </a:rPr>
              <a:t>f</a:t>
            </a:r>
          </a:p>
        </p:txBody>
      </p:sp>
      <p:sp>
        <p:nvSpPr>
          <p:cNvPr id="10258" name="AutoShape 18"/>
          <p:cNvSpPr>
            <a:spLocks noChangeArrowheads="1"/>
          </p:cNvSpPr>
          <p:nvPr/>
        </p:nvSpPr>
        <p:spPr bwMode="auto">
          <a:xfrm rot="5400000" flipH="1">
            <a:off x="6578600" y="2527300"/>
            <a:ext cx="3975100" cy="1460500"/>
          </a:xfrm>
          <a:prstGeom prst="parallelogram">
            <a:avLst>
              <a:gd name="adj" fmla="val 95954"/>
            </a:avLst>
          </a:prstGeom>
          <a:noFill/>
          <a:ln w="6350" cmpd="sng">
            <a:solidFill>
              <a:srgbClr val="FFCC66"/>
            </a:solidFill>
            <a:prstDash val="sysDash"/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0259" name="Oval 19"/>
          <p:cNvSpPr>
            <a:spLocks noChangeArrowheads="1"/>
          </p:cNvSpPr>
          <p:nvPr/>
        </p:nvSpPr>
        <p:spPr bwMode="auto">
          <a:xfrm>
            <a:off x="3400425" y="3768725"/>
            <a:ext cx="88900" cy="889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0260" name="Text Box 20"/>
          <p:cNvSpPr txBox="1">
            <a:spLocks noChangeArrowheads="1"/>
          </p:cNvSpPr>
          <p:nvPr/>
        </p:nvSpPr>
        <p:spPr bwMode="auto">
          <a:xfrm>
            <a:off x="3403601" y="3851276"/>
            <a:ext cx="3968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sz="2000" i="1">
                <a:solidFill>
                  <a:srgbClr val="FFFF00"/>
                </a:solidFill>
                <a:latin typeface="Times New Roman" charset="0"/>
              </a:rPr>
              <a:t>C</a:t>
            </a:r>
          </a:p>
        </p:txBody>
      </p:sp>
      <p:sp>
        <p:nvSpPr>
          <p:cNvPr id="10263" name="Line 23"/>
          <p:cNvSpPr>
            <a:spLocks noChangeShapeType="1"/>
          </p:cNvSpPr>
          <p:nvPr/>
        </p:nvSpPr>
        <p:spPr bwMode="auto">
          <a:xfrm>
            <a:off x="3448051" y="1752600"/>
            <a:ext cx="5865813" cy="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 type="triangle" w="med" len="med"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264" name="Text Box 24"/>
          <p:cNvSpPr txBox="1">
            <a:spLocks noChangeArrowheads="1"/>
          </p:cNvSpPr>
          <p:nvPr/>
        </p:nvSpPr>
        <p:spPr bwMode="auto">
          <a:xfrm>
            <a:off x="6242051" y="2849564"/>
            <a:ext cx="4095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sz="2000" i="1">
                <a:solidFill>
                  <a:srgbClr val="FFFF00"/>
                </a:solidFill>
                <a:latin typeface="Times New Roman" charset="0"/>
              </a:rPr>
              <a:t>M</a:t>
            </a:r>
          </a:p>
        </p:txBody>
      </p:sp>
      <p:sp>
        <p:nvSpPr>
          <p:cNvPr id="10265" name="Oval 25"/>
          <p:cNvSpPr>
            <a:spLocks noChangeArrowheads="1"/>
          </p:cNvSpPr>
          <p:nvPr/>
        </p:nvSpPr>
        <p:spPr bwMode="auto">
          <a:xfrm>
            <a:off x="6276975" y="3267075"/>
            <a:ext cx="88900" cy="889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0266" name="Text Box 26"/>
          <p:cNvSpPr txBox="1">
            <a:spLocks noChangeArrowheads="1"/>
          </p:cNvSpPr>
          <p:nvPr/>
        </p:nvSpPr>
        <p:spPr bwMode="auto">
          <a:xfrm>
            <a:off x="6381751" y="3249614"/>
            <a:ext cx="11652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sz="2000" i="1">
                <a:solidFill>
                  <a:srgbClr val="FFFF00"/>
                </a:solidFill>
                <a:latin typeface="Times New Roman" charset="0"/>
              </a:rPr>
              <a:t>(X',Y',Z')</a:t>
            </a:r>
          </a:p>
        </p:txBody>
      </p:sp>
      <p:sp>
        <p:nvSpPr>
          <p:cNvPr id="10267" name="Line 27"/>
          <p:cNvSpPr>
            <a:spLocks noChangeShapeType="1"/>
          </p:cNvSpPr>
          <p:nvPr/>
        </p:nvSpPr>
        <p:spPr bwMode="auto">
          <a:xfrm flipH="1" flipV="1">
            <a:off x="5162550" y="3149600"/>
            <a:ext cx="533400" cy="698500"/>
          </a:xfrm>
          <a:prstGeom prst="line">
            <a:avLst/>
          </a:prstGeom>
          <a:noFill/>
          <a:ln w="12700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268" name="Line 28"/>
          <p:cNvSpPr>
            <a:spLocks noChangeShapeType="1"/>
          </p:cNvSpPr>
          <p:nvPr/>
        </p:nvSpPr>
        <p:spPr bwMode="auto">
          <a:xfrm flipV="1">
            <a:off x="5708650" y="3289300"/>
            <a:ext cx="635000" cy="571500"/>
          </a:xfrm>
          <a:prstGeom prst="line">
            <a:avLst/>
          </a:prstGeom>
          <a:noFill/>
          <a:ln w="12700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269" name="Line 29"/>
          <p:cNvSpPr>
            <a:spLocks noChangeShapeType="1"/>
          </p:cNvSpPr>
          <p:nvPr/>
        </p:nvSpPr>
        <p:spPr bwMode="auto">
          <a:xfrm>
            <a:off x="5708650" y="3873500"/>
            <a:ext cx="0" cy="533400"/>
          </a:xfrm>
          <a:prstGeom prst="line">
            <a:avLst/>
          </a:prstGeom>
          <a:noFill/>
          <a:ln w="12700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270" name="Line 30"/>
          <p:cNvSpPr>
            <a:spLocks noChangeShapeType="1"/>
          </p:cNvSpPr>
          <p:nvPr/>
        </p:nvSpPr>
        <p:spPr bwMode="auto">
          <a:xfrm flipH="1" flipV="1">
            <a:off x="5784850" y="2584450"/>
            <a:ext cx="533400" cy="698500"/>
          </a:xfrm>
          <a:prstGeom prst="line">
            <a:avLst/>
          </a:prstGeom>
          <a:noFill/>
          <a:ln w="12700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271" name="Line 31"/>
          <p:cNvSpPr>
            <a:spLocks noChangeShapeType="1"/>
          </p:cNvSpPr>
          <p:nvPr/>
        </p:nvSpPr>
        <p:spPr bwMode="auto">
          <a:xfrm flipV="1">
            <a:off x="5162550" y="2571750"/>
            <a:ext cx="635000" cy="571500"/>
          </a:xfrm>
          <a:prstGeom prst="line">
            <a:avLst/>
          </a:prstGeom>
          <a:noFill/>
          <a:ln w="12700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272" name="Line 32"/>
          <p:cNvSpPr>
            <a:spLocks noChangeShapeType="1"/>
          </p:cNvSpPr>
          <p:nvPr/>
        </p:nvSpPr>
        <p:spPr bwMode="auto">
          <a:xfrm>
            <a:off x="6318250" y="3289300"/>
            <a:ext cx="0" cy="533400"/>
          </a:xfrm>
          <a:prstGeom prst="line">
            <a:avLst/>
          </a:prstGeom>
          <a:noFill/>
          <a:ln w="12700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273" name="Line 33"/>
          <p:cNvSpPr>
            <a:spLocks noChangeShapeType="1"/>
          </p:cNvSpPr>
          <p:nvPr/>
        </p:nvSpPr>
        <p:spPr bwMode="auto">
          <a:xfrm flipH="1" flipV="1">
            <a:off x="5156200" y="3689350"/>
            <a:ext cx="533400" cy="698500"/>
          </a:xfrm>
          <a:prstGeom prst="line">
            <a:avLst/>
          </a:prstGeom>
          <a:noFill/>
          <a:ln w="12700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274" name="Line 34"/>
          <p:cNvSpPr>
            <a:spLocks noChangeShapeType="1"/>
          </p:cNvSpPr>
          <p:nvPr/>
        </p:nvSpPr>
        <p:spPr bwMode="auto">
          <a:xfrm flipV="1">
            <a:off x="5708650" y="3803650"/>
            <a:ext cx="635000" cy="571500"/>
          </a:xfrm>
          <a:prstGeom prst="line">
            <a:avLst/>
          </a:prstGeom>
          <a:noFill/>
          <a:ln w="12700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275" name="Line 35"/>
          <p:cNvSpPr>
            <a:spLocks noChangeShapeType="1"/>
          </p:cNvSpPr>
          <p:nvPr/>
        </p:nvSpPr>
        <p:spPr bwMode="auto">
          <a:xfrm>
            <a:off x="5168900" y="3155950"/>
            <a:ext cx="0" cy="533400"/>
          </a:xfrm>
          <a:prstGeom prst="line">
            <a:avLst/>
          </a:prstGeom>
          <a:noFill/>
          <a:ln w="12700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276" name="Line 36"/>
          <p:cNvSpPr>
            <a:spLocks noChangeShapeType="1"/>
          </p:cNvSpPr>
          <p:nvPr/>
        </p:nvSpPr>
        <p:spPr bwMode="auto">
          <a:xfrm flipH="1" flipV="1">
            <a:off x="5772150" y="3124200"/>
            <a:ext cx="533400" cy="698500"/>
          </a:xfrm>
          <a:prstGeom prst="line">
            <a:avLst/>
          </a:prstGeom>
          <a:noFill/>
          <a:ln w="12700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277" name="Line 37"/>
          <p:cNvSpPr>
            <a:spLocks noChangeShapeType="1"/>
          </p:cNvSpPr>
          <p:nvPr/>
        </p:nvSpPr>
        <p:spPr bwMode="auto">
          <a:xfrm flipV="1">
            <a:off x="5181600" y="3117850"/>
            <a:ext cx="635000" cy="571500"/>
          </a:xfrm>
          <a:prstGeom prst="line">
            <a:avLst/>
          </a:prstGeom>
          <a:noFill/>
          <a:ln w="12700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278" name="Line 38"/>
          <p:cNvSpPr>
            <a:spLocks noChangeShapeType="1"/>
          </p:cNvSpPr>
          <p:nvPr/>
        </p:nvSpPr>
        <p:spPr bwMode="auto">
          <a:xfrm>
            <a:off x="5778500" y="2622550"/>
            <a:ext cx="0" cy="533400"/>
          </a:xfrm>
          <a:prstGeom prst="line">
            <a:avLst/>
          </a:prstGeom>
          <a:noFill/>
          <a:ln w="12700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279" name="Line 39"/>
          <p:cNvSpPr>
            <a:spLocks noChangeShapeType="1"/>
          </p:cNvSpPr>
          <p:nvPr/>
        </p:nvSpPr>
        <p:spPr bwMode="auto">
          <a:xfrm flipV="1">
            <a:off x="5162550" y="2971800"/>
            <a:ext cx="800100" cy="730250"/>
          </a:xfrm>
          <a:prstGeom prst="line">
            <a:avLst/>
          </a:prstGeom>
          <a:noFill/>
          <a:ln w="19050">
            <a:solidFill>
              <a:srgbClr val="00FF00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280" name="Line 40"/>
          <p:cNvSpPr>
            <a:spLocks noChangeShapeType="1"/>
          </p:cNvSpPr>
          <p:nvPr/>
        </p:nvSpPr>
        <p:spPr bwMode="auto">
          <a:xfrm flipH="1" flipV="1">
            <a:off x="5162550" y="3695700"/>
            <a:ext cx="533400" cy="698500"/>
          </a:xfrm>
          <a:prstGeom prst="line">
            <a:avLst/>
          </a:prstGeom>
          <a:noFill/>
          <a:ln w="19050">
            <a:solidFill>
              <a:srgbClr val="00FF00"/>
            </a:solidFill>
            <a:round/>
            <a:headEnd type="triangle" w="med" len="med"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281" name="Line 41"/>
          <p:cNvSpPr>
            <a:spLocks noChangeShapeType="1"/>
          </p:cNvSpPr>
          <p:nvPr/>
        </p:nvSpPr>
        <p:spPr bwMode="auto">
          <a:xfrm rot="10800000">
            <a:off x="5162550" y="2952750"/>
            <a:ext cx="0" cy="736600"/>
          </a:xfrm>
          <a:prstGeom prst="line">
            <a:avLst/>
          </a:prstGeom>
          <a:noFill/>
          <a:ln w="19050">
            <a:solidFill>
              <a:srgbClr val="00FF00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282" name="Text Box 42"/>
          <p:cNvSpPr txBox="1">
            <a:spLocks noChangeArrowheads="1"/>
          </p:cNvSpPr>
          <p:nvPr/>
        </p:nvSpPr>
        <p:spPr bwMode="auto">
          <a:xfrm>
            <a:off x="5467351" y="2919414"/>
            <a:ext cx="3905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sz="2000" i="1">
                <a:solidFill>
                  <a:srgbClr val="FFFF00"/>
                </a:solidFill>
                <a:latin typeface="Times New Roman" charset="0"/>
              </a:rPr>
              <a:t>Y'</a:t>
            </a:r>
          </a:p>
        </p:txBody>
      </p:sp>
      <p:sp>
        <p:nvSpPr>
          <p:cNvPr id="10283" name="Text Box 43"/>
          <p:cNvSpPr txBox="1">
            <a:spLocks noChangeArrowheads="1"/>
          </p:cNvSpPr>
          <p:nvPr/>
        </p:nvSpPr>
        <p:spPr bwMode="auto">
          <a:xfrm>
            <a:off x="4813301" y="2779714"/>
            <a:ext cx="4286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sz="2000" i="1">
                <a:solidFill>
                  <a:srgbClr val="FFFF00"/>
                </a:solidFill>
                <a:latin typeface="Times New Roman" charset="0"/>
              </a:rPr>
              <a:t>Z'</a:t>
            </a:r>
          </a:p>
        </p:txBody>
      </p:sp>
      <p:sp>
        <p:nvSpPr>
          <p:cNvPr id="10284" name="Text Box 44"/>
          <p:cNvSpPr txBox="1">
            <a:spLocks noChangeArrowheads="1"/>
          </p:cNvSpPr>
          <p:nvPr/>
        </p:nvSpPr>
        <p:spPr bwMode="auto">
          <a:xfrm>
            <a:off x="5187951" y="4138614"/>
            <a:ext cx="4413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sz="2000" i="1">
                <a:solidFill>
                  <a:srgbClr val="FFFF00"/>
                </a:solidFill>
                <a:latin typeface="Times New Roman" charset="0"/>
              </a:rPr>
              <a:t>X'</a:t>
            </a:r>
          </a:p>
        </p:txBody>
      </p:sp>
      <p:sp>
        <p:nvSpPr>
          <p:cNvPr id="10286" name="Oval 49"/>
          <p:cNvSpPr>
            <a:spLocks noChangeArrowheads="1"/>
          </p:cNvSpPr>
          <p:nvPr/>
        </p:nvSpPr>
        <p:spPr bwMode="auto">
          <a:xfrm>
            <a:off x="8172450" y="2911475"/>
            <a:ext cx="88900" cy="889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0287" name="Text Box 50"/>
          <p:cNvSpPr txBox="1">
            <a:spLocks noChangeArrowheads="1"/>
          </p:cNvSpPr>
          <p:nvPr/>
        </p:nvSpPr>
        <p:spPr bwMode="auto">
          <a:xfrm>
            <a:off x="8013701" y="2527301"/>
            <a:ext cx="3968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_tradnl" sz="2000" i="1" dirty="0">
                <a:solidFill>
                  <a:srgbClr val="FFFF00"/>
                </a:solidFill>
                <a:latin typeface="Times New Roman" charset="0"/>
              </a:rPr>
              <a:t>m</a:t>
            </a:r>
          </a:p>
        </p:txBody>
      </p:sp>
      <p:grpSp>
        <p:nvGrpSpPr>
          <p:cNvPr id="3" name="Group 51"/>
          <p:cNvGrpSpPr>
            <a:grpSpLocks/>
          </p:cNvGrpSpPr>
          <p:nvPr/>
        </p:nvGrpSpPr>
        <p:grpSpPr bwMode="auto">
          <a:xfrm rot="10322964">
            <a:off x="7676123" y="1887532"/>
            <a:ext cx="1219208" cy="2241551"/>
            <a:chOff x="4061" y="1363"/>
            <a:chExt cx="768" cy="1412"/>
          </a:xfrm>
        </p:grpSpPr>
        <p:sp>
          <p:nvSpPr>
            <p:cNvPr id="10295" name="Line 52"/>
            <p:cNvSpPr>
              <a:spLocks noChangeShapeType="1"/>
            </p:cNvSpPr>
            <p:nvPr/>
          </p:nvSpPr>
          <p:spPr bwMode="auto">
            <a:xfrm rot="16200000" flipH="1" flipV="1">
              <a:off x="4153" y="2238"/>
              <a:ext cx="445" cy="629"/>
            </a:xfrm>
            <a:prstGeom prst="line">
              <a:avLst/>
            </a:prstGeom>
            <a:noFill/>
            <a:ln w="38100">
              <a:solidFill>
                <a:srgbClr val="00FFCC"/>
              </a:solidFill>
              <a:round/>
              <a:headEnd/>
              <a:tailEnd type="triangle" w="med" len="med"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  <p:sp>
          <p:nvSpPr>
            <p:cNvPr id="10296" name="Line 53"/>
            <p:cNvSpPr>
              <a:spLocks noChangeShapeType="1"/>
            </p:cNvSpPr>
            <p:nvPr/>
          </p:nvSpPr>
          <p:spPr bwMode="auto">
            <a:xfrm flipV="1">
              <a:off x="4693" y="1363"/>
              <a:ext cx="136" cy="952"/>
            </a:xfrm>
            <a:prstGeom prst="line">
              <a:avLst/>
            </a:prstGeom>
            <a:noFill/>
            <a:ln w="38100">
              <a:solidFill>
                <a:srgbClr val="00FFCC"/>
              </a:solidFill>
              <a:round/>
              <a:headEnd/>
              <a:tailEnd type="triangle" w="med" len="med"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61" name="Rectangle 71"/>
          <p:cNvSpPr>
            <a:spLocks noChangeArrowheads="1"/>
          </p:cNvSpPr>
          <p:nvPr/>
        </p:nvSpPr>
        <p:spPr bwMode="auto">
          <a:xfrm>
            <a:off x="1524000" y="1"/>
            <a:ext cx="336752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" sz="2400" dirty="0">
                <a:solidFill>
                  <a:schemeClr val="bg1"/>
                </a:solidFill>
                <a:latin typeface="Gill Sans MT" panose="020B0502020104020203" pitchFamily="34" charset="77"/>
              </a:rPr>
              <a:t>[ </a:t>
            </a:r>
            <a:r>
              <a:rPr lang="es-ES" sz="2400" dirty="0" err="1">
                <a:solidFill>
                  <a:schemeClr val="bg1"/>
                </a:solidFill>
                <a:latin typeface="Gill Sans MT" panose="020B0502020104020203" pitchFamily="34" charset="77"/>
              </a:rPr>
              <a:t>Perspective</a:t>
            </a:r>
            <a:r>
              <a:rPr lang="es-ES" sz="2400" dirty="0">
                <a:solidFill>
                  <a:schemeClr val="bg1"/>
                </a:solidFill>
                <a:latin typeface="Gill Sans MT" panose="020B0502020104020203" pitchFamily="34" charset="77"/>
              </a:rPr>
              <a:t> </a:t>
            </a:r>
            <a:r>
              <a:rPr lang="es-ES" sz="2400" dirty="0" err="1">
                <a:solidFill>
                  <a:schemeClr val="bg1"/>
                </a:solidFill>
                <a:latin typeface="Gill Sans MT" panose="020B0502020104020203" pitchFamily="34" charset="77"/>
              </a:rPr>
              <a:t>Projection</a:t>
            </a:r>
            <a:r>
              <a:rPr lang="es-ES" sz="2400" dirty="0">
                <a:solidFill>
                  <a:schemeClr val="bg1"/>
                </a:solidFill>
                <a:latin typeface="Gill Sans MT" panose="020B0502020104020203" pitchFamily="34" charset="77"/>
              </a:rPr>
              <a:t> ]</a:t>
            </a:r>
          </a:p>
        </p:txBody>
      </p:sp>
      <p:sp>
        <p:nvSpPr>
          <p:cNvPr id="62" name="Rectangle 71"/>
          <p:cNvSpPr>
            <a:spLocks noChangeArrowheads="1"/>
          </p:cNvSpPr>
          <p:nvPr/>
        </p:nvSpPr>
        <p:spPr bwMode="auto">
          <a:xfrm>
            <a:off x="1639900" y="459352"/>
            <a:ext cx="632339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" sz="2400" dirty="0" err="1">
                <a:solidFill>
                  <a:schemeClr val="bg1"/>
                </a:solidFill>
                <a:latin typeface="Gill Sans MT" panose="020B0502020104020203" pitchFamily="34" charset="77"/>
              </a:rPr>
              <a:t>Now</a:t>
            </a:r>
            <a:r>
              <a:rPr lang="es-ES" sz="2400" dirty="0">
                <a:solidFill>
                  <a:schemeClr val="bg1"/>
                </a:solidFill>
                <a:latin typeface="Gill Sans MT" panose="020B0502020104020203" pitchFamily="34" charset="77"/>
              </a:rPr>
              <a:t>, </a:t>
            </a:r>
            <a:r>
              <a:rPr lang="es-ES" sz="2400" i="1" dirty="0">
                <a:solidFill>
                  <a:schemeClr val="bg1"/>
                </a:solidFill>
                <a:latin typeface="Times New Roman"/>
                <a:cs typeface="Times New Roman"/>
              </a:rPr>
              <a:t>m</a:t>
            </a:r>
            <a:r>
              <a:rPr lang="es-ES" sz="2400" dirty="0">
                <a:solidFill>
                  <a:schemeClr val="bg1"/>
                </a:solidFill>
                <a:latin typeface="Gill Sans MT" panose="020B0502020104020203" pitchFamily="34" charset="77"/>
              </a:rPr>
              <a:t> </a:t>
            </a:r>
            <a:r>
              <a:rPr lang="es-ES" sz="2400" dirty="0" err="1">
                <a:solidFill>
                  <a:schemeClr val="bg1"/>
                </a:solidFill>
                <a:latin typeface="Gill Sans MT" panose="020B0502020104020203" pitchFamily="34" charset="77"/>
              </a:rPr>
              <a:t>is</a:t>
            </a:r>
            <a:r>
              <a:rPr lang="es-ES" sz="2400" dirty="0">
                <a:solidFill>
                  <a:schemeClr val="bg1"/>
                </a:solidFill>
                <a:latin typeface="Gill Sans MT" panose="020B0502020104020203" pitchFamily="34" charset="77"/>
              </a:rPr>
              <a:t> </a:t>
            </a:r>
            <a:r>
              <a:rPr lang="es-ES" sz="2400" dirty="0" err="1">
                <a:solidFill>
                  <a:schemeClr val="bg1"/>
                </a:solidFill>
                <a:latin typeface="Gill Sans MT" panose="020B0502020104020203" pitchFamily="34" charset="77"/>
              </a:rPr>
              <a:t>given</a:t>
            </a:r>
            <a:r>
              <a:rPr lang="es-ES" sz="2400" dirty="0">
                <a:solidFill>
                  <a:schemeClr val="bg1"/>
                </a:solidFill>
                <a:latin typeface="Gill Sans MT" panose="020B0502020104020203" pitchFamily="34" charset="77"/>
              </a:rPr>
              <a:t> in a new </a:t>
            </a:r>
            <a:r>
              <a:rPr lang="es-ES" sz="2400" dirty="0" err="1">
                <a:solidFill>
                  <a:schemeClr val="bg1"/>
                </a:solidFill>
                <a:latin typeface="Gill Sans MT" panose="020B0502020104020203" pitchFamily="34" charset="77"/>
              </a:rPr>
              <a:t>coordinate</a:t>
            </a:r>
            <a:r>
              <a:rPr lang="es-ES" sz="2400" dirty="0">
                <a:solidFill>
                  <a:schemeClr val="bg1"/>
                </a:solidFill>
                <a:latin typeface="Gill Sans MT" panose="020B0502020104020203" pitchFamily="34" charset="77"/>
              </a:rPr>
              <a:t> </a:t>
            </a:r>
            <a:r>
              <a:rPr lang="es-ES" sz="2400" dirty="0" err="1">
                <a:solidFill>
                  <a:schemeClr val="bg1"/>
                </a:solidFill>
                <a:latin typeface="Gill Sans MT" panose="020B0502020104020203" pitchFamily="34" charset="77"/>
              </a:rPr>
              <a:t>system</a:t>
            </a:r>
            <a:r>
              <a:rPr lang="es-ES" sz="2400" dirty="0">
                <a:solidFill>
                  <a:schemeClr val="bg1"/>
                </a:solidFill>
                <a:latin typeface="Gill Sans MT" panose="020B0502020104020203" pitchFamily="34" charset="77"/>
              </a:rPr>
              <a:t>: </a:t>
            </a:r>
            <a:r>
              <a:rPr lang="es-ES_tradnl" sz="2400" i="1" dirty="0">
                <a:solidFill>
                  <a:schemeClr val="bg1"/>
                </a:solidFill>
                <a:latin typeface="Times New Roman" charset="0"/>
              </a:rPr>
              <a:t>(</a:t>
            </a:r>
            <a:r>
              <a:rPr lang="es-ES_tradnl" sz="2400" i="1" dirty="0" err="1">
                <a:solidFill>
                  <a:schemeClr val="bg1"/>
                </a:solidFill>
                <a:latin typeface="Times New Roman" charset="0"/>
              </a:rPr>
              <a:t>u,v</a:t>
            </a:r>
            <a:r>
              <a:rPr lang="es-ES_tradnl" sz="2400" i="1" dirty="0">
                <a:solidFill>
                  <a:schemeClr val="bg1"/>
                </a:solidFill>
                <a:latin typeface="Times New Roman" charset="0"/>
              </a:rPr>
              <a:t>)</a:t>
            </a:r>
          </a:p>
        </p:txBody>
      </p:sp>
      <p:sp>
        <p:nvSpPr>
          <p:cNvPr id="5" name="Rectangle 4"/>
          <p:cNvSpPr/>
          <p:nvPr/>
        </p:nvSpPr>
        <p:spPr>
          <a:xfrm>
            <a:off x="7504991" y="3811754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i="1" dirty="0">
                <a:solidFill>
                  <a:srgbClr val="FFFF00"/>
                </a:solidFill>
                <a:latin typeface="Times New Roman" charset="0"/>
              </a:rPr>
              <a:t>u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8089775" y="1816064"/>
            <a:ext cx="2872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i="1" dirty="0">
                <a:solidFill>
                  <a:srgbClr val="FFFF00"/>
                </a:solidFill>
                <a:latin typeface="Times New Roman" charset="0"/>
              </a:rPr>
              <a:t>v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4" name="Line 10"/>
          <p:cNvSpPr>
            <a:spLocks noChangeShapeType="1"/>
          </p:cNvSpPr>
          <p:nvPr/>
        </p:nvSpPr>
        <p:spPr bwMode="auto">
          <a:xfrm>
            <a:off x="3469676" y="3782792"/>
            <a:ext cx="0" cy="1526627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65" name="Line 12"/>
          <p:cNvSpPr>
            <a:spLocks noChangeShapeType="1"/>
          </p:cNvSpPr>
          <p:nvPr/>
        </p:nvSpPr>
        <p:spPr bwMode="auto">
          <a:xfrm flipV="1">
            <a:off x="3442652" y="2877624"/>
            <a:ext cx="918792" cy="932187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pic>
        <p:nvPicPr>
          <p:cNvPr id="2" name="Picture 1" descr="Screen Shot 2014-11-14 at 9.27.20 A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9240" y="5556805"/>
            <a:ext cx="2705100" cy="6223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86BCFC-6006-1BD2-7D02-0994D5117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CV02C</a:t>
            </a:r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93CF1C-BD37-CD19-C9A0-994CAFE76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37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25905758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0441" y="2935844"/>
            <a:ext cx="7044436" cy="172131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8773" y="4814515"/>
            <a:ext cx="6468070" cy="1778976"/>
          </a:xfrm>
          <a:prstGeom prst="rect">
            <a:avLst/>
          </a:prstGeom>
        </p:spPr>
      </p:pic>
      <p:sp>
        <p:nvSpPr>
          <p:cNvPr id="7" name="Rectangle 71"/>
          <p:cNvSpPr>
            <a:spLocks noChangeArrowheads="1"/>
          </p:cNvSpPr>
          <p:nvPr/>
        </p:nvSpPr>
        <p:spPr bwMode="auto">
          <a:xfrm>
            <a:off x="1524001" y="1"/>
            <a:ext cx="243368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" sz="2400" dirty="0">
                <a:solidFill>
                  <a:srgbClr val="000000"/>
                </a:solidFill>
                <a:latin typeface="Gill Sans MT" panose="020B0502020104020203" pitchFamily="34" charset="77"/>
              </a:rPr>
              <a:t>[ Camera </a:t>
            </a:r>
            <a:r>
              <a:rPr lang="es-ES" sz="2400" dirty="0" err="1">
                <a:solidFill>
                  <a:srgbClr val="000000"/>
                </a:solidFill>
                <a:latin typeface="Gill Sans MT" panose="020B0502020104020203" pitchFamily="34" charset="77"/>
              </a:rPr>
              <a:t>Model</a:t>
            </a:r>
            <a:r>
              <a:rPr lang="es-ES" sz="2400" dirty="0">
                <a:solidFill>
                  <a:srgbClr val="000000"/>
                </a:solidFill>
                <a:latin typeface="Gill Sans MT" panose="020B0502020104020203" pitchFamily="34" charset="77"/>
              </a:rPr>
              <a:t> ]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4271" y="883856"/>
            <a:ext cx="9016089" cy="1832883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B6D4DD-ECC0-4C70-96C3-B33ED148A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CV02C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256D35-6F8E-7F32-6ACC-790AFD692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38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078062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7157" y="2485883"/>
            <a:ext cx="6468070" cy="1778976"/>
          </a:xfrm>
          <a:prstGeom prst="rect">
            <a:avLst/>
          </a:prstGeom>
        </p:spPr>
      </p:pic>
      <p:sp>
        <p:nvSpPr>
          <p:cNvPr id="7" name="Rectangle 71"/>
          <p:cNvSpPr>
            <a:spLocks noChangeArrowheads="1"/>
          </p:cNvSpPr>
          <p:nvPr/>
        </p:nvSpPr>
        <p:spPr bwMode="auto">
          <a:xfrm>
            <a:off x="1524001" y="1"/>
            <a:ext cx="243368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" sz="2400" dirty="0">
                <a:solidFill>
                  <a:srgbClr val="000000"/>
                </a:solidFill>
                <a:latin typeface="Gill Sans MT" panose="020B0502020104020203" pitchFamily="34" charset="77"/>
              </a:rPr>
              <a:t>[ Camera </a:t>
            </a:r>
            <a:r>
              <a:rPr lang="es-ES" sz="2400" dirty="0" err="1">
                <a:solidFill>
                  <a:srgbClr val="000000"/>
                </a:solidFill>
                <a:latin typeface="Gill Sans MT" panose="020B0502020104020203" pitchFamily="34" charset="77"/>
              </a:rPr>
              <a:t>Model</a:t>
            </a:r>
            <a:r>
              <a:rPr lang="es-ES" sz="2400" dirty="0">
                <a:solidFill>
                  <a:srgbClr val="000000"/>
                </a:solidFill>
                <a:latin typeface="Gill Sans MT" panose="020B0502020104020203" pitchFamily="34" charset="77"/>
              </a:rPr>
              <a:t> ]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3DC1AF-EF45-8989-B4C4-C6A0EDE16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CV02C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F518A84-010C-0427-9C0C-B462FB9EA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39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23886855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/>
          <p:cNvSpPr/>
          <p:nvPr/>
        </p:nvSpPr>
        <p:spPr>
          <a:xfrm>
            <a:off x="6809569" y="2481032"/>
            <a:ext cx="1929089" cy="1735204"/>
          </a:xfrm>
          <a:prstGeom prst="ellipse">
            <a:avLst/>
          </a:prstGeom>
          <a:solidFill>
            <a:srgbClr val="EC973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" name="Oval 8"/>
          <p:cNvSpPr/>
          <p:nvPr/>
        </p:nvSpPr>
        <p:spPr>
          <a:xfrm>
            <a:off x="4258161" y="2293352"/>
            <a:ext cx="2663600" cy="2152221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7157" y="2485883"/>
            <a:ext cx="6468070" cy="1778976"/>
          </a:xfrm>
          <a:prstGeom prst="rect">
            <a:avLst/>
          </a:prstGeom>
        </p:spPr>
      </p:pic>
      <p:sp>
        <p:nvSpPr>
          <p:cNvPr id="7" name="Rectangle 71"/>
          <p:cNvSpPr>
            <a:spLocks noChangeArrowheads="1"/>
          </p:cNvSpPr>
          <p:nvPr/>
        </p:nvSpPr>
        <p:spPr bwMode="auto">
          <a:xfrm>
            <a:off x="1524001" y="1"/>
            <a:ext cx="243368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" sz="2400" dirty="0">
                <a:solidFill>
                  <a:srgbClr val="000000"/>
                </a:solidFill>
                <a:latin typeface="Gill Sans MT" panose="020B0502020104020203" pitchFamily="34" charset="77"/>
              </a:rPr>
              <a:t>[ Camera </a:t>
            </a:r>
            <a:r>
              <a:rPr lang="es-ES" sz="2400" dirty="0" err="1">
                <a:solidFill>
                  <a:srgbClr val="000000"/>
                </a:solidFill>
                <a:latin typeface="Gill Sans MT" panose="020B0502020104020203" pitchFamily="34" charset="77"/>
              </a:rPr>
              <a:t>Model</a:t>
            </a:r>
            <a:r>
              <a:rPr lang="es-ES" sz="2400" dirty="0">
                <a:solidFill>
                  <a:srgbClr val="000000"/>
                </a:solidFill>
                <a:latin typeface="Gill Sans MT" panose="020B0502020104020203" pitchFamily="34" charset="77"/>
              </a:rPr>
              <a:t> ]</a:t>
            </a:r>
          </a:p>
        </p:txBody>
      </p:sp>
      <p:sp>
        <p:nvSpPr>
          <p:cNvPr id="8" name="Rectangle 71"/>
          <p:cNvSpPr>
            <a:spLocks noChangeArrowheads="1"/>
          </p:cNvSpPr>
          <p:nvPr/>
        </p:nvSpPr>
        <p:spPr bwMode="auto">
          <a:xfrm>
            <a:off x="2452544" y="4403918"/>
            <a:ext cx="3509294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" sz="2400" dirty="0">
                <a:solidFill>
                  <a:srgbClr val="000000"/>
                </a:solidFill>
                <a:latin typeface="Gill Sans MT" panose="020B0502020104020203" pitchFamily="34" charset="77"/>
              </a:rPr>
              <a:t>11 </a:t>
            </a:r>
            <a:r>
              <a:rPr lang="es-ES" sz="2400" dirty="0" err="1">
                <a:solidFill>
                  <a:srgbClr val="000000"/>
                </a:solidFill>
                <a:latin typeface="Gill Sans MT" panose="020B0502020104020203" pitchFamily="34" charset="77"/>
              </a:rPr>
              <a:t>DoF</a:t>
            </a:r>
            <a:r>
              <a:rPr lang="es-ES" sz="2400" dirty="0">
                <a:solidFill>
                  <a:srgbClr val="000000"/>
                </a:solidFill>
                <a:latin typeface="Gill Sans MT" panose="020B0502020104020203" pitchFamily="34" charset="77"/>
              </a:rPr>
              <a:t>:  </a:t>
            </a:r>
          </a:p>
          <a:p>
            <a:pPr eaLnBrk="0" hangingPunct="0"/>
            <a:endParaRPr lang="es-ES" sz="2400" dirty="0">
              <a:solidFill>
                <a:srgbClr val="000000"/>
              </a:solidFill>
              <a:latin typeface="Gill Sans MT" panose="020B0502020104020203" pitchFamily="34" charset="77"/>
            </a:endParaRPr>
          </a:p>
          <a:p>
            <a:pPr marL="342900" indent="-342900" eaLnBrk="0" hangingPunct="0">
              <a:buFont typeface="Arial"/>
              <a:buChar char="•"/>
            </a:pPr>
            <a:r>
              <a:rPr lang="es-ES" sz="2400" dirty="0">
                <a:solidFill>
                  <a:srgbClr val="0000DE"/>
                </a:solidFill>
                <a:latin typeface="Gill Sans MT" panose="020B0502020104020203" pitchFamily="34" charset="77"/>
              </a:rPr>
              <a:t>5 </a:t>
            </a:r>
            <a:r>
              <a:rPr lang="es-ES" sz="2400" dirty="0" err="1">
                <a:solidFill>
                  <a:srgbClr val="0000DE"/>
                </a:solidFill>
                <a:latin typeface="Gill Sans MT" panose="020B0502020104020203" pitchFamily="34" charset="77"/>
              </a:rPr>
              <a:t>intrinsec</a:t>
            </a:r>
            <a:r>
              <a:rPr lang="es-ES" sz="2400" dirty="0">
                <a:solidFill>
                  <a:srgbClr val="0000DE"/>
                </a:solidFill>
                <a:latin typeface="Gill Sans MT" panose="020B0502020104020203" pitchFamily="34" charset="77"/>
              </a:rPr>
              <a:t> </a:t>
            </a:r>
            <a:r>
              <a:rPr lang="es-ES" sz="2400" dirty="0" err="1">
                <a:solidFill>
                  <a:srgbClr val="0000DE"/>
                </a:solidFill>
                <a:latin typeface="Gill Sans MT" panose="020B0502020104020203" pitchFamily="34" charset="77"/>
              </a:rPr>
              <a:t>parameters</a:t>
            </a:r>
            <a:endParaRPr lang="es-ES" sz="2400" dirty="0">
              <a:solidFill>
                <a:srgbClr val="0000DE"/>
              </a:solidFill>
              <a:latin typeface="Gill Sans MT" panose="020B0502020104020203" pitchFamily="34" charset="77"/>
            </a:endParaRPr>
          </a:p>
          <a:p>
            <a:pPr marL="342900" indent="-342900" eaLnBrk="0" hangingPunct="0">
              <a:buFont typeface="Arial"/>
              <a:buChar char="•"/>
            </a:pPr>
            <a:endParaRPr lang="es-ES" sz="2400" dirty="0">
              <a:solidFill>
                <a:srgbClr val="000000"/>
              </a:solidFill>
              <a:latin typeface="Gill Sans MT" panose="020B0502020104020203" pitchFamily="34" charset="77"/>
            </a:endParaRPr>
          </a:p>
          <a:p>
            <a:pPr marL="342900" indent="-342900" eaLnBrk="0" hangingPunct="0">
              <a:buFont typeface="Arial"/>
              <a:buChar char="•"/>
            </a:pPr>
            <a:r>
              <a:rPr lang="es-ES" sz="2400" dirty="0">
                <a:solidFill>
                  <a:srgbClr val="EC973F"/>
                </a:solidFill>
                <a:latin typeface="Gill Sans MT" panose="020B0502020104020203" pitchFamily="34" charset="77"/>
              </a:rPr>
              <a:t>6 </a:t>
            </a:r>
            <a:r>
              <a:rPr lang="es-ES" sz="2400" dirty="0" err="1">
                <a:solidFill>
                  <a:srgbClr val="EC973F"/>
                </a:solidFill>
                <a:latin typeface="Gill Sans MT" panose="020B0502020104020203" pitchFamily="34" charset="77"/>
              </a:rPr>
              <a:t>extrinsec</a:t>
            </a:r>
            <a:r>
              <a:rPr lang="es-ES" sz="2400" dirty="0">
                <a:solidFill>
                  <a:srgbClr val="EC973F"/>
                </a:solidFill>
                <a:latin typeface="Gill Sans MT" panose="020B0502020104020203" pitchFamily="34" charset="77"/>
              </a:rPr>
              <a:t> </a:t>
            </a:r>
            <a:r>
              <a:rPr lang="es-ES" sz="2400" dirty="0" err="1">
                <a:solidFill>
                  <a:srgbClr val="EC973F"/>
                </a:solidFill>
                <a:latin typeface="Gill Sans MT" panose="020B0502020104020203" pitchFamily="34" charset="77"/>
              </a:rPr>
              <a:t>parameters</a:t>
            </a:r>
            <a:r>
              <a:rPr lang="es-ES" sz="2400" dirty="0">
                <a:solidFill>
                  <a:srgbClr val="000000"/>
                </a:solidFill>
                <a:latin typeface="Gill Sans MT" panose="020B0502020104020203" pitchFamily="34" charset="77"/>
              </a:rPr>
              <a:t>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156" y="5181152"/>
            <a:ext cx="2235461" cy="37426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4477" y="5904439"/>
            <a:ext cx="4423430" cy="424007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37F217-D0E0-90D7-A2C1-2632376FB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CV02C</a:t>
            </a:r>
            <a:endParaRPr lang="en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C01565-7926-ACA3-89FF-D4676ACEC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40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2000177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999</TotalTime>
  <Words>1822</Words>
  <Application>Microsoft Macintosh PowerPoint</Application>
  <PresentationFormat>Widescreen</PresentationFormat>
  <Paragraphs>584</Paragraphs>
  <Slides>40</Slides>
  <Notes>33</Notes>
  <HiddenSlides>3</HiddenSlides>
  <MMClips>1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4</vt:i4>
      </vt:variant>
      <vt:variant>
        <vt:lpstr>Slide Titles</vt:lpstr>
      </vt:variant>
      <vt:variant>
        <vt:i4>40</vt:i4>
      </vt:variant>
    </vt:vector>
  </HeadingPairs>
  <TitlesOfParts>
    <vt:vector size="49" baseType="lpstr">
      <vt:lpstr>Arial</vt:lpstr>
      <vt:lpstr>Gill Sans MT</vt:lpstr>
      <vt:lpstr>Times</vt:lpstr>
      <vt:lpstr>Times New Roman</vt:lpstr>
      <vt:lpstr>Office Theme</vt:lpstr>
      <vt:lpstr>Ecuación</vt:lpstr>
      <vt:lpstr>Equation</vt:lpstr>
      <vt:lpstr>Fotografía de Photo Editor</vt:lpstr>
      <vt:lpstr>EcuaciÛn</vt:lpstr>
      <vt:lpstr>PowerPoint Presentation</vt:lpstr>
      <vt:lpstr>Transformaciones 3D</vt:lpstr>
      <vt:lpstr>[ 3D Transformation ]</vt:lpstr>
      <vt:lpstr>[ 3D Transformation ]</vt:lpstr>
      <vt:lpstr>[ 3D Transformation ]</vt:lpstr>
      <vt:lpstr>[ 3D Transformation ]</vt:lpstr>
      <vt:lpstr>[ 3D Transformation ]</vt:lpstr>
      <vt:lpstr>[ 3D Transformation ]</vt:lpstr>
      <vt:lpstr>[ 3D Transformation ]</vt:lpstr>
      <vt:lpstr>[ 3D Transformation ]</vt:lpstr>
      <vt:lpstr>[ 3D Transformation ]</vt:lpstr>
      <vt:lpstr>[ 3D Transformation ]</vt:lpstr>
      <vt:lpstr>[ 3D Transformation ]</vt:lpstr>
      <vt:lpstr>[ Example: Pyramid ]</vt:lpstr>
      <vt:lpstr>PowerPoint Presentation</vt:lpstr>
      <vt:lpstr>Transformaciones 3D &gt; 2D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[ 3D Transformation ]</vt:lpstr>
      <vt:lpstr>[ 3D Transformation ]</vt:lpstr>
      <vt:lpstr>[ 3D Transformation ]</vt:lpstr>
      <vt:lpstr>[ 3D Transformation ]</vt:lpstr>
      <vt:lpstr>[ 3D Transformation ]</vt:lpstr>
      <vt:lpstr>[ 3D Transformation ]</vt:lpstr>
      <vt:lpstr>[ 3D Transformation ]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Domingo Mery</dc:creator>
  <cp:lastModifiedBy>Domingo Mery</cp:lastModifiedBy>
  <cp:revision>21</cp:revision>
  <dcterms:created xsi:type="dcterms:W3CDTF">2026-03-08T16:41:49Z</dcterms:created>
  <dcterms:modified xsi:type="dcterms:W3CDTF">2026-08-16T14:40:01Z</dcterms:modified>
</cp:coreProperties>
</file>